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Staatliches"/>
      <p:regular r:id="rId22"/>
    </p:embeddedFont>
    <p:embeddedFont>
      <p:font typeface="Proxima Nova"/>
      <p:regular r:id="rId23"/>
      <p:bold r:id="rId24"/>
      <p:italic r:id="rId25"/>
      <p:boldItalic r:id="rId26"/>
    </p:embeddedFont>
    <p:embeddedFont>
      <p:font typeface="Manrope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Staatliches-regular.fntdata"/><Relationship Id="rId21" Type="http://schemas.openxmlformats.org/officeDocument/2006/relationships/slide" Target="slides/slide15.xml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28" Type="http://schemas.openxmlformats.org/officeDocument/2006/relationships/font" Target="fonts/Manrope-bold.fntdata"/><Relationship Id="rId27" Type="http://schemas.openxmlformats.org/officeDocument/2006/relationships/font" Target="fonts/Manrope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1af70067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1af70067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 objects pulled from: https://slidesgo.com/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icons are from: https://thenounproject.com/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48a53a0a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48a53a0a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1c96a05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1c96a05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48a53a0a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48a53a0a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48a53a0a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48a53a0a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48a53a0a4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48a53a0a4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48a53a0a4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48a53a0a4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48a53a0a4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48a53a0a4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48a53a0a4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48a53a0a4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48a53a0a4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48a53a0a4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48a53a0a4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48a53a0a4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 objects pulled from: https://slidesgo.com/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icons are from: https://thenounproject.com/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48a53a0a4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48a53a0a4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48a53a0a4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48a53a0a4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 objects pulled from: https://slidesgo.com/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icons are from: https://thenounproject.com/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48a53a0a4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48a53a0a4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48a53a0a4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48a53a0a4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6B8EB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hyperlink" Target="http://www.youtube.com/watch?v=4xDzrJKXOOY" TargetMode="External"/><Relationship Id="rId5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watch?v=odzGsDTJKz4" TargetMode="External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hyperlink" Target="http://chefs-kiss.github.io/ML_J2026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youtube.com/watch?v=odzGsDTJKz4" TargetMode="External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hyperlink" Target="http://www.youtube.com/watch?v=4xDzrJKXOOY" TargetMode="External"/><Relationship Id="rId5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Relationship Id="rId4" Type="http://schemas.openxmlformats.org/officeDocument/2006/relationships/hyperlink" Target="http://www.youtube.com/watch?v=4xDzrJKXOOY" TargetMode="External"/><Relationship Id="rId5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www.youtube.com/watch?v=odzGsDTJKz4" TargetMode="External"/><Relationship Id="rId4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www.youtube.com/watch?v=sF80I-TQiW0" TargetMode="Externa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🎼 | Listen on Spotify, Apple music and more&#10;→  https://fanlink.to/ChillSynthwave&#10;&#10;🎶 Subscribe to this channel for more synthwave music&#10;→ https://bit.ly/synthwave-channel&#10;&#10;🌎 | Lofi Girl on all social media&#10;→  https://fanlink.to/lofigirl-social&#10;&#10;👕 | Lofi Girl merch&#10;→  https://bit.ly/Iofigirl-shop&#10;&#10;🎭 | Create your lofi avatar now&#10;→  https://lofigirl.com/generator/&#10;&#10;💬 | Join the Lofi Girl community&#10;→   https://bit.ly/lofigirl-discord&#10;→   https://bit.ly/lofigirl-reddit&#10;&#10;🎨 | Art by Lofi Studio (full list of artists here)&#10;→  https://www.instagram.com/p/CrlCU3msh49/&#10;&#10;📝 | Submit your music / art&#10;→  https://bit.ly/lofi-submission" id="99" name="Google Shape;99;p25" title="synthwave radio 🌌 - beats to chill/game t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850" y="4657597"/>
            <a:ext cx="561450" cy="31581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/>
          <p:nvPr/>
        </p:nvSpPr>
        <p:spPr>
          <a:xfrm>
            <a:off x="2166300" y="1146750"/>
            <a:ext cx="4811400" cy="2850000"/>
          </a:xfrm>
          <a:prstGeom prst="roundRect">
            <a:avLst>
              <a:gd fmla="val 16667" name="adj"/>
            </a:avLst>
          </a:prstGeom>
          <a:solidFill>
            <a:srgbClr val="9D9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95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rPr>
              <a:t>Machine Learning</a:t>
            </a:r>
            <a:endParaRPr sz="4950">
              <a:solidFill>
                <a:schemeClr val="dk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38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rPr>
              <a:t>With python</a:t>
            </a:r>
            <a:endParaRPr sz="2538">
              <a:solidFill>
                <a:schemeClr val="dk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422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intro</a:t>
            </a:r>
            <a:r>
              <a:rPr lang="en" sz="4422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rPr>
              <a:t>: welcome!</a:t>
            </a:r>
            <a:r>
              <a:rPr lang="en" sz="3222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rPr>
              <a:t> </a:t>
            </a:r>
            <a:endParaRPr sz="3222">
              <a:solidFill>
                <a:schemeClr val="dk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Introduction to the course, website, syllabus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49AF8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6"/>
          <p:cNvPicPr preferRelativeResize="0"/>
          <p:nvPr/>
        </p:nvPicPr>
        <p:blipFill rotWithShape="1">
          <a:blip r:embed="rId3">
            <a:alphaModFix/>
          </a:blip>
          <a:srcRect b="14602" l="13973" r="12171" t="14545"/>
          <a:stretch/>
        </p:blipFill>
        <p:spPr>
          <a:xfrm>
            <a:off x="2431525" y="1040250"/>
            <a:ext cx="4387700" cy="30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6"/>
          <p:cNvSpPr txBox="1"/>
          <p:nvPr/>
        </p:nvSpPr>
        <p:spPr>
          <a:xfrm>
            <a:off x="386725" y="2510650"/>
            <a:ext cx="204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7" name="Google Shape;107;p26"/>
          <p:cNvSpPr txBox="1"/>
          <p:nvPr/>
        </p:nvSpPr>
        <p:spPr>
          <a:xfrm>
            <a:off x="348625" y="1329550"/>
            <a:ext cx="2159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Write name in </a:t>
            </a: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CAPS + BIG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font, need to see this from across the room. 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To make sure you don’t lose this, at the end of class place it in a stack on the front table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" name="Google Shape;108;p26"/>
          <p:cNvSpPr txBox="1"/>
          <p:nvPr/>
        </p:nvSpPr>
        <p:spPr>
          <a:xfrm>
            <a:off x="6851025" y="1253350"/>
            <a:ext cx="21081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rPr>
              <a:t>Why do this?</a:t>
            </a:r>
            <a:endParaRPr sz="2100">
              <a:solidFill>
                <a:schemeClr val="dk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So both instructor and table mates can learn your name.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We use these during work time to indicate progress through concepts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174D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type="title"/>
          </p:nvPr>
        </p:nvSpPr>
        <p:spPr>
          <a:xfrm>
            <a:off x="1839375" y="900350"/>
            <a:ext cx="548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2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Warm-up</a:t>
            </a:r>
            <a:endParaRPr sz="332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114" name="Google Shape;114;p27"/>
          <p:cNvSpPr txBox="1"/>
          <p:nvPr>
            <p:ph idx="1" type="body"/>
          </p:nvPr>
        </p:nvSpPr>
        <p:spPr>
          <a:xfrm>
            <a:off x="1839375" y="1677625"/>
            <a:ext cx="5486400" cy="25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Get into groups of 2 and find a spot on a board.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For each of the following, give your </a:t>
            </a:r>
            <a:r>
              <a:rPr lang="en" u="sng">
                <a:solidFill>
                  <a:schemeClr val="lt2"/>
                </a:solidFill>
              </a:rPr>
              <a:t>best guess at defining the term</a:t>
            </a:r>
            <a:r>
              <a:rPr lang="en">
                <a:solidFill>
                  <a:schemeClr val="lt2"/>
                </a:solidFill>
              </a:rPr>
              <a:t> and giving some </a:t>
            </a:r>
            <a:r>
              <a:rPr lang="en" u="sng">
                <a:solidFill>
                  <a:schemeClr val="lt2"/>
                </a:solidFill>
              </a:rPr>
              <a:t>application examples</a:t>
            </a:r>
            <a:r>
              <a:rPr lang="en">
                <a:solidFill>
                  <a:schemeClr val="lt2"/>
                </a:solidFill>
              </a:rPr>
              <a:t>: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ctr">
              <a:lnSpc>
                <a:spcPct val="7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rgbClr val="A9AA35"/>
                </a:solidFill>
              </a:rPr>
              <a:t>Machine Learning </a:t>
            </a:r>
            <a:r>
              <a:rPr lang="en" sz="1700">
                <a:solidFill>
                  <a:srgbClr val="A9AA35"/>
                </a:solidFill>
              </a:rPr>
              <a:t>(</a:t>
            </a:r>
            <a:r>
              <a:rPr b="1" lang="en" sz="1700">
                <a:solidFill>
                  <a:srgbClr val="A9AA35"/>
                </a:solidFill>
              </a:rPr>
              <a:t>ML</a:t>
            </a:r>
            <a:r>
              <a:rPr lang="en" sz="1700">
                <a:solidFill>
                  <a:srgbClr val="A9AA35"/>
                </a:solidFill>
              </a:rPr>
              <a:t>)</a:t>
            </a:r>
            <a:r>
              <a:rPr lang="en" sz="1700">
                <a:solidFill>
                  <a:schemeClr val="lt2"/>
                </a:solidFill>
              </a:rPr>
              <a:t> 	</a:t>
            </a:r>
            <a:r>
              <a:rPr b="1" lang="en" sz="1700">
                <a:solidFill>
                  <a:srgbClr val="BE86B3"/>
                </a:solidFill>
              </a:rPr>
              <a:t>Artificial Intelligence </a:t>
            </a:r>
            <a:r>
              <a:rPr lang="en" sz="1700">
                <a:solidFill>
                  <a:srgbClr val="BE86B3"/>
                </a:solidFill>
              </a:rPr>
              <a:t>(</a:t>
            </a:r>
            <a:r>
              <a:rPr b="1" lang="en" sz="1700">
                <a:solidFill>
                  <a:srgbClr val="BE86B3"/>
                </a:solidFill>
              </a:rPr>
              <a:t>AI</a:t>
            </a:r>
            <a:r>
              <a:rPr lang="en" sz="1700">
                <a:solidFill>
                  <a:srgbClr val="BE86B3"/>
                </a:solidFill>
              </a:rPr>
              <a:t>)</a:t>
            </a:r>
            <a:endParaRPr sz="1700">
              <a:solidFill>
                <a:srgbClr val="BE86B3"/>
              </a:solidFill>
            </a:endParaRPr>
          </a:p>
        </p:txBody>
      </p:sp>
      <p:pic>
        <p:nvPicPr>
          <p:cNvPr descr="5 Minute Timer Relaxing Music Lofi Fish Background&#10;&#10;&#10;&#10;&#10;&#10;&#10;TAGS&#10;5 minute&#10;5 minute countdown&#10;5 minute lo-fi hiphop timer&#10;5 minute timer&#10;countdown&#10;lo-fi music&#10;lofi study song&#10;study music&#10;study timer&#10;time&#10;timer&#10;working music&#10;5 minute timer with music&#10;5 minute clock&#10;lofi hiphop&#10;relaxing timers&#10;relaxing music&#10;relaxing lofi timer&#10;nature timer&#10;meditation&#10;meditation music&#10;relaxing sleep music&#10;school timer&#10;sleep timer&#10;chill timer&#10;chill music&#10;lofi timer&#10;lofi hiphop timer&#10;lofi hip hop" id="115" name="Google Shape;115;p27" title="5 Minute Timer Relaxing Music Lofi Fish Backgroun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7900" y="4487725"/>
            <a:ext cx="791525" cy="445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27"/>
          <p:cNvGrpSpPr/>
          <p:nvPr/>
        </p:nvGrpSpPr>
        <p:grpSpPr>
          <a:xfrm>
            <a:off x="423114" y="3453425"/>
            <a:ext cx="3234636" cy="907375"/>
            <a:chOff x="531389" y="3459450"/>
            <a:chExt cx="3234636" cy="907375"/>
          </a:xfrm>
        </p:grpSpPr>
        <p:sp>
          <p:nvSpPr>
            <p:cNvPr id="117" name="Google Shape;117;p27"/>
            <p:cNvSpPr txBox="1"/>
            <p:nvPr/>
          </p:nvSpPr>
          <p:spPr>
            <a:xfrm>
              <a:off x="531389" y="3858925"/>
              <a:ext cx="26856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7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solidFill>
                    <a:schemeClr val="lt2"/>
                  </a:solidFill>
                </a:rPr>
                <a:t>How is this different from traditional programming?</a:t>
              </a:r>
              <a:endParaRPr/>
            </a:p>
          </p:txBody>
        </p:sp>
        <p:sp>
          <p:nvSpPr>
            <p:cNvPr id="118" name="Google Shape;118;p27"/>
            <p:cNvSpPr/>
            <p:nvPr/>
          </p:nvSpPr>
          <p:spPr>
            <a:xfrm>
              <a:off x="2651500" y="3459450"/>
              <a:ext cx="1114525" cy="679800"/>
            </a:xfrm>
            <a:custGeom>
              <a:rect b="b" l="l" r="r" t="t"/>
              <a:pathLst>
                <a:path extrusionOk="0" h="27192" w="44581">
                  <a:moveTo>
                    <a:pt x="0" y="27192"/>
                  </a:moveTo>
                  <a:cubicBezTo>
                    <a:pt x="1243" y="26831"/>
                    <a:pt x="201" y="26630"/>
                    <a:pt x="7460" y="25026"/>
                  </a:cubicBezTo>
                  <a:cubicBezTo>
                    <a:pt x="14719" y="23422"/>
                    <a:pt x="39103" y="21737"/>
                    <a:pt x="43555" y="17566"/>
                  </a:cubicBezTo>
                  <a:cubicBezTo>
                    <a:pt x="48007" y="13395"/>
                    <a:pt x="35734" y="2928"/>
                    <a:pt x="34170" y="0"/>
                  </a:cubicBez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stealth"/>
            </a:ln>
          </p:spPr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2400"/>
            <a:ext cx="796003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29"/>
          <p:cNvGrpSpPr/>
          <p:nvPr/>
        </p:nvGrpSpPr>
        <p:grpSpPr>
          <a:xfrm>
            <a:off x="192524" y="942058"/>
            <a:ext cx="5956441" cy="3875144"/>
            <a:chOff x="674625" y="675683"/>
            <a:chExt cx="6048376" cy="3974099"/>
          </a:xfrm>
        </p:grpSpPr>
        <p:pic>
          <p:nvPicPr>
            <p:cNvPr id="129" name="Google Shape;129;p29"/>
            <p:cNvPicPr preferRelativeResize="0"/>
            <p:nvPr/>
          </p:nvPicPr>
          <p:blipFill rotWithShape="1">
            <a:blip r:embed="rId3">
              <a:alphaModFix/>
            </a:blip>
            <a:srcRect b="0" l="0" r="0" t="17871"/>
            <a:stretch/>
          </p:blipFill>
          <p:spPr>
            <a:xfrm>
              <a:off x="674625" y="675683"/>
              <a:ext cx="6048376" cy="3974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29"/>
            <p:cNvSpPr/>
            <p:nvPr/>
          </p:nvSpPr>
          <p:spPr>
            <a:xfrm>
              <a:off x="5777338" y="4012809"/>
              <a:ext cx="825900" cy="492600"/>
            </a:xfrm>
            <a:prstGeom prst="rect">
              <a:avLst/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75" lIns="85075" spcFirstLastPara="1" rIns="85075" wrap="square" tIns="85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2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31" name="Google Shape;131;p29"/>
          <p:cNvSpPr txBox="1"/>
          <p:nvPr/>
        </p:nvSpPr>
        <p:spPr>
          <a:xfrm>
            <a:off x="5707550" y="782425"/>
            <a:ext cx="3339000" cy="27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ML is quite practical by: </a:t>
            </a:r>
            <a:endParaRPr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reducing programming time, </a:t>
            </a:r>
            <a:endParaRPr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allowing customizable and scalable code as a product, </a:t>
            </a:r>
            <a:endParaRPr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coding </a:t>
            </a:r>
            <a:r>
              <a:rPr i="1"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unprogrammable</a:t>
            </a:r>
            <a:r>
              <a:rPr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tasks</a:t>
            </a:r>
            <a:endParaRPr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2" name="Google Shape;132;p29"/>
          <p:cNvSpPr/>
          <p:nvPr/>
        </p:nvSpPr>
        <p:spPr>
          <a:xfrm>
            <a:off x="5398550" y="2138950"/>
            <a:ext cx="1922100" cy="1481375"/>
          </a:xfrm>
          <a:custGeom>
            <a:rect b="b" l="l" r="r" t="t"/>
            <a:pathLst>
              <a:path extrusionOk="0" h="59255" w="76884">
                <a:moveTo>
                  <a:pt x="74762" y="0"/>
                </a:moveTo>
                <a:cubicBezTo>
                  <a:pt x="74569" y="5023"/>
                  <a:pt x="80075" y="20380"/>
                  <a:pt x="73603" y="30136"/>
                </a:cubicBezTo>
                <a:cubicBezTo>
                  <a:pt x="67131" y="39892"/>
                  <a:pt x="48199" y="55153"/>
                  <a:pt x="35932" y="58534"/>
                </a:cubicBezTo>
                <a:cubicBezTo>
                  <a:pt x="23665" y="61915"/>
                  <a:pt x="5989" y="51772"/>
                  <a:pt x="0" y="50420"/>
                </a:cubicBezTo>
              </a:path>
            </a:pathLst>
          </a:custGeom>
          <a:noFill/>
          <a:ln cap="flat" cmpd="sng" w="28575">
            <a:solidFill>
              <a:srgbClr val="589AD1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30"/>
          <p:cNvGrpSpPr/>
          <p:nvPr/>
        </p:nvGrpSpPr>
        <p:grpSpPr>
          <a:xfrm>
            <a:off x="2545521" y="698175"/>
            <a:ext cx="6447226" cy="4118444"/>
            <a:chOff x="1096225" y="162800"/>
            <a:chExt cx="7172350" cy="4581649"/>
          </a:xfrm>
        </p:grpSpPr>
        <p:pic>
          <p:nvPicPr>
            <p:cNvPr id="138" name="Google Shape;138;p30" title="Screenshot 2026-01-04 at 4.52.22 PM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96225" y="162800"/>
              <a:ext cx="7172299" cy="45816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30"/>
            <p:cNvSpPr/>
            <p:nvPr/>
          </p:nvSpPr>
          <p:spPr>
            <a:xfrm>
              <a:off x="1346075" y="361325"/>
              <a:ext cx="6922500" cy="114300"/>
            </a:xfrm>
            <a:prstGeom prst="rect">
              <a:avLst/>
            </a:prstGeom>
            <a:solidFill>
              <a:srgbClr val="C3E1C4"/>
            </a:solidFill>
            <a:ln>
              <a:noFill/>
            </a:ln>
          </p:spPr>
          <p:txBody>
            <a:bodyPr anchorCtr="0" anchor="ctr" bIns="82175" lIns="82175" spcFirstLastPara="1" rIns="82175" wrap="square" tIns="821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8"/>
            </a:p>
          </p:txBody>
        </p:sp>
      </p:grpSp>
      <p:sp>
        <p:nvSpPr>
          <p:cNvPr id="140" name="Google Shape;140;p30"/>
          <p:cNvSpPr txBox="1"/>
          <p:nvPr/>
        </p:nvSpPr>
        <p:spPr>
          <a:xfrm>
            <a:off x="2545475" y="221175"/>
            <a:ext cx="6447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chemeClr val="dk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chefs-kiss.github.io/ML_J2026/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41" name="Google Shape;141;p30"/>
          <p:cNvSpPr txBox="1"/>
          <p:nvPr/>
        </p:nvSpPr>
        <p:spPr>
          <a:xfrm>
            <a:off x="300825" y="698175"/>
            <a:ext cx="20499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This is our course site!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All content including slides, labs, homework, syllabus are on this site.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We will use Moodle for class discussion, turning in assignments, and a gradebook.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2" name="Google Shape;142;p30"/>
          <p:cNvSpPr/>
          <p:nvPr/>
        </p:nvSpPr>
        <p:spPr>
          <a:xfrm>
            <a:off x="1064191" y="331158"/>
            <a:ext cx="2146775" cy="385075"/>
          </a:xfrm>
          <a:custGeom>
            <a:rect b="b" l="l" r="r" t="t"/>
            <a:pathLst>
              <a:path extrusionOk="0" h="15403" w="85871">
                <a:moveTo>
                  <a:pt x="5981" y="15404"/>
                </a:moveTo>
                <a:cubicBezTo>
                  <a:pt x="5981" y="12918"/>
                  <a:pt x="-7334" y="2410"/>
                  <a:pt x="5981" y="485"/>
                </a:cubicBezTo>
                <a:cubicBezTo>
                  <a:pt x="19296" y="-1440"/>
                  <a:pt x="72556" y="3293"/>
                  <a:pt x="85871" y="385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174D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1901475" y="313175"/>
            <a:ext cx="548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2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scavenger hunt</a:t>
            </a:r>
            <a:endParaRPr sz="332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148" name="Google Shape;148;p31"/>
          <p:cNvSpPr txBox="1"/>
          <p:nvPr>
            <p:ph idx="1" type="body"/>
          </p:nvPr>
        </p:nvSpPr>
        <p:spPr>
          <a:xfrm>
            <a:off x="659225" y="931925"/>
            <a:ext cx="7944000" cy="3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Grab a partner. Using the course website, answer the following questions: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AutoNum type="arabicPeriod"/>
            </a:pPr>
            <a:r>
              <a:rPr lang="en">
                <a:solidFill>
                  <a:schemeClr val="lt2"/>
                </a:solidFill>
              </a:rPr>
              <a:t>We will use being using the Moodle forum periodically for classroom discussion. Find a way to get to the Moodle forum from the </a:t>
            </a:r>
            <a:r>
              <a:rPr lang="en">
                <a:solidFill>
                  <a:schemeClr val="lt2"/>
                </a:solidFill>
              </a:rPr>
              <a:t>course</a:t>
            </a:r>
            <a:r>
              <a:rPr lang="en">
                <a:solidFill>
                  <a:schemeClr val="lt2"/>
                </a:solidFill>
              </a:rPr>
              <a:t> site, and </a:t>
            </a:r>
            <a:r>
              <a:rPr lang="en">
                <a:solidFill>
                  <a:srgbClr val="A9AA35"/>
                </a:solidFill>
              </a:rPr>
              <a:t>post a reply under “Favorite emoji”</a:t>
            </a:r>
            <a:r>
              <a:rPr lang="en">
                <a:solidFill>
                  <a:schemeClr val="lt2"/>
                </a:solidFill>
              </a:rPr>
              <a:t>.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AutoNum type="arabicPeriod"/>
            </a:pPr>
            <a:r>
              <a:rPr lang="en">
                <a:solidFill>
                  <a:schemeClr val="lt2"/>
                </a:solidFill>
              </a:rPr>
              <a:t>Find and open at least </a:t>
            </a:r>
            <a:r>
              <a:rPr lang="en">
                <a:solidFill>
                  <a:srgbClr val="A9AA35"/>
                </a:solidFill>
              </a:rPr>
              <a:t>two cheat sheets for common Python libraries</a:t>
            </a:r>
            <a:r>
              <a:rPr lang="en">
                <a:solidFill>
                  <a:schemeClr val="lt2"/>
                </a:solidFill>
              </a:rPr>
              <a:t> found under the EDA readings.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AutoNum type="arabicPeriod"/>
            </a:pPr>
            <a:r>
              <a:rPr lang="en">
                <a:solidFill>
                  <a:schemeClr val="lt2"/>
                </a:solidFill>
              </a:rPr>
              <a:t>Find the readings for the EVL topic we’ll be covering at the end of this week, and </a:t>
            </a:r>
            <a:r>
              <a:rPr lang="en">
                <a:solidFill>
                  <a:srgbClr val="A9AA35"/>
                </a:solidFill>
              </a:rPr>
              <a:t>browse some of the excerpts</a:t>
            </a:r>
            <a:r>
              <a:rPr lang="en">
                <a:solidFill>
                  <a:schemeClr val="lt2"/>
                </a:solidFill>
              </a:rPr>
              <a:t>.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AutoNum type="arabicPeriod"/>
            </a:pPr>
            <a:r>
              <a:rPr lang="en">
                <a:solidFill>
                  <a:schemeClr val="lt2"/>
                </a:solidFill>
              </a:rPr>
              <a:t>The topics of this course are built off ACM Standards. Go to the syllabus and find the </a:t>
            </a:r>
            <a:r>
              <a:rPr lang="en">
                <a:solidFill>
                  <a:srgbClr val="A9AA35"/>
                </a:solidFill>
              </a:rPr>
              <a:t>standards related to Algorithms</a:t>
            </a:r>
            <a:r>
              <a:rPr lang="en">
                <a:solidFill>
                  <a:schemeClr val="lt2"/>
                </a:solidFill>
              </a:rPr>
              <a:t>.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AutoNum type="arabicPeriod"/>
            </a:pPr>
            <a:r>
              <a:rPr lang="en">
                <a:solidFill>
                  <a:schemeClr val="lt2"/>
                </a:solidFill>
              </a:rPr>
              <a:t>Read the </a:t>
            </a:r>
            <a:r>
              <a:rPr lang="en">
                <a:solidFill>
                  <a:srgbClr val="A9AA35"/>
                </a:solidFill>
              </a:rPr>
              <a:t>attendance policy</a:t>
            </a:r>
            <a:r>
              <a:rPr lang="en">
                <a:solidFill>
                  <a:schemeClr val="lt2"/>
                </a:solidFill>
              </a:rPr>
              <a:t> on the syllabus. What does an absence mean in terms of our Jterm course?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AutoNum type="arabicPeriod"/>
            </a:pPr>
            <a:r>
              <a:rPr lang="en">
                <a:solidFill>
                  <a:schemeClr val="lt2"/>
                </a:solidFill>
              </a:rPr>
              <a:t>What is </a:t>
            </a:r>
            <a:r>
              <a:rPr lang="en">
                <a:solidFill>
                  <a:srgbClr val="A9AA35"/>
                </a:solidFill>
              </a:rPr>
              <a:t>one additional question</a:t>
            </a:r>
            <a:r>
              <a:rPr lang="en">
                <a:solidFill>
                  <a:schemeClr val="lt2"/>
                </a:solidFill>
              </a:rPr>
              <a:t> that you would like to know about this course?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BE86B3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BE86B3"/>
                </a:solidFill>
              </a:rPr>
              <a:t>When you are get to Question 8, flip your name cards down.</a:t>
            </a:r>
            <a:endParaRPr sz="1700">
              <a:solidFill>
                <a:srgbClr val="BE86B3"/>
              </a:solidFill>
            </a:endParaRPr>
          </a:p>
        </p:txBody>
      </p:sp>
      <p:pic>
        <p:nvPicPr>
          <p:cNvPr descr="5 Minute Timer Relaxing Music Lofi Fish Background&#10;&#10;&#10;&#10;&#10;&#10;&#10;TAGS&#10;5 minute&#10;5 minute countdown&#10;5 minute lo-fi hiphop timer&#10;5 minute timer&#10;countdown&#10;lo-fi music&#10;lofi study song&#10;study music&#10;study timer&#10;time&#10;timer&#10;working music&#10;5 minute timer with music&#10;5 minute clock&#10;lofi hiphop&#10;relaxing timers&#10;relaxing music&#10;relaxing lofi timer&#10;nature timer&#10;meditation&#10;meditation music&#10;relaxing sleep music&#10;school timer&#10;sleep timer&#10;chill timer&#10;chill music&#10;lofi timer&#10;lofi hiphop timer&#10;lofi hip hop" id="149" name="Google Shape;149;p31" title="5 Minute Timer Relaxing Music Lofi Fish Backgroun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7900" y="4487725"/>
            <a:ext cx="791525" cy="44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title"/>
          </p:nvPr>
        </p:nvSpPr>
        <p:spPr>
          <a:xfrm>
            <a:off x="0" y="100"/>
            <a:ext cx="2872500" cy="5143500"/>
          </a:xfrm>
          <a:prstGeom prst="rect">
            <a:avLst/>
          </a:prstGeom>
          <a:solidFill>
            <a:srgbClr val="C6B8EB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36174D"/>
                </a:solidFill>
                <a:latin typeface="Staatliches"/>
                <a:ea typeface="Staatliches"/>
                <a:cs typeface="Staatliches"/>
                <a:sym typeface="Staatliches"/>
              </a:rPr>
              <a:t>A note on</a:t>
            </a:r>
            <a:r>
              <a:rPr b="1" lang="en" sz="4000">
                <a:solidFill>
                  <a:srgbClr val="36174D"/>
                </a:solidFill>
                <a:latin typeface="Staatliches"/>
                <a:ea typeface="Staatliches"/>
                <a:cs typeface="Staatliches"/>
                <a:sym typeface="Staatliches"/>
              </a:rPr>
              <a:t> readings</a:t>
            </a:r>
            <a:endParaRPr sz="1300">
              <a:solidFill>
                <a:srgbClr val="36174D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55" name="Google Shape;155;p32" title="Screenshot 2026-01-05 at 8.06.0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2175" y="926275"/>
            <a:ext cx="5613476" cy="278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2"/>
          <p:cNvSpPr txBox="1"/>
          <p:nvPr/>
        </p:nvSpPr>
        <p:spPr>
          <a:xfrm>
            <a:off x="3302925" y="186325"/>
            <a:ext cx="5613600" cy="46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Due to J-term turn around, these readings are never due HOWEVER…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these articles and passages from the textbook WILL help you understand the material. Let’s take a peak at this in particular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" name="Google Shape;157;p32"/>
          <p:cNvSpPr/>
          <p:nvPr/>
        </p:nvSpPr>
        <p:spPr>
          <a:xfrm>
            <a:off x="4075050" y="2987050"/>
            <a:ext cx="3500400" cy="225900"/>
          </a:xfrm>
          <a:prstGeom prst="rect">
            <a:avLst/>
          </a:prstGeom>
          <a:noFill/>
          <a:ln cap="flat" cmpd="sng" w="28575">
            <a:solidFill>
              <a:srgbClr val="A9A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2"/>
          <p:cNvSpPr/>
          <p:nvPr/>
        </p:nvSpPr>
        <p:spPr>
          <a:xfrm>
            <a:off x="7643300" y="3009649"/>
            <a:ext cx="1024100" cy="1473775"/>
          </a:xfrm>
          <a:custGeom>
            <a:rect b="b" l="l" r="r" t="t"/>
            <a:pathLst>
              <a:path extrusionOk="0" h="58951" w="40964">
                <a:moveTo>
                  <a:pt x="24165" y="58718"/>
                </a:moveTo>
                <a:cubicBezTo>
                  <a:pt x="26762" y="57777"/>
                  <a:pt x="37866" y="62106"/>
                  <a:pt x="39748" y="53072"/>
                </a:cubicBezTo>
                <a:cubicBezTo>
                  <a:pt x="41630" y="44039"/>
                  <a:pt x="42082" y="13061"/>
                  <a:pt x="35457" y="4517"/>
                </a:cubicBezTo>
                <a:cubicBezTo>
                  <a:pt x="28832" y="-4027"/>
                  <a:pt x="5910" y="2259"/>
                  <a:pt x="0" y="1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3"/>
          <p:cNvSpPr txBox="1"/>
          <p:nvPr>
            <p:ph type="title"/>
          </p:nvPr>
        </p:nvSpPr>
        <p:spPr>
          <a:xfrm>
            <a:off x="0" y="100"/>
            <a:ext cx="2872500" cy="5143500"/>
          </a:xfrm>
          <a:prstGeom prst="rect">
            <a:avLst/>
          </a:prstGeom>
          <a:solidFill>
            <a:srgbClr val="C6B8EB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36174D"/>
                </a:solidFill>
                <a:latin typeface="Staatliches"/>
                <a:ea typeface="Staatliches"/>
                <a:cs typeface="Staatliches"/>
                <a:sym typeface="Staatliches"/>
              </a:rPr>
              <a:t>standards</a:t>
            </a:r>
            <a:endParaRPr b="1" sz="4000">
              <a:solidFill>
                <a:srgbClr val="36174D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36174D"/>
                </a:solidFill>
                <a:latin typeface="Staatliches"/>
                <a:ea typeface="Staatliches"/>
                <a:cs typeface="Staatliches"/>
                <a:sym typeface="Staatliches"/>
              </a:rPr>
              <a:t>quiz + exams </a:t>
            </a:r>
            <a:endParaRPr b="1" sz="3200">
              <a:solidFill>
                <a:srgbClr val="36174D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6174D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" name="Google Shape;164;p33"/>
          <p:cNvSpPr txBox="1"/>
          <p:nvPr/>
        </p:nvSpPr>
        <p:spPr>
          <a:xfrm>
            <a:off x="3318475" y="764838"/>
            <a:ext cx="52626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For every topic we will have a quiz that contains </a:t>
            </a: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3-4 questions</a:t>
            </a:r>
            <a:r>
              <a:rPr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 each question assessing your understanding of one topic. These questions are called </a:t>
            </a: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standards</a:t>
            </a:r>
            <a:r>
              <a:rPr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. </a:t>
            </a:r>
            <a:endParaRPr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" name="Google Shape;165;p33"/>
          <p:cNvSpPr txBox="1"/>
          <p:nvPr/>
        </p:nvSpPr>
        <p:spPr>
          <a:xfrm>
            <a:off x="3318475" y="1890138"/>
            <a:ext cx="519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There will be </a:t>
            </a: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16 standards </a:t>
            </a:r>
            <a:r>
              <a:rPr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in total. You can study for these by reviewing slide decks, workbooks, homework, and programming assignments. Sample questions will be available on the course site.</a:t>
            </a:r>
            <a:endParaRPr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" name="Google Shape;166;p33"/>
          <p:cNvSpPr txBox="1"/>
          <p:nvPr/>
        </p:nvSpPr>
        <p:spPr>
          <a:xfrm>
            <a:off x="3341075" y="3090431"/>
            <a:ext cx="5262600" cy="16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Grading for these are in the syllabus. Revisions are due the following class day.</a:t>
            </a:r>
            <a:endParaRPr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" name="Google Shape;167;p33"/>
          <p:cNvSpPr txBox="1"/>
          <p:nvPr/>
        </p:nvSpPr>
        <p:spPr>
          <a:xfrm>
            <a:off x="3341075" y="3682313"/>
            <a:ext cx="5193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If you will </a:t>
            </a: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miss a quiz or do not pass</a:t>
            </a:r>
            <a:r>
              <a:rPr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the first time, you will </a:t>
            </a: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retake it during the next retake</a:t>
            </a:r>
            <a:r>
              <a:rPr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period (see schedule) </a:t>
            </a:r>
            <a:endParaRPr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/>
        </p:nvSpPr>
        <p:spPr>
          <a:xfrm>
            <a:off x="1310475" y="767150"/>
            <a:ext cx="6406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36174D"/>
                </a:solidFill>
                <a:latin typeface="Staatliches"/>
                <a:ea typeface="Staatliches"/>
                <a:cs typeface="Staatliches"/>
                <a:sym typeface="Staatliches"/>
              </a:rPr>
              <a:t>assignments + plagiarism</a:t>
            </a:r>
            <a:endParaRPr/>
          </a:p>
        </p:txBody>
      </p:sp>
      <p:sp>
        <p:nvSpPr>
          <p:cNvPr id="173" name="Google Shape;173;p34"/>
          <p:cNvSpPr txBox="1"/>
          <p:nvPr/>
        </p:nvSpPr>
        <p:spPr>
          <a:xfrm>
            <a:off x="4730176" y="1545275"/>
            <a:ext cx="35262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What about using </a:t>
            </a: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generative</a:t>
            </a:r>
            <a:r>
              <a:rPr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models (ChatGPT, DeepSeek) or searching the </a:t>
            </a: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internet</a:t>
            </a:r>
            <a:r>
              <a:rPr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?</a:t>
            </a:r>
            <a:endParaRPr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You must cite which model you use, as well as the prompt. We will often use these models under a critical lens. If you have any concerns please let me know. </a:t>
            </a:r>
            <a:endParaRPr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4" name="Google Shape;174;p34"/>
          <p:cNvSpPr txBox="1"/>
          <p:nvPr/>
        </p:nvSpPr>
        <p:spPr>
          <a:xfrm>
            <a:off x="938175" y="1582175"/>
            <a:ext cx="35262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What counts as </a:t>
            </a: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plagiarism</a:t>
            </a:r>
            <a:r>
              <a:rPr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? …well anything that you didn’t come up with yourself.</a:t>
            </a:r>
            <a:endParaRPr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It is </a:t>
            </a: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encouraged to work with others</a:t>
            </a:r>
            <a:r>
              <a:rPr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on assignments, but you need to cite (i.e. leave a comment somewhere) who helped you. This can be another student, roommate, teammate, TA, friend, family member...</a:t>
            </a:r>
            <a:endParaRPr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5" name="Google Shape;175;p34"/>
          <p:cNvSpPr txBox="1"/>
          <p:nvPr/>
        </p:nvSpPr>
        <p:spPr>
          <a:xfrm>
            <a:off x="938175" y="4137500"/>
            <a:ext cx="7515000" cy="646500"/>
          </a:xfrm>
          <a:prstGeom prst="rect">
            <a:avLst/>
          </a:prstGeom>
          <a:solidFill>
            <a:srgbClr val="949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Any labs with plagiarism will be graded as a 0</a:t>
            </a:r>
            <a:r>
              <a:rPr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. Make sure to </a:t>
            </a: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cite</a:t>
            </a:r>
            <a:r>
              <a:rPr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and document when you use outside tools (including any prompts used). </a:t>
            </a:r>
            <a:endParaRPr/>
          </a:p>
        </p:txBody>
      </p:sp>
      <p:grpSp>
        <p:nvGrpSpPr>
          <p:cNvPr id="176" name="Google Shape;176;p34"/>
          <p:cNvGrpSpPr/>
          <p:nvPr/>
        </p:nvGrpSpPr>
        <p:grpSpPr>
          <a:xfrm>
            <a:off x="4819225" y="296550"/>
            <a:ext cx="3988800" cy="747525"/>
            <a:chOff x="4464300" y="356725"/>
            <a:chExt cx="3988800" cy="747525"/>
          </a:xfrm>
        </p:grpSpPr>
        <p:sp>
          <p:nvSpPr>
            <p:cNvPr id="177" name="Google Shape;177;p34"/>
            <p:cNvSpPr txBox="1"/>
            <p:nvPr/>
          </p:nvSpPr>
          <p:spPr>
            <a:xfrm>
              <a:off x="4464300" y="356725"/>
              <a:ext cx="3988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passing off others work as your own</a:t>
              </a:r>
              <a:endParaRPr sz="1300"/>
            </a:p>
          </p:txBody>
        </p:sp>
        <p:sp>
          <p:nvSpPr>
            <p:cNvPr id="178" name="Google Shape;178;p34"/>
            <p:cNvSpPr/>
            <p:nvPr/>
          </p:nvSpPr>
          <p:spPr>
            <a:xfrm>
              <a:off x="6734325" y="659875"/>
              <a:ext cx="597850" cy="444375"/>
            </a:xfrm>
            <a:custGeom>
              <a:rect b="b" l="l" r="r" t="t"/>
              <a:pathLst>
                <a:path extrusionOk="0" h="17775" w="23914">
                  <a:moveTo>
                    <a:pt x="20885" y="0"/>
                  </a:moveTo>
                  <a:cubicBezTo>
                    <a:pt x="21181" y="2592"/>
                    <a:pt x="26143" y="12591"/>
                    <a:pt x="22662" y="15553"/>
                  </a:cubicBezTo>
                  <a:cubicBezTo>
                    <a:pt x="19181" y="18516"/>
                    <a:pt x="3777" y="17405"/>
                    <a:pt x="0" y="1777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🎼 | Listen on Spotify, Apple music and more&#10;→  https://fanlink.to/ChillSynthwave&#10;&#10;🎶 Subscribe to this channel for more synthwave music&#10;→ https://bit.ly/synthwave-channel&#10;&#10;🌎 | Lofi Girl on all social media&#10;→  https://fanlink.to/lofigirl-social&#10;&#10;👕 | Lofi Girl merch&#10;→  https://bit.ly/Iofigirl-shop&#10;&#10;🎭 | Create your lofi avatar now&#10;→  https://lofigirl.com/generator/&#10;&#10;💬 | Join the Lofi Girl community&#10;→   https://bit.ly/lofigirl-discord&#10;→   https://bit.ly/lofigirl-reddit&#10;&#10;🎨 | Art by Lofi Studio (full list of artists here)&#10;→  https://www.instagram.com/p/CrlCU3msh49/&#10;&#10;📝 | Submit your music / art&#10;→  https://bit.ly/lofi-submission" id="183" name="Google Shape;183;p35" title="synthwave radio 🌌 - beats to chill/game t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850" y="4657597"/>
            <a:ext cx="561450" cy="31581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5"/>
          <p:cNvSpPr/>
          <p:nvPr/>
        </p:nvSpPr>
        <p:spPr>
          <a:xfrm>
            <a:off x="2166300" y="1146750"/>
            <a:ext cx="4811400" cy="2850000"/>
          </a:xfrm>
          <a:prstGeom prst="roundRect">
            <a:avLst>
              <a:gd fmla="val 16667" name="adj"/>
            </a:avLst>
          </a:prstGeom>
          <a:solidFill>
            <a:srgbClr val="9D9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95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rPr>
              <a:t>Machine Learning</a:t>
            </a:r>
            <a:endParaRPr sz="4950">
              <a:solidFill>
                <a:schemeClr val="dk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38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rPr>
              <a:t>With python</a:t>
            </a:r>
            <a:endParaRPr sz="2538">
              <a:solidFill>
                <a:schemeClr val="dk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422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PC</a:t>
            </a:r>
            <a:r>
              <a:rPr lang="en" sz="4422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 </a:t>
            </a:r>
            <a:r>
              <a:rPr b="1" lang="en" sz="4422">
                <a:solidFill>
                  <a:schemeClr val="lt1"/>
                </a:solidFill>
              </a:rPr>
              <a:t>1</a:t>
            </a:r>
            <a:r>
              <a:rPr lang="en" sz="3222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rPr>
              <a:t> </a:t>
            </a:r>
            <a:endParaRPr sz="3222">
              <a:solidFill>
                <a:schemeClr val="dk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Finding Datasets of Interest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174D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6"/>
          <p:cNvSpPr txBox="1"/>
          <p:nvPr>
            <p:ph type="title"/>
          </p:nvPr>
        </p:nvSpPr>
        <p:spPr>
          <a:xfrm>
            <a:off x="1901475" y="313175"/>
            <a:ext cx="548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2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discussion</a:t>
            </a:r>
            <a:endParaRPr sz="332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190" name="Google Shape;190;p36"/>
          <p:cNvSpPr txBox="1"/>
          <p:nvPr>
            <p:ph idx="1" type="body"/>
          </p:nvPr>
        </p:nvSpPr>
        <p:spPr>
          <a:xfrm>
            <a:off x="659225" y="931925"/>
            <a:ext cx="7944000" cy="3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Chat with your partner: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2"/>
                </a:solidFill>
              </a:rPr>
              <a:t>Where can you find interesting data sources?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🎼 | Listen on Spotify, Apple music and more&#10;→  https://fanlink.to/ChillSynthwave&#10;&#10;🎶 Subscribe to this channel for more synthwave music&#10;→ https://bit.ly/synthwave-channel&#10;&#10;🌎 | Lofi Girl on all social media&#10;→  https://fanlink.to/lofigirl-social&#10;&#10;👕 | Lofi Girl merch&#10;→  https://bit.ly/Iofigirl-shop&#10;&#10;🎭 | Create your lofi avatar now&#10;→  https://lofigirl.com/generator/&#10;&#10;💬 | Join the Lofi Girl community&#10;→   https://bit.ly/lofigirl-discord&#10;→   https://bit.ly/lofigirl-reddit&#10;&#10;🎨 | Art by Lofi Studio (full list of artists here)&#10;→  https://www.instagram.com/p/CrlCU3msh49/&#10;&#10;📝 | Submit your music / art&#10;→  https://bit.ly/lofi-submission" id="195" name="Google Shape;195;p37" title="synthwave radio 🌌 - beats to chill/game t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850" y="4657597"/>
            <a:ext cx="561450" cy="31581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7"/>
          <p:cNvSpPr/>
          <p:nvPr/>
        </p:nvSpPr>
        <p:spPr>
          <a:xfrm>
            <a:off x="2166300" y="1146750"/>
            <a:ext cx="4811400" cy="2850000"/>
          </a:xfrm>
          <a:prstGeom prst="roundRect">
            <a:avLst>
              <a:gd fmla="val 16667" name="adj"/>
            </a:avLst>
          </a:prstGeom>
          <a:solidFill>
            <a:srgbClr val="9D9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95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rPr>
              <a:t>Machine Learning</a:t>
            </a:r>
            <a:endParaRPr sz="4950">
              <a:solidFill>
                <a:schemeClr val="dk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38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rPr>
              <a:t>With python</a:t>
            </a:r>
            <a:endParaRPr sz="2538">
              <a:solidFill>
                <a:schemeClr val="dk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422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lab </a:t>
            </a:r>
            <a:r>
              <a:rPr b="1" lang="en" sz="4422">
                <a:solidFill>
                  <a:schemeClr val="lt1"/>
                </a:solidFill>
              </a:rPr>
              <a:t>1</a:t>
            </a:r>
            <a:r>
              <a:rPr lang="en" sz="3222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rPr>
              <a:t> </a:t>
            </a:r>
            <a:endParaRPr sz="3222">
              <a:solidFill>
                <a:schemeClr val="dk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Dictionaries and Policing Data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7474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8"/>
          <p:cNvSpPr txBox="1"/>
          <p:nvPr>
            <p:ph type="title"/>
          </p:nvPr>
        </p:nvSpPr>
        <p:spPr>
          <a:xfrm>
            <a:off x="1901475" y="313175"/>
            <a:ext cx="548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2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lab time!</a:t>
            </a:r>
            <a:endParaRPr sz="332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202" name="Google Shape;202;p38"/>
          <p:cNvSpPr txBox="1"/>
          <p:nvPr>
            <p:ph idx="1" type="body"/>
          </p:nvPr>
        </p:nvSpPr>
        <p:spPr>
          <a:xfrm>
            <a:off x="1828800" y="931925"/>
            <a:ext cx="5486400" cy="3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Let’s get into lab groups. 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Find a partner (you’ll get a new one next week!) and designate one partner to be the </a:t>
            </a:r>
            <a:r>
              <a:rPr b="1" lang="en">
                <a:solidFill>
                  <a:srgbClr val="A9AA35"/>
                </a:solidFill>
              </a:rPr>
              <a:t>recorder</a:t>
            </a:r>
            <a:r>
              <a:rPr lang="en">
                <a:solidFill>
                  <a:schemeClr val="lt2"/>
                </a:solidFill>
              </a:rPr>
              <a:t> (writes the code) and one to be the </a:t>
            </a:r>
            <a:r>
              <a:rPr b="1" lang="en">
                <a:solidFill>
                  <a:srgbClr val="9334E6"/>
                </a:solidFill>
              </a:rPr>
              <a:t>researcher</a:t>
            </a:r>
            <a:r>
              <a:rPr lang="en">
                <a:solidFill>
                  <a:schemeClr val="lt2"/>
                </a:solidFill>
              </a:rPr>
              <a:t> (sifts through slides and/or documentation). 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2"/>
                </a:solidFill>
              </a:rPr>
              <a:t>If you are the recorder</a:t>
            </a:r>
            <a:r>
              <a:rPr lang="en">
                <a:solidFill>
                  <a:schemeClr val="lt2"/>
                </a:solidFill>
              </a:rPr>
              <a:t>: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Find Lab 0 on the course site.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Open the link to the Colab workbook. 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Save a copy as </a:t>
            </a:r>
            <a:r>
              <a:rPr lang="en">
                <a:solidFill>
                  <a:schemeClr val="lt2"/>
                </a:solidFill>
              </a:rPr>
              <a:t>Last1</a:t>
            </a:r>
            <a:r>
              <a:rPr lang="en">
                <a:solidFill>
                  <a:schemeClr val="lt2"/>
                </a:solidFill>
              </a:rPr>
              <a:t>_</a:t>
            </a:r>
            <a:r>
              <a:rPr lang="en">
                <a:solidFill>
                  <a:schemeClr val="lt2"/>
                </a:solidFill>
              </a:rPr>
              <a:t>Last2</a:t>
            </a:r>
            <a:r>
              <a:rPr lang="en">
                <a:solidFill>
                  <a:schemeClr val="lt2"/>
                </a:solidFill>
              </a:rPr>
              <a:t>_Lab1 </a:t>
            </a:r>
            <a:r>
              <a:rPr lang="en">
                <a:solidFill>
                  <a:schemeClr val="lt2"/>
                </a:solidFill>
              </a:rPr>
              <a:t>replacing the last names with recorder and researcher respectively. 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B6906"/>
                </a:solidFill>
              </a:rPr>
              <a:t>Share access -&gt; St Olaf</a:t>
            </a:r>
            <a:r>
              <a:rPr lang="en">
                <a:solidFill>
                  <a:schemeClr val="lt2"/>
                </a:solidFill>
              </a:rPr>
              <a:t>.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Make sure the researcher has a link to the workbook.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pic>
        <p:nvPicPr>
          <p:cNvPr descr="5 Minute Timer Relaxing Music Lofi Fish Background&#10;&#10;&#10;&#10;&#10;&#10;&#10;TAGS&#10;5 minute&#10;5 minute countdown&#10;5 minute lo-fi hiphop timer&#10;5 minute timer&#10;countdown&#10;lo-fi music&#10;lofi study song&#10;study music&#10;study timer&#10;time&#10;timer&#10;working music&#10;5 minute timer with music&#10;5 minute clock&#10;lofi hiphop&#10;relaxing timers&#10;relaxing music&#10;relaxing lofi timer&#10;nature timer&#10;meditation&#10;meditation music&#10;relaxing sleep music&#10;school timer&#10;sleep timer&#10;chill timer&#10;chill music&#10;lofi timer&#10;lofi hiphop timer&#10;lofi hip hop" id="203" name="Google Shape;203;p38" title="5 Minute Timer Relaxing Music Lofi Fish Backgroun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7900" y="4487725"/>
            <a:ext cx="791525" cy="44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7474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 txBox="1"/>
          <p:nvPr>
            <p:ph type="title"/>
          </p:nvPr>
        </p:nvSpPr>
        <p:spPr>
          <a:xfrm>
            <a:off x="1929700" y="1109300"/>
            <a:ext cx="548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2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lab time!</a:t>
            </a:r>
            <a:endParaRPr sz="332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209" name="Google Shape;209;p39"/>
          <p:cNvSpPr txBox="1"/>
          <p:nvPr>
            <p:ph idx="1" type="body"/>
          </p:nvPr>
        </p:nvSpPr>
        <p:spPr>
          <a:xfrm>
            <a:off x="1857025" y="1728050"/>
            <a:ext cx="5486400" cy="24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Let’s walk through how to use Colab workbooks and go over Question #1 together.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When it comes time to work in your groups, the researcher may find it useful to have the Python documentation open on dictionaries.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2"/>
                </a:solidFill>
              </a:rPr>
              <a:t>As questions arise, try to work out solutions together. If you are both stumped, let Prof Kim know.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descr="The Japanese Town is dedicated for lofi beats &amp; lofi rain music. We present relaxing rain &#10;Atmosphere and lofi ambience which is perfect for sleep,relaxing &amp; Study.&#10;&#10;subcribe if you would like to support me:&#10;https://youtube.com/@TheJapaneseTown-jt6fy?si=ArqZSq7CWVnePQWX&#10;&#10;&#10;All the artwork and music is created by our team - The Japanese Town &#10;&#10;#lofi #lofibeats #rainsounds" id="210" name="Google Shape;210;p39" title="90's Chill Lofi ☕️ Study Music Lofi Rain Chillhop Beats ☔️ Lofi Rain Playlis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4257" y="4284725"/>
            <a:ext cx="1018143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9"/>
          <p:cNvSpPr txBox="1"/>
          <p:nvPr/>
        </p:nvSpPr>
        <p:spPr>
          <a:xfrm>
            <a:off x="1857025" y="4363775"/>
            <a:ext cx="5605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BE86B3"/>
                </a:solidFill>
              </a:rPr>
              <a:t>Break for lunch at 12:30, afternoon sessions starts at 1:30</a:t>
            </a:r>
            <a:endParaRPr>
              <a:solidFill>
                <a:srgbClr val="BE86B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