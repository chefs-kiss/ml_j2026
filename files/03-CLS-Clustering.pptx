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Staatliches"/>
      <p:regular r:id="rId44"/>
    </p:embeddedFont>
    <p:embeddedFont>
      <p:font typeface="Proxima Nova"/>
      <p:regular r:id="rId45"/>
      <p:bold r:id="rId46"/>
      <p:italic r:id="rId47"/>
      <p:boldItalic r:id="rId48"/>
    </p:embeddedFont>
    <p:embeddedFont>
      <p:font typeface="Roboto"/>
      <p:regular r:id="rId49"/>
      <p:bold r:id="rId50"/>
      <p:italic r:id="rId51"/>
      <p:boldItalic r:id="rId52"/>
    </p:embeddedFont>
    <p:embeddedFont>
      <p:font typeface="Source Code Pro"/>
      <p:regular r:id="rId53"/>
      <p:bold r:id="rId54"/>
      <p:italic r:id="rId55"/>
      <p:boldItalic r:id="rId56"/>
    </p:embeddedFont>
    <p:embeddedFont>
      <p:font typeface="Manrope"/>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Staatliches-regular.fntdata"/><Relationship Id="rId43" Type="http://schemas.openxmlformats.org/officeDocument/2006/relationships/slide" Target="slides/slide37.xml"/><Relationship Id="rId46" Type="http://schemas.openxmlformats.org/officeDocument/2006/relationships/font" Target="fonts/ProximaNova-bold.fntdata"/><Relationship Id="rId45" Type="http://schemas.openxmlformats.org/officeDocument/2006/relationships/font" Target="fonts/ProximaNov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roximaNova-boldItalic.fntdata"/><Relationship Id="rId47" Type="http://schemas.openxmlformats.org/officeDocument/2006/relationships/font" Target="fonts/ProximaNova-italic.fntdata"/><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SourceCodePro-regular.fntdata"/><Relationship Id="rId52" Type="http://schemas.openxmlformats.org/officeDocument/2006/relationships/font" Target="fonts/Roboto-boldItalic.fntdata"/><Relationship Id="rId11" Type="http://schemas.openxmlformats.org/officeDocument/2006/relationships/slide" Target="slides/slide5.xml"/><Relationship Id="rId55" Type="http://schemas.openxmlformats.org/officeDocument/2006/relationships/font" Target="fonts/SourceCodePro-italic.fntdata"/><Relationship Id="rId10" Type="http://schemas.openxmlformats.org/officeDocument/2006/relationships/slide" Target="slides/slide4.xml"/><Relationship Id="rId54" Type="http://schemas.openxmlformats.org/officeDocument/2006/relationships/font" Target="fonts/SourceCodePro-bold.fntdata"/><Relationship Id="rId13" Type="http://schemas.openxmlformats.org/officeDocument/2006/relationships/slide" Target="slides/slide7.xml"/><Relationship Id="rId57" Type="http://schemas.openxmlformats.org/officeDocument/2006/relationships/font" Target="fonts/Manrope-regular.fntdata"/><Relationship Id="rId12" Type="http://schemas.openxmlformats.org/officeDocument/2006/relationships/slide" Target="slides/slide6.xml"/><Relationship Id="rId56" Type="http://schemas.openxmlformats.org/officeDocument/2006/relationships/font" Target="fonts/SourceCodePro-boldItalic.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Manrope-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61aae36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61aae36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1e0d976b8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1e0d976b8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1e0d976b8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1e0d976b8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61aae36e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61aae36e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1e0d976b8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1e0d976b8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1e0d976b8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1e0d976b8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1e0d976b8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1e0d976b8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31e0d976b8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31e0d976b8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31e0d976b8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31e0d976b8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31e0d976b8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31e0d976b8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1e0d976b8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31e0d976b8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31e0d976b8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31e0d976b8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31e0d976b8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31e0d976b8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31e0d976b8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31e0d976b8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61aae36e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b61aae36e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b61aae36eb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b61aae36eb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b61aae36e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b61aae36e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61aae36eb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b61aae36eb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b61aae36e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b61aae36e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b61aae36e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b61aae36e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b61aae36eb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b61aae36e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61aae36e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b61aae36e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61aae36eb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b61aae36eb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b61aae36eb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b61aae36eb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b61aae36eb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b61aae36eb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b61aae36eb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b61aae36eb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61aae36eb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b61aae36eb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61aae36eb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b61aae36eb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61aae36eb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b61aae36eb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61aae36eb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b61aae36eb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b61aae36eb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b61aae36eb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b61aae36eb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b61aae36eb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b61aae36eb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b61aae36eb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61aae36eb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b61aae36eb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61aae36eb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b61aae36eb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61aae36eb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b61aae36eb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b61aae36eb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b61aae36eb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6B8EB"/>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colab.research.google.com/drive/15yfJz0zNh154wz8rxwOaPBarRH8VBwGe?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www.youtube.com/watch?v=odzGsDTJKz4" TargetMode="External"/><Relationship Id="rId4" Type="http://schemas.openxmlformats.org/officeDocument/2006/relationships/image" Target="../media/image3.jp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hyperlink" Target="https://www.kaggle.com/datasets/uciml/breast-cancer-wisconsin-data" TargetMode="External"/><Relationship Id="rId5" Type="http://schemas.openxmlformats.org/officeDocument/2006/relationships/image" Target="../media/image2.png"/><Relationship Id="rId6" Type="http://schemas.openxmlformats.org/officeDocument/2006/relationships/hyperlink" Target="https://scikit-learn.org/stable/modules/generated/sklearn.datasets.load_digits.html" TargetMode="External"/><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www.youtube.com/watch?v=odzGsDTJKz4" TargetMode="External"/><Relationship Id="rId4" Type="http://schemas.openxmlformats.org/officeDocument/2006/relationships/image" Target="../media/image3.jpg"/><Relationship Id="rId5" Type="http://schemas.openxmlformats.org/officeDocument/2006/relationships/image" Target="../media/image12.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hyperlink" Target="https://www.naftaliharris.com/blog/visualizing-k-means-cluster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scikit-learn.org/stable/modules/generated/sklearn.cluster.KMean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scikit-learn-extra.readthedocs.io/en/stable/generated/sklearn_extra.cluster.KMedoids.html" TargetMode="External"/><Relationship Id="rId4" Type="http://schemas.openxmlformats.org/officeDocument/2006/relationships/hyperlink" Target="https://pypi.org/project/kmodes/" TargetMode="External"/><Relationship Id="rId5" Type="http://schemas.openxmlformats.org/officeDocument/2006/relationships/hyperlink" Target="https://scikit-learn.org/stable/modules/generated/sklearn.cluster.AgglomerativeClustering.html#sklearn.cluster.AgglomerativeClustering" TargetMode="External"/><Relationship Id="rId6" Type="http://schemas.openxmlformats.org/officeDocument/2006/relationships/hyperlink" Target="https://scikit-learn.org/stable/modules/clustering.html#dbscan" TargetMode="External"/><Relationship Id="rId7" Type="http://schemas.openxmlformats.org/officeDocument/2006/relationships/hyperlink" Target="https://jakevdp.github.io/PythonDataScienceHandbook/05.12-gaussian-mixture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hyperlink" Target="http://www.youtube.com/watch?v=4xDzrJKXOOY" TargetMode="External"/><Relationship Id="rId5" Type="http://schemas.openxmlformats.org/officeDocument/2006/relationships/image" Target="../media/image1.jpg"/><Relationship Id="rId6" Type="http://schemas.openxmlformats.org/officeDocument/2006/relationships/hyperlink" Target="https://chefs-kiss.github.io/ML_J2026/homework.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www.youtube.com/watch?v=odzGsDTJKz4" TargetMode="External"/><Relationship Id="rId4" Type="http://schemas.openxmlformats.org/officeDocument/2006/relationships/image" Target="../media/image3.jp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scikit-learn.org/stable/modules/clustering.html#clustering-evaluat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hyperlink" Target="https://colab.research.google.com/drive/1gWQp4kJbWIM8BiK7pwnnlKWBzBNBxilN?usp=drive_open#scrollTo=P5rd8gdyhFrv"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hyperlink" Target="http://www.youtube.com/watch?v=4xDzrJKXOOY" TargetMode="External"/><Relationship Id="rId5" Type="http://schemas.openxmlformats.org/officeDocument/2006/relationships/image" Target="../media/image1.jpg"/><Relationship Id="rId6" Type="http://schemas.openxmlformats.org/officeDocument/2006/relationships/hyperlink" Target="https://chefs-kiss.github.io/ML_J2026/homework.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 Id="rId4" Type="http://schemas.openxmlformats.org/officeDocument/2006/relationships/hyperlink" Target="http://www.youtube.com/watch?v=4xDzrJKXOOY" TargetMode="External"/><Relationship Id="rId5"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colab.research.google.com/drive/13ut1KFAGcK2iqOsDN3FjeBhkJmnKkTKU?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99" name="Google Shape;99;p2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00" name="Google Shape;100;p2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cls</a:t>
            </a:r>
            <a:r>
              <a:rPr b="1" lang="en" sz="4422">
                <a:solidFill>
                  <a:schemeClr val="lt1"/>
                </a:solidFill>
                <a:latin typeface="Source Code Pro"/>
                <a:ea typeface="Source Code Pro"/>
                <a:cs typeface="Source Code Pro"/>
                <a:sym typeface="Source Code Pro"/>
              </a:rPr>
              <a:t>1</a:t>
            </a:r>
            <a:r>
              <a:rPr lang="en" sz="4422">
                <a:solidFill>
                  <a:schemeClr val="dk1"/>
                </a:solidFill>
                <a:latin typeface="Staatliches"/>
                <a:ea typeface="Staatliches"/>
                <a:cs typeface="Staatliches"/>
                <a:sym typeface="Staatliches"/>
              </a:rPr>
              <a:t>: clustering</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unsupervised learning types, </a:t>
            </a:r>
            <a:endParaRPr>
              <a:solidFill>
                <a:schemeClr val="dk1"/>
              </a:solidFill>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k-means algorithm</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109" name="Shape 109"/>
        <p:cNvGrpSpPr/>
        <p:nvPr/>
      </p:nvGrpSpPr>
      <p:grpSpPr>
        <a:xfrm>
          <a:off x="0" y="0"/>
          <a:ext cx="0" cy="0"/>
          <a:chOff x="0" y="0"/>
          <a:chExt cx="0" cy="0"/>
        </a:xfrm>
      </p:grpSpPr>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110" name="Google Shape;110;p27" title="5 Minute Timer Relaxing Music Lofi Fish Background">
            <a:hlinkClick r:id="rId3"/>
          </p:cNvPr>
          <p:cNvPicPr preferRelativeResize="0"/>
          <p:nvPr/>
        </p:nvPicPr>
        <p:blipFill>
          <a:blip r:embed="rId4">
            <a:alphaModFix/>
          </a:blip>
          <a:stretch>
            <a:fillRect/>
          </a:stretch>
        </p:blipFill>
        <p:spPr>
          <a:xfrm>
            <a:off x="1650775" y="4392175"/>
            <a:ext cx="912175" cy="513100"/>
          </a:xfrm>
          <a:prstGeom prst="rect">
            <a:avLst/>
          </a:prstGeom>
          <a:noFill/>
          <a:ln>
            <a:noFill/>
          </a:ln>
        </p:spPr>
      </p:pic>
      <p:pic>
        <p:nvPicPr>
          <p:cNvPr id="111" name="Google Shape;111;p27"/>
          <p:cNvPicPr preferRelativeResize="0"/>
          <p:nvPr/>
        </p:nvPicPr>
        <p:blipFill>
          <a:blip r:embed="rId5">
            <a:alphaModFix/>
          </a:blip>
          <a:stretch>
            <a:fillRect/>
          </a:stretch>
        </p:blipFill>
        <p:spPr>
          <a:xfrm>
            <a:off x="3791550" y="0"/>
            <a:ext cx="5412624" cy="5143501"/>
          </a:xfrm>
          <a:prstGeom prst="rect">
            <a:avLst/>
          </a:prstGeom>
          <a:noFill/>
          <a:ln>
            <a:noFill/>
          </a:ln>
        </p:spPr>
      </p:pic>
      <p:sp>
        <p:nvSpPr>
          <p:cNvPr id="112" name="Google Shape;112;p27"/>
          <p:cNvSpPr txBox="1"/>
          <p:nvPr/>
        </p:nvSpPr>
        <p:spPr>
          <a:xfrm>
            <a:off x="412025" y="199150"/>
            <a:ext cx="3209400" cy="37002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warmup</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ctr">
              <a:lnSpc>
                <a:spcPct val="80000"/>
              </a:lnSpc>
              <a:spcBef>
                <a:spcPts val="0"/>
              </a:spcBef>
              <a:spcAft>
                <a:spcPts val="0"/>
              </a:spcAft>
              <a:buNone/>
            </a:pPr>
            <a:r>
              <a:rPr b="1" lang="en">
                <a:solidFill>
                  <a:schemeClr val="lt1"/>
                </a:solidFill>
              </a:rPr>
              <a:t>Questions to consider</a:t>
            </a:r>
            <a:endParaRPr b="1">
              <a:solidFill>
                <a:schemeClr val="lt1"/>
              </a:solidFill>
            </a:endParaRPr>
          </a:p>
          <a:p>
            <a:pPr indent="0" lvl="0" marL="0" rtl="0" algn="l">
              <a:lnSpc>
                <a:spcPct val="80000"/>
              </a:lnSpc>
              <a:spcBef>
                <a:spcPts val="0"/>
              </a:spcBef>
              <a:spcAft>
                <a:spcPts val="0"/>
              </a:spcAft>
              <a:buNone/>
            </a:pPr>
            <a:r>
              <a:rPr lang="en">
                <a:solidFill>
                  <a:schemeClr val="lt1"/>
                </a:solidFill>
              </a:rPr>
              <a:t>How would you split the points below into 2 groups? 3 groups?</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What makes points within each group similar? How do points between groups differ?</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Are there any points that are hard to assign to a group?</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Given we have no ground truth for the points here, how would you summarize information from the clusters?</a:t>
            </a:r>
            <a:endParaRPr>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28"/>
          <p:cNvSpPr txBox="1"/>
          <p:nvPr/>
        </p:nvSpPr>
        <p:spPr>
          <a:xfrm>
            <a:off x="1506438" y="215125"/>
            <a:ext cx="604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rPr>
              <a:t>Datasets This Week</a:t>
            </a:r>
            <a:endParaRPr>
              <a:solidFill>
                <a:schemeClr val="lt1"/>
              </a:solidFill>
            </a:endParaRPr>
          </a:p>
        </p:txBody>
      </p:sp>
      <p:sp>
        <p:nvSpPr>
          <p:cNvPr id="118" name="Google Shape;118;p28"/>
          <p:cNvSpPr txBox="1"/>
          <p:nvPr/>
        </p:nvSpPr>
        <p:spPr>
          <a:xfrm>
            <a:off x="1506438" y="215125"/>
            <a:ext cx="604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rPr>
              <a:t>Datasets This Week</a:t>
            </a:r>
            <a:endParaRPr>
              <a:solidFill>
                <a:schemeClr val="lt1"/>
              </a:solidFill>
            </a:endParaRPr>
          </a:p>
        </p:txBody>
      </p:sp>
      <p:grpSp>
        <p:nvGrpSpPr>
          <p:cNvPr id="119" name="Google Shape;119;p28"/>
          <p:cNvGrpSpPr/>
          <p:nvPr/>
        </p:nvGrpSpPr>
        <p:grpSpPr>
          <a:xfrm>
            <a:off x="1729134" y="861617"/>
            <a:ext cx="2556081" cy="3981769"/>
            <a:chOff x="6047309" y="265350"/>
            <a:chExt cx="2797200" cy="4612800"/>
          </a:xfrm>
        </p:grpSpPr>
        <p:sp>
          <p:nvSpPr>
            <p:cNvPr id="120" name="Google Shape;120;p28"/>
            <p:cNvSpPr/>
            <p:nvPr/>
          </p:nvSpPr>
          <p:spPr>
            <a:xfrm>
              <a:off x="6047309" y="265350"/>
              <a:ext cx="2797200" cy="4612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8"/>
            <p:cNvSpPr txBox="1"/>
            <p:nvPr/>
          </p:nvSpPr>
          <p:spPr>
            <a:xfrm>
              <a:off x="6106938" y="349670"/>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t>Lecture</a:t>
              </a:r>
              <a:endParaRPr sz="3000">
                <a:solidFill>
                  <a:srgbClr val="000000"/>
                </a:solidFill>
              </a:endParaRPr>
            </a:p>
          </p:txBody>
        </p:sp>
        <p:sp>
          <p:nvSpPr>
            <p:cNvPr id="122" name="Google Shape;122;p28"/>
            <p:cNvSpPr txBox="1"/>
            <p:nvPr/>
          </p:nvSpPr>
          <p:spPr>
            <a:xfrm>
              <a:off x="6106938" y="3673005"/>
              <a:ext cx="2678100" cy="10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rgbClr val="000000"/>
                  </a:solidFill>
                </a:rPr>
                <a:t>Wisconsin </a:t>
              </a:r>
              <a:endParaRPr sz="1900">
                <a:solidFill>
                  <a:srgbClr val="000000"/>
                </a:solidFill>
              </a:endParaRPr>
            </a:p>
            <a:p>
              <a:pPr indent="0" lvl="0" marL="0" rtl="0" algn="ctr">
                <a:spcBef>
                  <a:spcPts val="0"/>
                </a:spcBef>
                <a:spcAft>
                  <a:spcPts val="0"/>
                </a:spcAft>
                <a:buNone/>
              </a:pPr>
              <a:r>
                <a:rPr lang="en" sz="1900">
                  <a:solidFill>
                    <a:srgbClr val="000000"/>
                  </a:solidFill>
                </a:rPr>
                <a:t>Breast Cancer</a:t>
              </a:r>
              <a:endParaRPr sz="1900">
                <a:solidFill>
                  <a:srgbClr val="000000"/>
                </a:solidFill>
              </a:endParaRPr>
            </a:p>
            <a:p>
              <a:pPr indent="0" lvl="0" marL="0" rtl="0" algn="ctr">
                <a:spcBef>
                  <a:spcPts val="0"/>
                </a:spcBef>
                <a:spcAft>
                  <a:spcPts val="0"/>
                </a:spcAft>
                <a:buNone/>
              </a:pPr>
              <a:r>
                <a:rPr lang="en" sz="1000">
                  <a:solidFill>
                    <a:srgbClr val="000000"/>
                  </a:solidFill>
                </a:rPr>
                <a:t>link: </a:t>
              </a:r>
              <a:r>
                <a:rPr lang="en" sz="1000" u="sng">
                  <a:solidFill>
                    <a:schemeClr val="hlink"/>
                  </a:solidFill>
                  <a:hlinkClick r:id="rId4"/>
                </a:rPr>
                <a:t>kaggle</a:t>
              </a:r>
              <a:endParaRPr sz="1000">
                <a:solidFill>
                  <a:srgbClr val="000000"/>
                </a:solidFill>
              </a:endParaRPr>
            </a:p>
          </p:txBody>
        </p:sp>
      </p:grpSp>
      <p:pic>
        <p:nvPicPr>
          <p:cNvPr id="123" name="Google Shape;123;p28"/>
          <p:cNvPicPr preferRelativeResize="0"/>
          <p:nvPr/>
        </p:nvPicPr>
        <p:blipFill rotWithShape="1">
          <a:blip r:embed="rId5">
            <a:alphaModFix/>
          </a:blip>
          <a:srcRect b="14908" l="0" r="0" t="0"/>
          <a:stretch/>
        </p:blipFill>
        <p:spPr>
          <a:xfrm>
            <a:off x="2236375" y="2050725"/>
            <a:ext cx="1617576" cy="1376475"/>
          </a:xfrm>
          <a:prstGeom prst="rect">
            <a:avLst/>
          </a:prstGeom>
          <a:noFill/>
          <a:ln>
            <a:noFill/>
          </a:ln>
        </p:spPr>
      </p:pic>
      <p:grpSp>
        <p:nvGrpSpPr>
          <p:cNvPr id="124" name="Google Shape;124;p28"/>
          <p:cNvGrpSpPr/>
          <p:nvPr/>
        </p:nvGrpSpPr>
        <p:grpSpPr>
          <a:xfrm>
            <a:off x="4490295" y="861617"/>
            <a:ext cx="2556081" cy="3981769"/>
            <a:chOff x="3173416" y="265350"/>
            <a:chExt cx="2797200" cy="4612800"/>
          </a:xfrm>
        </p:grpSpPr>
        <p:sp>
          <p:nvSpPr>
            <p:cNvPr id="125" name="Google Shape;125;p28"/>
            <p:cNvSpPr/>
            <p:nvPr/>
          </p:nvSpPr>
          <p:spPr>
            <a:xfrm>
              <a:off x="3173416" y="265350"/>
              <a:ext cx="2797200" cy="46128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8"/>
            <p:cNvSpPr txBox="1"/>
            <p:nvPr/>
          </p:nvSpPr>
          <p:spPr>
            <a:xfrm>
              <a:off x="3233026" y="349670"/>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t>Lab</a:t>
              </a:r>
              <a:endParaRPr sz="3000">
                <a:solidFill>
                  <a:srgbClr val="000000"/>
                </a:solidFill>
              </a:endParaRPr>
            </a:p>
          </p:txBody>
        </p:sp>
        <p:sp>
          <p:nvSpPr>
            <p:cNvPr id="127" name="Google Shape;127;p28"/>
            <p:cNvSpPr txBox="1"/>
            <p:nvPr/>
          </p:nvSpPr>
          <p:spPr>
            <a:xfrm>
              <a:off x="3233026" y="3937833"/>
              <a:ext cx="2678100" cy="74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t>Handwritten Digits</a:t>
              </a:r>
              <a:endParaRPr sz="2000">
                <a:solidFill>
                  <a:srgbClr val="000000"/>
                </a:solidFill>
              </a:endParaRPr>
            </a:p>
            <a:p>
              <a:pPr indent="0" lvl="0" marL="0" rtl="0" algn="ctr">
                <a:spcBef>
                  <a:spcPts val="0"/>
                </a:spcBef>
                <a:spcAft>
                  <a:spcPts val="0"/>
                </a:spcAft>
                <a:buClr>
                  <a:srgbClr val="000000"/>
                </a:buClr>
                <a:buSzPts val="1100"/>
                <a:buFont typeface="Arial"/>
                <a:buNone/>
              </a:pPr>
              <a:r>
                <a:rPr lang="en" sz="1000">
                  <a:solidFill>
                    <a:srgbClr val="000000"/>
                  </a:solidFill>
                </a:rPr>
                <a:t>link: </a:t>
              </a:r>
              <a:r>
                <a:rPr lang="en" sz="1000" u="sng">
                  <a:solidFill>
                    <a:schemeClr val="hlink"/>
                  </a:solidFill>
                  <a:hlinkClick r:id="rId6"/>
                </a:rPr>
                <a:t>scikit-learn</a:t>
              </a:r>
              <a:endParaRPr sz="1000">
                <a:solidFill>
                  <a:srgbClr val="000000"/>
                </a:solidFill>
              </a:endParaRPr>
            </a:p>
          </p:txBody>
        </p:sp>
      </p:grpSp>
      <p:pic>
        <p:nvPicPr>
          <p:cNvPr id="128" name="Google Shape;128;p28"/>
          <p:cNvPicPr preferRelativeResize="0"/>
          <p:nvPr/>
        </p:nvPicPr>
        <p:blipFill rotWithShape="1">
          <a:blip r:embed="rId7">
            <a:alphaModFix/>
          </a:blip>
          <a:srcRect b="9110" l="15176" r="7591" t="13942"/>
          <a:stretch/>
        </p:blipFill>
        <p:spPr>
          <a:xfrm>
            <a:off x="5229975" y="2202577"/>
            <a:ext cx="1076725" cy="1072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9"/>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Staatliches"/>
                <a:ea typeface="Staatliches"/>
                <a:cs typeface="Staatliches"/>
                <a:sym typeface="Staatliches"/>
              </a:rPr>
              <a:t>Comparing learning approaches</a:t>
            </a:r>
            <a:endParaRPr>
              <a:latin typeface="Staatliches"/>
              <a:ea typeface="Staatliches"/>
              <a:cs typeface="Staatliches"/>
              <a:sym typeface="Staatliches"/>
            </a:endParaRPr>
          </a:p>
        </p:txBody>
      </p:sp>
      <p:grpSp>
        <p:nvGrpSpPr>
          <p:cNvPr id="134" name="Google Shape;134;p29"/>
          <p:cNvGrpSpPr/>
          <p:nvPr/>
        </p:nvGrpSpPr>
        <p:grpSpPr>
          <a:xfrm>
            <a:off x="1058826" y="2154759"/>
            <a:ext cx="3244472" cy="2663431"/>
            <a:chOff x="6047309" y="265350"/>
            <a:chExt cx="2797200" cy="4612800"/>
          </a:xfrm>
        </p:grpSpPr>
        <p:sp>
          <p:nvSpPr>
            <p:cNvPr id="135" name="Google Shape;135;p29"/>
            <p:cNvSpPr/>
            <p:nvPr/>
          </p:nvSpPr>
          <p:spPr>
            <a:xfrm>
              <a:off x="6047309" y="265350"/>
              <a:ext cx="2797200" cy="4612800"/>
            </a:xfrm>
            <a:prstGeom prst="rect">
              <a:avLst/>
            </a:prstGeom>
            <a:solidFill>
              <a:srgbClr val="D9D2E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
                <a:t>response variable y</a:t>
              </a:r>
              <a:r>
                <a:rPr lang="en"/>
                <a:t> provides a </a:t>
              </a:r>
              <a:r>
                <a:rPr b="1" lang="en"/>
                <a:t>goal </a:t>
              </a:r>
              <a:r>
                <a:rPr lang="en"/>
                <a:t>for the model like </a:t>
              </a:r>
              <a:r>
                <a:rPr lang="en" u="sng"/>
                <a:t>predicting future observations of y</a:t>
              </a:r>
              <a:r>
                <a:rPr lang="en"/>
                <a:t>, as well as a </a:t>
              </a:r>
              <a:r>
                <a:rPr b="1" lang="en"/>
                <a:t>guide</a:t>
              </a:r>
              <a:r>
                <a:rPr lang="en"/>
                <a:t> for the model since </a:t>
              </a:r>
              <a:r>
                <a:rPr lang="en" u="sng"/>
                <a:t>y contains the ground truth</a:t>
              </a:r>
              <a:r>
                <a:rPr lang="en"/>
                <a:t>.</a:t>
              </a:r>
              <a:endParaRPr/>
            </a:p>
            <a:p>
              <a:pPr indent="0" lvl="0" marL="0" rtl="0" algn="ctr">
                <a:spcBef>
                  <a:spcPts val="0"/>
                </a:spcBef>
                <a:spcAft>
                  <a:spcPts val="0"/>
                </a:spcAft>
                <a:buNone/>
              </a:pPr>
              <a:r>
                <a:t/>
              </a:r>
              <a:endParaRPr/>
            </a:p>
          </p:txBody>
        </p:sp>
        <p:sp>
          <p:nvSpPr>
            <p:cNvPr id="136" name="Google Shape;136;p29"/>
            <p:cNvSpPr txBox="1"/>
            <p:nvPr/>
          </p:nvSpPr>
          <p:spPr>
            <a:xfrm>
              <a:off x="6106938" y="349670"/>
              <a:ext cx="2678100" cy="1386300"/>
            </a:xfrm>
            <a:prstGeom prst="rect">
              <a:avLst/>
            </a:prstGeom>
            <a:solidFill>
              <a:srgbClr val="D9D2E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949AF8"/>
                  </a:solidFill>
                  <a:latin typeface="Staatliches"/>
                  <a:ea typeface="Staatliches"/>
                  <a:cs typeface="Staatliches"/>
                  <a:sym typeface="Staatliches"/>
                </a:rPr>
                <a:t>Supervised</a:t>
              </a:r>
              <a:endParaRPr sz="3000">
                <a:solidFill>
                  <a:srgbClr val="949AF8"/>
                </a:solidFill>
                <a:latin typeface="Staatliches"/>
                <a:ea typeface="Staatliches"/>
                <a:cs typeface="Staatliches"/>
                <a:sym typeface="Staatliches"/>
              </a:endParaRPr>
            </a:p>
            <a:p>
              <a:pPr indent="0" lvl="0" marL="0" rtl="0" algn="ctr">
                <a:spcBef>
                  <a:spcPts val="0"/>
                </a:spcBef>
                <a:spcAft>
                  <a:spcPts val="0"/>
                </a:spcAft>
                <a:buNone/>
              </a:pPr>
              <a:r>
                <a:rPr lang="en" sz="1000"/>
                <a:t>response variable </a:t>
              </a:r>
              <a:r>
                <a:rPr b="1" lang="en" sz="1000"/>
                <a:t>y</a:t>
              </a:r>
              <a:r>
                <a:rPr lang="en" sz="1000"/>
                <a:t> is our target</a:t>
              </a:r>
              <a:endParaRPr sz="1000"/>
            </a:p>
          </p:txBody>
        </p:sp>
      </p:grpSp>
      <p:grpSp>
        <p:nvGrpSpPr>
          <p:cNvPr id="137" name="Google Shape;137;p29"/>
          <p:cNvGrpSpPr/>
          <p:nvPr/>
        </p:nvGrpSpPr>
        <p:grpSpPr>
          <a:xfrm>
            <a:off x="4563729" y="2154759"/>
            <a:ext cx="3244472" cy="2663431"/>
            <a:chOff x="3173416" y="265350"/>
            <a:chExt cx="2797200" cy="4612800"/>
          </a:xfrm>
        </p:grpSpPr>
        <p:sp>
          <p:nvSpPr>
            <p:cNvPr id="138" name="Google Shape;138;p29"/>
            <p:cNvSpPr/>
            <p:nvPr/>
          </p:nvSpPr>
          <p:spPr>
            <a:xfrm>
              <a:off x="3173416" y="265350"/>
              <a:ext cx="2797200" cy="4612800"/>
            </a:xfrm>
            <a:prstGeom prst="rect">
              <a:avLst/>
            </a:prstGeom>
            <a:solidFill>
              <a:srgbClr val="D9D2E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only have a </a:t>
              </a:r>
              <a:r>
                <a:rPr b="1" lang="en">
                  <a:solidFill>
                    <a:schemeClr val="dk1"/>
                  </a:solidFill>
                </a:rPr>
                <a:t>set of observations X </a:t>
              </a:r>
              <a:r>
                <a:rPr lang="en">
                  <a:solidFill>
                    <a:schemeClr val="dk1"/>
                  </a:solidFill>
                </a:rPr>
                <a:t>(feature set) and want to understand </a:t>
              </a:r>
              <a:r>
                <a:rPr lang="en" u="sng">
                  <a:solidFill>
                    <a:schemeClr val="dk1"/>
                  </a:solidFill>
                </a:rPr>
                <a:t>relationships</a:t>
              </a:r>
              <a:r>
                <a:rPr lang="en">
                  <a:solidFill>
                    <a:schemeClr val="dk1"/>
                  </a:solidFill>
                </a:rPr>
                <a:t> among them, which help us find patterns and groups.</a:t>
              </a:r>
              <a:endParaRPr/>
            </a:p>
          </p:txBody>
        </p:sp>
        <p:sp>
          <p:nvSpPr>
            <p:cNvPr id="139" name="Google Shape;139;p29"/>
            <p:cNvSpPr txBox="1"/>
            <p:nvPr/>
          </p:nvSpPr>
          <p:spPr>
            <a:xfrm>
              <a:off x="3233026" y="349670"/>
              <a:ext cx="2678100" cy="1386300"/>
            </a:xfrm>
            <a:prstGeom prst="rect">
              <a:avLst/>
            </a:prstGeom>
            <a:solidFill>
              <a:srgbClr val="D9D2E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783F04"/>
                  </a:solidFill>
                  <a:latin typeface="Staatliches"/>
                  <a:ea typeface="Staatliches"/>
                  <a:cs typeface="Staatliches"/>
                  <a:sym typeface="Staatliches"/>
                </a:rPr>
                <a:t>Unsupervised</a:t>
              </a:r>
              <a:endParaRPr sz="3000">
                <a:solidFill>
                  <a:srgbClr val="783F04"/>
                </a:solidFill>
                <a:latin typeface="Staatliches"/>
                <a:ea typeface="Staatliches"/>
                <a:cs typeface="Staatliches"/>
                <a:sym typeface="Staatliches"/>
              </a:endParaRPr>
            </a:p>
            <a:p>
              <a:pPr indent="0" lvl="0" marL="0" rtl="0" algn="ctr">
                <a:spcBef>
                  <a:spcPts val="0"/>
                </a:spcBef>
                <a:spcAft>
                  <a:spcPts val="0"/>
                </a:spcAft>
                <a:buClr>
                  <a:schemeClr val="dk1"/>
                </a:buClr>
                <a:buSzPts val="1100"/>
                <a:buFont typeface="Arial"/>
                <a:buNone/>
              </a:pPr>
              <a:r>
                <a:rPr lang="en" sz="1000">
                  <a:solidFill>
                    <a:schemeClr val="dk1"/>
                  </a:solidFill>
                </a:rPr>
                <a:t>contains no response variable/target</a:t>
              </a:r>
              <a:endParaRPr sz="3000">
                <a:latin typeface="Staatliches"/>
                <a:ea typeface="Staatliches"/>
                <a:cs typeface="Staatliches"/>
                <a:sym typeface="Staatliches"/>
              </a:endParaRPr>
            </a:p>
          </p:txBody>
        </p:sp>
      </p:grpSp>
      <p:sp>
        <p:nvSpPr>
          <p:cNvPr id="140" name="Google Shape;140;p29"/>
          <p:cNvSpPr txBox="1"/>
          <p:nvPr/>
        </p:nvSpPr>
        <p:spPr>
          <a:xfrm>
            <a:off x="678625" y="821800"/>
            <a:ext cx="770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have seen some examples of complete ML workflow where we have explored a </a:t>
            </a:r>
            <a:r>
              <a:rPr b="1" lang="en"/>
              <a:t>response variable y</a:t>
            </a:r>
            <a:r>
              <a:rPr lang="en"/>
              <a:t> (target/ground truth) using a set of </a:t>
            </a:r>
            <a:r>
              <a:rPr b="1" lang="en"/>
              <a:t>explanatory variables X </a:t>
            </a:r>
            <a:r>
              <a:rPr lang="en"/>
              <a:t>(feature set)</a:t>
            </a:r>
            <a:endParaRPr/>
          </a:p>
        </p:txBody>
      </p:sp>
      <p:grpSp>
        <p:nvGrpSpPr>
          <p:cNvPr id="141" name="Google Shape;141;p29"/>
          <p:cNvGrpSpPr/>
          <p:nvPr/>
        </p:nvGrpSpPr>
        <p:grpSpPr>
          <a:xfrm>
            <a:off x="301332" y="1105500"/>
            <a:ext cx="1605718" cy="1284050"/>
            <a:chOff x="301332" y="1105500"/>
            <a:chExt cx="1605718" cy="1284050"/>
          </a:xfrm>
        </p:grpSpPr>
        <p:sp>
          <p:nvSpPr>
            <p:cNvPr id="142" name="Google Shape;142;p29"/>
            <p:cNvSpPr/>
            <p:nvPr/>
          </p:nvSpPr>
          <p:spPr>
            <a:xfrm>
              <a:off x="301332" y="1105500"/>
              <a:ext cx="596275" cy="1284050"/>
            </a:xfrm>
            <a:custGeom>
              <a:rect b="b" l="l" r="r" t="t"/>
              <a:pathLst>
                <a:path extrusionOk="0" h="51362" w="23851">
                  <a:moveTo>
                    <a:pt x="16220" y="0"/>
                  </a:moveTo>
                  <a:cubicBezTo>
                    <a:pt x="13530" y="2642"/>
                    <a:pt x="-1194" y="7289"/>
                    <a:pt x="78" y="15849"/>
                  </a:cubicBezTo>
                  <a:cubicBezTo>
                    <a:pt x="1350" y="24409"/>
                    <a:pt x="19889" y="45443"/>
                    <a:pt x="23851" y="51362"/>
                  </a:cubicBezTo>
                </a:path>
              </a:pathLst>
            </a:custGeom>
            <a:noFill/>
            <a:ln cap="flat" cmpd="sng" w="9525">
              <a:solidFill>
                <a:schemeClr val="dk2"/>
              </a:solidFill>
              <a:prstDash val="solid"/>
              <a:round/>
              <a:headEnd len="med" w="med" type="none"/>
              <a:tailEnd len="med" w="med" type="stealth"/>
            </a:ln>
          </p:spPr>
        </p:sp>
        <p:sp>
          <p:nvSpPr>
            <p:cNvPr id="143" name="Google Shape;143;p29"/>
            <p:cNvSpPr txBox="1"/>
            <p:nvPr/>
          </p:nvSpPr>
          <p:spPr>
            <a:xfrm>
              <a:off x="574750" y="1751925"/>
              <a:ext cx="1332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example of</a:t>
              </a:r>
              <a:endParaRPr/>
            </a:p>
          </p:txBody>
        </p:sp>
      </p:grpSp>
      <p:grpSp>
        <p:nvGrpSpPr>
          <p:cNvPr id="144" name="Google Shape;144;p29"/>
          <p:cNvGrpSpPr/>
          <p:nvPr/>
        </p:nvGrpSpPr>
        <p:grpSpPr>
          <a:xfrm>
            <a:off x="4418650" y="1702725"/>
            <a:ext cx="3587700" cy="3111500"/>
            <a:chOff x="5104450" y="1626525"/>
            <a:chExt cx="3587700" cy="3111500"/>
          </a:xfrm>
        </p:grpSpPr>
        <p:sp>
          <p:nvSpPr>
            <p:cNvPr id="145" name="Google Shape;145;p29"/>
            <p:cNvSpPr/>
            <p:nvPr/>
          </p:nvSpPr>
          <p:spPr>
            <a:xfrm>
              <a:off x="5267375" y="2074625"/>
              <a:ext cx="3244500" cy="2663400"/>
            </a:xfrm>
            <a:prstGeom prst="rect">
              <a:avLst/>
            </a:prstGeom>
            <a:noFill/>
            <a:ln cap="flat" cmpd="sng" w="28575">
              <a:solidFill>
                <a:srgbClr val="783F0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9"/>
            <p:cNvSpPr txBox="1"/>
            <p:nvPr/>
          </p:nvSpPr>
          <p:spPr>
            <a:xfrm>
              <a:off x="5104450" y="1626525"/>
              <a:ext cx="358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let’s look at some options for this approach</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0"/>
          <p:cNvSpPr/>
          <p:nvPr/>
        </p:nvSpPr>
        <p:spPr>
          <a:xfrm>
            <a:off x="914040" y="109186"/>
            <a:ext cx="7306500" cy="907800"/>
          </a:xfrm>
          <a:prstGeom prst="rect">
            <a:avLst/>
          </a:prstGeom>
          <a:solidFill>
            <a:srgbClr val="D9D2E9"/>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600">
                <a:solidFill>
                  <a:srgbClr val="783F04"/>
                </a:solidFill>
                <a:latin typeface="Staatliches"/>
                <a:ea typeface="Staatliches"/>
                <a:cs typeface="Staatliches"/>
                <a:sym typeface="Staatliches"/>
              </a:rPr>
              <a:t>Unsupervised</a:t>
            </a:r>
            <a:endParaRPr sz="3600">
              <a:solidFill>
                <a:srgbClr val="783F04"/>
              </a:solidFill>
              <a:latin typeface="Staatliches"/>
              <a:ea typeface="Staatliches"/>
              <a:cs typeface="Staatliches"/>
              <a:sym typeface="Staatliches"/>
            </a:endParaRPr>
          </a:p>
          <a:p>
            <a:pPr indent="0" lvl="0" marL="0" rtl="0" algn="ctr">
              <a:spcBef>
                <a:spcPts val="0"/>
              </a:spcBef>
              <a:spcAft>
                <a:spcPts val="0"/>
              </a:spcAft>
              <a:buNone/>
            </a:pPr>
            <a:r>
              <a:rPr lang="en" sz="900">
                <a:solidFill>
                  <a:schemeClr val="dk1"/>
                </a:solidFill>
              </a:rPr>
              <a:t>contains no response variable/target, only have a </a:t>
            </a:r>
            <a:r>
              <a:rPr b="1" lang="en" sz="900">
                <a:solidFill>
                  <a:schemeClr val="dk1"/>
                </a:solidFill>
              </a:rPr>
              <a:t>set of observations X </a:t>
            </a:r>
            <a:r>
              <a:rPr lang="en" sz="900">
                <a:solidFill>
                  <a:schemeClr val="dk1"/>
                </a:solidFill>
              </a:rPr>
              <a:t>(feature set) and want to understand </a:t>
            </a:r>
            <a:r>
              <a:rPr lang="en" sz="900" u="sng">
                <a:solidFill>
                  <a:schemeClr val="dk1"/>
                </a:solidFill>
              </a:rPr>
              <a:t>relationships</a:t>
            </a:r>
            <a:r>
              <a:rPr lang="en" sz="900">
                <a:solidFill>
                  <a:schemeClr val="dk1"/>
                </a:solidFill>
              </a:rPr>
              <a:t> among them.</a:t>
            </a:r>
            <a:endParaRPr sz="900"/>
          </a:p>
        </p:txBody>
      </p:sp>
      <p:grpSp>
        <p:nvGrpSpPr>
          <p:cNvPr id="152" name="Google Shape;152;p30"/>
          <p:cNvGrpSpPr/>
          <p:nvPr/>
        </p:nvGrpSpPr>
        <p:grpSpPr>
          <a:xfrm>
            <a:off x="914050" y="1093358"/>
            <a:ext cx="3597759" cy="1894933"/>
            <a:chOff x="3173400" y="265306"/>
            <a:chExt cx="2797200" cy="7674900"/>
          </a:xfrm>
        </p:grpSpPr>
        <p:sp>
          <p:nvSpPr>
            <p:cNvPr id="153" name="Google Shape;153;p30"/>
            <p:cNvSpPr/>
            <p:nvPr/>
          </p:nvSpPr>
          <p:spPr>
            <a:xfrm>
              <a:off x="3173400" y="265306"/>
              <a:ext cx="2797200" cy="7674900"/>
            </a:xfrm>
            <a:prstGeom prst="rect">
              <a:avLst/>
            </a:prstGeom>
            <a:solidFill>
              <a:srgbClr val="EFEFEF"/>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taatliches"/>
                  <a:ea typeface="Staatliches"/>
                  <a:cs typeface="Staatliches"/>
                  <a:sym typeface="Staatliches"/>
                </a:rPr>
                <a:t>algorithms</a:t>
              </a:r>
              <a:r>
                <a:rPr lang="en" sz="1200">
                  <a:solidFill>
                    <a:schemeClr val="dk1"/>
                  </a:solidFill>
                </a:rPr>
                <a:t> </a:t>
              </a:r>
              <a:endParaRPr sz="1200">
                <a:solidFill>
                  <a:schemeClr val="dk1"/>
                </a:solidFill>
              </a:endParaRPr>
            </a:p>
            <a:p>
              <a:pPr indent="0" lvl="0" marL="0" rtl="0" algn="l">
                <a:spcBef>
                  <a:spcPts val="0"/>
                </a:spcBef>
                <a:spcAft>
                  <a:spcPts val="0"/>
                </a:spcAft>
                <a:buNone/>
              </a:pPr>
              <a:r>
                <a:rPr lang="en" sz="1200">
                  <a:solidFill>
                    <a:srgbClr val="783F04"/>
                  </a:solidFill>
                </a:rPr>
                <a:t>apriori</a:t>
              </a:r>
              <a:r>
                <a:rPr lang="en" sz="1200">
                  <a:solidFill>
                    <a:schemeClr val="dk1"/>
                  </a:solidFill>
                </a:rPr>
                <a:t>: frequent item pairs</a:t>
              </a:r>
              <a:endParaRPr sz="1200">
                <a:solidFill>
                  <a:schemeClr val="dk1"/>
                </a:solidFill>
              </a:endParaRPr>
            </a:p>
            <a:p>
              <a:pPr indent="0" lvl="0" marL="0" rtl="0" algn="l">
                <a:spcBef>
                  <a:spcPts val="0"/>
                </a:spcBef>
                <a:spcAft>
                  <a:spcPts val="0"/>
                </a:spcAft>
                <a:buNone/>
              </a:pPr>
              <a:r>
                <a:rPr lang="en" sz="1200">
                  <a:solidFill>
                    <a:srgbClr val="783F04"/>
                  </a:solidFill>
                </a:rPr>
                <a:t>FP-Growth</a:t>
              </a:r>
              <a:r>
                <a:rPr lang="en" sz="1200">
                  <a:solidFill>
                    <a:schemeClr val="dk1"/>
                  </a:solidFill>
                </a:rPr>
                <a:t>: compressed pattern tree</a:t>
              </a:r>
              <a:endParaRPr sz="1200">
                <a:solidFill>
                  <a:schemeClr val="dk1"/>
                </a:solidFill>
              </a:endParaRPr>
            </a:p>
            <a:p>
              <a:pPr indent="0" lvl="0" marL="0" rtl="0" algn="l">
                <a:spcBef>
                  <a:spcPts val="0"/>
                </a:spcBef>
                <a:spcAft>
                  <a:spcPts val="0"/>
                </a:spcAft>
                <a:buNone/>
              </a:pPr>
              <a:r>
                <a:rPr lang="en" sz="1200">
                  <a:solidFill>
                    <a:schemeClr val="dk1"/>
                  </a:solidFill>
                  <a:latin typeface="Staatliches"/>
                  <a:ea typeface="Staatliches"/>
                  <a:cs typeface="Staatliches"/>
                  <a:sym typeface="Staatliches"/>
                </a:rPr>
                <a:t>use cases</a:t>
              </a:r>
              <a:r>
                <a:rPr lang="en" sz="1200">
                  <a:solidFill>
                    <a:schemeClr val="dk1"/>
                  </a:solidFill>
                </a:rPr>
                <a:t> market basket analysis, product recs, health care diagnoses, drug interactions</a:t>
              </a:r>
              <a:endParaRPr sz="1200">
                <a:solidFill>
                  <a:schemeClr val="dk1"/>
                </a:solidFill>
              </a:endParaRPr>
            </a:p>
          </p:txBody>
        </p:sp>
        <p:sp>
          <p:nvSpPr>
            <p:cNvPr id="154" name="Google Shape;154;p30"/>
            <p:cNvSpPr txBox="1"/>
            <p:nvPr/>
          </p:nvSpPr>
          <p:spPr>
            <a:xfrm>
              <a:off x="3233026" y="349670"/>
              <a:ext cx="2678100" cy="3241800"/>
            </a:xfrm>
            <a:prstGeom prst="rect">
              <a:avLst/>
            </a:prstGeom>
            <a:solidFill>
              <a:srgbClr val="EFEFEF"/>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Staatliches"/>
                  <a:ea typeface="Staatliches"/>
                  <a:cs typeface="Staatliches"/>
                  <a:sym typeface="Staatliches"/>
                </a:rPr>
                <a:t>Association rule</a:t>
              </a:r>
              <a:endParaRPr sz="3000">
                <a:latin typeface="Staatliches"/>
                <a:ea typeface="Staatliches"/>
                <a:cs typeface="Staatliches"/>
                <a:sym typeface="Staatliches"/>
              </a:endParaRPr>
            </a:p>
            <a:p>
              <a:pPr indent="0" lvl="0" marL="0" rtl="0" algn="ctr">
                <a:spcBef>
                  <a:spcPts val="0"/>
                </a:spcBef>
                <a:spcAft>
                  <a:spcPts val="0"/>
                </a:spcAft>
                <a:buNone/>
              </a:pPr>
              <a:r>
                <a:rPr lang="en" sz="1000">
                  <a:solidFill>
                    <a:schemeClr val="dk1"/>
                  </a:solidFill>
                </a:rPr>
                <a:t>finding frequent patterns or rules</a:t>
              </a:r>
              <a:endParaRPr sz="3000">
                <a:latin typeface="Staatliches"/>
                <a:ea typeface="Staatliches"/>
                <a:cs typeface="Staatliches"/>
                <a:sym typeface="Staatliches"/>
              </a:endParaRPr>
            </a:p>
          </p:txBody>
        </p:sp>
      </p:grpSp>
      <p:grpSp>
        <p:nvGrpSpPr>
          <p:cNvPr id="155" name="Google Shape;155;p30"/>
          <p:cNvGrpSpPr/>
          <p:nvPr/>
        </p:nvGrpSpPr>
        <p:grpSpPr>
          <a:xfrm>
            <a:off x="914050" y="3035517"/>
            <a:ext cx="3597759" cy="1894933"/>
            <a:chOff x="3173400" y="265306"/>
            <a:chExt cx="2797200" cy="7674900"/>
          </a:xfrm>
        </p:grpSpPr>
        <p:sp>
          <p:nvSpPr>
            <p:cNvPr id="156" name="Google Shape;156;p30"/>
            <p:cNvSpPr/>
            <p:nvPr/>
          </p:nvSpPr>
          <p:spPr>
            <a:xfrm>
              <a:off x="3173400" y="265306"/>
              <a:ext cx="2797200" cy="7674900"/>
            </a:xfrm>
            <a:prstGeom prst="rect">
              <a:avLst/>
            </a:prstGeom>
            <a:solidFill>
              <a:srgbClr val="D9D2E9"/>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taatliches"/>
                  <a:ea typeface="Staatliches"/>
                  <a:cs typeface="Staatliches"/>
                  <a:sym typeface="Staatliches"/>
                </a:rPr>
                <a:t>algorithms</a:t>
              </a:r>
              <a:r>
                <a:rPr lang="en" sz="1200">
                  <a:solidFill>
                    <a:schemeClr val="dk1"/>
                  </a:solidFill>
                </a:rPr>
                <a:t> </a:t>
              </a:r>
              <a:endParaRPr sz="1200">
                <a:solidFill>
                  <a:schemeClr val="dk1"/>
                </a:solidFill>
              </a:endParaRPr>
            </a:p>
            <a:p>
              <a:pPr indent="0" lvl="0" marL="0" rtl="0" algn="l">
                <a:spcBef>
                  <a:spcPts val="0"/>
                </a:spcBef>
                <a:spcAft>
                  <a:spcPts val="0"/>
                </a:spcAft>
                <a:buNone/>
              </a:pPr>
              <a:r>
                <a:rPr lang="en" sz="1200">
                  <a:solidFill>
                    <a:srgbClr val="783F04"/>
                  </a:solidFill>
                </a:rPr>
                <a:t>PCA</a:t>
              </a:r>
              <a:r>
                <a:rPr lang="en" sz="1200">
                  <a:solidFill>
                    <a:schemeClr val="dk1"/>
                  </a:solidFill>
                </a:rPr>
                <a:t>: most important features</a:t>
              </a:r>
              <a:endParaRPr sz="1200">
                <a:solidFill>
                  <a:schemeClr val="dk1"/>
                </a:solidFill>
              </a:endParaRPr>
            </a:p>
            <a:p>
              <a:pPr indent="0" lvl="0" marL="0" rtl="0" algn="l">
                <a:spcBef>
                  <a:spcPts val="0"/>
                </a:spcBef>
                <a:spcAft>
                  <a:spcPts val="0"/>
                </a:spcAft>
                <a:buNone/>
              </a:pPr>
              <a:r>
                <a:rPr lang="en" sz="1200">
                  <a:solidFill>
                    <a:srgbClr val="783F04"/>
                  </a:solidFill>
                </a:rPr>
                <a:t>t-SNE</a:t>
              </a:r>
              <a:r>
                <a:rPr lang="en" sz="1200">
                  <a:solidFill>
                    <a:schemeClr val="dk1"/>
                  </a:solidFill>
                </a:rPr>
                <a:t>: visualizes high dimensions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rgbClr val="783F04"/>
                  </a:solidFill>
                </a:rPr>
                <a:t>autoencoders</a:t>
              </a:r>
              <a:r>
                <a:rPr lang="en" sz="1200">
                  <a:solidFill>
                    <a:schemeClr val="dk1"/>
                  </a:solidFill>
                </a:rPr>
                <a:t>: compresses + reconstructs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latin typeface="Staatliches"/>
                  <a:ea typeface="Staatliches"/>
                  <a:cs typeface="Staatliches"/>
                  <a:sym typeface="Staatliches"/>
                </a:rPr>
                <a:t>use cases</a:t>
              </a:r>
              <a:r>
                <a:rPr lang="en" sz="1200">
                  <a:solidFill>
                    <a:schemeClr val="dk1"/>
                  </a:solidFill>
                </a:rPr>
                <a:t> visualizing high dimensional data, reducing noise, deep learning, RNA sequencing</a:t>
              </a:r>
              <a:endParaRPr sz="1200">
                <a:solidFill>
                  <a:schemeClr val="dk1"/>
                </a:solidFill>
              </a:endParaRPr>
            </a:p>
          </p:txBody>
        </p:sp>
        <p:sp>
          <p:nvSpPr>
            <p:cNvPr id="157" name="Google Shape;157;p30"/>
            <p:cNvSpPr txBox="1"/>
            <p:nvPr/>
          </p:nvSpPr>
          <p:spPr>
            <a:xfrm>
              <a:off x="3233026" y="349657"/>
              <a:ext cx="2737500" cy="2930100"/>
            </a:xfrm>
            <a:prstGeom prst="rect">
              <a:avLst/>
            </a:prstGeom>
            <a:solidFill>
              <a:srgbClr val="D9D2E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latin typeface="Staatliches"/>
                  <a:ea typeface="Staatliches"/>
                  <a:cs typeface="Staatliches"/>
                  <a:sym typeface="Staatliches"/>
                </a:rPr>
                <a:t>Dimension reduction</a:t>
              </a:r>
              <a:endParaRPr sz="2500">
                <a:latin typeface="Staatliches"/>
                <a:ea typeface="Staatliches"/>
                <a:cs typeface="Staatliches"/>
                <a:sym typeface="Staatliches"/>
              </a:endParaRPr>
            </a:p>
            <a:p>
              <a:pPr indent="0" lvl="0" marL="0" rtl="0" algn="ctr">
                <a:spcBef>
                  <a:spcPts val="0"/>
                </a:spcBef>
                <a:spcAft>
                  <a:spcPts val="0"/>
                </a:spcAft>
                <a:buNone/>
              </a:pPr>
              <a:r>
                <a:rPr lang="en" sz="1000">
                  <a:solidFill>
                    <a:schemeClr val="dk1"/>
                  </a:solidFill>
                </a:rPr>
                <a:t>reduce features while preserving information</a:t>
              </a:r>
              <a:endParaRPr sz="3000">
                <a:latin typeface="Staatliches"/>
                <a:ea typeface="Staatliches"/>
                <a:cs typeface="Staatliches"/>
                <a:sym typeface="Staatliches"/>
              </a:endParaRPr>
            </a:p>
          </p:txBody>
        </p:sp>
      </p:grpSp>
      <p:grpSp>
        <p:nvGrpSpPr>
          <p:cNvPr id="158" name="Google Shape;158;p30"/>
          <p:cNvGrpSpPr/>
          <p:nvPr/>
        </p:nvGrpSpPr>
        <p:grpSpPr>
          <a:xfrm>
            <a:off x="4622840" y="1093362"/>
            <a:ext cx="3597760" cy="1894933"/>
            <a:chOff x="3173400" y="370867"/>
            <a:chExt cx="2797201" cy="7674900"/>
          </a:xfrm>
        </p:grpSpPr>
        <p:sp>
          <p:nvSpPr>
            <p:cNvPr id="159" name="Google Shape;159;p30"/>
            <p:cNvSpPr/>
            <p:nvPr/>
          </p:nvSpPr>
          <p:spPr>
            <a:xfrm>
              <a:off x="3173400" y="370867"/>
              <a:ext cx="2797200" cy="7674900"/>
            </a:xfrm>
            <a:prstGeom prst="rect">
              <a:avLst/>
            </a:prstGeom>
            <a:solidFill>
              <a:srgbClr val="949AF8"/>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taatliches"/>
                  <a:ea typeface="Staatliches"/>
                  <a:cs typeface="Staatliches"/>
                  <a:sym typeface="Staatliches"/>
                </a:rPr>
                <a:t>algorithms</a:t>
              </a:r>
              <a:r>
                <a:rPr lang="en" sz="1200">
                  <a:solidFill>
                    <a:schemeClr val="dk1"/>
                  </a:solidFill>
                </a:rPr>
                <a:t> </a:t>
              </a:r>
              <a:endParaRPr sz="1200">
                <a:solidFill>
                  <a:schemeClr val="dk1"/>
                </a:solidFill>
              </a:endParaRPr>
            </a:p>
            <a:p>
              <a:pPr indent="0" lvl="0" marL="0" rtl="0" algn="l">
                <a:spcBef>
                  <a:spcPts val="0"/>
                </a:spcBef>
                <a:spcAft>
                  <a:spcPts val="0"/>
                </a:spcAft>
                <a:buNone/>
              </a:pPr>
              <a:r>
                <a:rPr b="1" lang="en" sz="1200">
                  <a:solidFill>
                    <a:srgbClr val="9334E6"/>
                  </a:solidFill>
                </a:rPr>
                <a:t>k-means</a:t>
              </a:r>
              <a:r>
                <a:rPr lang="en" sz="1200">
                  <a:solidFill>
                    <a:schemeClr val="dk1"/>
                  </a:solidFill>
                </a:rPr>
                <a:t>: average-based group centers</a:t>
              </a:r>
              <a:endParaRPr sz="1200">
                <a:solidFill>
                  <a:schemeClr val="dk1"/>
                </a:solidFill>
              </a:endParaRPr>
            </a:p>
            <a:p>
              <a:pPr indent="0" lvl="0" marL="0" rtl="0" algn="l">
                <a:spcBef>
                  <a:spcPts val="0"/>
                </a:spcBef>
                <a:spcAft>
                  <a:spcPts val="0"/>
                </a:spcAft>
                <a:buNone/>
              </a:pPr>
              <a:r>
                <a:rPr lang="en" sz="1200">
                  <a:solidFill>
                    <a:srgbClr val="783F04"/>
                  </a:solidFill>
                </a:rPr>
                <a:t>hierarchical</a:t>
              </a:r>
              <a:r>
                <a:rPr lang="en" sz="1200">
                  <a:solidFill>
                    <a:schemeClr val="dk1"/>
                  </a:solidFill>
                </a:rPr>
                <a:t>: nested groups</a:t>
              </a:r>
              <a:endParaRPr sz="1200">
                <a:solidFill>
                  <a:schemeClr val="dk1"/>
                </a:solidFill>
              </a:endParaRPr>
            </a:p>
            <a:p>
              <a:pPr indent="0" lvl="0" marL="0" rtl="0" algn="l">
                <a:spcBef>
                  <a:spcPts val="0"/>
                </a:spcBef>
                <a:spcAft>
                  <a:spcPts val="0"/>
                </a:spcAft>
                <a:buNone/>
              </a:pPr>
              <a:r>
                <a:rPr lang="en" sz="1200">
                  <a:solidFill>
                    <a:srgbClr val="783F04"/>
                  </a:solidFill>
                </a:rPr>
                <a:t>DBSCAN</a:t>
              </a:r>
              <a:r>
                <a:rPr lang="en" sz="1200">
                  <a:solidFill>
                    <a:schemeClr val="dk1"/>
                  </a:solidFill>
                </a:rPr>
                <a:t>: point density groups</a:t>
              </a:r>
              <a:endParaRPr sz="1200">
                <a:solidFill>
                  <a:schemeClr val="dk1"/>
                </a:solidFill>
              </a:endParaRPr>
            </a:p>
            <a:p>
              <a:pPr indent="0" lvl="0" marL="0" rtl="0" algn="l">
                <a:spcBef>
                  <a:spcPts val="0"/>
                </a:spcBef>
                <a:spcAft>
                  <a:spcPts val="0"/>
                </a:spcAft>
                <a:buNone/>
              </a:pPr>
              <a:r>
                <a:rPr lang="en" sz="1200">
                  <a:solidFill>
                    <a:schemeClr val="dk1"/>
                  </a:solidFill>
                  <a:latin typeface="Staatliches"/>
                  <a:ea typeface="Staatliches"/>
                  <a:cs typeface="Staatliches"/>
                  <a:sym typeface="Staatliches"/>
                </a:rPr>
                <a:t>use cases</a:t>
              </a:r>
              <a:r>
                <a:rPr lang="en" sz="1200">
                  <a:solidFill>
                    <a:schemeClr val="dk1"/>
                  </a:solidFill>
                </a:rPr>
                <a:t> customer segmentation, similar documents, social network connections, DNA</a:t>
              </a:r>
              <a:endParaRPr sz="1200">
                <a:solidFill>
                  <a:schemeClr val="dk1"/>
                </a:solidFill>
              </a:endParaRPr>
            </a:p>
          </p:txBody>
        </p:sp>
        <p:sp>
          <p:nvSpPr>
            <p:cNvPr id="160" name="Google Shape;160;p30"/>
            <p:cNvSpPr txBox="1"/>
            <p:nvPr/>
          </p:nvSpPr>
          <p:spPr>
            <a:xfrm>
              <a:off x="3233101" y="370871"/>
              <a:ext cx="2737500" cy="2930100"/>
            </a:xfrm>
            <a:prstGeom prst="rect">
              <a:avLst/>
            </a:prstGeom>
            <a:solidFill>
              <a:srgbClr val="949A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solidFill>
                    <a:schemeClr val="dk1"/>
                  </a:solidFill>
                  <a:latin typeface="Staatliches"/>
                  <a:ea typeface="Staatliches"/>
                  <a:cs typeface="Staatliches"/>
                  <a:sym typeface="Staatliches"/>
                </a:rPr>
                <a:t>clustering</a:t>
              </a:r>
              <a:endParaRPr sz="2500">
                <a:solidFill>
                  <a:schemeClr val="dk1"/>
                </a:solidFill>
                <a:latin typeface="Staatliches"/>
                <a:ea typeface="Staatliches"/>
                <a:cs typeface="Staatliches"/>
                <a:sym typeface="Staatliches"/>
              </a:endParaRPr>
            </a:p>
            <a:p>
              <a:pPr indent="0" lvl="0" marL="0" rtl="0" algn="ctr">
                <a:spcBef>
                  <a:spcPts val="0"/>
                </a:spcBef>
                <a:spcAft>
                  <a:spcPts val="0"/>
                </a:spcAft>
                <a:buNone/>
              </a:pPr>
              <a:r>
                <a:rPr lang="en" sz="1000">
                  <a:solidFill>
                    <a:schemeClr val="dk1"/>
                  </a:solidFill>
                </a:rPr>
                <a:t>grouping similar data by characteristics</a:t>
              </a:r>
              <a:endParaRPr sz="3000">
                <a:latin typeface="Staatliches"/>
                <a:ea typeface="Staatliches"/>
                <a:cs typeface="Staatliches"/>
                <a:sym typeface="Staatliches"/>
              </a:endParaRPr>
            </a:p>
          </p:txBody>
        </p:sp>
      </p:grpSp>
      <p:grpSp>
        <p:nvGrpSpPr>
          <p:cNvPr id="161" name="Google Shape;161;p30"/>
          <p:cNvGrpSpPr/>
          <p:nvPr/>
        </p:nvGrpSpPr>
        <p:grpSpPr>
          <a:xfrm>
            <a:off x="4622840" y="3035517"/>
            <a:ext cx="3597759" cy="1894933"/>
            <a:chOff x="3173400" y="265306"/>
            <a:chExt cx="2797200" cy="7674900"/>
          </a:xfrm>
        </p:grpSpPr>
        <p:sp>
          <p:nvSpPr>
            <p:cNvPr id="162" name="Google Shape;162;p30"/>
            <p:cNvSpPr/>
            <p:nvPr/>
          </p:nvSpPr>
          <p:spPr>
            <a:xfrm>
              <a:off x="3173400" y="265306"/>
              <a:ext cx="2797200" cy="7674900"/>
            </a:xfrm>
            <a:prstGeom prst="rect">
              <a:avLst/>
            </a:prstGeom>
            <a:solidFill>
              <a:schemeClr val="lt2"/>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taatliches"/>
                  <a:ea typeface="Staatliches"/>
                  <a:cs typeface="Staatliches"/>
                  <a:sym typeface="Staatliches"/>
                </a:rPr>
                <a:t>algorithms</a:t>
              </a:r>
              <a:r>
                <a:rPr lang="en" sz="1200">
                  <a:solidFill>
                    <a:schemeClr val="dk1"/>
                  </a:solidFill>
                </a:rPr>
                <a:t> </a:t>
              </a:r>
              <a:endParaRPr sz="1200">
                <a:solidFill>
                  <a:schemeClr val="dk1"/>
                </a:solidFill>
              </a:endParaRPr>
            </a:p>
            <a:p>
              <a:pPr indent="0" lvl="0" marL="0" rtl="0" algn="l">
                <a:spcBef>
                  <a:spcPts val="0"/>
                </a:spcBef>
                <a:spcAft>
                  <a:spcPts val="0"/>
                </a:spcAft>
                <a:buNone/>
              </a:pPr>
              <a:r>
                <a:rPr lang="en" sz="1200">
                  <a:solidFill>
                    <a:srgbClr val="783F04"/>
                  </a:solidFill>
                </a:rPr>
                <a:t>isolated forests</a:t>
              </a:r>
              <a:r>
                <a:rPr lang="en" sz="1200">
                  <a:solidFill>
                    <a:schemeClr val="dk1"/>
                  </a:solidFill>
                </a:rPr>
                <a:t>: isolates outliers recursively</a:t>
              </a:r>
              <a:endParaRPr sz="1200">
                <a:solidFill>
                  <a:schemeClr val="dk1"/>
                </a:solidFill>
              </a:endParaRPr>
            </a:p>
            <a:p>
              <a:pPr indent="0" lvl="0" marL="0" rtl="0" algn="l">
                <a:spcBef>
                  <a:spcPts val="0"/>
                </a:spcBef>
                <a:spcAft>
                  <a:spcPts val="0"/>
                </a:spcAft>
                <a:buNone/>
              </a:pPr>
              <a:r>
                <a:rPr lang="en" sz="1200">
                  <a:solidFill>
                    <a:srgbClr val="783F04"/>
                  </a:solidFill>
                </a:rPr>
                <a:t>SVM</a:t>
              </a:r>
              <a:r>
                <a:rPr lang="en" sz="1200">
                  <a:solidFill>
                    <a:schemeClr val="dk1"/>
                  </a:solidFill>
                </a:rPr>
                <a:t>: finds boundaries</a:t>
              </a:r>
              <a:endParaRPr sz="1200">
                <a:solidFill>
                  <a:schemeClr val="dk1"/>
                </a:solidFill>
              </a:endParaRPr>
            </a:p>
            <a:p>
              <a:pPr indent="0" lvl="0" marL="0" rtl="0" algn="l">
                <a:spcBef>
                  <a:spcPts val="0"/>
                </a:spcBef>
                <a:spcAft>
                  <a:spcPts val="0"/>
                </a:spcAft>
                <a:buNone/>
              </a:pPr>
              <a:r>
                <a:rPr lang="en" sz="1200">
                  <a:solidFill>
                    <a:srgbClr val="783F04"/>
                  </a:solidFill>
                </a:rPr>
                <a:t>LOF</a:t>
              </a:r>
              <a:r>
                <a:rPr lang="en" sz="1200">
                  <a:solidFill>
                    <a:schemeClr val="dk1"/>
                  </a:solidFill>
                </a:rPr>
                <a:t>: compare local point densities</a:t>
              </a:r>
              <a:endParaRPr sz="1200">
                <a:solidFill>
                  <a:schemeClr val="dk1"/>
                </a:solidFill>
              </a:endParaRPr>
            </a:p>
            <a:p>
              <a:pPr indent="0" lvl="0" marL="0" rtl="0" algn="l">
                <a:spcBef>
                  <a:spcPts val="0"/>
                </a:spcBef>
                <a:spcAft>
                  <a:spcPts val="0"/>
                </a:spcAft>
                <a:buNone/>
              </a:pPr>
              <a:r>
                <a:rPr lang="en" sz="1200">
                  <a:solidFill>
                    <a:schemeClr val="dk1"/>
                  </a:solidFill>
                  <a:latin typeface="Staatliches"/>
                  <a:ea typeface="Staatliches"/>
                  <a:cs typeface="Staatliches"/>
                  <a:sym typeface="Staatliches"/>
                </a:rPr>
                <a:t>use cases</a:t>
              </a:r>
              <a:r>
                <a:rPr lang="en" sz="1200">
                  <a:solidFill>
                    <a:schemeClr val="dk1"/>
                  </a:solidFill>
                </a:rPr>
                <a:t> financial fraud, system health monitoring, quality control, bacterial growth</a:t>
              </a:r>
              <a:endParaRPr sz="1200">
                <a:solidFill>
                  <a:schemeClr val="dk1"/>
                </a:solidFill>
              </a:endParaRPr>
            </a:p>
          </p:txBody>
        </p:sp>
        <p:sp>
          <p:nvSpPr>
            <p:cNvPr id="163" name="Google Shape;163;p30"/>
            <p:cNvSpPr txBox="1"/>
            <p:nvPr/>
          </p:nvSpPr>
          <p:spPr>
            <a:xfrm>
              <a:off x="3233026" y="349657"/>
              <a:ext cx="2737500" cy="29301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latin typeface="Staatliches"/>
                  <a:ea typeface="Staatliches"/>
                  <a:cs typeface="Staatliches"/>
                  <a:sym typeface="Staatliches"/>
                </a:rPr>
                <a:t>Anomaly detection</a:t>
              </a:r>
              <a:endParaRPr sz="2500">
                <a:latin typeface="Staatliches"/>
                <a:ea typeface="Staatliches"/>
                <a:cs typeface="Staatliches"/>
                <a:sym typeface="Staatliches"/>
              </a:endParaRPr>
            </a:p>
            <a:p>
              <a:pPr indent="0" lvl="0" marL="0" rtl="0" algn="ctr">
                <a:spcBef>
                  <a:spcPts val="0"/>
                </a:spcBef>
                <a:spcAft>
                  <a:spcPts val="0"/>
                </a:spcAft>
                <a:buNone/>
              </a:pPr>
              <a:r>
                <a:rPr lang="en" sz="1000">
                  <a:solidFill>
                    <a:schemeClr val="dk1"/>
                  </a:solidFill>
                </a:rPr>
                <a:t>finds unusual behaviors that deviate from expectations</a:t>
              </a:r>
              <a:endParaRPr sz="3000">
                <a:latin typeface="Staatliches"/>
                <a:ea typeface="Staatliches"/>
                <a:cs typeface="Staatliches"/>
                <a:sym typeface="Staatliche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grpSp>
        <p:nvGrpSpPr>
          <p:cNvPr id="168" name="Google Shape;168;p31"/>
          <p:cNvGrpSpPr/>
          <p:nvPr/>
        </p:nvGrpSpPr>
        <p:grpSpPr>
          <a:xfrm>
            <a:off x="914050" y="3035517"/>
            <a:ext cx="3597759" cy="1894933"/>
            <a:chOff x="3173400" y="265306"/>
            <a:chExt cx="2797200" cy="7674900"/>
          </a:xfrm>
        </p:grpSpPr>
        <p:sp>
          <p:nvSpPr>
            <p:cNvPr id="169" name="Google Shape;169;p31"/>
            <p:cNvSpPr/>
            <p:nvPr/>
          </p:nvSpPr>
          <p:spPr>
            <a:xfrm>
              <a:off x="3173400" y="265306"/>
              <a:ext cx="2797200" cy="7674900"/>
            </a:xfrm>
            <a:prstGeom prst="rect">
              <a:avLst/>
            </a:prstGeom>
            <a:solidFill>
              <a:srgbClr val="D9D2E9"/>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Staatliches"/>
                  <a:ea typeface="Staatliches"/>
                  <a:cs typeface="Staatliches"/>
                  <a:sym typeface="Staatliches"/>
                </a:rPr>
                <a:t>algorithms</a:t>
              </a:r>
              <a:r>
                <a:rPr lang="en" sz="1200">
                  <a:solidFill>
                    <a:schemeClr val="dk1"/>
                  </a:solidFill>
                </a:rPr>
                <a:t> </a:t>
              </a:r>
              <a:endParaRPr sz="1200">
                <a:solidFill>
                  <a:schemeClr val="dk1"/>
                </a:solidFill>
              </a:endParaRPr>
            </a:p>
            <a:p>
              <a:pPr indent="0" lvl="0" marL="0" rtl="0" algn="l">
                <a:spcBef>
                  <a:spcPts val="0"/>
                </a:spcBef>
                <a:spcAft>
                  <a:spcPts val="0"/>
                </a:spcAft>
                <a:buNone/>
              </a:pPr>
              <a:r>
                <a:rPr b="1" lang="en" sz="1200">
                  <a:solidFill>
                    <a:srgbClr val="9334E6"/>
                  </a:solidFill>
                </a:rPr>
                <a:t>PCA</a:t>
              </a:r>
              <a:r>
                <a:rPr lang="en" sz="1200">
                  <a:solidFill>
                    <a:schemeClr val="dk1"/>
                  </a:solidFill>
                </a:rPr>
                <a:t>: most important features</a:t>
              </a:r>
              <a:endParaRPr sz="1200">
                <a:solidFill>
                  <a:schemeClr val="dk1"/>
                </a:solidFill>
              </a:endParaRPr>
            </a:p>
            <a:p>
              <a:pPr indent="0" lvl="0" marL="0" rtl="0" algn="l">
                <a:spcBef>
                  <a:spcPts val="0"/>
                </a:spcBef>
                <a:spcAft>
                  <a:spcPts val="0"/>
                </a:spcAft>
                <a:buNone/>
              </a:pPr>
              <a:r>
                <a:rPr lang="en" sz="1200">
                  <a:solidFill>
                    <a:srgbClr val="783F04"/>
                  </a:solidFill>
                </a:rPr>
                <a:t>t-SNE</a:t>
              </a:r>
              <a:r>
                <a:rPr lang="en" sz="1200">
                  <a:solidFill>
                    <a:schemeClr val="dk1"/>
                  </a:solidFill>
                </a:rPr>
                <a:t>: visualizes high dimensions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rgbClr val="783F04"/>
                  </a:solidFill>
                </a:rPr>
                <a:t>autoencoders</a:t>
              </a:r>
              <a:r>
                <a:rPr lang="en" sz="1200">
                  <a:solidFill>
                    <a:schemeClr val="dk1"/>
                  </a:solidFill>
                </a:rPr>
                <a:t>: compresses + reconstructs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latin typeface="Staatliches"/>
                  <a:ea typeface="Staatliches"/>
                  <a:cs typeface="Staatliches"/>
                  <a:sym typeface="Staatliches"/>
                </a:rPr>
                <a:t>use cases</a:t>
              </a:r>
              <a:r>
                <a:rPr lang="en" sz="1200">
                  <a:solidFill>
                    <a:schemeClr val="dk1"/>
                  </a:solidFill>
                </a:rPr>
                <a:t> visualizing high dimensional data, reducing noise, deep learning, RNA sequencing</a:t>
              </a:r>
              <a:endParaRPr sz="1200">
                <a:solidFill>
                  <a:schemeClr val="dk1"/>
                </a:solidFill>
              </a:endParaRPr>
            </a:p>
          </p:txBody>
        </p:sp>
        <p:sp>
          <p:nvSpPr>
            <p:cNvPr id="170" name="Google Shape;170;p31"/>
            <p:cNvSpPr txBox="1"/>
            <p:nvPr/>
          </p:nvSpPr>
          <p:spPr>
            <a:xfrm>
              <a:off x="3233026" y="349657"/>
              <a:ext cx="2737500" cy="2930100"/>
            </a:xfrm>
            <a:prstGeom prst="rect">
              <a:avLst/>
            </a:prstGeom>
            <a:solidFill>
              <a:srgbClr val="D9D2E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latin typeface="Staatliches"/>
                  <a:ea typeface="Staatliches"/>
                  <a:cs typeface="Staatliches"/>
                  <a:sym typeface="Staatliches"/>
                </a:rPr>
                <a:t>Dimension reduction</a:t>
              </a:r>
              <a:endParaRPr sz="2500">
                <a:latin typeface="Staatliches"/>
                <a:ea typeface="Staatliches"/>
                <a:cs typeface="Staatliches"/>
                <a:sym typeface="Staatliches"/>
              </a:endParaRPr>
            </a:p>
            <a:p>
              <a:pPr indent="0" lvl="0" marL="0" rtl="0" algn="ctr">
                <a:spcBef>
                  <a:spcPts val="0"/>
                </a:spcBef>
                <a:spcAft>
                  <a:spcPts val="0"/>
                </a:spcAft>
                <a:buNone/>
              </a:pPr>
              <a:r>
                <a:rPr lang="en" sz="1000">
                  <a:solidFill>
                    <a:schemeClr val="dk1"/>
                  </a:solidFill>
                </a:rPr>
                <a:t>reduce features while preserving information</a:t>
              </a:r>
              <a:endParaRPr sz="3000">
                <a:latin typeface="Staatliches"/>
                <a:ea typeface="Staatliches"/>
                <a:cs typeface="Staatliches"/>
                <a:sym typeface="Staatliches"/>
              </a:endParaRPr>
            </a:p>
          </p:txBody>
        </p:sp>
      </p:grpSp>
      <p:sp>
        <p:nvSpPr>
          <p:cNvPr id="171" name="Google Shape;171;p31"/>
          <p:cNvSpPr txBox="1"/>
          <p:nvPr/>
        </p:nvSpPr>
        <p:spPr>
          <a:xfrm>
            <a:off x="916825" y="684475"/>
            <a:ext cx="2405700" cy="209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Principal Component Analysis</a:t>
            </a:r>
            <a:endParaRPr sz="36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600">
                <a:solidFill>
                  <a:schemeClr val="dk1"/>
                </a:solidFill>
                <a:latin typeface="Staatliches"/>
                <a:ea typeface="Staatliches"/>
                <a:cs typeface="Staatliches"/>
                <a:sym typeface="Staatliches"/>
              </a:rPr>
              <a:t>when to use and not to use</a:t>
            </a:r>
            <a:endParaRPr sz="1600">
              <a:solidFill>
                <a:schemeClr val="dk1"/>
              </a:solidFill>
              <a:latin typeface="Staatliches"/>
              <a:ea typeface="Staatliches"/>
              <a:cs typeface="Staatliches"/>
              <a:sym typeface="Staatliches"/>
            </a:endParaRPr>
          </a:p>
        </p:txBody>
      </p:sp>
      <p:sp>
        <p:nvSpPr>
          <p:cNvPr id="172" name="Google Shape;172;p31"/>
          <p:cNvSpPr txBox="1"/>
          <p:nvPr/>
        </p:nvSpPr>
        <p:spPr>
          <a:xfrm>
            <a:off x="3225274" y="717275"/>
            <a:ext cx="27720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Staatliches"/>
                <a:ea typeface="Staatliches"/>
                <a:cs typeface="Staatliches"/>
                <a:sym typeface="Staatliches"/>
              </a:rPr>
              <a:t>Good when you </a:t>
            </a:r>
            <a:endParaRPr sz="17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200">
                <a:solidFill>
                  <a:schemeClr val="dk1"/>
                </a:solidFill>
              </a:rPr>
              <a:t>Have </a:t>
            </a:r>
            <a:r>
              <a:rPr b="1" lang="en" sz="1200">
                <a:solidFill>
                  <a:srgbClr val="9334E6"/>
                </a:solidFill>
              </a:rPr>
              <a:t>redundant or correlated</a:t>
            </a:r>
            <a:r>
              <a:rPr lang="en" sz="1200">
                <a:solidFill>
                  <a:schemeClr val="dk1"/>
                </a:solidFill>
              </a:rPr>
              <a:t> (we call this multicollinearity) features as this reduces them down into principal components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Need to </a:t>
            </a:r>
            <a:r>
              <a:rPr b="1" lang="en" sz="1200">
                <a:solidFill>
                  <a:srgbClr val="9334E6"/>
                </a:solidFill>
              </a:rPr>
              <a:t>reduce complexity</a:t>
            </a:r>
            <a:r>
              <a:rPr lang="en" sz="1200">
                <a:solidFill>
                  <a:schemeClr val="dk1"/>
                </a:solidFill>
              </a:rPr>
              <a:t> or noise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Remember to scale and find outliers beforehand</a:t>
            </a:r>
            <a:endParaRPr sz="1200">
              <a:solidFill>
                <a:schemeClr val="dk1"/>
              </a:solidFill>
            </a:endParaRPr>
          </a:p>
        </p:txBody>
      </p:sp>
      <p:sp>
        <p:nvSpPr>
          <p:cNvPr id="173" name="Google Shape;173;p31"/>
          <p:cNvSpPr txBox="1"/>
          <p:nvPr/>
        </p:nvSpPr>
        <p:spPr>
          <a:xfrm>
            <a:off x="6092460" y="717275"/>
            <a:ext cx="2772000" cy="192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Staatliches"/>
                <a:ea typeface="Staatliches"/>
                <a:cs typeface="Staatliches"/>
                <a:sym typeface="Staatliches"/>
              </a:rPr>
              <a:t>Not so good when you </a:t>
            </a:r>
            <a:endParaRPr sz="17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200">
                <a:solidFill>
                  <a:schemeClr val="dk1"/>
                </a:solidFill>
              </a:rPr>
              <a:t>Need </a:t>
            </a:r>
            <a:r>
              <a:rPr b="1" lang="en" sz="1200">
                <a:solidFill>
                  <a:srgbClr val="B45F06"/>
                </a:solidFill>
              </a:rPr>
              <a:t>interpretability</a:t>
            </a:r>
            <a:r>
              <a:rPr b="1" lang="en" sz="1200">
                <a:solidFill>
                  <a:srgbClr val="9334E6"/>
                </a:solidFill>
              </a:rPr>
              <a:t>. </a:t>
            </a:r>
            <a:r>
              <a:rPr lang="en" sz="1200">
                <a:solidFill>
                  <a:schemeClr val="dk1"/>
                </a:solidFill>
              </a:rPr>
              <a:t>Principal components are combinations of all features, so hard to translate insights directly back to specific features.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Have non-linear features (use tSNE instead) or categorical features (use autoencoders +OHE instead) </a:t>
            </a:r>
            <a:endParaRPr sz="1200">
              <a:solidFill>
                <a:schemeClr val="dk1"/>
              </a:solidFill>
            </a:endParaRPr>
          </a:p>
        </p:txBody>
      </p:sp>
      <p:sp>
        <p:nvSpPr>
          <p:cNvPr id="174" name="Google Shape;174;p31"/>
          <p:cNvSpPr txBox="1"/>
          <p:nvPr/>
        </p:nvSpPr>
        <p:spPr>
          <a:xfrm>
            <a:off x="4727925" y="3279700"/>
            <a:ext cx="3888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 </a:t>
            </a:r>
            <a:r>
              <a:rPr b="1" lang="en" sz="1200">
                <a:solidFill>
                  <a:schemeClr val="dk1"/>
                </a:solidFill>
              </a:rPr>
              <a:t>principal component </a:t>
            </a:r>
            <a:r>
              <a:rPr lang="en" sz="1200">
                <a:solidFill>
                  <a:schemeClr val="dk1"/>
                </a:solidFill>
              </a:rPr>
              <a:t>is a linear combination of all features in a dataset.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The first one created is the most important, as it contains information about the most variability (dimension that has the biggest differences) in our data. Akin to finding what makes the data unique.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p:nvPr/>
        </p:nvSpPr>
        <p:spPr>
          <a:xfrm>
            <a:off x="4622849" y="712372"/>
            <a:ext cx="3597900" cy="2794500"/>
          </a:xfrm>
          <a:prstGeom prst="rect">
            <a:avLst/>
          </a:prstGeom>
          <a:solidFill>
            <a:srgbClr val="949AF8"/>
          </a:solidFill>
          <a:ln>
            <a:noFill/>
          </a:ln>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clustering</a:t>
            </a:r>
            <a:endParaRPr sz="28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300">
                <a:solidFill>
                  <a:schemeClr val="dk1"/>
                </a:solidFill>
              </a:rPr>
              <a:t>grouping similar data by characteristics</a:t>
            </a:r>
            <a:endParaRPr sz="1300">
              <a:solidFill>
                <a:schemeClr val="dk1"/>
              </a:solidFill>
            </a:endParaRPr>
          </a:p>
          <a:p>
            <a:pPr indent="0" lvl="0" marL="0" rtl="0" algn="l">
              <a:spcBef>
                <a:spcPts val="0"/>
              </a:spcBef>
              <a:spcAft>
                <a:spcPts val="0"/>
              </a:spcAft>
              <a:buNone/>
            </a:pPr>
            <a:r>
              <a:t/>
            </a:r>
            <a:endParaRPr sz="15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500">
                <a:solidFill>
                  <a:schemeClr val="dk1"/>
                </a:solidFill>
                <a:latin typeface="Staatliches"/>
                <a:ea typeface="Staatliches"/>
                <a:cs typeface="Staatliches"/>
                <a:sym typeface="Staatliches"/>
              </a:rPr>
              <a:t>algorithms</a:t>
            </a:r>
            <a:r>
              <a:rPr lang="en" sz="1500">
                <a:solidFill>
                  <a:schemeClr val="dk1"/>
                </a:solidFill>
              </a:rPr>
              <a:t> </a:t>
            </a:r>
            <a:endParaRPr sz="1500">
              <a:solidFill>
                <a:schemeClr val="dk1"/>
              </a:solidFill>
            </a:endParaRPr>
          </a:p>
          <a:p>
            <a:pPr indent="0" lvl="0" marL="0" rtl="0" algn="l">
              <a:spcBef>
                <a:spcPts val="0"/>
              </a:spcBef>
              <a:spcAft>
                <a:spcPts val="0"/>
              </a:spcAft>
              <a:buNone/>
            </a:pPr>
            <a:r>
              <a:rPr b="1" lang="en" sz="1500">
                <a:solidFill>
                  <a:srgbClr val="9334E6"/>
                </a:solidFill>
              </a:rPr>
              <a:t>k-means</a:t>
            </a:r>
            <a:r>
              <a:rPr lang="en" sz="1500">
                <a:solidFill>
                  <a:schemeClr val="dk1"/>
                </a:solidFill>
              </a:rPr>
              <a:t>: average-based group centers</a:t>
            </a:r>
            <a:endParaRPr sz="1500">
              <a:solidFill>
                <a:schemeClr val="dk1"/>
              </a:solidFill>
            </a:endParaRPr>
          </a:p>
          <a:p>
            <a:pPr indent="0" lvl="0" marL="0" rtl="0" algn="l">
              <a:spcBef>
                <a:spcPts val="0"/>
              </a:spcBef>
              <a:spcAft>
                <a:spcPts val="0"/>
              </a:spcAft>
              <a:buNone/>
            </a:pPr>
            <a:r>
              <a:rPr lang="en" sz="1500">
                <a:solidFill>
                  <a:srgbClr val="783F04"/>
                </a:solidFill>
              </a:rPr>
              <a:t>hierarchical</a:t>
            </a:r>
            <a:r>
              <a:rPr lang="en" sz="1500">
                <a:solidFill>
                  <a:schemeClr val="dk1"/>
                </a:solidFill>
              </a:rPr>
              <a:t>: nested groups</a:t>
            </a:r>
            <a:endParaRPr sz="1500">
              <a:solidFill>
                <a:schemeClr val="dk1"/>
              </a:solidFill>
            </a:endParaRPr>
          </a:p>
          <a:p>
            <a:pPr indent="0" lvl="0" marL="0" rtl="0" algn="l">
              <a:spcBef>
                <a:spcPts val="0"/>
              </a:spcBef>
              <a:spcAft>
                <a:spcPts val="0"/>
              </a:spcAft>
              <a:buNone/>
            </a:pPr>
            <a:r>
              <a:rPr lang="en" sz="1500">
                <a:solidFill>
                  <a:srgbClr val="783F04"/>
                </a:solidFill>
              </a:rPr>
              <a:t>DBSCAN</a:t>
            </a:r>
            <a:r>
              <a:rPr lang="en" sz="1500">
                <a:solidFill>
                  <a:schemeClr val="dk1"/>
                </a:solidFill>
              </a:rPr>
              <a:t>: point density groups</a:t>
            </a:r>
            <a:endParaRPr sz="1500">
              <a:solidFill>
                <a:schemeClr val="dk1"/>
              </a:solidFill>
            </a:endParaRPr>
          </a:p>
          <a:p>
            <a:pPr indent="0" lvl="0" marL="0" rtl="0" algn="l">
              <a:spcBef>
                <a:spcPts val="0"/>
              </a:spcBef>
              <a:spcAft>
                <a:spcPts val="0"/>
              </a:spcAft>
              <a:buNone/>
            </a:pPr>
            <a:r>
              <a:t/>
            </a:r>
            <a:endParaRPr sz="15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sz="1500">
                <a:solidFill>
                  <a:schemeClr val="dk1"/>
                </a:solidFill>
                <a:latin typeface="Staatliches"/>
                <a:ea typeface="Staatliches"/>
                <a:cs typeface="Staatliches"/>
                <a:sym typeface="Staatliches"/>
              </a:rPr>
              <a:t>use cases</a:t>
            </a:r>
            <a:r>
              <a:rPr lang="en" sz="1500">
                <a:solidFill>
                  <a:schemeClr val="dk1"/>
                </a:solidFill>
              </a:rPr>
              <a:t> customer segmentation, similar documents, social network connections, DNA</a:t>
            </a:r>
            <a:endParaRPr sz="1500">
              <a:solidFill>
                <a:schemeClr val="dk1"/>
              </a:solidFill>
            </a:endParaRPr>
          </a:p>
        </p:txBody>
      </p:sp>
      <p:sp>
        <p:nvSpPr>
          <p:cNvPr id="180" name="Google Shape;180;p32"/>
          <p:cNvSpPr txBox="1"/>
          <p:nvPr/>
        </p:nvSpPr>
        <p:spPr>
          <a:xfrm>
            <a:off x="909575" y="815200"/>
            <a:ext cx="359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goal of this unsupervised approach is to group similar observations together</a:t>
            </a:r>
            <a:endParaRPr/>
          </a:p>
        </p:txBody>
      </p:sp>
      <p:sp>
        <p:nvSpPr>
          <p:cNvPr id="181" name="Google Shape;181;p32"/>
          <p:cNvSpPr txBox="1"/>
          <p:nvPr/>
        </p:nvSpPr>
        <p:spPr>
          <a:xfrm>
            <a:off x="973475" y="2739850"/>
            <a:ext cx="3004800" cy="155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Staatliches"/>
                <a:ea typeface="Staatliches"/>
                <a:cs typeface="Staatliches"/>
                <a:sym typeface="Staatliches"/>
              </a:rPr>
              <a:t>Why clustering?</a:t>
            </a:r>
            <a:endParaRPr sz="1900">
              <a:latin typeface="Staatliches"/>
              <a:ea typeface="Staatliches"/>
              <a:cs typeface="Staatliches"/>
              <a:sym typeface="Staatliches"/>
            </a:endParaRPr>
          </a:p>
          <a:p>
            <a:pPr indent="0" lvl="0" marL="0" rtl="0" algn="l">
              <a:spcBef>
                <a:spcPts val="0"/>
              </a:spcBef>
              <a:spcAft>
                <a:spcPts val="0"/>
              </a:spcAft>
              <a:buNone/>
            </a:pPr>
            <a:r>
              <a:rPr lang="en"/>
              <a:t>Discover new patterns and/or groups in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group labels as feature in supervised learning</a:t>
            </a:r>
            <a:endParaRPr/>
          </a:p>
        </p:txBody>
      </p:sp>
      <p:grpSp>
        <p:nvGrpSpPr>
          <p:cNvPr id="182" name="Google Shape;182;p32"/>
          <p:cNvGrpSpPr/>
          <p:nvPr/>
        </p:nvGrpSpPr>
        <p:grpSpPr>
          <a:xfrm>
            <a:off x="4802100" y="3246275"/>
            <a:ext cx="3212125" cy="1252625"/>
            <a:chOff x="5179800" y="2291350"/>
            <a:chExt cx="3212125" cy="1252625"/>
          </a:xfrm>
        </p:grpSpPr>
        <p:sp>
          <p:nvSpPr>
            <p:cNvPr id="183" name="Google Shape;183;p32"/>
            <p:cNvSpPr txBox="1"/>
            <p:nvPr/>
          </p:nvSpPr>
          <p:spPr>
            <a:xfrm>
              <a:off x="5179800" y="2651175"/>
              <a:ext cx="20487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Staatliches"/>
                  <a:ea typeface="Staatliches"/>
                  <a:cs typeface="Staatliches"/>
                  <a:sym typeface="Staatliches"/>
                </a:rPr>
                <a:t>Where is it useful?</a:t>
              </a:r>
              <a:endParaRPr sz="1800">
                <a:solidFill>
                  <a:schemeClr val="dk1"/>
                </a:solidFill>
                <a:latin typeface="Staatliches"/>
                <a:ea typeface="Staatliches"/>
                <a:cs typeface="Staatliches"/>
                <a:sym typeface="Staatliches"/>
              </a:endParaRPr>
            </a:p>
            <a:p>
              <a:pPr indent="0" lvl="0" marL="0" rtl="0" algn="l">
                <a:spcBef>
                  <a:spcPts val="0"/>
                </a:spcBef>
                <a:spcAft>
                  <a:spcPts val="0"/>
                </a:spcAft>
                <a:buNone/>
              </a:pPr>
              <a:r>
                <a:rPr lang="en">
                  <a:solidFill>
                    <a:schemeClr val="dk1"/>
                  </a:solidFill>
                </a:rPr>
                <a:t>Anywhere you can compute </a:t>
              </a:r>
              <a:r>
                <a:rPr b="1" lang="en">
                  <a:solidFill>
                    <a:schemeClr val="dk1"/>
                  </a:solidFill>
                </a:rPr>
                <a:t>similarity</a:t>
              </a:r>
              <a:r>
                <a:rPr lang="en">
                  <a:solidFill>
                    <a:schemeClr val="dk1"/>
                  </a:solidFill>
                </a:rPr>
                <a:t>!</a:t>
              </a:r>
              <a:endParaRPr/>
            </a:p>
          </p:txBody>
        </p:sp>
        <p:sp>
          <p:nvSpPr>
            <p:cNvPr id="184" name="Google Shape;184;p32"/>
            <p:cNvSpPr/>
            <p:nvPr/>
          </p:nvSpPr>
          <p:spPr>
            <a:xfrm>
              <a:off x="6890050" y="2291350"/>
              <a:ext cx="1501875" cy="1077750"/>
            </a:xfrm>
            <a:custGeom>
              <a:rect b="b" l="l" r="r" t="t"/>
              <a:pathLst>
                <a:path extrusionOk="0" h="43110" w="60075">
                  <a:moveTo>
                    <a:pt x="0" y="43110"/>
                  </a:moveTo>
                  <a:cubicBezTo>
                    <a:pt x="8561" y="42515"/>
                    <a:pt x="41569" y="44117"/>
                    <a:pt x="51366" y="39539"/>
                  </a:cubicBezTo>
                  <a:cubicBezTo>
                    <a:pt x="61163" y="34961"/>
                    <a:pt x="61118" y="22231"/>
                    <a:pt x="58783" y="15641"/>
                  </a:cubicBezTo>
                  <a:cubicBezTo>
                    <a:pt x="56448" y="9051"/>
                    <a:pt x="40928" y="2607"/>
                    <a:pt x="37357" y="0"/>
                  </a:cubicBezTo>
                </a:path>
              </a:pathLst>
            </a:custGeom>
            <a:noFill/>
            <a:ln cap="flat" cmpd="sng" w="9525">
              <a:solidFill>
                <a:schemeClr val="dk2"/>
              </a:solidFill>
              <a:prstDash val="solid"/>
              <a:round/>
              <a:headEnd len="med" w="med" type="none"/>
              <a:tailEnd len="med" w="med" type="stealth"/>
            </a:ln>
          </p:spPr>
        </p:sp>
      </p:grpSp>
      <p:sp>
        <p:nvSpPr>
          <p:cNvPr id="185" name="Google Shape;185;p32"/>
          <p:cNvSpPr txBox="1"/>
          <p:nvPr/>
        </p:nvSpPr>
        <p:spPr>
          <a:xfrm>
            <a:off x="975875" y="1603750"/>
            <a:ext cx="2720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There are different ways to </a:t>
            </a:r>
            <a:r>
              <a:rPr b="1" lang="en">
                <a:solidFill>
                  <a:srgbClr val="949AF8"/>
                </a:solidFill>
              </a:rPr>
              <a:t>measure similarity</a:t>
            </a:r>
            <a:r>
              <a:rPr b="1" lang="en">
                <a:solidFill>
                  <a:schemeClr val="dk1"/>
                </a:solidFill>
              </a:rPr>
              <a:t> </a:t>
            </a:r>
            <a:r>
              <a:rPr lang="en">
                <a:solidFill>
                  <a:schemeClr val="dk1"/>
                </a:solidFill>
              </a:rPr>
              <a:t>and compare groups.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nvSpPr>
        <p:spPr>
          <a:xfrm>
            <a:off x="975875" y="1375150"/>
            <a:ext cx="2542500" cy="877200"/>
          </a:xfrm>
          <a:prstGeom prst="rect">
            <a:avLst/>
          </a:prstGeom>
          <a:noFill/>
          <a:ln cap="flat" cmpd="sng" w="28575">
            <a:solidFill>
              <a:srgbClr val="949AF8"/>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There are different ways to </a:t>
            </a:r>
            <a:r>
              <a:rPr b="1" lang="en" sz="1500">
                <a:solidFill>
                  <a:schemeClr val="dk1"/>
                </a:solidFill>
              </a:rPr>
              <a:t>measure similarity </a:t>
            </a:r>
            <a:r>
              <a:rPr lang="en" sz="1500">
                <a:solidFill>
                  <a:schemeClr val="dk1"/>
                </a:solidFill>
              </a:rPr>
              <a:t>and</a:t>
            </a:r>
            <a:r>
              <a:rPr b="1" lang="en" sz="1500">
                <a:solidFill>
                  <a:schemeClr val="dk1"/>
                </a:solidFill>
              </a:rPr>
              <a:t> compare groups</a:t>
            </a:r>
            <a:r>
              <a:rPr lang="en" sz="1500">
                <a:solidFill>
                  <a:schemeClr val="dk1"/>
                </a:solidFill>
              </a:rPr>
              <a:t>.</a:t>
            </a:r>
            <a:endParaRPr sz="1500"/>
          </a:p>
        </p:txBody>
      </p:sp>
      <p:sp>
        <p:nvSpPr>
          <p:cNvPr id="191" name="Google Shape;191;p33"/>
          <p:cNvSpPr txBox="1"/>
          <p:nvPr/>
        </p:nvSpPr>
        <p:spPr>
          <a:xfrm>
            <a:off x="973475" y="2363750"/>
            <a:ext cx="2621100" cy="213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Staatliches"/>
                <a:ea typeface="Staatliches"/>
                <a:cs typeface="Staatliches"/>
                <a:sym typeface="Staatliches"/>
              </a:rPr>
              <a:t>use </a:t>
            </a:r>
            <a:r>
              <a:rPr lang="en" sz="1900">
                <a:solidFill>
                  <a:srgbClr val="949AF8"/>
                </a:solidFill>
                <a:latin typeface="Staatliches"/>
                <a:ea typeface="Staatliches"/>
                <a:cs typeface="Staatliches"/>
                <a:sym typeface="Staatliches"/>
              </a:rPr>
              <a:t>distance</a:t>
            </a:r>
            <a:r>
              <a:rPr lang="en" sz="1900">
                <a:latin typeface="Staatliches"/>
                <a:ea typeface="Staatliches"/>
                <a:cs typeface="Staatliches"/>
                <a:sym typeface="Staatliches"/>
              </a:rPr>
              <a:t> to group points into similar and dissimilar groups</a:t>
            </a:r>
            <a:endParaRPr sz="1900">
              <a:latin typeface="Staatliches"/>
              <a:ea typeface="Staatliches"/>
              <a:cs typeface="Staatliches"/>
              <a:sym typeface="Staatliches"/>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our warm-up example, we would measure how far apart any two data points are from each other.</a:t>
            </a:r>
            <a:endParaRPr/>
          </a:p>
        </p:txBody>
      </p:sp>
      <p:grpSp>
        <p:nvGrpSpPr>
          <p:cNvPr id="192" name="Google Shape;192;p33"/>
          <p:cNvGrpSpPr/>
          <p:nvPr/>
        </p:nvGrpSpPr>
        <p:grpSpPr>
          <a:xfrm>
            <a:off x="4194250" y="612587"/>
            <a:ext cx="4412599" cy="2389642"/>
            <a:chOff x="4194250" y="612587"/>
            <a:chExt cx="4412599" cy="2389642"/>
          </a:xfrm>
        </p:grpSpPr>
        <p:sp>
          <p:nvSpPr>
            <p:cNvPr id="193" name="Google Shape;193;p33"/>
            <p:cNvSpPr txBox="1"/>
            <p:nvPr/>
          </p:nvSpPr>
          <p:spPr>
            <a:xfrm>
              <a:off x="4194250" y="868900"/>
              <a:ext cx="1845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Features can be on different scales and in different units.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You may need to do transformations on your data before measuring distance (more on this next week)</a:t>
              </a:r>
              <a:endParaRPr sz="1200"/>
            </a:p>
          </p:txBody>
        </p:sp>
        <p:pic>
          <p:nvPicPr>
            <p:cNvPr id="194" name="Google Shape;194;p33"/>
            <p:cNvPicPr preferRelativeResize="0"/>
            <p:nvPr/>
          </p:nvPicPr>
          <p:blipFill>
            <a:blip r:embed="rId3">
              <a:alphaModFix/>
            </a:blip>
            <a:stretch>
              <a:fillRect/>
            </a:stretch>
          </p:blipFill>
          <p:spPr>
            <a:xfrm>
              <a:off x="6062695" y="612587"/>
              <a:ext cx="2544154" cy="2389642"/>
            </a:xfrm>
            <a:prstGeom prst="rect">
              <a:avLst/>
            </a:prstGeom>
            <a:noFill/>
            <a:ln>
              <a:noFill/>
            </a:ln>
          </p:spPr>
        </p:pic>
      </p:grpSp>
      <p:grpSp>
        <p:nvGrpSpPr>
          <p:cNvPr id="195" name="Google Shape;195;p33"/>
          <p:cNvGrpSpPr/>
          <p:nvPr/>
        </p:nvGrpSpPr>
        <p:grpSpPr>
          <a:xfrm>
            <a:off x="4114800" y="3169675"/>
            <a:ext cx="4491900" cy="1339200"/>
            <a:chOff x="4114800" y="3169675"/>
            <a:chExt cx="4491900" cy="1339200"/>
          </a:xfrm>
        </p:grpSpPr>
        <p:sp>
          <p:nvSpPr>
            <p:cNvPr id="196" name="Google Shape;196;p33"/>
            <p:cNvSpPr txBox="1"/>
            <p:nvPr/>
          </p:nvSpPr>
          <p:spPr>
            <a:xfrm>
              <a:off x="4114800" y="3169675"/>
              <a:ext cx="44919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Staatliches"/>
                  <a:ea typeface="Staatliches"/>
                  <a:cs typeface="Staatliches"/>
                  <a:sym typeface="Staatliches"/>
                </a:rPr>
                <a:t>Distance measures</a:t>
              </a:r>
              <a:endParaRPr sz="1900"/>
            </a:p>
            <a:p>
              <a:pPr indent="0" lvl="0" marL="0" rtl="0" algn="l">
                <a:spcBef>
                  <a:spcPts val="0"/>
                </a:spcBef>
                <a:spcAft>
                  <a:spcPts val="0"/>
                </a:spcAft>
                <a:buNone/>
              </a:pPr>
              <a:r>
                <a:rPr b="1" lang="en">
                  <a:solidFill>
                    <a:srgbClr val="949AF8"/>
                  </a:solidFill>
                </a:rPr>
                <a:t>Euclidean</a:t>
              </a:r>
              <a:r>
                <a:rPr lang="en"/>
                <a:t>: point to point</a:t>
              </a:r>
              <a:endParaRPr/>
            </a:p>
            <a:p>
              <a:pPr indent="0" lvl="0" marL="0" rtl="0" algn="l">
                <a:spcBef>
                  <a:spcPts val="0"/>
                </a:spcBef>
                <a:spcAft>
                  <a:spcPts val="0"/>
                </a:spcAft>
                <a:buNone/>
              </a:pPr>
              <a:r>
                <a:rPr b="1" lang="en"/>
                <a:t>Manhattan</a:t>
              </a:r>
              <a:r>
                <a:rPr lang="en"/>
                <a:t>: city blocks (L1 norm)</a:t>
              </a:r>
              <a:endParaRPr/>
            </a:p>
            <a:p>
              <a:pPr indent="0" lvl="0" marL="0" rtl="0" algn="l">
                <a:spcBef>
                  <a:spcPts val="0"/>
                </a:spcBef>
                <a:spcAft>
                  <a:spcPts val="0"/>
                </a:spcAft>
                <a:buNone/>
              </a:pPr>
              <a:r>
                <a:rPr b="1" lang="en"/>
                <a:t>Mahalanobis</a:t>
              </a:r>
              <a:r>
                <a:rPr lang="en"/>
                <a:t>: point to distribution</a:t>
              </a:r>
              <a:endParaRPr/>
            </a:p>
            <a:p>
              <a:pPr indent="0" lvl="0" marL="0" rtl="0" algn="l">
                <a:spcBef>
                  <a:spcPts val="0"/>
                </a:spcBef>
                <a:spcAft>
                  <a:spcPts val="0"/>
                </a:spcAft>
                <a:buNone/>
              </a:pPr>
              <a:r>
                <a:rPr b="1" lang="en"/>
                <a:t>correlation distance</a:t>
              </a:r>
              <a:r>
                <a:rPr lang="en"/>
                <a:t>: used in gene expressions</a:t>
              </a:r>
              <a:endParaRPr/>
            </a:p>
          </p:txBody>
        </p:sp>
        <p:pic>
          <p:nvPicPr>
            <p:cNvPr id="197" name="Google Shape;197;p33"/>
            <p:cNvPicPr preferRelativeResize="0"/>
            <p:nvPr/>
          </p:nvPicPr>
          <p:blipFill>
            <a:blip r:embed="rId4">
              <a:alphaModFix/>
            </a:blip>
            <a:stretch>
              <a:fillRect/>
            </a:stretch>
          </p:blipFill>
          <p:spPr>
            <a:xfrm>
              <a:off x="6309300" y="3457950"/>
              <a:ext cx="2204650" cy="3559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01" name="Shape 201"/>
        <p:cNvGrpSpPr/>
        <p:nvPr/>
      </p:nvGrpSpPr>
      <p:grpSpPr>
        <a:xfrm>
          <a:off x="0" y="0"/>
          <a:ext cx="0" cy="0"/>
          <a:chOff x="0" y="0"/>
          <a:chExt cx="0" cy="0"/>
        </a:xfrm>
      </p:grpSpPr>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202" name="Google Shape;202;p34" title="5 Minute Timer Relaxing Music Lofi Fish Background">
            <a:hlinkClick r:id="rId3"/>
          </p:cNvPr>
          <p:cNvPicPr preferRelativeResize="0"/>
          <p:nvPr/>
        </p:nvPicPr>
        <p:blipFill>
          <a:blip r:embed="rId4">
            <a:alphaModFix/>
          </a:blip>
          <a:stretch>
            <a:fillRect/>
          </a:stretch>
        </p:blipFill>
        <p:spPr>
          <a:xfrm>
            <a:off x="1650775" y="4392175"/>
            <a:ext cx="912175" cy="513100"/>
          </a:xfrm>
          <a:prstGeom prst="rect">
            <a:avLst/>
          </a:prstGeom>
          <a:noFill/>
          <a:ln>
            <a:noFill/>
          </a:ln>
        </p:spPr>
      </p:pic>
      <p:pic>
        <p:nvPicPr>
          <p:cNvPr id="203" name="Google Shape;203;p34"/>
          <p:cNvPicPr preferRelativeResize="0"/>
          <p:nvPr/>
        </p:nvPicPr>
        <p:blipFill>
          <a:blip r:embed="rId5">
            <a:alphaModFix/>
          </a:blip>
          <a:stretch>
            <a:fillRect/>
          </a:stretch>
        </p:blipFill>
        <p:spPr>
          <a:xfrm>
            <a:off x="3791550" y="0"/>
            <a:ext cx="5412624" cy="5143501"/>
          </a:xfrm>
          <a:prstGeom prst="rect">
            <a:avLst/>
          </a:prstGeom>
          <a:noFill/>
          <a:ln>
            <a:noFill/>
          </a:ln>
        </p:spPr>
      </p:pic>
      <p:sp>
        <p:nvSpPr>
          <p:cNvPr id="204" name="Google Shape;204;p34"/>
          <p:cNvSpPr txBox="1"/>
          <p:nvPr/>
        </p:nvSpPr>
        <p:spPr>
          <a:xfrm>
            <a:off x="412025" y="199150"/>
            <a:ext cx="3209400" cy="42174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b="1" sz="5750">
              <a:solidFill>
                <a:schemeClr val="lt1"/>
              </a:solidFill>
              <a:latin typeface="Staatliches"/>
              <a:ea typeface="Staatliches"/>
              <a:cs typeface="Staatliches"/>
              <a:sym typeface="Staatliches"/>
            </a:endParaRPr>
          </a:p>
          <a:p>
            <a:pPr indent="0" lvl="0" marL="0" rtl="0" algn="l">
              <a:lnSpc>
                <a:spcPct val="80000"/>
              </a:lnSpc>
              <a:spcBef>
                <a:spcPts val="0"/>
              </a:spcBef>
              <a:spcAft>
                <a:spcPts val="0"/>
              </a:spcAft>
              <a:buNone/>
            </a:pPr>
            <a:r>
              <a:t/>
            </a:r>
            <a:endParaRPr b="1" sz="1800">
              <a:solidFill>
                <a:schemeClr val="lt1"/>
              </a:solidFill>
            </a:endParaRPr>
          </a:p>
          <a:p>
            <a:pPr indent="0" lvl="0" marL="0" rtl="0" algn="l">
              <a:lnSpc>
                <a:spcPct val="80000"/>
              </a:lnSpc>
              <a:spcBef>
                <a:spcPts val="0"/>
              </a:spcBef>
              <a:spcAft>
                <a:spcPts val="0"/>
              </a:spcAft>
              <a:buNone/>
            </a:pPr>
            <a:r>
              <a:rPr lang="en">
                <a:solidFill>
                  <a:schemeClr val="lt1"/>
                </a:solidFill>
              </a:rPr>
              <a:t>Create a function </a:t>
            </a:r>
            <a:r>
              <a:rPr b="1" lang="en">
                <a:solidFill>
                  <a:schemeClr val="lt1"/>
                </a:solidFill>
              </a:rPr>
              <a:t>euclidean</a:t>
            </a:r>
            <a:r>
              <a:rPr lang="en">
                <a:solidFill>
                  <a:schemeClr val="lt1"/>
                </a:solidFill>
              </a:rPr>
              <a:t> that takes in two points (dict) and calculates the euclidean distance between the points.</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The function should display the information calculated in a nice format.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Example: </a:t>
            </a:r>
            <a:endParaRPr>
              <a:solidFill>
                <a:schemeClr val="lt1"/>
              </a:solidFill>
            </a:endParaRPr>
          </a:p>
          <a:p>
            <a:pPr indent="0" lvl="0" marL="0" rtl="0" algn="l">
              <a:lnSpc>
                <a:spcPct val="80000"/>
              </a:lnSpc>
              <a:spcBef>
                <a:spcPts val="0"/>
              </a:spcBef>
              <a:spcAft>
                <a:spcPts val="0"/>
              </a:spcAft>
              <a:buNone/>
            </a:pPr>
            <a:r>
              <a:rPr lang="en">
                <a:solidFill>
                  <a:schemeClr val="lt1"/>
                </a:solidFill>
              </a:rPr>
              <a:t>pt1 ={'x': 255, 'y': 245, 'id': 'p7'}</a:t>
            </a:r>
            <a:endParaRPr>
              <a:solidFill>
                <a:schemeClr val="lt1"/>
              </a:solidFill>
            </a:endParaRPr>
          </a:p>
          <a:p>
            <a:pPr indent="0" lvl="0" marL="0" rtl="0" algn="l">
              <a:lnSpc>
                <a:spcPct val="80000"/>
              </a:lnSpc>
              <a:spcBef>
                <a:spcPts val="0"/>
              </a:spcBef>
              <a:spcAft>
                <a:spcPts val="0"/>
              </a:spcAft>
              <a:buNone/>
            </a:pPr>
            <a:r>
              <a:rPr lang="en">
                <a:solidFill>
                  <a:schemeClr val="lt1"/>
                </a:solidFill>
              </a:rPr>
              <a:t>pt2 = {'x': 275, 'y': 275, 'id': 'C1'}</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b="1" lang="en">
                <a:solidFill>
                  <a:schemeClr val="lt1"/>
                </a:solidFill>
              </a:rPr>
              <a:t>euclidean</a:t>
            </a:r>
            <a:r>
              <a:rPr lang="en">
                <a:solidFill>
                  <a:schemeClr val="lt1"/>
                </a:solidFill>
              </a:rPr>
              <a:t>(p1, p2)</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Distance between p7 and C1 = sqrt(-20^2 + -30^2) = sqrt(1300) = 36.1</a:t>
            </a:r>
            <a:endParaRPr>
              <a:solidFill>
                <a:schemeClr val="lt1"/>
              </a:solidFill>
            </a:endParaRPr>
          </a:p>
        </p:txBody>
      </p:sp>
      <p:sp>
        <p:nvSpPr>
          <p:cNvPr id="205" name="Google Shape;205;p34"/>
          <p:cNvSpPr/>
          <p:nvPr/>
        </p:nvSpPr>
        <p:spPr>
          <a:xfrm>
            <a:off x="7259700" y="2269778"/>
            <a:ext cx="95400" cy="95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34"/>
          <p:cNvSpPr txBox="1"/>
          <p:nvPr/>
        </p:nvSpPr>
        <p:spPr>
          <a:xfrm>
            <a:off x="7323900" y="2136000"/>
            <a:ext cx="425400" cy="11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C1</a:t>
            </a:r>
            <a:endParaRPr sz="1000">
              <a:solidFill>
                <a:schemeClr val="dk2"/>
              </a:solidFill>
            </a:endParaRPr>
          </a:p>
        </p:txBody>
      </p:sp>
      <p:cxnSp>
        <p:nvCxnSpPr>
          <p:cNvPr id="207" name="Google Shape;207;p34"/>
          <p:cNvCxnSpPr>
            <a:stCxn id="205" idx="4"/>
          </p:cNvCxnSpPr>
          <p:nvPr/>
        </p:nvCxnSpPr>
        <p:spPr>
          <a:xfrm flipH="1">
            <a:off x="7215600" y="2365178"/>
            <a:ext cx="91800" cy="283500"/>
          </a:xfrm>
          <a:prstGeom prst="straightConnector1">
            <a:avLst/>
          </a:prstGeom>
          <a:noFill/>
          <a:ln cap="flat" cmpd="sng" w="9525">
            <a:solidFill>
              <a:schemeClr val="dk2"/>
            </a:solidFill>
            <a:prstDash val="solid"/>
            <a:round/>
            <a:headEnd len="med" w="med" type="none"/>
            <a:tailEnd len="med" w="med" type="none"/>
          </a:ln>
        </p:spPr>
      </p:cxnSp>
      <p:pic>
        <p:nvPicPr>
          <p:cNvPr id="208" name="Google Shape;208;p34"/>
          <p:cNvPicPr preferRelativeResize="0"/>
          <p:nvPr/>
        </p:nvPicPr>
        <p:blipFill>
          <a:blip r:embed="rId6">
            <a:alphaModFix/>
          </a:blip>
          <a:stretch>
            <a:fillRect/>
          </a:stretch>
        </p:blipFill>
        <p:spPr>
          <a:xfrm>
            <a:off x="7345000" y="61300"/>
            <a:ext cx="1397725" cy="225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idx="1" type="body"/>
          </p:nvPr>
        </p:nvSpPr>
        <p:spPr>
          <a:xfrm>
            <a:off x="756425" y="710475"/>
            <a:ext cx="4188300" cy="2982300"/>
          </a:xfrm>
          <a:prstGeom prst="rect">
            <a:avLst/>
          </a:prstGeom>
        </p:spPr>
        <p:txBody>
          <a:bodyPr anchorCtr="0" anchor="t" bIns="91425" lIns="91425" spcFirstLastPara="1" rIns="91425" wrap="square" tIns="91425">
            <a:normAutofit/>
          </a:bodyPr>
          <a:lstStyle/>
          <a:p>
            <a:pPr indent="0" lvl="0" marL="0" rtl="0" algn="l">
              <a:lnSpc>
                <a:spcPct val="85000"/>
              </a:lnSpc>
              <a:spcBef>
                <a:spcPts val="0"/>
              </a:spcBef>
              <a:spcAft>
                <a:spcPts val="0"/>
              </a:spcAft>
              <a:buNone/>
            </a:pPr>
            <a:r>
              <a:rPr lang="en" sz="2800">
                <a:solidFill>
                  <a:schemeClr val="dk1"/>
                </a:solidFill>
              </a:rPr>
              <a:t>k-means algorithm</a:t>
            </a:r>
            <a:endParaRPr sz="2800">
              <a:solidFill>
                <a:schemeClr val="dk1"/>
              </a:solidFill>
            </a:endParaRPr>
          </a:p>
          <a:p>
            <a:pPr indent="-317500" lvl="0" marL="457200" rtl="0" algn="l">
              <a:lnSpc>
                <a:spcPct val="85000"/>
              </a:lnSpc>
              <a:spcBef>
                <a:spcPts val="1000"/>
              </a:spcBef>
              <a:spcAft>
                <a:spcPts val="0"/>
              </a:spcAft>
              <a:buSzPts val="1400"/>
              <a:buFont typeface="Alfa Slab One"/>
              <a:buAutoNum type="arabicPeriod"/>
            </a:pPr>
            <a:r>
              <a:rPr lang="en" sz="1400"/>
              <a:t>Set k </a:t>
            </a:r>
            <a:r>
              <a:rPr b="1" lang="en" sz="1400">
                <a:solidFill>
                  <a:srgbClr val="9334E6"/>
                </a:solidFill>
              </a:rPr>
              <a:t>initial centroids </a:t>
            </a:r>
            <a:r>
              <a:rPr lang="en" sz="1400"/>
              <a:t>randomly</a:t>
            </a:r>
            <a:endParaRPr b="1" sz="1400">
              <a:solidFill>
                <a:srgbClr val="9334E6"/>
              </a:solidFill>
            </a:endParaRPr>
          </a:p>
          <a:p>
            <a:pPr indent="-317500" lvl="0" marL="457200" rtl="0" algn="l">
              <a:lnSpc>
                <a:spcPct val="85000"/>
              </a:lnSpc>
              <a:spcBef>
                <a:spcPts val="1000"/>
              </a:spcBef>
              <a:spcAft>
                <a:spcPts val="0"/>
              </a:spcAft>
              <a:buSzPts val="1400"/>
              <a:buFont typeface="Alfa Slab One"/>
              <a:buAutoNum type="arabicPeriod"/>
            </a:pPr>
            <a:r>
              <a:rPr lang="en" sz="1400"/>
              <a:t>Compute </a:t>
            </a:r>
            <a:r>
              <a:rPr b="1" lang="en" sz="1400"/>
              <a:t>euclidean distance</a:t>
            </a:r>
            <a:r>
              <a:rPr lang="en" sz="1400"/>
              <a:t> between each </a:t>
            </a:r>
            <a:r>
              <a:rPr b="1" lang="en" sz="1400">
                <a:solidFill>
                  <a:srgbClr val="798F43"/>
                </a:solidFill>
              </a:rPr>
              <a:t>point</a:t>
            </a:r>
            <a:r>
              <a:rPr lang="en" sz="1400"/>
              <a:t> and each </a:t>
            </a:r>
            <a:r>
              <a:rPr b="1" lang="en" sz="1400">
                <a:solidFill>
                  <a:srgbClr val="9334E6"/>
                </a:solidFill>
              </a:rPr>
              <a:t>centroid</a:t>
            </a:r>
            <a:endParaRPr b="1" sz="1400">
              <a:solidFill>
                <a:srgbClr val="9334E6"/>
              </a:solidFill>
            </a:endParaRPr>
          </a:p>
          <a:p>
            <a:pPr indent="-317500" lvl="0" marL="457200" rtl="0" algn="l">
              <a:lnSpc>
                <a:spcPct val="85000"/>
              </a:lnSpc>
              <a:spcBef>
                <a:spcPts val="1000"/>
              </a:spcBef>
              <a:spcAft>
                <a:spcPts val="0"/>
              </a:spcAft>
              <a:buSzPts val="1400"/>
              <a:buFont typeface="Alfa Slab One"/>
              <a:buAutoNum type="arabicPeriod"/>
            </a:pPr>
            <a:r>
              <a:rPr lang="en" sz="1400"/>
              <a:t>Assign </a:t>
            </a:r>
            <a:r>
              <a:rPr b="1" lang="en" sz="1400">
                <a:solidFill>
                  <a:srgbClr val="798F43"/>
                </a:solidFill>
              </a:rPr>
              <a:t>point</a:t>
            </a:r>
            <a:r>
              <a:rPr lang="en" sz="1400"/>
              <a:t> to </a:t>
            </a:r>
            <a:r>
              <a:rPr b="1" lang="en" sz="1400">
                <a:solidFill>
                  <a:srgbClr val="9334E6"/>
                </a:solidFill>
              </a:rPr>
              <a:t>nearest centroid</a:t>
            </a:r>
            <a:endParaRPr b="1" sz="1400">
              <a:solidFill>
                <a:srgbClr val="9334E6"/>
              </a:solidFill>
            </a:endParaRPr>
          </a:p>
          <a:p>
            <a:pPr indent="-317500" lvl="0" marL="457200" rtl="0" algn="l">
              <a:lnSpc>
                <a:spcPct val="85000"/>
              </a:lnSpc>
              <a:spcBef>
                <a:spcPts val="1000"/>
              </a:spcBef>
              <a:spcAft>
                <a:spcPts val="0"/>
              </a:spcAft>
              <a:buSzPts val="1400"/>
              <a:buFont typeface="Alfa Slab One"/>
              <a:buAutoNum type="arabicPeriod"/>
            </a:pPr>
            <a:r>
              <a:rPr lang="en" sz="1400"/>
              <a:t>For each cluster, </a:t>
            </a:r>
            <a:r>
              <a:rPr b="1" lang="en" sz="1400">
                <a:solidFill>
                  <a:schemeClr val="dk1"/>
                </a:solidFill>
              </a:rPr>
              <a:t>average</a:t>
            </a:r>
            <a:r>
              <a:rPr lang="en" sz="1400"/>
              <a:t> the coordinates of all of the points, finding </a:t>
            </a:r>
            <a:r>
              <a:rPr b="1" lang="en" sz="1400">
                <a:solidFill>
                  <a:srgbClr val="1B91CA"/>
                </a:solidFill>
              </a:rPr>
              <a:t>new centroid</a:t>
            </a:r>
            <a:endParaRPr b="1" sz="1400">
              <a:solidFill>
                <a:srgbClr val="1B91CA"/>
              </a:solidFill>
            </a:endParaRPr>
          </a:p>
          <a:p>
            <a:pPr indent="-317500" lvl="0" marL="457200" rtl="0" algn="l">
              <a:lnSpc>
                <a:spcPct val="85000"/>
              </a:lnSpc>
              <a:spcBef>
                <a:spcPts val="1000"/>
              </a:spcBef>
              <a:spcAft>
                <a:spcPts val="0"/>
              </a:spcAft>
              <a:buSzPts val="1400"/>
              <a:buFont typeface="Alfa Slab One"/>
              <a:buAutoNum type="arabicPeriod"/>
            </a:pPr>
            <a:r>
              <a:rPr lang="en" sz="1400"/>
              <a:t>Repeat 2-4 until clusters are stable (no change in last iteration)</a:t>
            </a:r>
            <a:endParaRPr sz="1400"/>
          </a:p>
        </p:txBody>
      </p:sp>
      <p:sp>
        <p:nvSpPr>
          <p:cNvPr id="214" name="Google Shape;214;p35"/>
          <p:cNvSpPr txBox="1"/>
          <p:nvPr/>
        </p:nvSpPr>
        <p:spPr>
          <a:xfrm>
            <a:off x="2474227" y="476050"/>
            <a:ext cx="1620600" cy="30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needs numerical data!</a:t>
            </a:r>
            <a:endParaRPr sz="1000">
              <a:solidFill>
                <a:schemeClr val="dk2"/>
              </a:solidFill>
              <a:latin typeface="Proxima Nova"/>
              <a:ea typeface="Proxima Nova"/>
              <a:cs typeface="Proxima Nova"/>
              <a:sym typeface="Proxima Nova"/>
            </a:endParaRPr>
          </a:p>
        </p:txBody>
      </p:sp>
      <p:pic>
        <p:nvPicPr>
          <p:cNvPr id="215" name="Google Shape;215;p35"/>
          <p:cNvPicPr preferRelativeResize="0"/>
          <p:nvPr/>
        </p:nvPicPr>
        <p:blipFill>
          <a:blip r:embed="rId3">
            <a:alphaModFix/>
          </a:blip>
          <a:stretch>
            <a:fillRect/>
          </a:stretch>
        </p:blipFill>
        <p:spPr>
          <a:xfrm>
            <a:off x="5437625" y="333116"/>
            <a:ext cx="2464451" cy="2197134"/>
          </a:xfrm>
          <a:prstGeom prst="rect">
            <a:avLst/>
          </a:prstGeom>
          <a:noFill/>
          <a:ln>
            <a:noFill/>
          </a:ln>
        </p:spPr>
      </p:pic>
      <p:sp>
        <p:nvSpPr>
          <p:cNvPr id="216" name="Google Shape;216;p35"/>
          <p:cNvSpPr txBox="1"/>
          <p:nvPr/>
        </p:nvSpPr>
        <p:spPr>
          <a:xfrm>
            <a:off x="5456981" y="52575"/>
            <a:ext cx="2453400" cy="3387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sz="1000">
                <a:solidFill>
                  <a:schemeClr val="dk2"/>
                </a:solidFill>
              </a:rPr>
              <a:t>k-means with k=3</a:t>
            </a:r>
            <a:endParaRPr sz="1000"/>
          </a:p>
        </p:txBody>
      </p:sp>
      <p:grpSp>
        <p:nvGrpSpPr>
          <p:cNvPr id="217" name="Google Shape;217;p35"/>
          <p:cNvGrpSpPr/>
          <p:nvPr/>
        </p:nvGrpSpPr>
        <p:grpSpPr>
          <a:xfrm>
            <a:off x="5635862" y="525694"/>
            <a:ext cx="2095650" cy="1834356"/>
            <a:chOff x="5832125" y="943153"/>
            <a:chExt cx="2562545" cy="2354757"/>
          </a:xfrm>
        </p:grpSpPr>
        <p:grpSp>
          <p:nvGrpSpPr>
            <p:cNvPr id="218" name="Google Shape;218;p35"/>
            <p:cNvGrpSpPr/>
            <p:nvPr/>
          </p:nvGrpSpPr>
          <p:grpSpPr>
            <a:xfrm>
              <a:off x="5832125" y="943153"/>
              <a:ext cx="717697" cy="998972"/>
              <a:chOff x="5832125" y="943153"/>
              <a:chExt cx="717697" cy="998972"/>
            </a:xfrm>
          </p:grpSpPr>
          <p:cxnSp>
            <p:nvCxnSpPr>
              <p:cNvPr id="219" name="Google Shape;219;p35"/>
              <p:cNvCxnSpPr>
                <a:stCxn id="220" idx="4"/>
              </p:cNvCxnSpPr>
              <p:nvPr/>
            </p:nvCxnSpPr>
            <p:spPr>
              <a:xfrm rot="10800000">
                <a:off x="6117324" y="1301925"/>
                <a:ext cx="333900" cy="640200"/>
              </a:xfrm>
              <a:prstGeom prst="straightConnector1">
                <a:avLst/>
              </a:prstGeom>
              <a:noFill/>
              <a:ln cap="flat" cmpd="sng" w="9525">
                <a:solidFill>
                  <a:schemeClr val="dk2"/>
                </a:solidFill>
                <a:prstDash val="solid"/>
                <a:round/>
                <a:headEnd len="med" w="med" type="none"/>
                <a:tailEnd len="med" w="med" type="none"/>
              </a:ln>
            </p:spPr>
          </p:cxnSp>
          <p:cxnSp>
            <p:nvCxnSpPr>
              <p:cNvPr id="221" name="Google Shape;221;p35"/>
              <p:cNvCxnSpPr>
                <a:stCxn id="220" idx="5"/>
              </p:cNvCxnSpPr>
              <p:nvPr/>
            </p:nvCxnSpPr>
            <p:spPr>
              <a:xfrm flipH="1" rot="10800000">
                <a:off x="6481122" y="1404047"/>
                <a:ext cx="68700" cy="5247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35"/>
              <p:cNvCxnSpPr>
                <a:stCxn id="220" idx="5"/>
              </p:cNvCxnSpPr>
              <p:nvPr/>
            </p:nvCxnSpPr>
            <p:spPr>
              <a:xfrm rot="10800000">
                <a:off x="5977122" y="1353347"/>
                <a:ext cx="504000" cy="5754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35"/>
              <p:cNvCxnSpPr>
                <a:endCxn id="220" idx="0"/>
              </p:cNvCxnSpPr>
              <p:nvPr/>
            </p:nvCxnSpPr>
            <p:spPr>
              <a:xfrm>
                <a:off x="6284124" y="1146975"/>
                <a:ext cx="167100" cy="7038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35"/>
              <p:cNvCxnSpPr>
                <a:endCxn id="220" idx="0"/>
              </p:cNvCxnSpPr>
              <p:nvPr/>
            </p:nvCxnSpPr>
            <p:spPr>
              <a:xfrm>
                <a:off x="6334524" y="985575"/>
                <a:ext cx="116700" cy="865200"/>
              </a:xfrm>
              <a:prstGeom prst="straightConnector1">
                <a:avLst/>
              </a:prstGeom>
              <a:noFill/>
              <a:ln cap="flat" cmpd="sng" w="9525">
                <a:solidFill>
                  <a:schemeClr val="dk2"/>
                </a:solidFill>
                <a:prstDash val="solid"/>
                <a:round/>
                <a:headEnd len="med" w="med" type="none"/>
                <a:tailEnd len="med" w="med" type="none"/>
              </a:ln>
            </p:spPr>
          </p:cxnSp>
          <p:cxnSp>
            <p:nvCxnSpPr>
              <p:cNvPr id="225" name="Google Shape;225;p35"/>
              <p:cNvCxnSpPr>
                <a:endCxn id="220" idx="1"/>
              </p:cNvCxnSpPr>
              <p:nvPr/>
            </p:nvCxnSpPr>
            <p:spPr>
              <a:xfrm>
                <a:off x="5971325" y="1027753"/>
                <a:ext cx="450000" cy="836400"/>
              </a:xfrm>
              <a:prstGeom prst="straightConnector1">
                <a:avLst/>
              </a:prstGeom>
              <a:noFill/>
              <a:ln cap="flat" cmpd="sng" w="9525">
                <a:solidFill>
                  <a:schemeClr val="dk2"/>
                </a:solidFill>
                <a:prstDash val="solid"/>
                <a:round/>
                <a:headEnd len="med" w="med" type="none"/>
                <a:tailEnd len="med" w="med" type="none"/>
              </a:ln>
            </p:spPr>
          </p:cxnSp>
          <p:cxnSp>
            <p:nvCxnSpPr>
              <p:cNvPr id="226" name="Google Shape;226;p35"/>
              <p:cNvCxnSpPr>
                <a:endCxn id="220" idx="1"/>
              </p:cNvCxnSpPr>
              <p:nvPr/>
            </p:nvCxnSpPr>
            <p:spPr>
              <a:xfrm>
                <a:off x="5832125" y="1076953"/>
                <a:ext cx="589200" cy="787200"/>
              </a:xfrm>
              <a:prstGeom prst="straightConnector1">
                <a:avLst/>
              </a:prstGeom>
              <a:noFill/>
              <a:ln cap="flat" cmpd="sng" w="9525">
                <a:solidFill>
                  <a:schemeClr val="dk2"/>
                </a:solidFill>
                <a:prstDash val="solid"/>
                <a:round/>
                <a:headEnd len="med" w="med" type="none"/>
                <a:tailEnd len="med" w="med" type="none"/>
              </a:ln>
            </p:spPr>
          </p:cxnSp>
          <p:cxnSp>
            <p:nvCxnSpPr>
              <p:cNvPr id="227" name="Google Shape;227;p35"/>
              <p:cNvCxnSpPr>
                <a:endCxn id="220" idx="1"/>
              </p:cNvCxnSpPr>
              <p:nvPr/>
            </p:nvCxnSpPr>
            <p:spPr>
              <a:xfrm>
                <a:off x="5889125" y="943153"/>
                <a:ext cx="532200" cy="921000"/>
              </a:xfrm>
              <a:prstGeom prst="straightConnector1">
                <a:avLst/>
              </a:prstGeom>
              <a:noFill/>
              <a:ln cap="flat" cmpd="sng" w="9525">
                <a:solidFill>
                  <a:schemeClr val="dk2"/>
                </a:solidFill>
                <a:prstDash val="solid"/>
                <a:round/>
                <a:headEnd len="med" w="med" type="none"/>
                <a:tailEnd len="med" w="med" type="none"/>
              </a:ln>
            </p:spPr>
          </p:cxnSp>
        </p:grpSp>
        <p:grpSp>
          <p:nvGrpSpPr>
            <p:cNvPr id="228" name="Google Shape;228;p35"/>
            <p:cNvGrpSpPr/>
            <p:nvPr/>
          </p:nvGrpSpPr>
          <p:grpSpPr>
            <a:xfrm>
              <a:off x="7176334" y="2047930"/>
              <a:ext cx="307200" cy="575494"/>
              <a:chOff x="7176334" y="2047930"/>
              <a:chExt cx="307200" cy="575494"/>
            </a:xfrm>
          </p:grpSpPr>
          <p:cxnSp>
            <p:nvCxnSpPr>
              <p:cNvPr id="229" name="Google Shape;229;p35"/>
              <p:cNvCxnSpPr>
                <a:stCxn id="230" idx="7"/>
              </p:cNvCxnSpPr>
              <p:nvPr/>
            </p:nvCxnSpPr>
            <p:spPr>
              <a:xfrm flipH="1" rot="10800000">
                <a:off x="7176334" y="2047930"/>
                <a:ext cx="307200" cy="298200"/>
              </a:xfrm>
              <a:prstGeom prst="straightConnector1">
                <a:avLst/>
              </a:prstGeom>
              <a:noFill/>
              <a:ln cap="flat" cmpd="sng" w="9525">
                <a:solidFill>
                  <a:schemeClr val="dk2"/>
                </a:solidFill>
                <a:prstDash val="solid"/>
                <a:round/>
                <a:headEnd len="med" w="med" type="none"/>
                <a:tailEnd len="med" w="med" type="none"/>
              </a:ln>
            </p:spPr>
          </p:cxnSp>
          <p:cxnSp>
            <p:nvCxnSpPr>
              <p:cNvPr id="231" name="Google Shape;231;p35"/>
              <p:cNvCxnSpPr>
                <a:stCxn id="230" idx="5"/>
              </p:cNvCxnSpPr>
              <p:nvPr/>
            </p:nvCxnSpPr>
            <p:spPr>
              <a:xfrm>
                <a:off x="7176334" y="2410724"/>
                <a:ext cx="266700" cy="212700"/>
              </a:xfrm>
              <a:prstGeom prst="straightConnector1">
                <a:avLst/>
              </a:prstGeom>
              <a:noFill/>
              <a:ln cap="flat" cmpd="sng" w="9525">
                <a:solidFill>
                  <a:schemeClr val="dk2"/>
                </a:solidFill>
                <a:prstDash val="solid"/>
                <a:round/>
                <a:headEnd len="med" w="med" type="none"/>
                <a:tailEnd len="med" w="med" type="none"/>
              </a:ln>
            </p:spPr>
          </p:cxnSp>
        </p:grpSp>
        <p:grpSp>
          <p:nvGrpSpPr>
            <p:cNvPr id="232" name="Google Shape;232;p35"/>
            <p:cNvGrpSpPr/>
            <p:nvPr/>
          </p:nvGrpSpPr>
          <p:grpSpPr>
            <a:xfrm>
              <a:off x="7849989" y="2501036"/>
              <a:ext cx="544682" cy="796875"/>
              <a:chOff x="7849989" y="2501036"/>
              <a:chExt cx="544682" cy="796875"/>
            </a:xfrm>
          </p:grpSpPr>
          <p:cxnSp>
            <p:nvCxnSpPr>
              <p:cNvPr id="233" name="Google Shape;233;p35"/>
              <p:cNvCxnSpPr>
                <a:stCxn id="234" idx="2"/>
              </p:cNvCxnSpPr>
              <p:nvPr/>
            </p:nvCxnSpPr>
            <p:spPr>
              <a:xfrm rot="10800000">
                <a:off x="7849989" y="2501036"/>
                <a:ext cx="351300" cy="92400"/>
              </a:xfrm>
              <a:prstGeom prst="straightConnector1">
                <a:avLst/>
              </a:prstGeom>
              <a:noFill/>
              <a:ln cap="flat" cmpd="sng" w="9525">
                <a:solidFill>
                  <a:schemeClr val="dk2"/>
                </a:solidFill>
                <a:prstDash val="solid"/>
                <a:round/>
                <a:headEnd len="med" w="med" type="none"/>
                <a:tailEnd len="med" w="med" type="none"/>
              </a:ln>
            </p:spPr>
          </p:cxnSp>
          <p:cxnSp>
            <p:nvCxnSpPr>
              <p:cNvPr id="235" name="Google Shape;235;p35"/>
              <p:cNvCxnSpPr>
                <a:stCxn id="234" idx="3"/>
              </p:cNvCxnSpPr>
              <p:nvPr/>
            </p:nvCxnSpPr>
            <p:spPr>
              <a:xfrm flipH="1">
                <a:off x="8102373" y="2625733"/>
                <a:ext cx="111300" cy="2499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35"/>
              <p:cNvCxnSpPr>
                <a:stCxn id="234" idx="3"/>
              </p:cNvCxnSpPr>
              <p:nvPr/>
            </p:nvCxnSpPr>
            <p:spPr>
              <a:xfrm flipH="1">
                <a:off x="8021673" y="2625733"/>
                <a:ext cx="192000" cy="5091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35"/>
              <p:cNvCxnSpPr>
                <a:stCxn id="234" idx="4"/>
              </p:cNvCxnSpPr>
              <p:nvPr/>
            </p:nvCxnSpPr>
            <p:spPr>
              <a:xfrm flipH="1">
                <a:off x="8197072" y="2639111"/>
                <a:ext cx="46500" cy="4227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35"/>
              <p:cNvCxnSpPr>
                <a:stCxn id="234" idx="4"/>
              </p:cNvCxnSpPr>
              <p:nvPr/>
            </p:nvCxnSpPr>
            <p:spPr>
              <a:xfrm flipH="1">
                <a:off x="8093272" y="2639111"/>
                <a:ext cx="150300" cy="5562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35"/>
              <p:cNvCxnSpPr>
                <a:stCxn id="234" idx="4"/>
              </p:cNvCxnSpPr>
              <p:nvPr/>
            </p:nvCxnSpPr>
            <p:spPr>
              <a:xfrm>
                <a:off x="8243572" y="2639111"/>
                <a:ext cx="41100" cy="658800"/>
              </a:xfrm>
              <a:prstGeom prst="straightConnector1">
                <a:avLst/>
              </a:prstGeom>
              <a:noFill/>
              <a:ln cap="flat" cmpd="sng" w="9525">
                <a:solidFill>
                  <a:schemeClr val="dk2"/>
                </a:solidFill>
                <a:prstDash val="solid"/>
                <a:round/>
                <a:headEnd len="med" w="med" type="none"/>
                <a:tailEnd len="med" w="med" type="none"/>
              </a:ln>
            </p:spPr>
          </p:cxnSp>
          <p:cxnSp>
            <p:nvCxnSpPr>
              <p:cNvPr id="240" name="Google Shape;240;p35"/>
              <p:cNvCxnSpPr>
                <a:stCxn id="234" idx="4"/>
              </p:cNvCxnSpPr>
              <p:nvPr/>
            </p:nvCxnSpPr>
            <p:spPr>
              <a:xfrm>
                <a:off x="8243572" y="2639111"/>
                <a:ext cx="127500" cy="646200"/>
              </a:xfrm>
              <a:prstGeom prst="straightConnector1">
                <a:avLst/>
              </a:prstGeom>
              <a:noFill/>
              <a:ln cap="flat" cmpd="sng" w="9525">
                <a:solidFill>
                  <a:schemeClr val="dk2"/>
                </a:solidFill>
                <a:prstDash val="solid"/>
                <a:round/>
                <a:headEnd len="med" w="med" type="none"/>
                <a:tailEnd len="med" w="med" type="none"/>
              </a:ln>
            </p:spPr>
          </p:cxnSp>
          <p:cxnSp>
            <p:nvCxnSpPr>
              <p:cNvPr id="241" name="Google Shape;241;p35"/>
              <p:cNvCxnSpPr>
                <a:stCxn id="234" idx="5"/>
              </p:cNvCxnSpPr>
              <p:nvPr/>
            </p:nvCxnSpPr>
            <p:spPr>
              <a:xfrm>
                <a:off x="8273471" y="2625733"/>
                <a:ext cx="121200" cy="515100"/>
              </a:xfrm>
              <a:prstGeom prst="straightConnector1">
                <a:avLst/>
              </a:prstGeom>
              <a:noFill/>
              <a:ln cap="flat" cmpd="sng" w="9525">
                <a:solidFill>
                  <a:schemeClr val="dk2"/>
                </a:solidFill>
                <a:prstDash val="solid"/>
                <a:round/>
                <a:headEnd len="med" w="med" type="none"/>
                <a:tailEnd len="med" w="med" type="none"/>
              </a:ln>
            </p:spPr>
          </p:cxnSp>
        </p:grpSp>
      </p:grpSp>
      <p:grpSp>
        <p:nvGrpSpPr>
          <p:cNvPr id="242" name="Google Shape;242;p35"/>
          <p:cNvGrpSpPr/>
          <p:nvPr/>
        </p:nvGrpSpPr>
        <p:grpSpPr>
          <a:xfrm>
            <a:off x="6107582" y="1232732"/>
            <a:ext cx="1534940" cy="614113"/>
            <a:chOff x="6510725" y="1141025"/>
            <a:chExt cx="1584700" cy="667950"/>
          </a:xfrm>
        </p:grpSpPr>
        <p:sp>
          <p:nvSpPr>
            <p:cNvPr id="220" name="Google Shape;220;p35"/>
            <p:cNvSpPr/>
            <p:nvPr/>
          </p:nvSpPr>
          <p:spPr>
            <a:xfrm>
              <a:off x="6510725" y="1141025"/>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35"/>
            <p:cNvSpPr/>
            <p:nvPr/>
          </p:nvSpPr>
          <p:spPr>
            <a:xfrm>
              <a:off x="7097700" y="1549400"/>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35"/>
            <p:cNvSpPr/>
            <p:nvPr/>
          </p:nvSpPr>
          <p:spPr>
            <a:xfrm>
              <a:off x="8024025" y="1731575"/>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43" name="Google Shape;243;p35"/>
          <p:cNvPicPr preferRelativeResize="0"/>
          <p:nvPr/>
        </p:nvPicPr>
        <p:blipFill>
          <a:blip r:embed="rId3">
            <a:alphaModFix/>
          </a:blip>
          <a:stretch>
            <a:fillRect/>
          </a:stretch>
        </p:blipFill>
        <p:spPr>
          <a:xfrm>
            <a:off x="5437675" y="2623841"/>
            <a:ext cx="2464451" cy="2197134"/>
          </a:xfrm>
          <a:prstGeom prst="rect">
            <a:avLst/>
          </a:prstGeom>
          <a:noFill/>
          <a:ln>
            <a:noFill/>
          </a:ln>
        </p:spPr>
      </p:pic>
      <p:grpSp>
        <p:nvGrpSpPr>
          <p:cNvPr id="244" name="Google Shape;244;p35"/>
          <p:cNvGrpSpPr/>
          <p:nvPr/>
        </p:nvGrpSpPr>
        <p:grpSpPr>
          <a:xfrm>
            <a:off x="5405025" y="2520775"/>
            <a:ext cx="2505325" cy="2276800"/>
            <a:chOff x="5938425" y="2520775"/>
            <a:chExt cx="2505325" cy="2276800"/>
          </a:xfrm>
        </p:grpSpPr>
        <p:sp>
          <p:nvSpPr>
            <p:cNvPr id="245" name="Google Shape;245;p35"/>
            <p:cNvSpPr/>
            <p:nvPr/>
          </p:nvSpPr>
          <p:spPr>
            <a:xfrm>
              <a:off x="5938425" y="2520775"/>
              <a:ext cx="900300" cy="9084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35"/>
            <p:cNvSpPr/>
            <p:nvPr/>
          </p:nvSpPr>
          <p:spPr>
            <a:xfrm>
              <a:off x="7600750" y="3935075"/>
              <a:ext cx="843000" cy="8625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5"/>
            <p:cNvSpPr/>
            <p:nvPr/>
          </p:nvSpPr>
          <p:spPr>
            <a:xfrm>
              <a:off x="7275200" y="3637074"/>
              <a:ext cx="501300" cy="5289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48" name="Google Shape;248;p35"/>
          <p:cNvGrpSpPr/>
          <p:nvPr/>
        </p:nvGrpSpPr>
        <p:grpSpPr>
          <a:xfrm>
            <a:off x="5823232" y="2939394"/>
            <a:ext cx="1819290" cy="1517601"/>
            <a:chOff x="6217105" y="340000"/>
            <a:chExt cx="1878268" cy="1650643"/>
          </a:xfrm>
        </p:grpSpPr>
        <p:sp>
          <p:nvSpPr>
            <p:cNvPr id="249" name="Google Shape;249;p35"/>
            <p:cNvSpPr/>
            <p:nvPr/>
          </p:nvSpPr>
          <p:spPr>
            <a:xfrm>
              <a:off x="6217105" y="340000"/>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35"/>
            <p:cNvSpPr/>
            <p:nvPr/>
          </p:nvSpPr>
          <p:spPr>
            <a:xfrm>
              <a:off x="7400637" y="1367733"/>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35"/>
            <p:cNvSpPr/>
            <p:nvPr/>
          </p:nvSpPr>
          <p:spPr>
            <a:xfrm>
              <a:off x="8023973" y="1913242"/>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2" name="Google Shape;252;p35"/>
          <p:cNvSpPr txBox="1"/>
          <p:nvPr/>
        </p:nvSpPr>
        <p:spPr>
          <a:xfrm>
            <a:off x="5443156" y="4744775"/>
            <a:ext cx="2453400" cy="3387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sz="1000">
                <a:solidFill>
                  <a:schemeClr val="dk2"/>
                </a:solidFill>
              </a:rPr>
              <a:t>repeat until centroids are stable</a:t>
            </a:r>
            <a:endParaRPr sz="1000"/>
          </a:p>
        </p:txBody>
      </p:sp>
      <p:sp>
        <p:nvSpPr>
          <p:cNvPr id="253" name="Google Shape;253;p35"/>
          <p:cNvSpPr txBox="1"/>
          <p:nvPr/>
        </p:nvSpPr>
        <p:spPr>
          <a:xfrm>
            <a:off x="892700" y="3505275"/>
            <a:ext cx="4052100" cy="12252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lang="en">
                <a:solidFill>
                  <a:schemeClr val="dk2"/>
                </a:solidFill>
              </a:rPr>
              <a:t>Things to keep in mind:</a:t>
            </a:r>
            <a:endParaRPr>
              <a:solidFill>
                <a:schemeClr val="dk2"/>
              </a:solidFill>
            </a:endParaRPr>
          </a:p>
          <a:p>
            <a:pPr indent="0" lvl="0" marL="0" rtl="0" algn="l">
              <a:lnSpc>
                <a:spcPct val="85000"/>
              </a:lnSpc>
              <a:spcBef>
                <a:spcPts val="1200"/>
              </a:spcBef>
              <a:spcAft>
                <a:spcPts val="0"/>
              </a:spcAft>
              <a:buNone/>
            </a:pPr>
            <a:r>
              <a:rPr lang="en">
                <a:solidFill>
                  <a:schemeClr val="dk2"/>
                </a:solidFill>
              </a:rPr>
              <a:t>Depending on initial centroid, you can get different clusters! </a:t>
            </a:r>
            <a:endParaRPr>
              <a:solidFill>
                <a:schemeClr val="dk2"/>
              </a:solidFill>
            </a:endParaRPr>
          </a:p>
          <a:p>
            <a:pPr indent="0" lvl="0" marL="0" rtl="0" algn="l">
              <a:lnSpc>
                <a:spcPct val="85000"/>
              </a:lnSpc>
              <a:spcBef>
                <a:spcPts val="1200"/>
              </a:spcBef>
              <a:spcAft>
                <a:spcPts val="1200"/>
              </a:spcAft>
              <a:buNone/>
            </a:pPr>
            <a:r>
              <a:rPr lang="en">
                <a:solidFill>
                  <a:schemeClr val="dk2"/>
                </a:solidFill>
              </a:rPr>
              <a:t>Sensitive to outliers and scale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grpSp>
        <p:nvGrpSpPr>
          <p:cNvPr id="258" name="Google Shape;258;p36"/>
          <p:cNvGrpSpPr/>
          <p:nvPr/>
        </p:nvGrpSpPr>
        <p:grpSpPr>
          <a:xfrm>
            <a:off x="611625" y="-58275"/>
            <a:ext cx="2464451" cy="2477625"/>
            <a:chOff x="611625" y="-58275"/>
            <a:chExt cx="2464451" cy="2477625"/>
          </a:xfrm>
        </p:grpSpPr>
        <p:pic>
          <p:nvPicPr>
            <p:cNvPr id="259" name="Google Shape;259;p36"/>
            <p:cNvPicPr preferRelativeResize="0"/>
            <p:nvPr/>
          </p:nvPicPr>
          <p:blipFill>
            <a:blip r:embed="rId3">
              <a:alphaModFix/>
            </a:blip>
            <a:stretch>
              <a:fillRect/>
            </a:stretch>
          </p:blipFill>
          <p:spPr>
            <a:xfrm>
              <a:off x="611625" y="222216"/>
              <a:ext cx="2464451" cy="2197134"/>
            </a:xfrm>
            <a:prstGeom prst="rect">
              <a:avLst/>
            </a:prstGeom>
            <a:noFill/>
            <a:ln>
              <a:noFill/>
            </a:ln>
          </p:spPr>
        </p:pic>
        <p:grpSp>
          <p:nvGrpSpPr>
            <p:cNvPr id="260" name="Google Shape;260;p36"/>
            <p:cNvGrpSpPr/>
            <p:nvPr/>
          </p:nvGrpSpPr>
          <p:grpSpPr>
            <a:xfrm>
              <a:off x="809862" y="414794"/>
              <a:ext cx="2095650" cy="1834356"/>
              <a:chOff x="5832125" y="943153"/>
              <a:chExt cx="2562545" cy="2354757"/>
            </a:xfrm>
          </p:grpSpPr>
          <p:grpSp>
            <p:nvGrpSpPr>
              <p:cNvPr id="261" name="Google Shape;261;p36"/>
              <p:cNvGrpSpPr/>
              <p:nvPr/>
            </p:nvGrpSpPr>
            <p:grpSpPr>
              <a:xfrm>
                <a:off x="5832125" y="943153"/>
                <a:ext cx="717697" cy="998972"/>
                <a:chOff x="5832125" y="943153"/>
                <a:chExt cx="717697" cy="998972"/>
              </a:xfrm>
            </p:grpSpPr>
            <p:cxnSp>
              <p:nvCxnSpPr>
                <p:cNvPr id="262" name="Google Shape;262;p36"/>
                <p:cNvCxnSpPr>
                  <a:stCxn id="263" idx="4"/>
                </p:cNvCxnSpPr>
                <p:nvPr/>
              </p:nvCxnSpPr>
              <p:spPr>
                <a:xfrm rot="10800000">
                  <a:off x="6117324" y="1301925"/>
                  <a:ext cx="333900" cy="6402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6"/>
                <p:cNvCxnSpPr>
                  <a:stCxn id="263" idx="5"/>
                </p:cNvCxnSpPr>
                <p:nvPr/>
              </p:nvCxnSpPr>
              <p:spPr>
                <a:xfrm flipH="1" rot="10800000">
                  <a:off x="6481122" y="1404047"/>
                  <a:ext cx="68700" cy="5247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6"/>
                <p:cNvCxnSpPr>
                  <a:stCxn id="263" idx="5"/>
                </p:cNvCxnSpPr>
                <p:nvPr/>
              </p:nvCxnSpPr>
              <p:spPr>
                <a:xfrm rot="10800000">
                  <a:off x="5977122" y="1353347"/>
                  <a:ext cx="504000" cy="5754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6"/>
                <p:cNvCxnSpPr>
                  <a:endCxn id="263" idx="0"/>
                </p:cNvCxnSpPr>
                <p:nvPr/>
              </p:nvCxnSpPr>
              <p:spPr>
                <a:xfrm>
                  <a:off x="6284124" y="1146975"/>
                  <a:ext cx="167100" cy="7038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36"/>
                <p:cNvCxnSpPr>
                  <a:endCxn id="263" idx="0"/>
                </p:cNvCxnSpPr>
                <p:nvPr/>
              </p:nvCxnSpPr>
              <p:spPr>
                <a:xfrm>
                  <a:off x="6334524" y="985575"/>
                  <a:ext cx="116700" cy="865200"/>
                </a:xfrm>
                <a:prstGeom prst="straightConnector1">
                  <a:avLst/>
                </a:prstGeom>
                <a:noFill/>
                <a:ln cap="flat" cmpd="sng" w="9525">
                  <a:solidFill>
                    <a:schemeClr val="dk2"/>
                  </a:solidFill>
                  <a:prstDash val="solid"/>
                  <a:round/>
                  <a:headEnd len="med" w="med" type="none"/>
                  <a:tailEnd len="med" w="med" type="none"/>
                </a:ln>
              </p:spPr>
            </p:cxnSp>
            <p:cxnSp>
              <p:nvCxnSpPr>
                <p:cNvPr id="268" name="Google Shape;268;p36"/>
                <p:cNvCxnSpPr>
                  <a:endCxn id="263" idx="1"/>
                </p:cNvCxnSpPr>
                <p:nvPr/>
              </p:nvCxnSpPr>
              <p:spPr>
                <a:xfrm>
                  <a:off x="5971325" y="1027753"/>
                  <a:ext cx="450000" cy="836400"/>
                </a:xfrm>
                <a:prstGeom prst="straightConnector1">
                  <a:avLst/>
                </a:prstGeom>
                <a:noFill/>
                <a:ln cap="flat" cmpd="sng" w="9525">
                  <a:solidFill>
                    <a:schemeClr val="dk2"/>
                  </a:solidFill>
                  <a:prstDash val="solid"/>
                  <a:round/>
                  <a:headEnd len="med" w="med" type="none"/>
                  <a:tailEnd len="med" w="med" type="none"/>
                </a:ln>
              </p:spPr>
            </p:cxnSp>
            <p:cxnSp>
              <p:nvCxnSpPr>
                <p:cNvPr id="269" name="Google Shape;269;p36"/>
                <p:cNvCxnSpPr>
                  <a:endCxn id="263" idx="1"/>
                </p:cNvCxnSpPr>
                <p:nvPr/>
              </p:nvCxnSpPr>
              <p:spPr>
                <a:xfrm>
                  <a:off x="5832125" y="1076953"/>
                  <a:ext cx="589200" cy="7872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36"/>
                <p:cNvCxnSpPr>
                  <a:endCxn id="263" idx="1"/>
                </p:cNvCxnSpPr>
                <p:nvPr/>
              </p:nvCxnSpPr>
              <p:spPr>
                <a:xfrm>
                  <a:off x="5889125" y="943153"/>
                  <a:ext cx="532200" cy="921000"/>
                </a:xfrm>
                <a:prstGeom prst="straightConnector1">
                  <a:avLst/>
                </a:prstGeom>
                <a:noFill/>
                <a:ln cap="flat" cmpd="sng" w="9525">
                  <a:solidFill>
                    <a:schemeClr val="dk2"/>
                  </a:solidFill>
                  <a:prstDash val="solid"/>
                  <a:round/>
                  <a:headEnd len="med" w="med" type="none"/>
                  <a:tailEnd len="med" w="med" type="none"/>
                </a:ln>
              </p:spPr>
            </p:cxnSp>
          </p:grpSp>
          <p:grpSp>
            <p:nvGrpSpPr>
              <p:cNvPr id="271" name="Google Shape;271;p36"/>
              <p:cNvGrpSpPr/>
              <p:nvPr/>
            </p:nvGrpSpPr>
            <p:grpSpPr>
              <a:xfrm>
                <a:off x="7176334" y="2047930"/>
                <a:ext cx="307200" cy="575494"/>
                <a:chOff x="7176334" y="2047930"/>
                <a:chExt cx="307200" cy="575494"/>
              </a:xfrm>
            </p:grpSpPr>
            <p:cxnSp>
              <p:nvCxnSpPr>
                <p:cNvPr id="272" name="Google Shape;272;p36"/>
                <p:cNvCxnSpPr>
                  <a:stCxn id="273" idx="7"/>
                </p:cNvCxnSpPr>
                <p:nvPr/>
              </p:nvCxnSpPr>
              <p:spPr>
                <a:xfrm flipH="1" rot="10800000">
                  <a:off x="7176334" y="2047930"/>
                  <a:ext cx="307200" cy="298200"/>
                </a:xfrm>
                <a:prstGeom prst="straightConnector1">
                  <a:avLst/>
                </a:prstGeom>
                <a:noFill/>
                <a:ln cap="flat" cmpd="sng" w="9525">
                  <a:solidFill>
                    <a:schemeClr val="dk2"/>
                  </a:solidFill>
                  <a:prstDash val="solid"/>
                  <a:round/>
                  <a:headEnd len="med" w="med" type="none"/>
                  <a:tailEnd len="med" w="med" type="none"/>
                </a:ln>
              </p:spPr>
            </p:cxnSp>
            <p:cxnSp>
              <p:nvCxnSpPr>
                <p:cNvPr id="274" name="Google Shape;274;p36"/>
                <p:cNvCxnSpPr>
                  <a:stCxn id="273" idx="5"/>
                </p:cNvCxnSpPr>
                <p:nvPr/>
              </p:nvCxnSpPr>
              <p:spPr>
                <a:xfrm>
                  <a:off x="7176334" y="2410724"/>
                  <a:ext cx="266700" cy="212700"/>
                </a:xfrm>
                <a:prstGeom prst="straightConnector1">
                  <a:avLst/>
                </a:prstGeom>
                <a:noFill/>
                <a:ln cap="flat" cmpd="sng" w="9525">
                  <a:solidFill>
                    <a:schemeClr val="dk2"/>
                  </a:solidFill>
                  <a:prstDash val="solid"/>
                  <a:round/>
                  <a:headEnd len="med" w="med" type="none"/>
                  <a:tailEnd len="med" w="med" type="none"/>
                </a:ln>
              </p:spPr>
            </p:cxnSp>
          </p:grpSp>
          <p:grpSp>
            <p:nvGrpSpPr>
              <p:cNvPr id="275" name="Google Shape;275;p36"/>
              <p:cNvGrpSpPr/>
              <p:nvPr/>
            </p:nvGrpSpPr>
            <p:grpSpPr>
              <a:xfrm>
                <a:off x="7849989" y="2501036"/>
                <a:ext cx="544682" cy="796875"/>
                <a:chOff x="7849989" y="2501036"/>
                <a:chExt cx="544682" cy="796875"/>
              </a:xfrm>
            </p:grpSpPr>
            <p:cxnSp>
              <p:nvCxnSpPr>
                <p:cNvPr id="276" name="Google Shape;276;p36"/>
                <p:cNvCxnSpPr>
                  <a:stCxn id="277" idx="2"/>
                </p:cNvCxnSpPr>
                <p:nvPr/>
              </p:nvCxnSpPr>
              <p:spPr>
                <a:xfrm rot="10800000">
                  <a:off x="7849989" y="2501036"/>
                  <a:ext cx="351300" cy="924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36"/>
                <p:cNvCxnSpPr>
                  <a:stCxn id="277" idx="3"/>
                </p:cNvCxnSpPr>
                <p:nvPr/>
              </p:nvCxnSpPr>
              <p:spPr>
                <a:xfrm flipH="1">
                  <a:off x="8102373" y="2625733"/>
                  <a:ext cx="111300" cy="2499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36"/>
                <p:cNvCxnSpPr>
                  <a:stCxn id="277" idx="3"/>
                </p:cNvCxnSpPr>
                <p:nvPr/>
              </p:nvCxnSpPr>
              <p:spPr>
                <a:xfrm flipH="1">
                  <a:off x="8021673" y="2625733"/>
                  <a:ext cx="192000" cy="5091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36"/>
                <p:cNvCxnSpPr>
                  <a:stCxn id="277" idx="4"/>
                </p:cNvCxnSpPr>
                <p:nvPr/>
              </p:nvCxnSpPr>
              <p:spPr>
                <a:xfrm flipH="1">
                  <a:off x="8197072" y="2639111"/>
                  <a:ext cx="46500" cy="4227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36"/>
                <p:cNvCxnSpPr>
                  <a:stCxn id="277" idx="4"/>
                </p:cNvCxnSpPr>
                <p:nvPr/>
              </p:nvCxnSpPr>
              <p:spPr>
                <a:xfrm flipH="1">
                  <a:off x="8093272" y="2639111"/>
                  <a:ext cx="150300" cy="5562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36"/>
                <p:cNvCxnSpPr>
                  <a:stCxn id="277" idx="4"/>
                </p:cNvCxnSpPr>
                <p:nvPr/>
              </p:nvCxnSpPr>
              <p:spPr>
                <a:xfrm>
                  <a:off x="8243572" y="2639111"/>
                  <a:ext cx="41100" cy="6588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36"/>
                <p:cNvCxnSpPr>
                  <a:stCxn id="277" idx="4"/>
                </p:cNvCxnSpPr>
                <p:nvPr/>
              </p:nvCxnSpPr>
              <p:spPr>
                <a:xfrm>
                  <a:off x="8243572" y="2639111"/>
                  <a:ext cx="127500" cy="6462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36"/>
                <p:cNvCxnSpPr>
                  <a:stCxn id="277" idx="5"/>
                </p:cNvCxnSpPr>
                <p:nvPr/>
              </p:nvCxnSpPr>
              <p:spPr>
                <a:xfrm>
                  <a:off x="8273471" y="2625733"/>
                  <a:ext cx="121200" cy="515100"/>
                </a:xfrm>
                <a:prstGeom prst="straightConnector1">
                  <a:avLst/>
                </a:prstGeom>
                <a:noFill/>
                <a:ln cap="flat" cmpd="sng" w="9525">
                  <a:solidFill>
                    <a:schemeClr val="dk2"/>
                  </a:solidFill>
                  <a:prstDash val="solid"/>
                  <a:round/>
                  <a:headEnd len="med" w="med" type="none"/>
                  <a:tailEnd len="med" w="med" type="none"/>
                </a:ln>
              </p:spPr>
            </p:cxnSp>
          </p:grpSp>
        </p:grpSp>
        <p:grpSp>
          <p:nvGrpSpPr>
            <p:cNvPr id="285" name="Google Shape;285;p36"/>
            <p:cNvGrpSpPr/>
            <p:nvPr/>
          </p:nvGrpSpPr>
          <p:grpSpPr>
            <a:xfrm>
              <a:off x="1281582" y="1121832"/>
              <a:ext cx="1534940" cy="614113"/>
              <a:chOff x="6510725" y="1141025"/>
              <a:chExt cx="1584700" cy="667950"/>
            </a:xfrm>
          </p:grpSpPr>
          <p:sp>
            <p:nvSpPr>
              <p:cNvPr id="263" name="Google Shape;263;p36"/>
              <p:cNvSpPr/>
              <p:nvPr/>
            </p:nvSpPr>
            <p:spPr>
              <a:xfrm>
                <a:off x="6510725" y="1141025"/>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36"/>
              <p:cNvSpPr/>
              <p:nvPr/>
            </p:nvSpPr>
            <p:spPr>
              <a:xfrm>
                <a:off x="7097700" y="1549400"/>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6"/>
              <p:cNvSpPr/>
              <p:nvPr/>
            </p:nvSpPr>
            <p:spPr>
              <a:xfrm>
                <a:off x="8024025" y="1731575"/>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6" name="Google Shape;286;p36"/>
            <p:cNvSpPr txBox="1"/>
            <p:nvPr/>
          </p:nvSpPr>
          <p:spPr>
            <a:xfrm>
              <a:off x="981577" y="-58275"/>
              <a:ext cx="16206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first iteration step 2</a:t>
              </a:r>
              <a:endParaRPr sz="1000">
                <a:solidFill>
                  <a:schemeClr val="dk2"/>
                </a:solidFill>
                <a:latin typeface="Proxima Nova"/>
                <a:ea typeface="Proxima Nova"/>
                <a:cs typeface="Proxima Nova"/>
                <a:sym typeface="Proxima Nova"/>
              </a:endParaRPr>
            </a:p>
          </p:txBody>
        </p:sp>
      </p:grpSp>
      <p:grpSp>
        <p:nvGrpSpPr>
          <p:cNvPr id="287" name="Google Shape;287;p36"/>
          <p:cNvGrpSpPr/>
          <p:nvPr/>
        </p:nvGrpSpPr>
        <p:grpSpPr>
          <a:xfrm>
            <a:off x="3269113" y="-20987"/>
            <a:ext cx="2588837" cy="2581337"/>
            <a:chOff x="3289550" y="-58275"/>
            <a:chExt cx="2588837" cy="2581337"/>
          </a:xfrm>
        </p:grpSpPr>
        <p:pic>
          <p:nvPicPr>
            <p:cNvPr id="288" name="Google Shape;288;p36"/>
            <p:cNvPicPr preferRelativeResize="0"/>
            <p:nvPr/>
          </p:nvPicPr>
          <p:blipFill>
            <a:blip r:embed="rId3">
              <a:alphaModFix/>
            </a:blip>
            <a:stretch>
              <a:fillRect/>
            </a:stretch>
          </p:blipFill>
          <p:spPr>
            <a:xfrm>
              <a:off x="3289550" y="222216"/>
              <a:ext cx="2464451" cy="2197134"/>
            </a:xfrm>
            <a:prstGeom prst="rect">
              <a:avLst/>
            </a:prstGeom>
            <a:noFill/>
            <a:ln>
              <a:noFill/>
            </a:ln>
          </p:spPr>
        </p:pic>
        <p:grpSp>
          <p:nvGrpSpPr>
            <p:cNvPr id="289" name="Google Shape;289;p36"/>
            <p:cNvGrpSpPr/>
            <p:nvPr/>
          </p:nvGrpSpPr>
          <p:grpSpPr>
            <a:xfrm>
              <a:off x="3289912" y="190575"/>
              <a:ext cx="2588475" cy="2332487"/>
              <a:chOff x="5959212" y="2489125"/>
              <a:chExt cx="2588475" cy="2332487"/>
            </a:xfrm>
          </p:grpSpPr>
          <p:sp>
            <p:nvSpPr>
              <p:cNvPr id="290" name="Google Shape;290;p36"/>
              <p:cNvSpPr/>
              <p:nvPr/>
            </p:nvSpPr>
            <p:spPr>
              <a:xfrm>
                <a:off x="5959212" y="2489125"/>
                <a:ext cx="864000" cy="8193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36"/>
              <p:cNvSpPr/>
              <p:nvPr/>
            </p:nvSpPr>
            <p:spPr>
              <a:xfrm>
                <a:off x="7582587" y="3868812"/>
                <a:ext cx="965100" cy="9528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36"/>
              <p:cNvSpPr/>
              <p:nvPr/>
            </p:nvSpPr>
            <p:spPr>
              <a:xfrm>
                <a:off x="7225137" y="3523763"/>
                <a:ext cx="560700" cy="5445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93" name="Google Shape;293;p36"/>
            <p:cNvGrpSpPr/>
            <p:nvPr/>
          </p:nvGrpSpPr>
          <p:grpSpPr>
            <a:xfrm>
              <a:off x="3687332" y="564644"/>
              <a:ext cx="1743090" cy="1517601"/>
              <a:chOff x="6217105" y="257120"/>
              <a:chExt cx="1799598" cy="1650643"/>
            </a:xfrm>
          </p:grpSpPr>
          <p:sp>
            <p:nvSpPr>
              <p:cNvPr id="294" name="Google Shape;294;p36"/>
              <p:cNvSpPr/>
              <p:nvPr/>
            </p:nvSpPr>
            <p:spPr>
              <a:xfrm>
                <a:off x="6217105" y="257120"/>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36"/>
              <p:cNvSpPr/>
              <p:nvPr/>
            </p:nvSpPr>
            <p:spPr>
              <a:xfrm>
                <a:off x="7382931" y="1247518"/>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6"/>
              <p:cNvSpPr/>
              <p:nvPr/>
            </p:nvSpPr>
            <p:spPr>
              <a:xfrm>
                <a:off x="7945303" y="1830362"/>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97" name="Google Shape;297;p36"/>
            <p:cNvSpPr txBox="1"/>
            <p:nvPr/>
          </p:nvSpPr>
          <p:spPr>
            <a:xfrm>
              <a:off x="3786677" y="-58275"/>
              <a:ext cx="16206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first iteration steps 3-4</a:t>
              </a:r>
              <a:endParaRPr sz="1000">
                <a:solidFill>
                  <a:schemeClr val="dk2"/>
                </a:solidFill>
                <a:latin typeface="Proxima Nova"/>
                <a:ea typeface="Proxima Nova"/>
                <a:cs typeface="Proxima Nova"/>
                <a:sym typeface="Proxima Nova"/>
              </a:endParaRPr>
            </a:p>
          </p:txBody>
        </p:sp>
      </p:grpSp>
      <p:grpSp>
        <p:nvGrpSpPr>
          <p:cNvPr id="298" name="Google Shape;298;p36"/>
          <p:cNvGrpSpPr/>
          <p:nvPr/>
        </p:nvGrpSpPr>
        <p:grpSpPr>
          <a:xfrm>
            <a:off x="5906900" y="56950"/>
            <a:ext cx="2464451" cy="2401425"/>
            <a:chOff x="5906900" y="56950"/>
            <a:chExt cx="2464451" cy="2401425"/>
          </a:xfrm>
        </p:grpSpPr>
        <p:grpSp>
          <p:nvGrpSpPr>
            <p:cNvPr id="299" name="Google Shape;299;p36"/>
            <p:cNvGrpSpPr/>
            <p:nvPr/>
          </p:nvGrpSpPr>
          <p:grpSpPr>
            <a:xfrm>
              <a:off x="5906900" y="261241"/>
              <a:ext cx="2464451" cy="2197134"/>
              <a:chOff x="5906900" y="261241"/>
              <a:chExt cx="2464451" cy="2197134"/>
            </a:xfrm>
          </p:grpSpPr>
          <p:pic>
            <p:nvPicPr>
              <p:cNvPr id="300" name="Google Shape;300;p36"/>
              <p:cNvPicPr preferRelativeResize="0"/>
              <p:nvPr/>
            </p:nvPicPr>
            <p:blipFill>
              <a:blip r:embed="rId3">
                <a:alphaModFix/>
              </a:blip>
              <a:stretch>
                <a:fillRect/>
              </a:stretch>
            </p:blipFill>
            <p:spPr>
              <a:xfrm>
                <a:off x="5906900" y="261241"/>
                <a:ext cx="2464451" cy="2197134"/>
              </a:xfrm>
              <a:prstGeom prst="rect">
                <a:avLst/>
              </a:prstGeom>
              <a:noFill/>
              <a:ln>
                <a:noFill/>
              </a:ln>
            </p:spPr>
          </p:pic>
          <p:grpSp>
            <p:nvGrpSpPr>
              <p:cNvPr id="301" name="Google Shape;301;p36"/>
              <p:cNvGrpSpPr/>
              <p:nvPr/>
            </p:nvGrpSpPr>
            <p:grpSpPr>
              <a:xfrm>
                <a:off x="6267807" y="580044"/>
                <a:ext cx="1779965" cy="1541226"/>
                <a:chOff x="6179035" y="231424"/>
                <a:chExt cx="1837668" cy="1676339"/>
              </a:xfrm>
            </p:grpSpPr>
            <p:sp>
              <p:nvSpPr>
                <p:cNvPr id="302" name="Google Shape;302;p36"/>
                <p:cNvSpPr/>
                <p:nvPr/>
              </p:nvSpPr>
              <p:spPr>
                <a:xfrm>
                  <a:off x="6179035" y="231424"/>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6"/>
                <p:cNvSpPr/>
                <p:nvPr/>
              </p:nvSpPr>
              <p:spPr>
                <a:xfrm>
                  <a:off x="7400637" y="1201972"/>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36"/>
                <p:cNvSpPr/>
                <p:nvPr/>
              </p:nvSpPr>
              <p:spPr>
                <a:xfrm>
                  <a:off x="7945303" y="1830362"/>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305" name="Google Shape;305;p36"/>
            <p:cNvGrpSpPr/>
            <p:nvPr/>
          </p:nvGrpSpPr>
          <p:grpSpPr>
            <a:xfrm>
              <a:off x="6113535" y="56950"/>
              <a:ext cx="2065709" cy="2232399"/>
              <a:chOff x="6113535" y="133150"/>
              <a:chExt cx="2065709" cy="2232399"/>
            </a:xfrm>
          </p:grpSpPr>
          <p:sp>
            <p:nvSpPr>
              <p:cNvPr id="306" name="Google Shape;306;p36"/>
              <p:cNvSpPr txBox="1"/>
              <p:nvPr/>
            </p:nvSpPr>
            <p:spPr>
              <a:xfrm>
                <a:off x="6441402" y="133150"/>
                <a:ext cx="16206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second iteration step 2</a:t>
                </a:r>
                <a:endParaRPr sz="1000">
                  <a:solidFill>
                    <a:schemeClr val="dk2"/>
                  </a:solidFill>
                  <a:latin typeface="Proxima Nova"/>
                  <a:ea typeface="Proxima Nova"/>
                  <a:cs typeface="Proxima Nova"/>
                  <a:sym typeface="Proxima Nova"/>
                </a:endParaRPr>
              </a:p>
            </p:txBody>
          </p:sp>
          <p:cxnSp>
            <p:nvCxnSpPr>
              <p:cNvPr id="307" name="Google Shape;307;p36"/>
              <p:cNvCxnSpPr/>
              <p:nvPr/>
            </p:nvCxnSpPr>
            <p:spPr>
              <a:xfrm rot="10800000">
                <a:off x="6222135" y="599166"/>
                <a:ext cx="55800" cy="67500"/>
              </a:xfrm>
              <a:prstGeom prst="straightConnector1">
                <a:avLst/>
              </a:prstGeom>
              <a:noFill/>
              <a:ln cap="flat" cmpd="sng" w="9525">
                <a:solidFill>
                  <a:schemeClr val="dk2"/>
                </a:solidFill>
                <a:prstDash val="solid"/>
                <a:round/>
                <a:headEnd len="med" w="med" type="none"/>
                <a:tailEnd len="med" w="med" type="none"/>
              </a:ln>
            </p:spPr>
          </p:cxnSp>
          <p:cxnSp>
            <p:nvCxnSpPr>
              <p:cNvPr id="308" name="Google Shape;308;p36"/>
              <p:cNvCxnSpPr/>
              <p:nvPr/>
            </p:nvCxnSpPr>
            <p:spPr>
              <a:xfrm rot="10800000">
                <a:off x="6154635" y="525666"/>
                <a:ext cx="123300" cy="141000"/>
              </a:xfrm>
              <a:prstGeom prst="straightConnector1">
                <a:avLst/>
              </a:prstGeom>
              <a:noFill/>
              <a:ln cap="flat" cmpd="sng" w="9525">
                <a:solidFill>
                  <a:schemeClr val="dk2"/>
                </a:solidFill>
                <a:prstDash val="solid"/>
                <a:round/>
                <a:headEnd len="med" w="med" type="none"/>
                <a:tailEnd len="med" w="med" type="none"/>
              </a:ln>
            </p:spPr>
          </p:cxnSp>
          <p:cxnSp>
            <p:nvCxnSpPr>
              <p:cNvPr id="309" name="Google Shape;309;p36"/>
              <p:cNvCxnSpPr/>
              <p:nvPr/>
            </p:nvCxnSpPr>
            <p:spPr>
              <a:xfrm rot="10800000">
                <a:off x="6113535" y="614466"/>
                <a:ext cx="164400" cy="52200"/>
              </a:xfrm>
              <a:prstGeom prst="straightConnector1">
                <a:avLst/>
              </a:prstGeom>
              <a:noFill/>
              <a:ln cap="flat" cmpd="sng" w="9525">
                <a:solidFill>
                  <a:schemeClr val="dk2"/>
                </a:solidFill>
                <a:prstDash val="solid"/>
                <a:round/>
                <a:headEnd len="med" w="med" type="none"/>
                <a:tailEnd len="med" w="med" type="none"/>
              </a:ln>
            </p:spPr>
          </p:cxnSp>
          <p:cxnSp>
            <p:nvCxnSpPr>
              <p:cNvPr id="310" name="Google Shape;310;p36"/>
              <p:cNvCxnSpPr/>
              <p:nvPr/>
            </p:nvCxnSpPr>
            <p:spPr>
              <a:xfrm flipH="1">
                <a:off x="6228735" y="716984"/>
                <a:ext cx="49200" cy="88500"/>
              </a:xfrm>
              <a:prstGeom prst="straightConnector1">
                <a:avLst/>
              </a:prstGeom>
              <a:noFill/>
              <a:ln cap="flat" cmpd="sng" w="9525">
                <a:solidFill>
                  <a:schemeClr val="dk2"/>
                </a:solidFill>
                <a:prstDash val="solid"/>
                <a:round/>
                <a:headEnd len="med" w="med" type="none"/>
                <a:tailEnd len="med" w="med" type="none"/>
              </a:ln>
            </p:spPr>
          </p:cxnSp>
          <p:cxnSp>
            <p:nvCxnSpPr>
              <p:cNvPr id="311" name="Google Shape;311;p36"/>
              <p:cNvCxnSpPr/>
              <p:nvPr/>
            </p:nvCxnSpPr>
            <p:spPr>
              <a:xfrm>
                <a:off x="6302386" y="727406"/>
                <a:ext cx="19500" cy="51900"/>
              </a:xfrm>
              <a:prstGeom prst="straightConnector1">
                <a:avLst/>
              </a:prstGeom>
              <a:noFill/>
              <a:ln cap="flat" cmpd="sng" w="9525">
                <a:solidFill>
                  <a:schemeClr val="dk2"/>
                </a:solidFill>
                <a:prstDash val="solid"/>
                <a:round/>
                <a:headEnd len="med" w="med" type="none"/>
                <a:tailEnd len="med" w="med" type="none"/>
              </a:ln>
            </p:spPr>
          </p:cxnSp>
          <p:cxnSp>
            <p:nvCxnSpPr>
              <p:cNvPr id="312" name="Google Shape;312;p36"/>
              <p:cNvCxnSpPr/>
              <p:nvPr/>
            </p:nvCxnSpPr>
            <p:spPr>
              <a:xfrm flipH="1" rot="10800000">
                <a:off x="6336965" y="668725"/>
                <a:ext cx="99900" cy="23100"/>
              </a:xfrm>
              <a:prstGeom prst="straightConnector1">
                <a:avLst/>
              </a:prstGeom>
              <a:noFill/>
              <a:ln cap="flat" cmpd="sng" w="9525">
                <a:solidFill>
                  <a:schemeClr val="dk2"/>
                </a:solidFill>
                <a:prstDash val="solid"/>
                <a:round/>
                <a:headEnd len="med" w="med" type="none"/>
                <a:tailEnd len="med" w="med" type="none"/>
              </a:ln>
            </p:spPr>
          </p:cxnSp>
          <p:cxnSp>
            <p:nvCxnSpPr>
              <p:cNvPr id="313" name="Google Shape;313;p36"/>
              <p:cNvCxnSpPr/>
              <p:nvPr/>
            </p:nvCxnSpPr>
            <p:spPr>
              <a:xfrm flipH="1" rot="10800000">
                <a:off x="6336965" y="560125"/>
                <a:ext cx="141000" cy="13170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36"/>
              <p:cNvCxnSpPr/>
              <p:nvPr/>
            </p:nvCxnSpPr>
            <p:spPr>
              <a:xfrm>
                <a:off x="6336965" y="691825"/>
                <a:ext cx="336300" cy="1419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36"/>
              <p:cNvCxnSpPr>
                <a:stCxn id="303" idx="4"/>
              </p:cNvCxnSpPr>
              <p:nvPr/>
            </p:nvCxnSpPr>
            <p:spPr>
              <a:xfrm flipH="1">
                <a:off x="7458630" y="1619728"/>
                <a:ext cx="27000" cy="212100"/>
              </a:xfrm>
              <a:prstGeom prst="straightConnector1">
                <a:avLst/>
              </a:prstGeom>
              <a:noFill/>
              <a:ln cap="flat" cmpd="sng" w="9525">
                <a:solidFill>
                  <a:schemeClr val="dk2"/>
                </a:solidFill>
                <a:prstDash val="solid"/>
                <a:round/>
                <a:headEnd len="med" w="med" type="none"/>
                <a:tailEnd len="med" w="med" type="none"/>
              </a:ln>
            </p:spPr>
          </p:cxnSp>
          <p:cxnSp>
            <p:nvCxnSpPr>
              <p:cNvPr id="316" name="Google Shape;316;p36"/>
              <p:cNvCxnSpPr>
                <a:stCxn id="303" idx="5"/>
              </p:cNvCxnSpPr>
              <p:nvPr/>
            </p:nvCxnSpPr>
            <p:spPr>
              <a:xfrm>
                <a:off x="7510081" y="1609307"/>
                <a:ext cx="211200" cy="124800"/>
              </a:xfrm>
              <a:prstGeom prst="straightConnector1">
                <a:avLst/>
              </a:prstGeom>
              <a:noFill/>
              <a:ln cap="flat" cmpd="sng" w="9525">
                <a:solidFill>
                  <a:schemeClr val="dk2"/>
                </a:solidFill>
                <a:prstDash val="solid"/>
                <a:round/>
                <a:headEnd len="med" w="med" type="none"/>
                <a:tailEnd len="med" w="med" type="none"/>
              </a:ln>
            </p:spPr>
          </p:cxnSp>
          <p:cxnSp>
            <p:nvCxnSpPr>
              <p:cNvPr id="317" name="Google Shape;317;p36"/>
              <p:cNvCxnSpPr>
                <a:stCxn id="303" idx="0"/>
              </p:cNvCxnSpPr>
              <p:nvPr/>
            </p:nvCxnSpPr>
            <p:spPr>
              <a:xfrm rot="10800000">
                <a:off x="7485030" y="1404267"/>
                <a:ext cx="600" cy="144300"/>
              </a:xfrm>
              <a:prstGeom prst="straightConnector1">
                <a:avLst/>
              </a:prstGeom>
              <a:noFill/>
              <a:ln cap="flat" cmpd="sng" w="9525">
                <a:solidFill>
                  <a:schemeClr val="dk2"/>
                </a:solidFill>
                <a:prstDash val="solid"/>
                <a:round/>
                <a:headEnd len="med" w="med" type="none"/>
                <a:tailEnd len="med" w="med" type="none"/>
              </a:ln>
            </p:spPr>
          </p:cxnSp>
          <p:cxnSp>
            <p:nvCxnSpPr>
              <p:cNvPr id="318" name="Google Shape;318;p36"/>
              <p:cNvCxnSpPr>
                <a:stCxn id="304" idx="1"/>
              </p:cNvCxnSpPr>
              <p:nvPr/>
            </p:nvCxnSpPr>
            <p:spPr>
              <a:xfrm rot="10800000">
                <a:off x="7957842" y="2089930"/>
                <a:ext cx="30900" cy="46800"/>
              </a:xfrm>
              <a:prstGeom prst="straightConnector1">
                <a:avLst/>
              </a:prstGeom>
              <a:noFill/>
              <a:ln cap="flat" cmpd="sng" w="9525">
                <a:solidFill>
                  <a:schemeClr val="dk2"/>
                </a:solidFill>
                <a:prstDash val="solid"/>
                <a:round/>
                <a:headEnd len="med" w="med" type="none"/>
                <a:tailEnd len="med" w="med" type="none"/>
              </a:ln>
            </p:spPr>
          </p:cxnSp>
          <p:cxnSp>
            <p:nvCxnSpPr>
              <p:cNvPr id="319" name="Google Shape;319;p36"/>
              <p:cNvCxnSpPr>
                <a:stCxn id="304" idx="3"/>
              </p:cNvCxnSpPr>
              <p:nvPr/>
            </p:nvCxnSpPr>
            <p:spPr>
              <a:xfrm flipH="1">
                <a:off x="7905642" y="2187049"/>
                <a:ext cx="83100" cy="63300"/>
              </a:xfrm>
              <a:prstGeom prst="straightConnector1">
                <a:avLst/>
              </a:prstGeom>
              <a:noFill/>
              <a:ln cap="flat" cmpd="sng" w="9525">
                <a:solidFill>
                  <a:schemeClr val="dk2"/>
                </a:solidFill>
                <a:prstDash val="solid"/>
                <a:round/>
                <a:headEnd len="med" w="med" type="none"/>
                <a:tailEnd len="med" w="med" type="none"/>
              </a:ln>
            </p:spPr>
          </p:cxnSp>
          <p:cxnSp>
            <p:nvCxnSpPr>
              <p:cNvPr id="320" name="Google Shape;320;p36"/>
              <p:cNvCxnSpPr>
                <a:stCxn id="304" idx="4"/>
              </p:cNvCxnSpPr>
              <p:nvPr/>
            </p:nvCxnSpPr>
            <p:spPr>
              <a:xfrm flipH="1">
                <a:off x="7975093" y="2197470"/>
                <a:ext cx="38100" cy="1050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36"/>
              <p:cNvCxnSpPr>
                <a:stCxn id="304" idx="5"/>
              </p:cNvCxnSpPr>
              <p:nvPr/>
            </p:nvCxnSpPr>
            <p:spPr>
              <a:xfrm>
                <a:off x="8037644" y="2187049"/>
                <a:ext cx="71700" cy="1785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36"/>
              <p:cNvCxnSpPr>
                <a:stCxn id="304" idx="5"/>
              </p:cNvCxnSpPr>
              <p:nvPr/>
            </p:nvCxnSpPr>
            <p:spPr>
              <a:xfrm>
                <a:off x="8037644" y="2187049"/>
                <a:ext cx="141300" cy="16560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36"/>
              <p:cNvCxnSpPr>
                <a:stCxn id="304" idx="5"/>
              </p:cNvCxnSpPr>
              <p:nvPr/>
            </p:nvCxnSpPr>
            <p:spPr>
              <a:xfrm>
                <a:off x="8037644" y="2187049"/>
                <a:ext cx="141600" cy="67800"/>
              </a:xfrm>
              <a:prstGeom prst="straightConnector1">
                <a:avLst/>
              </a:prstGeom>
              <a:noFill/>
              <a:ln cap="flat" cmpd="sng" w="9525">
                <a:solidFill>
                  <a:schemeClr val="dk2"/>
                </a:solidFill>
                <a:prstDash val="solid"/>
                <a:round/>
                <a:headEnd len="med" w="med" type="none"/>
                <a:tailEnd len="med" w="med" type="none"/>
              </a:ln>
            </p:spPr>
          </p:cxnSp>
        </p:grpSp>
      </p:grpSp>
      <p:grpSp>
        <p:nvGrpSpPr>
          <p:cNvPr id="324" name="Google Shape;324;p36"/>
          <p:cNvGrpSpPr/>
          <p:nvPr/>
        </p:nvGrpSpPr>
        <p:grpSpPr>
          <a:xfrm>
            <a:off x="611625" y="2441725"/>
            <a:ext cx="2464451" cy="2477625"/>
            <a:chOff x="611625" y="2441725"/>
            <a:chExt cx="2464451" cy="2477625"/>
          </a:xfrm>
        </p:grpSpPr>
        <p:pic>
          <p:nvPicPr>
            <p:cNvPr id="325" name="Google Shape;325;p36"/>
            <p:cNvPicPr preferRelativeResize="0"/>
            <p:nvPr/>
          </p:nvPicPr>
          <p:blipFill>
            <a:blip r:embed="rId3">
              <a:alphaModFix/>
            </a:blip>
            <a:stretch>
              <a:fillRect/>
            </a:stretch>
          </p:blipFill>
          <p:spPr>
            <a:xfrm>
              <a:off x="611625" y="2722216"/>
              <a:ext cx="2464451" cy="2197134"/>
            </a:xfrm>
            <a:prstGeom prst="rect">
              <a:avLst/>
            </a:prstGeom>
            <a:noFill/>
            <a:ln>
              <a:noFill/>
            </a:ln>
          </p:spPr>
        </p:pic>
        <p:grpSp>
          <p:nvGrpSpPr>
            <p:cNvPr id="326" name="Google Shape;326;p36"/>
            <p:cNvGrpSpPr/>
            <p:nvPr/>
          </p:nvGrpSpPr>
          <p:grpSpPr>
            <a:xfrm>
              <a:off x="667624" y="2722225"/>
              <a:ext cx="2397076" cy="2175250"/>
              <a:chOff x="6014861" y="2607450"/>
              <a:chExt cx="2397076" cy="2175250"/>
            </a:xfrm>
          </p:grpSpPr>
          <p:sp>
            <p:nvSpPr>
              <p:cNvPr id="327" name="Google Shape;327;p36"/>
              <p:cNvSpPr/>
              <p:nvPr/>
            </p:nvSpPr>
            <p:spPr>
              <a:xfrm>
                <a:off x="6014861" y="2607450"/>
                <a:ext cx="823800" cy="8217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p36"/>
              <p:cNvSpPr/>
              <p:nvPr/>
            </p:nvSpPr>
            <p:spPr>
              <a:xfrm>
                <a:off x="7843137" y="4236400"/>
                <a:ext cx="568800" cy="5463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36"/>
              <p:cNvSpPr/>
              <p:nvPr/>
            </p:nvSpPr>
            <p:spPr>
              <a:xfrm>
                <a:off x="7235925" y="3622294"/>
                <a:ext cx="607200" cy="6141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30" name="Google Shape;330;p36"/>
            <p:cNvGrpSpPr/>
            <p:nvPr/>
          </p:nvGrpSpPr>
          <p:grpSpPr>
            <a:xfrm>
              <a:off x="1047382" y="3054044"/>
              <a:ext cx="1792340" cy="1623976"/>
              <a:chOff x="6256311" y="266882"/>
              <a:chExt cx="1850444" cy="1766343"/>
            </a:xfrm>
          </p:grpSpPr>
          <p:sp>
            <p:nvSpPr>
              <p:cNvPr id="331" name="Google Shape;331;p36"/>
              <p:cNvSpPr/>
              <p:nvPr/>
            </p:nvSpPr>
            <p:spPr>
              <a:xfrm>
                <a:off x="6256311" y="266882"/>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36"/>
              <p:cNvSpPr/>
              <p:nvPr/>
            </p:nvSpPr>
            <p:spPr>
              <a:xfrm>
                <a:off x="7400637" y="1284852"/>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36"/>
              <p:cNvSpPr/>
              <p:nvPr/>
            </p:nvSpPr>
            <p:spPr>
              <a:xfrm>
                <a:off x="8035356" y="1955825"/>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36"/>
            <p:cNvSpPr txBox="1"/>
            <p:nvPr/>
          </p:nvSpPr>
          <p:spPr>
            <a:xfrm>
              <a:off x="1047375" y="2441725"/>
              <a:ext cx="17232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second iteration steps 3-4</a:t>
              </a:r>
              <a:endParaRPr sz="1000">
                <a:solidFill>
                  <a:schemeClr val="dk2"/>
                </a:solidFill>
                <a:latin typeface="Proxima Nova"/>
                <a:ea typeface="Proxima Nova"/>
                <a:cs typeface="Proxima Nova"/>
                <a:sym typeface="Proxima Nova"/>
              </a:endParaRPr>
            </a:p>
          </p:txBody>
        </p:sp>
      </p:grpSp>
      <p:grpSp>
        <p:nvGrpSpPr>
          <p:cNvPr id="335" name="Google Shape;335;p36"/>
          <p:cNvGrpSpPr/>
          <p:nvPr/>
        </p:nvGrpSpPr>
        <p:grpSpPr>
          <a:xfrm>
            <a:off x="3269125" y="2466000"/>
            <a:ext cx="2464451" cy="2453350"/>
            <a:chOff x="3269125" y="2466000"/>
            <a:chExt cx="2464451" cy="2453350"/>
          </a:xfrm>
        </p:grpSpPr>
        <p:sp>
          <p:nvSpPr>
            <p:cNvPr id="336" name="Google Shape;336;p36"/>
            <p:cNvSpPr txBox="1"/>
            <p:nvPr/>
          </p:nvSpPr>
          <p:spPr>
            <a:xfrm>
              <a:off x="3325127" y="2466000"/>
              <a:ext cx="16206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third iteration step 2</a:t>
              </a:r>
              <a:endParaRPr sz="1000">
                <a:solidFill>
                  <a:schemeClr val="dk2"/>
                </a:solidFill>
                <a:latin typeface="Proxima Nova"/>
                <a:ea typeface="Proxima Nova"/>
                <a:cs typeface="Proxima Nova"/>
                <a:sym typeface="Proxima Nova"/>
              </a:endParaRPr>
            </a:p>
          </p:txBody>
        </p:sp>
        <p:grpSp>
          <p:nvGrpSpPr>
            <p:cNvPr id="337" name="Google Shape;337;p36"/>
            <p:cNvGrpSpPr/>
            <p:nvPr/>
          </p:nvGrpSpPr>
          <p:grpSpPr>
            <a:xfrm>
              <a:off x="3269125" y="2722216"/>
              <a:ext cx="2464451" cy="2197134"/>
              <a:chOff x="3269125" y="2874616"/>
              <a:chExt cx="2464451" cy="2197134"/>
            </a:xfrm>
          </p:grpSpPr>
          <p:grpSp>
            <p:nvGrpSpPr>
              <p:cNvPr id="338" name="Google Shape;338;p36"/>
              <p:cNvGrpSpPr/>
              <p:nvPr/>
            </p:nvGrpSpPr>
            <p:grpSpPr>
              <a:xfrm>
                <a:off x="3269125" y="2874616"/>
                <a:ext cx="2464451" cy="2197134"/>
                <a:chOff x="3269125" y="2874616"/>
                <a:chExt cx="2464451" cy="2197134"/>
              </a:xfrm>
            </p:grpSpPr>
            <p:pic>
              <p:nvPicPr>
                <p:cNvPr id="339" name="Google Shape;339;p36"/>
                <p:cNvPicPr preferRelativeResize="0"/>
                <p:nvPr/>
              </p:nvPicPr>
              <p:blipFill>
                <a:blip r:embed="rId3">
                  <a:alphaModFix/>
                </a:blip>
                <a:stretch>
                  <a:fillRect/>
                </a:stretch>
              </p:blipFill>
              <p:spPr>
                <a:xfrm>
                  <a:off x="3269125" y="2874616"/>
                  <a:ext cx="2464451" cy="2197134"/>
                </a:xfrm>
                <a:prstGeom prst="rect">
                  <a:avLst/>
                </a:prstGeom>
                <a:noFill/>
                <a:ln>
                  <a:noFill/>
                </a:ln>
              </p:spPr>
            </p:pic>
            <p:cxnSp>
              <p:nvCxnSpPr>
                <p:cNvPr id="340" name="Google Shape;340;p36"/>
                <p:cNvCxnSpPr>
                  <a:stCxn id="341" idx="1"/>
                </p:cNvCxnSpPr>
                <p:nvPr/>
              </p:nvCxnSpPr>
              <p:spPr>
                <a:xfrm rot="10800000">
                  <a:off x="3587810" y="3126866"/>
                  <a:ext cx="127200" cy="900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36"/>
                <p:cNvCxnSpPr>
                  <a:stCxn id="341" idx="1"/>
                </p:cNvCxnSpPr>
                <p:nvPr/>
              </p:nvCxnSpPr>
              <p:spPr>
                <a:xfrm rot="10800000">
                  <a:off x="3514310" y="3057566"/>
                  <a:ext cx="200700" cy="1593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36"/>
                <p:cNvCxnSpPr>
                  <a:stCxn id="341" idx="1"/>
                </p:cNvCxnSpPr>
                <p:nvPr/>
              </p:nvCxnSpPr>
              <p:spPr>
                <a:xfrm rot="10800000">
                  <a:off x="3476510" y="3151466"/>
                  <a:ext cx="238500" cy="654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36"/>
                <p:cNvCxnSpPr>
                  <a:stCxn id="341" idx="4"/>
                </p:cNvCxnSpPr>
                <p:nvPr/>
              </p:nvCxnSpPr>
              <p:spPr>
                <a:xfrm flipH="1">
                  <a:off x="3711261" y="3277606"/>
                  <a:ext cx="28200" cy="444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36"/>
                <p:cNvCxnSpPr>
                  <a:stCxn id="341" idx="4"/>
                </p:cNvCxnSpPr>
                <p:nvPr/>
              </p:nvCxnSpPr>
              <p:spPr>
                <a:xfrm flipH="1">
                  <a:off x="3593061" y="3277606"/>
                  <a:ext cx="146400" cy="66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36"/>
                <p:cNvCxnSpPr>
                  <a:stCxn id="341" idx="7"/>
                  <a:endCxn id="341" idx="7"/>
                </p:cNvCxnSpPr>
                <p:nvPr/>
              </p:nvCxnSpPr>
              <p:spPr>
                <a:xfrm>
                  <a:off x="3763912" y="3216866"/>
                  <a:ext cx="0" cy="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6"/>
                <p:cNvCxnSpPr>
                  <a:stCxn id="341" idx="7"/>
                  <a:endCxn id="341" idx="7"/>
                </p:cNvCxnSpPr>
                <p:nvPr/>
              </p:nvCxnSpPr>
              <p:spPr>
                <a:xfrm>
                  <a:off x="3763912" y="3216866"/>
                  <a:ext cx="0" cy="0"/>
                </a:xfrm>
                <a:prstGeom prst="straightConnector1">
                  <a:avLst/>
                </a:prstGeom>
                <a:noFill/>
                <a:ln cap="flat" cmpd="sng" w="9525">
                  <a:solidFill>
                    <a:schemeClr val="dk2"/>
                  </a:solidFill>
                  <a:prstDash val="solid"/>
                  <a:round/>
                  <a:headEnd len="med" w="med" type="none"/>
                  <a:tailEnd len="med" w="med" type="none"/>
                </a:ln>
              </p:spPr>
            </p:cxnSp>
            <p:grpSp>
              <p:nvGrpSpPr>
                <p:cNvPr id="348" name="Google Shape;348;p36"/>
                <p:cNvGrpSpPr/>
                <p:nvPr/>
              </p:nvGrpSpPr>
              <p:grpSpPr>
                <a:xfrm>
                  <a:off x="3704882" y="3206444"/>
                  <a:ext cx="1792340" cy="1623976"/>
                  <a:chOff x="6256311" y="266882"/>
                  <a:chExt cx="1850444" cy="1766343"/>
                </a:xfrm>
              </p:grpSpPr>
              <p:sp>
                <p:nvSpPr>
                  <p:cNvPr id="341" name="Google Shape;341;p36"/>
                  <p:cNvSpPr/>
                  <p:nvPr/>
                </p:nvSpPr>
                <p:spPr>
                  <a:xfrm>
                    <a:off x="6256311" y="266882"/>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36"/>
                  <p:cNvSpPr/>
                  <p:nvPr/>
                </p:nvSpPr>
                <p:spPr>
                  <a:xfrm>
                    <a:off x="7479307" y="1284852"/>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36"/>
                  <p:cNvSpPr/>
                  <p:nvPr/>
                </p:nvSpPr>
                <p:spPr>
                  <a:xfrm>
                    <a:off x="8035356" y="1955825"/>
                    <a:ext cx="71400" cy="77400"/>
                  </a:xfrm>
                  <a:prstGeom prst="ellipse">
                    <a:avLst/>
                  </a:prstGeom>
                  <a:solidFill>
                    <a:srgbClr val="9334E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351" name="Google Shape;351;p36"/>
                <p:cNvCxnSpPr>
                  <a:stCxn id="341" idx="5"/>
                </p:cNvCxnSpPr>
                <p:nvPr/>
              </p:nvCxnSpPr>
              <p:spPr>
                <a:xfrm>
                  <a:off x="3763912" y="3267184"/>
                  <a:ext cx="272400" cy="1071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36"/>
                <p:cNvCxnSpPr>
                  <a:stCxn id="341" idx="7"/>
                </p:cNvCxnSpPr>
                <p:nvPr/>
              </p:nvCxnSpPr>
              <p:spPr>
                <a:xfrm flipH="1" rot="10800000">
                  <a:off x="3763912" y="3205166"/>
                  <a:ext cx="33900" cy="117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36"/>
                <p:cNvCxnSpPr>
                  <a:stCxn id="341" idx="7"/>
                </p:cNvCxnSpPr>
                <p:nvPr/>
              </p:nvCxnSpPr>
              <p:spPr>
                <a:xfrm flipH="1" rot="10800000">
                  <a:off x="3763912" y="3097166"/>
                  <a:ext cx="82800" cy="1197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36"/>
                <p:cNvCxnSpPr>
                  <a:stCxn id="349" idx="0"/>
                </p:cNvCxnSpPr>
                <p:nvPr/>
              </p:nvCxnSpPr>
              <p:spPr>
                <a:xfrm rot="10800000">
                  <a:off x="4861955" y="3934167"/>
                  <a:ext cx="62100" cy="2082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36"/>
                <p:cNvCxnSpPr>
                  <a:stCxn id="349" idx="4"/>
                </p:cNvCxnSpPr>
                <p:nvPr/>
              </p:nvCxnSpPr>
              <p:spPr>
                <a:xfrm flipH="1">
                  <a:off x="4822955" y="4213528"/>
                  <a:ext cx="101100" cy="1602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36"/>
                <p:cNvCxnSpPr>
                  <a:stCxn id="349" idx="5"/>
                </p:cNvCxnSpPr>
                <p:nvPr/>
              </p:nvCxnSpPr>
              <p:spPr>
                <a:xfrm>
                  <a:off x="4948506" y="4203107"/>
                  <a:ext cx="134100" cy="591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36"/>
                <p:cNvCxnSpPr>
                  <a:stCxn id="350" idx="1"/>
                  <a:endCxn id="350" idx="1"/>
                </p:cNvCxnSpPr>
                <p:nvPr/>
              </p:nvCxnSpPr>
              <p:spPr>
                <a:xfrm>
                  <a:off x="5438192" y="4769680"/>
                  <a:ext cx="0" cy="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36"/>
                <p:cNvCxnSpPr>
                  <a:stCxn id="350" idx="1"/>
                  <a:endCxn id="350" idx="1"/>
                </p:cNvCxnSpPr>
                <p:nvPr/>
              </p:nvCxnSpPr>
              <p:spPr>
                <a:xfrm>
                  <a:off x="5438192" y="4769680"/>
                  <a:ext cx="0" cy="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36"/>
                <p:cNvCxnSpPr>
                  <a:endCxn id="350" idx="1"/>
                </p:cNvCxnSpPr>
                <p:nvPr/>
              </p:nvCxnSpPr>
              <p:spPr>
                <a:xfrm>
                  <a:off x="5331092" y="4620580"/>
                  <a:ext cx="107100" cy="149100"/>
                </a:xfrm>
                <a:prstGeom prst="straightConnector1">
                  <a:avLst/>
                </a:prstGeom>
                <a:noFill/>
                <a:ln cap="flat" cmpd="sng" w="9525">
                  <a:solidFill>
                    <a:schemeClr val="dk2"/>
                  </a:solidFill>
                  <a:prstDash val="solid"/>
                  <a:round/>
                  <a:headEnd len="med" w="med" type="none"/>
                  <a:tailEnd len="med" w="med" type="none"/>
                </a:ln>
              </p:spPr>
            </p:cxnSp>
            <p:cxnSp>
              <p:nvCxnSpPr>
                <p:cNvPr id="360" name="Google Shape;360;p36"/>
                <p:cNvCxnSpPr>
                  <a:endCxn id="350" idx="2"/>
                </p:cNvCxnSpPr>
                <p:nvPr/>
              </p:nvCxnSpPr>
              <p:spPr>
                <a:xfrm flipH="1" rot="10800000">
                  <a:off x="5275364" y="4794839"/>
                  <a:ext cx="152700" cy="360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36"/>
                <p:cNvCxnSpPr>
                  <a:endCxn id="350" idx="2"/>
                </p:cNvCxnSpPr>
                <p:nvPr/>
              </p:nvCxnSpPr>
              <p:spPr>
                <a:xfrm flipH="1" rot="10800000">
                  <a:off x="5337164" y="4794839"/>
                  <a:ext cx="90900" cy="4470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36"/>
                <p:cNvCxnSpPr>
                  <a:endCxn id="350" idx="4"/>
                </p:cNvCxnSpPr>
                <p:nvPr/>
              </p:nvCxnSpPr>
              <p:spPr>
                <a:xfrm rot="10800000">
                  <a:off x="5462643" y="4830420"/>
                  <a:ext cx="9900" cy="72000"/>
                </a:xfrm>
                <a:prstGeom prst="straightConnector1">
                  <a:avLst/>
                </a:prstGeom>
                <a:noFill/>
                <a:ln cap="flat" cmpd="sng" w="9525">
                  <a:solidFill>
                    <a:schemeClr val="dk2"/>
                  </a:solidFill>
                  <a:prstDash val="solid"/>
                  <a:round/>
                  <a:headEnd len="med" w="med" type="none"/>
                  <a:tailEnd len="med" w="med" type="none"/>
                </a:ln>
              </p:spPr>
            </p:cxnSp>
          </p:grpSp>
          <p:cxnSp>
            <p:nvCxnSpPr>
              <p:cNvPr id="363" name="Google Shape;363;p36"/>
              <p:cNvCxnSpPr>
                <a:stCxn id="350" idx="5"/>
              </p:cNvCxnSpPr>
              <p:nvPr/>
            </p:nvCxnSpPr>
            <p:spPr>
              <a:xfrm>
                <a:off x="5487094" y="4819999"/>
                <a:ext cx="51600" cy="7320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36"/>
              <p:cNvCxnSpPr>
                <a:stCxn id="350" idx="5"/>
                <a:endCxn id="350" idx="6"/>
              </p:cNvCxnSpPr>
              <p:nvPr/>
            </p:nvCxnSpPr>
            <p:spPr>
              <a:xfrm flipH="1" rot="10800000">
                <a:off x="5487094" y="4794799"/>
                <a:ext cx="10200" cy="252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36"/>
              <p:cNvCxnSpPr>
                <a:stCxn id="350" idx="6"/>
                <a:endCxn id="350" idx="6"/>
              </p:cNvCxnSpPr>
              <p:nvPr/>
            </p:nvCxnSpPr>
            <p:spPr>
              <a:xfrm>
                <a:off x="5497222" y="4794839"/>
                <a:ext cx="0" cy="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36"/>
              <p:cNvCxnSpPr>
                <a:endCxn id="350" idx="6"/>
              </p:cNvCxnSpPr>
              <p:nvPr/>
            </p:nvCxnSpPr>
            <p:spPr>
              <a:xfrm rot="10800000">
                <a:off x="5497222" y="4794839"/>
                <a:ext cx="42300" cy="7500"/>
              </a:xfrm>
              <a:prstGeom prst="straightConnector1">
                <a:avLst/>
              </a:prstGeom>
              <a:noFill/>
              <a:ln cap="flat" cmpd="sng" w="9525">
                <a:solidFill>
                  <a:schemeClr val="dk2"/>
                </a:solidFill>
                <a:prstDash val="solid"/>
                <a:round/>
                <a:headEnd len="med" w="med" type="none"/>
                <a:tailEnd len="med" w="med" type="none"/>
              </a:ln>
            </p:spPr>
          </p:cxnSp>
        </p:grpSp>
      </p:grpSp>
      <p:grpSp>
        <p:nvGrpSpPr>
          <p:cNvPr id="367" name="Google Shape;367;p36"/>
          <p:cNvGrpSpPr/>
          <p:nvPr/>
        </p:nvGrpSpPr>
        <p:grpSpPr>
          <a:xfrm>
            <a:off x="5926625" y="2499025"/>
            <a:ext cx="2464451" cy="2444600"/>
            <a:chOff x="5926625" y="2499025"/>
            <a:chExt cx="2464451" cy="2444600"/>
          </a:xfrm>
        </p:grpSpPr>
        <p:pic>
          <p:nvPicPr>
            <p:cNvPr id="368" name="Google Shape;368;p36"/>
            <p:cNvPicPr preferRelativeResize="0"/>
            <p:nvPr/>
          </p:nvPicPr>
          <p:blipFill>
            <a:blip r:embed="rId3">
              <a:alphaModFix/>
            </a:blip>
            <a:stretch>
              <a:fillRect/>
            </a:stretch>
          </p:blipFill>
          <p:spPr>
            <a:xfrm>
              <a:off x="5926625" y="2746491"/>
              <a:ext cx="2464451" cy="2197134"/>
            </a:xfrm>
            <a:prstGeom prst="rect">
              <a:avLst/>
            </a:prstGeom>
            <a:noFill/>
            <a:ln>
              <a:noFill/>
            </a:ln>
          </p:spPr>
        </p:pic>
        <p:sp>
          <p:nvSpPr>
            <p:cNvPr id="369" name="Google Shape;369;p36"/>
            <p:cNvSpPr txBox="1"/>
            <p:nvPr/>
          </p:nvSpPr>
          <p:spPr>
            <a:xfrm>
              <a:off x="5926625" y="2499025"/>
              <a:ext cx="1723200" cy="2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Proxima Nova"/>
                  <a:ea typeface="Proxima Nova"/>
                  <a:cs typeface="Proxima Nova"/>
                  <a:sym typeface="Proxima Nova"/>
                </a:rPr>
                <a:t>third iteration steps 3-4</a:t>
              </a:r>
              <a:endParaRPr sz="1000">
                <a:solidFill>
                  <a:schemeClr val="dk2"/>
                </a:solidFill>
                <a:latin typeface="Proxima Nova"/>
                <a:ea typeface="Proxima Nova"/>
                <a:cs typeface="Proxima Nova"/>
                <a:sym typeface="Proxima Nova"/>
              </a:endParaRPr>
            </a:p>
          </p:txBody>
        </p:sp>
        <p:grpSp>
          <p:nvGrpSpPr>
            <p:cNvPr id="370" name="Google Shape;370;p36"/>
            <p:cNvGrpSpPr/>
            <p:nvPr/>
          </p:nvGrpSpPr>
          <p:grpSpPr>
            <a:xfrm>
              <a:off x="5960311" y="2681238"/>
              <a:ext cx="2397076" cy="2175250"/>
              <a:chOff x="6014861" y="2607450"/>
              <a:chExt cx="2397076" cy="2175250"/>
            </a:xfrm>
          </p:grpSpPr>
          <p:sp>
            <p:nvSpPr>
              <p:cNvPr id="371" name="Google Shape;371;p36"/>
              <p:cNvSpPr/>
              <p:nvPr/>
            </p:nvSpPr>
            <p:spPr>
              <a:xfrm>
                <a:off x="6014861" y="2607450"/>
                <a:ext cx="823800" cy="8217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36"/>
              <p:cNvSpPr/>
              <p:nvPr/>
            </p:nvSpPr>
            <p:spPr>
              <a:xfrm>
                <a:off x="7843137" y="4236400"/>
                <a:ext cx="568800" cy="5463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36"/>
              <p:cNvSpPr/>
              <p:nvPr/>
            </p:nvSpPr>
            <p:spPr>
              <a:xfrm>
                <a:off x="7298975" y="3625494"/>
                <a:ext cx="607200" cy="614100"/>
              </a:xfrm>
              <a:prstGeom prst="ellipse">
                <a:avLst/>
              </a:prstGeom>
              <a:solidFill>
                <a:srgbClr val="56C5DC">
                  <a:alpha val="215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74" name="Google Shape;374;p36"/>
            <p:cNvGrpSpPr/>
            <p:nvPr/>
          </p:nvGrpSpPr>
          <p:grpSpPr>
            <a:xfrm>
              <a:off x="6326482" y="3037644"/>
              <a:ext cx="1797490" cy="1606276"/>
              <a:chOff x="6205904" y="284039"/>
              <a:chExt cx="1855761" cy="1747091"/>
            </a:xfrm>
          </p:grpSpPr>
          <p:sp>
            <p:nvSpPr>
              <p:cNvPr id="375" name="Google Shape;375;p36"/>
              <p:cNvSpPr/>
              <p:nvPr/>
            </p:nvSpPr>
            <p:spPr>
              <a:xfrm>
                <a:off x="6205904" y="284039"/>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6"/>
              <p:cNvSpPr/>
              <p:nvPr/>
            </p:nvSpPr>
            <p:spPr>
              <a:xfrm>
                <a:off x="7431352" y="1298938"/>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6"/>
              <p:cNvSpPr/>
              <p:nvPr/>
            </p:nvSpPr>
            <p:spPr>
              <a:xfrm>
                <a:off x="7990265" y="1953731"/>
                <a:ext cx="71400" cy="77400"/>
              </a:xfrm>
              <a:prstGeom prst="ellipse">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378" name="Google Shape;378;p36"/>
          <p:cNvSpPr txBox="1"/>
          <p:nvPr/>
        </p:nvSpPr>
        <p:spPr>
          <a:xfrm>
            <a:off x="7717129" y="2499025"/>
            <a:ext cx="560700" cy="3387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200"/>
              </a:spcAft>
              <a:buNone/>
            </a:pPr>
            <a:r>
              <a:rPr lang="en" sz="1000">
                <a:solidFill>
                  <a:schemeClr val="dk2"/>
                </a:solidFill>
              </a:rPr>
              <a:t>stable</a:t>
            </a:r>
            <a:endParaRPr sz="1000"/>
          </a:p>
        </p:txBody>
      </p:sp>
      <p:sp>
        <p:nvSpPr>
          <p:cNvPr id="379" name="Google Shape;379;p36"/>
          <p:cNvSpPr txBox="1"/>
          <p:nvPr/>
        </p:nvSpPr>
        <p:spPr>
          <a:xfrm>
            <a:off x="3140175" y="4804200"/>
            <a:ext cx="37593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00">
                <a:solidFill>
                  <a:schemeClr val="dk2"/>
                </a:solidFill>
                <a:latin typeface="Proxima Nova"/>
                <a:ea typeface="Proxima Nova"/>
                <a:cs typeface="Proxima Nova"/>
                <a:sym typeface="Proxima Nova"/>
              </a:rPr>
              <a:t>check out this tool for  </a:t>
            </a:r>
            <a:r>
              <a:rPr lang="en" sz="1300" u="sng">
                <a:solidFill>
                  <a:schemeClr val="accent5"/>
                </a:solidFill>
                <a:latin typeface="Proxima Nova"/>
                <a:ea typeface="Proxima Nova"/>
                <a:cs typeface="Proxima Nova"/>
                <a:sym typeface="Proxima Nova"/>
                <a:hlinkClick r:id="rId4">
                  <a:extLst>
                    <a:ext uri="{A12FA001-AC4F-418D-AE19-62706E023703}">
                      <ahyp:hlinkClr val="tx"/>
                    </a:ext>
                  </a:extLst>
                </a:hlinkClick>
              </a:rPr>
              <a:t>visualization</a:t>
            </a:r>
            <a:endParaRPr sz="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7"/>
          <p:cNvSpPr txBox="1"/>
          <p:nvPr>
            <p:ph idx="1" type="body"/>
          </p:nvPr>
        </p:nvSpPr>
        <p:spPr>
          <a:xfrm>
            <a:off x="756425" y="710475"/>
            <a:ext cx="4188300" cy="2982300"/>
          </a:xfrm>
          <a:prstGeom prst="rect">
            <a:avLst/>
          </a:prstGeom>
        </p:spPr>
        <p:txBody>
          <a:bodyPr anchorCtr="0" anchor="t" bIns="91425" lIns="91425" spcFirstLastPara="1" rIns="91425" wrap="square" tIns="91425">
            <a:normAutofit/>
          </a:bodyPr>
          <a:lstStyle/>
          <a:p>
            <a:pPr indent="0" lvl="0" marL="0" rtl="0" algn="l">
              <a:lnSpc>
                <a:spcPct val="85000"/>
              </a:lnSpc>
              <a:spcBef>
                <a:spcPts val="0"/>
              </a:spcBef>
              <a:spcAft>
                <a:spcPts val="0"/>
              </a:spcAft>
              <a:buNone/>
            </a:pPr>
            <a:r>
              <a:rPr lang="en" sz="2600">
                <a:solidFill>
                  <a:schemeClr val="dk1"/>
                </a:solidFill>
              </a:rPr>
              <a:t>k-means </a:t>
            </a:r>
            <a:r>
              <a:rPr lang="en" sz="1000">
                <a:solidFill>
                  <a:schemeClr val="dk1"/>
                </a:solidFill>
              </a:rPr>
              <a:t>scikit-learn doc (</a:t>
            </a:r>
            <a:r>
              <a:rPr lang="en" sz="1000" u="sng">
                <a:solidFill>
                  <a:schemeClr val="hlink"/>
                </a:solidFill>
                <a:hlinkClick r:id="rId3"/>
              </a:rPr>
              <a:t>link</a:t>
            </a:r>
            <a:r>
              <a:rPr lang="en" sz="1000">
                <a:solidFill>
                  <a:schemeClr val="dk1"/>
                </a:solidFill>
              </a:rPr>
              <a:t>)</a:t>
            </a:r>
            <a:r>
              <a:rPr lang="en" sz="2600">
                <a:solidFill>
                  <a:schemeClr val="dk1"/>
                </a:solidFill>
              </a:rPr>
              <a:t> </a:t>
            </a:r>
            <a:endParaRPr sz="2600">
              <a:solidFill>
                <a:schemeClr val="dk1"/>
              </a:solidFill>
            </a:endParaRPr>
          </a:p>
          <a:p>
            <a:pPr indent="-317500" lvl="0" marL="457200" rtl="0" algn="l">
              <a:lnSpc>
                <a:spcPct val="85000"/>
              </a:lnSpc>
              <a:spcBef>
                <a:spcPts val="1000"/>
              </a:spcBef>
              <a:spcAft>
                <a:spcPts val="0"/>
              </a:spcAft>
              <a:buClr>
                <a:schemeClr val="dk1"/>
              </a:buClr>
              <a:buSzPts val="1400"/>
              <a:buFont typeface="Alfa Slab One"/>
              <a:buAutoNum type="arabicPeriod"/>
            </a:pPr>
            <a:r>
              <a:rPr lang="en" sz="1400">
                <a:solidFill>
                  <a:schemeClr val="dk1"/>
                </a:solidFill>
              </a:rPr>
              <a:t>Set </a:t>
            </a:r>
            <a:r>
              <a:rPr b="1" lang="en" sz="1700">
                <a:solidFill>
                  <a:srgbClr val="9334E6"/>
                </a:solidFill>
              </a:rPr>
              <a:t>k</a:t>
            </a:r>
            <a:r>
              <a:rPr lang="en" sz="1400">
                <a:solidFill>
                  <a:schemeClr val="dk1"/>
                </a:solidFill>
              </a:rPr>
              <a:t> </a:t>
            </a:r>
            <a:r>
              <a:rPr b="1" lang="en" sz="1600">
                <a:solidFill>
                  <a:schemeClr val="accent1"/>
                </a:solidFill>
              </a:rPr>
              <a:t>random</a:t>
            </a:r>
            <a:r>
              <a:rPr lang="en" sz="1600">
                <a:solidFill>
                  <a:schemeClr val="accent1"/>
                </a:solidFill>
              </a:rPr>
              <a:t> </a:t>
            </a:r>
            <a:r>
              <a:rPr b="1" lang="en" sz="1600">
                <a:solidFill>
                  <a:schemeClr val="accent1"/>
                </a:solidFill>
              </a:rPr>
              <a:t>initial</a:t>
            </a:r>
            <a:r>
              <a:rPr lang="en" sz="1600">
                <a:solidFill>
                  <a:schemeClr val="accent1"/>
                </a:solidFill>
              </a:rPr>
              <a:t> </a:t>
            </a:r>
            <a:r>
              <a:rPr lang="en" sz="1400">
                <a:solidFill>
                  <a:schemeClr val="dk1"/>
                </a:solidFill>
              </a:rPr>
              <a:t>centroids</a:t>
            </a:r>
            <a:endParaRPr sz="1400">
              <a:solidFill>
                <a:schemeClr val="dk1"/>
              </a:solidFill>
            </a:endParaRPr>
          </a:p>
          <a:p>
            <a:pPr indent="-317500" lvl="0" marL="457200" rtl="0" algn="l">
              <a:lnSpc>
                <a:spcPct val="85000"/>
              </a:lnSpc>
              <a:spcBef>
                <a:spcPts val="1000"/>
              </a:spcBef>
              <a:spcAft>
                <a:spcPts val="0"/>
              </a:spcAft>
              <a:buClr>
                <a:schemeClr val="dk1"/>
              </a:buClr>
              <a:buSzPts val="1400"/>
              <a:buFont typeface="Alfa Slab One"/>
              <a:buAutoNum type="arabicPeriod"/>
            </a:pPr>
            <a:r>
              <a:rPr lang="en" sz="1400">
                <a:solidFill>
                  <a:schemeClr val="dk1"/>
                </a:solidFill>
              </a:rPr>
              <a:t>Compute euclidean distance between each point and each centroid</a:t>
            </a:r>
            <a:endParaRPr sz="1400">
              <a:solidFill>
                <a:schemeClr val="dk1"/>
              </a:solidFill>
            </a:endParaRPr>
          </a:p>
          <a:p>
            <a:pPr indent="-317500" lvl="0" marL="457200" rtl="0" algn="l">
              <a:lnSpc>
                <a:spcPct val="85000"/>
              </a:lnSpc>
              <a:spcBef>
                <a:spcPts val="1000"/>
              </a:spcBef>
              <a:spcAft>
                <a:spcPts val="0"/>
              </a:spcAft>
              <a:buClr>
                <a:schemeClr val="dk1"/>
              </a:buClr>
              <a:buSzPts val="1400"/>
              <a:buFont typeface="Alfa Slab One"/>
              <a:buAutoNum type="arabicPeriod"/>
            </a:pPr>
            <a:r>
              <a:rPr lang="en" sz="1400">
                <a:solidFill>
                  <a:schemeClr val="dk1"/>
                </a:solidFill>
              </a:rPr>
              <a:t>Assign point to nearest centroid</a:t>
            </a:r>
            <a:endParaRPr sz="1400">
              <a:solidFill>
                <a:schemeClr val="dk1"/>
              </a:solidFill>
            </a:endParaRPr>
          </a:p>
          <a:p>
            <a:pPr indent="-317500" lvl="0" marL="457200" rtl="0" algn="l">
              <a:lnSpc>
                <a:spcPct val="85000"/>
              </a:lnSpc>
              <a:spcBef>
                <a:spcPts val="1000"/>
              </a:spcBef>
              <a:spcAft>
                <a:spcPts val="0"/>
              </a:spcAft>
              <a:buClr>
                <a:schemeClr val="dk1"/>
              </a:buClr>
              <a:buSzPts val="1400"/>
              <a:buFont typeface="Alfa Slab One"/>
              <a:buAutoNum type="arabicPeriod"/>
            </a:pPr>
            <a:r>
              <a:rPr lang="en" sz="1400">
                <a:solidFill>
                  <a:schemeClr val="dk1"/>
                </a:solidFill>
              </a:rPr>
              <a:t>For each cluster, average the coordinates of all of the points, finding new centroid</a:t>
            </a:r>
            <a:endParaRPr sz="1400">
              <a:solidFill>
                <a:schemeClr val="dk1"/>
              </a:solidFill>
            </a:endParaRPr>
          </a:p>
          <a:p>
            <a:pPr indent="-317500" lvl="0" marL="457200" rtl="0" algn="l">
              <a:lnSpc>
                <a:spcPct val="85000"/>
              </a:lnSpc>
              <a:spcBef>
                <a:spcPts val="1000"/>
              </a:spcBef>
              <a:spcAft>
                <a:spcPts val="0"/>
              </a:spcAft>
              <a:buClr>
                <a:schemeClr val="dk1"/>
              </a:buClr>
              <a:buSzPts val="1400"/>
              <a:buFont typeface="Alfa Slab One"/>
              <a:buAutoNum type="arabicPeriod"/>
            </a:pPr>
            <a:r>
              <a:rPr b="1" lang="en" sz="1600">
                <a:solidFill>
                  <a:srgbClr val="798F43"/>
                </a:solidFill>
              </a:rPr>
              <a:t>Repeat</a:t>
            </a:r>
            <a:r>
              <a:rPr lang="en" sz="1400">
                <a:solidFill>
                  <a:schemeClr val="dk1"/>
                </a:solidFill>
              </a:rPr>
              <a:t> 2-4 until clusters are stable (no change in last iteration)</a:t>
            </a:r>
            <a:endParaRPr sz="1400">
              <a:solidFill>
                <a:schemeClr val="dk1"/>
              </a:solidFill>
            </a:endParaRPr>
          </a:p>
        </p:txBody>
      </p:sp>
      <p:sp>
        <p:nvSpPr>
          <p:cNvPr id="385" name="Google Shape;385;p37"/>
          <p:cNvSpPr txBox="1"/>
          <p:nvPr/>
        </p:nvSpPr>
        <p:spPr>
          <a:xfrm>
            <a:off x="5107240" y="1167675"/>
            <a:ext cx="3550200" cy="7605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 sz="1600">
                <a:solidFill>
                  <a:srgbClr val="9334E6"/>
                </a:solidFill>
              </a:rPr>
              <a:t>n_clusters</a:t>
            </a:r>
            <a:r>
              <a:rPr lang="en"/>
              <a:t>: arguably most important parameter is finding optimal k (we’ll see how to pick later this week)</a:t>
            </a:r>
            <a:endParaRPr/>
          </a:p>
        </p:txBody>
      </p:sp>
      <p:sp>
        <p:nvSpPr>
          <p:cNvPr id="386" name="Google Shape;386;p37"/>
          <p:cNvSpPr txBox="1"/>
          <p:nvPr/>
        </p:nvSpPr>
        <p:spPr>
          <a:xfrm>
            <a:off x="5062626" y="2016600"/>
            <a:ext cx="3550200" cy="5772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 sz="1600">
                <a:solidFill>
                  <a:schemeClr val="accent1"/>
                </a:solidFill>
              </a:rPr>
              <a:t>init</a:t>
            </a:r>
            <a:r>
              <a:rPr lang="en"/>
              <a:t>: defaults to </a:t>
            </a:r>
            <a:r>
              <a:rPr b="1" lang="en"/>
              <a:t>k-means++</a:t>
            </a:r>
            <a:r>
              <a:rPr lang="en"/>
              <a:t> (randomly spaced out), can also be </a:t>
            </a:r>
            <a:r>
              <a:rPr b="1" lang="en"/>
              <a:t>random</a:t>
            </a:r>
            <a:endParaRPr b="1"/>
          </a:p>
        </p:txBody>
      </p:sp>
      <p:sp>
        <p:nvSpPr>
          <p:cNvPr id="387" name="Google Shape;387;p37"/>
          <p:cNvSpPr txBox="1"/>
          <p:nvPr/>
        </p:nvSpPr>
        <p:spPr>
          <a:xfrm>
            <a:off x="5062626" y="2667525"/>
            <a:ext cx="3550200" cy="5772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 sz="1600">
                <a:solidFill>
                  <a:srgbClr val="798F43"/>
                </a:solidFill>
              </a:rPr>
              <a:t>max_iter</a:t>
            </a:r>
            <a:r>
              <a:rPr lang="en"/>
              <a:t>: can set upper threshold on max number of iterations</a:t>
            </a:r>
            <a:endParaRPr b="1"/>
          </a:p>
        </p:txBody>
      </p:sp>
      <p:sp>
        <p:nvSpPr>
          <p:cNvPr id="388" name="Google Shape;388;p37"/>
          <p:cNvSpPr txBox="1"/>
          <p:nvPr/>
        </p:nvSpPr>
        <p:spPr>
          <a:xfrm>
            <a:off x="5072151" y="721050"/>
            <a:ext cx="3250200" cy="5250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lang="en" sz="2600">
                <a:solidFill>
                  <a:schemeClr val="dk1"/>
                </a:solidFill>
              </a:rPr>
              <a:t>hyperparameters</a:t>
            </a:r>
            <a:endParaRPr/>
          </a:p>
        </p:txBody>
      </p:sp>
      <p:sp>
        <p:nvSpPr>
          <p:cNvPr id="389" name="Google Shape;389;p37"/>
          <p:cNvSpPr txBox="1"/>
          <p:nvPr/>
        </p:nvSpPr>
        <p:spPr>
          <a:xfrm>
            <a:off x="5047775" y="3311775"/>
            <a:ext cx="3550200" cy="5772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 sz="1600">
                <a:solidFill>
                  <a:schemeClr val="dk1"/>
                </a:solidFill>
              </a:rPr>
              <a:t>random_state</a:t>
            </a:r>
            <a:r>
              <a:rPr lang="en"/>
              <a:t>: makes random init reproducible</a:t>
            </a:r>
            <a:endParaRPr b="1"/>
          </a:p>
        </p:txBody>
      </p:sp>
      <p:sp>
        <p:nvSpPr>
          <p:cNvPr id="390" name="Google Shape;390;p37"/>
          <p:cNvSpPr txBox="1"/>
          <p:nvPr/>
        </p:nvSpPr>
        <p:spPr>
          <a:xfrm>
            <a:off x="726400" y="3973700"/>
            <a:ext cx="7545600" cy="862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8157"/>
              </a:lnSpc>
              <a:spcBef>
                <a:spcPts val="0"/>
              </a:spcBef>
              <a:spcAft>
                <a:spcPts val="0"/>
              </a:spcAft>
              <a:buNone/>
            </a:pPr>
            <a:r>
              <a:rPr b="1" lang="en" sz="1850">
                <a:solidFill>
                  <a:srgbClr val="204A87"/>
                </a:solidFill>
              </a:rPr>
              <a:t>from</a:t>
            </a:r>
            <a:r>
              <a:rPr lang="en" sz="1850">
                <a:solidFill>
                  <a:srgbClr val="222832"/>
                </a:solidFill>
              </a:rPr>
              <a:t> </a:t>
            </a:r>
            <a:r>
              <a:rPr lang="en" sz="1850">
                <a:solidFill>
                  <a:schemeClr val="dk1"/>
                </a:solidFill>
              </a:rPr>
              <a:t>sklearn.cluster</a:t>
            </a:r>
            <a:r>
              <a:rPr lang="en" sz="1850">
                <a:solidFill>
                  <a:srgbClr val="222832"/>
                </a:solidFill>
              </a:rPr>
              <a:t> </a:t>
            </a:r>
            <a:r>
              <a:rPr b="1" lang="en" sz="1850">
                <a:solidFill>
                  <a:srgbClr val="204A87"/>
                </a:solidFill>
              </a:rPr>
              <a:t>import</a:t>
            </a:r>
            <a:r>
              <a:rPr lang="en" sz="1850">
                <a:solidFill>
                  <a:srgbClr val="222832"/>
                </a:solidFill>
              </a:rPr>
              <a:t> </a:t>
            </a:r>
            <a:r>
              <a:rPr lang="en" sz="1850">
                <a:solidFill>
                  <a:schemeClr val="dk1"/>
                </a:solidFill>
              </a:rPr>
              <a:t>KMeans</a:t>
            </a:r>
            <a:endParaRPr sz="1850">
              <a:solidFill>
                <a:schemeClr val="dk1"/>
              </a:solidFill>
            </a:endParaRPr>
          </a:p>
          <a:p>
            <a:pPr indent="0" lvl="0" marL="0" rtl="0" algn="l">
              <a:lnSpc>
                <a:spcPct val="138157"/>
              </a:lnSpc>
              <a:spcBef>
                <a:spcPts val="0"/>
              </a:spcBef>
              <a:spcAft>
                <a:spcPts val="0"/>
              </a:spcAft>
              <a:buNone/>
            </a:pPr>
            <a:r>
              <a:rPr lang="en" sz="1850">
                <a:solidFill>
                  <a:schemeClr val="dk1"/>
                </a:solidFill>
              </a:rPr>
              <a:t>KMeans(</a:t>
            </a:r>
            <a:r>
              <a:rPr b="1" lang="en" sz="1850">
                <a:solidFill>
                  <a:srgbClr val="9334E6"/>
                </a:solidFill>
              </a:rPr>
              <a:t>n_clusters</a:t>
            </a:r>
            <a:r>
              <a:rPr lang="en" sz="1850">
                <a:solidFill>
                  <a:schemeClr val="dk1"/>
                </a:solidFill>
              </a:rPr>
              <a:t>=2, </a:t>
            </a:r>
            <a:r>
              <a:rPr b="1" lang="en" sz="1850">
                <a:solidFill>
                  <a:schemeClr val="dk1"/>
                </a:solidFill>
              </a:rPr>
              <a:t>random_state</a:t>
            </a:r>
            <a:r>
              <a:rPr lang="en" sz="1850">
                <a:solidFill>
                  <a:schemeClr val="dk1"/>
                </a:solidFill>
              </a:rPr>
              <a:t>=42, </a:t>
            </a:r>
            <a:r>
              <a:rPr b="1" lang="en" sz="1850">
                <a:solidFill>
                  <a:srgbClr val="798F43"/>
                </a:solidFill>
              </a:rPr>
              <a:t>max_iter</a:t>
            </a:r>
            <a:r>
              <a:rPr lang="en" sz="1850">
                <a:solidFill>
                  <a:schemeClr val="dk1"/>
                </a:solidFill>
              </a:rPr>
              <a:t> = 1000)</a:t>
            </a:r>
            <a:endParaRPr sz="1850">
              <a:solidFill>
                <a:schemeClr val="dk1"/>
              </a:solidFill>
            </a:endParaRPr>
          </a:p>
        </p:txBody>
      </p:sp>
      <p:sp>
        <p:nvSpPr>
          <p:cNvPr id="391" name="Google Shape;391;p37"/>
          <p:cNvSpPr txBox="1"/>
          <p:nvPr/>
        </p:nvSpPr>
        <p:spPr>
          <a:xfrm>
            <a:off x="650200" y="3682100"/>
            <a:ext cx="3000000" cy="367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200"/>
              </a:spcAft>
              <a:buNone/>
            </a:pPr>
            <a:r>
              <a:rPr lang="en">
                <a:solidFill>
                  <a:schemeClr val="dk1"/>
                </a:solidFill>
              </a:rPr>
              <a:t>Example of using this algorithm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clustering algorithms</a:t>
            </a:r>
            <a:endParaRPr/>
          </a:p>
        </p:txBody>
      </p:sp>
      <p:sp>
        <p:nvSpPr>
          <p:cNvPr id="397" name="Google Shape;39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u="sng">
                <a:solidFill>
                  <a:schemeClr val="hlink"/>
                </a:solidFill>
                <a:hlinkClick r:id="rId3"/>
              </a:rPr>
              <a:t>k-medoids</a:t>
            </a:r>
            <a:r>
              <a:rPr lang="en"/>
              <a:t>: alternative to k-means when Euclidean distance isn’t useful. Good with outliers as the medoid is an actual data point rather than a centroid (average point in cluster). </a:t>
            </a:r>
            <a:endParaRPr/>
          </a:p>
          <a:p>
            <a:pPr indent="0" lvl="0" marL="0" rtl="0" algn="l">
              <a:spcBef>
                <a:spcPts val="1200"/>
              </a:spcBef>
              <a:spcAft>
                <a:spcPts val="0"/>
              </a:spcAft>
              <a:buNone/>
            </a:pPr>
            <a:r>
              <a:rPr lang="en" u="sng">
                <a:solidFill>
                  <a:schemeClr val="accent5"/>
                </a:solidFill>
                <a:hlinkClick r:id="rId4">
                  <a:extLst>
                    <a:ext uri="{A12FA001-AC4F-418D-AE19-62706E023703}">
                      <ahyp:hlinkClr val="tx"/>
                    </a:ext>
                  </a:extLst>
                </a:hlinkClick>
              </a:rPr>
              <a:t>k-modes</a:t>
            </a:r>
            <a:r>
              <a:rPr lang="en"/>
              <a:t>: categorical version of k-means by deciding clusters by the number of matching categories.</a:t>
            </a:r>
            <a:endParaRPr/>
          </a:p>
          <a:p>
            <a:pPr indent="0" lvl="0" marL="0" rtl="0" algn="l">
              <a:spcBef>
                <a:spcPts val="1200"/>
              </a:spcBef>
              <a:spcAft>
                <a:spcPts val="0"/>
              </a:spcAft>
              <a:buNone/>
            </a:pPr>
            <a:r>
              <a:rPr lang="en" u="sng">
                <a:solidFill>
                  <a:schemeClr val="hlink"/>
                </a:solidFill>
                <a:hlinkClick r:id="rId5"/>
              </a:rPr>
              <a:t>hierarchical</a:t>
            </a:r>
            <a:r>
              <a:rPr lang="en"/>
              <a:t>: recursively merges pairs of data points using pairwise distance and visualizes uses dendrogram.  No need to specify k, but rigid and sensitive to noise.</a:t>
            </a:r>
            <a:endParaRPr/>
          </a:p>
          <a:p>
            <a:pPr indent="0" lvl="0" marL="0" rtl="0" algn="l">
              <a:spcBef>
                <a:spcPts val="1200"/>
              </a:spcBef>
              <a:spcAft>
                <a:spcPts val="0"/>
              </a:spcAft>
              <a:buNone/>
            </a:pPr>
            <a:r>
              <a:rPr lang="en" u="sng">
                <a:solidFill>
                  <a:schemeClr val="hlink"/>
                </a:solidFill>
                <a:hlinkClick r:id="rId6"/>
              </a:rPr>
              <a:t>DBSCAN</a:t>
            </a:r>
            <a:r>
              <a:rPr lang="en"/>
              <a:t>: labels certain points as core if in a dense neighborhood (nearest points), else points are non-core. Flexible cluster shapes and robust to outliers, but hard to tune.</a:t>
            </a:r>
            <a:endParaRPr/>
          </a:p>
          <a:p>
            <a:pPr indent="0" lvl="0" marL="0" rtl="0" algn="l">
              <a:spcBef>
                <a:spcPts val="1200"/>
              </a:spcBef>
              <a:spcAft>
                <a:spcPts val="1200"/>
              </a:spcAft>
              <a:buNone/>
            </a:pPr>
            <a:r>
              <a:rPr lang="en" u="sng">
                <a:solidFill>
                  <a:schemeClr val="hlink"/>
                </a:solidFill>
                <a:hlinkClick r:id="rId7"/>
              </a:rPr>
              <a:t>Gaussian mixture models</a:t>
            </a:r>
            <a:r>
              <a:rPr lang="en"/>
              <a:t> (GMMs): matches data points to fit into normal distributions using Mahalanobis distance. Also called Expectation-Maximization (EM). More robust version of k-means since probabilistic and flexible cluster shape, though not great on big data.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02" name="Google Shape;402;p39"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03" name="Google Shape;403;p39"/>
          <p:cNvSpPr/>
          <p:nvPr/>
        </p:nvSpPr>
        <p:spPr>
          <a:xfrm>
            <a:off x="2293625" y="967750"/>
            <a:ext cx="4953000" cy="2689800"/>
          </a:xfrm>
          <a:prstGeom prst="roundRect">
            <a:avLst>
              <a:gd fmla="val 16667" name="adj"/>
            </a:avLst>
          </a:prstGeom>
          <a:solidFill>
            <a:srgbClr val="BE86B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Work Time</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None/>
            </a:pPr>
            <a:r>
              <a:rPr b="1" lang="en" sz="2800">
                <a:solidFill>
                  <a:srgbClr val="7F1E15"/>
                </a:solidFill>
              </a:rPr>
              <a:t>HW3 Q#1</a:t>
            </a:r>
            <a:endParaRPr b="1" sz="2800">
              <a:solidFill>
                <a:srgbClr val="7F1E15"/>
              </a:solidFill>
            </a:endParaRPr>
          </a:p>
          <a:p>
            <a:pPr indent="0" lvl="0" marL="0" rtl="0" algn="ctr">
              <a:spcBef>
                <a:spcPts val="0"/>
              </a:spcBef>
              <a:spcAft>
                <a:spcPts val="0"/>
              </a:spcAft>
              <a:buClr>
                <a:schemeClr val="dk1"/>
              </a:buClr>
              <a:buSzPts val="1100"/>
              <a:buFont typeface="Arial"/>
              <a:buNone/>
            </a:pPr>
            <a:r>
              <a:t/>
            </a:r>
            <a:endParaRPr b="1" sz="2800">
              <a:solidFill>
                <a:srgbClr val="7F1E15"/>
              </a:solidFill>
            </a:endParaRPr>
          </a:p>
          <a:p>
            <a:pPr indent="0" lvl="0" marL="0" rtl="0" algn="ctr">
              <a:spcBef>
                <a:spcPts val="0"/>
              </a:spcBef>
              <a:spcAft>
                <a:spcPts val="0"/>
              </a:spcAft>
              <a:buClr>
                <a:schemeClr val="dk1"/>
              </a:buClr>
              <a:buSzPts val="1100"/>
              <a:buFont typeface="Arial"/>
              <a:buNone/>
            </a:pPr>
            <a:r>
              <a:rPr lang="en">
                <a:solidFill>
                  <a:schemeClr val="dk1"/>
                </a:solidFill>
              </a:rPr>
              <a:t>Let’s get a start on some more homework questions. Grab a partner to get started.</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rPr lang="en" u="sng">
                <a:solidFill>
                  <a:schemeClr val="hlink"/>
                </a:solidFill>
                <a:hlinkClick r:id="rId6"/>
              </a:rPr>
              <a:t>View on our website</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7" name="Shape 407"/>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08" name="Google Shape;408;p40"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09" name="Google Shape;409;p40"/>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cls</a:t>
            </a:r>
            <a:r>
              <a:rPr b="1" lang="en" sz="4422">
                <a:solidFill>
                  <a:schemeClr val="lt1"/>
                </a:solidFill>
                <a:latin typeface="Source Code Pro"/>
                <a:ea typeface="Source Code Pro"/>
                <a:cs typeface="Source Code Pro"/>
                <a:sym typeface="Source Code Pro"/>
              </a:rPr>
              <a:t>2</a:t>
            </a:r>
            <a:r>
              <a:rPr lang="en" sz="4422">
                <a:solidFill>
                  <a:schemeClr val="dk1"/>
                </a:solidFill>
                <a:latin typeface="Staatliches"/>
                <a:ea typeface="Staatliches"/>
                <a:cs typeface="Staatliches"/>
                <a:sym typeface="Staatliches"/>
              </a:rPr>
              <a:t>: clustering</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evaluation, silhouette score</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413" name="Shape 413"/>
        <p:cNvGrpSpPr/>
        <p:nvPr/>
      </p:nvGrpSpPr>
      <p:grpSpPr>
        <a:xfrm>
          <a:off x="0" y="0"/>
          <a:ext cx="0" cy="0"/>
          <a:chOff x="0" y="0"/>
          <a:chExt cx="0" cy="0"/>
        </a:xfrm>
      </p:grpSpPr>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414" name="Google Shape;414;p41" title="5 Minute Timer Relaxing Music Lofi Fish Background">
            <a:hlinkClick r:id="rId3"/>
          </p:cNvPr>
          <p:cNvPicPr preferRelativeResize="0"/>
          <p:nvPr/>
        </p:nvPicPr>
        <p:blipFill>
          <a:blip r:embed="rId4">
            <a:alphaModFix/>
          </a:blip>
          <a:stretch>
            <a:fillRect/>
          </a:stretch>
        </p:blipFill>
        <p:spPr>
          <a:xfrm>
            <a:off x="7943725" y="199150"/>
            <a:ext cx="912175" cy="513100"/>
          </a:xfrm>
          <a:prstGeom prst="rect">
            <a:avLst/>
          </a:prstGeom>
          <a:noFill/>
          <a:ln>
            <a:noFill/>
          </a:ln>
        </p:spPr>
      </p:pic>
      <p:sp>
        <p:nvSpPr>
          <p:cNvPr id="415" name="Google Shape;415;p41"/>
          <p:cNvSpPr txBox="1"/>
          <p:nvPr/>
        </p:nvSpPr>
        <p:spPr>
          <a:xfrm>
            <a:off x="732975" y="351550"/>
            <a:ext cx="7452000" cy="1410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warmup</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Which clustering result do you think is "best"? Why?</a:t>
            </a:r>
            <a:endParaRPr>
              <a:solidFill>
                <a:schemeClr val="lt1"/>
              </a:solidFill>
            </a:endParaRPr>
          </a:p>
          <a:p>
            <a:pPr indent="0" lvl="0" marL="0" rtl="0" algn="l">
              <a:lnSpc>
                <a:spcPct val="80000"/>
              </a:lnSpc>
              <a:spcBef>
                <a:spcPts val="0"/>
              </a:spcBef>
              <a:spcAft>
                <a:spcPts val="0"/>
              </a:spcAft>
              <a:buNone/>
            </a:pPr>
            <a:r>
              <a:rPr lang="en">
                <a:solidFill>
                  <a:schemeClr val="lt1"/>
                </a:solidFill>
              </a:rPr>
              <a:t>What criteria are you using to judge the quality of these clusters?</a:t>
            </a:r>
            <a:endParaRPr>
              <a:solidFill>
                <a:schemeClr val="lt1"/>
              </a:solidFill>
            </a:endParaRPr>
          </a:p>
        </p:txBody>
      </p:sp>
      <p:pic>
        <p:nvPicPr>
          <p:cNvPr id="416" name="Google Shape;416;p41"/>
          <p:cNvPicPr preferRelativeResize="0"/>
          <p:nvPr/>
        </p:nvPicPr>
        <p:blipFill rotWithShape="1">
          <a:blip r:embed="rId5">
            <a:alphaModFix/>
          </a:blip>
          <a:srcRect b="0" l="0" r="0" t="8466"/>
          <a:stretch/>
        </p:blipFill>
        <p:spPr>
          <a:xfrm>
            <a:off x="507200" y="1809425"/>
            <a:ext cx="8129600" cy="2646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Cluster evaluation</a:t>
            </a:r>
            <a:endParaRPr/>
          </a:p>
        </p:txBody>
      </p:sp>
      <p:sp>
        <p:nvSpPr>
          <p:cNvPr id="422" name="Google Shape;42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can we evaluate the results of clustering?</a:t>
            </a:r>
            <a:endParaRPr/>
          </a:p>
          <a:p>
            <a:pPr indent="-342900" lvl="0" marL="457200" rtl="0" algn="l">
              <a:spcBef>
                <a:spcPts val="1200"/>
              </a:spcBef>
              <a:spcAft>
                <a:spcPts val="0"/>
              </a:spcAft>
              <a:buSzPts val="1800"/>
              <a:buAutoNum type="arabicPeriod"/>
            </a:pPr>
            <a:r>
              <a:rPr b="1" lang="en"/>
              <a:t>plotting </a:t>
            </a:r>
            <a:r>
              <a:rPr lang="en"/>
              <a:t>but only if low dimensional</a:t>
            </a:r>
            <a:endParaRPr/>
          </a:p>
          <a:p>
            <a:pPr indent="-342900" lvl="0" marL="457200" rtl="0" algn="l">
              <a:spcBef>
                <a:spcPts val="0"/>
              </a:spcBef>
              <a:spcAft>
                <a:spcPts val="0"/>
              </a:spcAft>
              <a:buSzPts val="1800"/>
              <a:buAutoNum type="arabicPeriod"/>
            </a:pPr>
            <a:r>
              <a:rPr lang="en"/>
              <a:t>compare with </a:t>
            </a:r>
            <a:r>
              <a:rPr b="1" lang="en"/>
              <a:t>ground truth labels</a:t>
            </a:r>
            <a:r>
              <a:rPr lang="en"/>
              <a:t>, but only if available</a:t>
            </a:r>
            <a:endParaRPr/>
          </a:p>
          <a:p>
            <a:pPr indent="-342900" lvl="0" marL="457200" rtl="0" algn="l">
              <a:spcBef>
                <a:spcPts val="0"/>
              </a:spcBef>
              <a:spcAft>
                <a:spcPts val="0"/>
              </a:spcAft>
              <a:buSzPts val="1800"/>
              <a:buAutoNum type="arabicPeriod"/>
            </a:pPr>
            <a:r>
              <a:rPr lang="en" u="sng">
                <a:solidFill>
                  <a:schemeClr val="hlink"/>
                </a:solidFill>
                <a:hlinkClick r:id="rId3"/>
              </a:rPr>
              <a:t>various measures</a:t>
            </a:r>
            <a:r>
              <a:rPr lang="en"/>
              <a:t>, one being the </a:t>
            </a:r>
            <a:r>
              <a:rPr b="1" lang="en"/>
              <a:t>silhouette coefficient</a:t>
            </a:r>
            <a:endParaRPr b="1"/>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p43"/>
          <p:cNvPicPr preferRelativeResize="0"/>
          <p:nvPr/>
        </p:nvPicPr>
        <p:blipFill>
          <a:blip r:embed="rId3">
            <a:alphaModFix/>
          </a:blip>
          <a:stretch>
            <a:fillRect/>
          </a:stretch>
        </p:blipFill>
        <p:spPr>
          <a:xfrm>
            <a:off x="2066188" y="1406275"/>
            <a:ext cx="1457325" cy="1009650"/>
          </a:xfrm>
          <a:prstGeom prst="rect">
            <a:avLst/>
          </a:prstGeom>
          <a:noFill/>
          <a:ln>
            <a:noFill/>
          </a:ln>
        </p:spPr>
      </p:pic>
      <p:sp>
        <p:nvSpPr>
          <p:cNvPr id="428" name="Google Shape;428;p43"/>
          <p:cNvSpPr txBox="1"/>
          <p:nvPr>
            <p:ph idx="1" type="body"/>
          </p:nvPr>
        </p:nvSpPr>
        <p:spPr>
          <a:xfrm>
            <a:off x="616500" y="1152475"/>
            <a:ext cx="4322100" cy="25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a:t>
            </a:r>
            <a:r>
              <a:rPr b="1" lang="en" sz="1400"/>
              <a:t>silhouette coefficient</a:t>
            </a:r>
            <a:r>
              <a:rPr lang="en" sz="1400"/>
              <a:t> is a measure for how good a cluster is:</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rPr lang="en" sz="1400"/>
              <a:t>where </a:t>
            </a:r>
            <a:r>
              <a:rPr b="1" lang="en" sz="1400"/>
              <a:t>a</a:t>
            </a:r>
            <a:r>
              <a:rPr lang="en" sz="1400"/>
              <a:t> is the average intra-cluster distance, or average distance between pairs of points within a cluster; and </a:t>
            </a:r>
            <a:r>
              <a:rPr b="1" lang="en" sz="1400"/>
              <a:t>b</a:t>
            </a:r>
            <a:r>
              <a:rPr lang="en" sz="1400"/>
              <a:t> is the average inter-cluster distance, or average distance between pairs of points in different clusters</a:t>
            </a:r>
            <a:endParaRPr sz="1400"/>
          </a:p>
        </p:txBody>
      </p:sp>
      <p:pic>
        <p:nvPicPr>
          <p:cNvPr id="429" name="Google Shape;429;p43"/>
          <p:cNvPicPr preferRelativeResize="0"/>
          <p:nvPr/>
        </p:nvPicPr>
        <p:blipFill rotWithShape="1">
          <a:blip r:embed="rId4">
            <a:alphaModFix/>
          </a:blip>
          <a:srcRect b="0" l="0" r="0" t="8933"/>
          <a:stretch/>
        </p:blipFill>
        <p:spPr>
          <a:xfrm>
            <a:off x="5894075" y="48675"/>
            <a:ext cx="2515675" cy="4942424"/>
          </a:xfrm>
          <a:prstGeom prst="rect">
            <a:avLst/>
          </a:prstGeom>
          <a:noFill/>
          <a:ln>
            <a:noFill/>
          </a:ln>
        </p:spPr>
      </p:pic>
      <p:sp>
        <p:nvSpPr>
          <p:cNvPr id="430" name="Google Shape;430;p43"/>
          <p:cNvSpPr txBox="1"/>
          <p:nvPr/>
        </p:nvSpPr>
        <p:spPr>
          <a:xfrm>
            <a:off x="4982400" y="445025"/>
            <a:ext cx="12768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2"/>
                </a:solidFill>
              </a:rPr>
              <a:t>close to </a:t>
            </a:r>
            <a:r>
              <a:rPr b="1" lang="en" sz="1200">
                <a:solidFill>
                  <a:schemeClr val="dk2"/>
                </a:solidFill>
              </a:rPr>
              <a:t>1</a:t>
            </a:r>
            <a:r>
              <a:rPr lang="en" sz="1200">
                <a:solidFill>
                  <a:schemeClr val="dk2"/>
                </a:solidFill>
              </a:rPr>
              <a:t> clustering is </a:t>
            </a:r>
            <a:r>
              <a:rPr b="1" lang="en" sz="1200">
                <a:solidFill>
                  <a:schemeClr val="dk2"/>
                </a:solidFill>
              </a:rPr>
              <a:t>awesome</a:t>
            </a:r>
            <a:endParaRPr sz="1200"/>
          </a:p>
        </p:txBody>
      </p:sp>
      <p:sp>
        <p:nvSpPr>
          <p:cNvPr id="431" name="Google Shape;431;p43"/>
          <p:cNvSpPr txBox="1"/>
          <p:nvPr/>
        </p:nvSpPr>
        <p:spPr>
          <a:xfrm>
            <a:off x="4982400" y="3807463"/>
            <a:ext cx="12768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2"/>
                </a:solidFill>
              </a:rPr>
              <a:t>close to </a:t>
            </a:r>
            <a:r>
              <a:rPr b="1" lang="en" sz="1200">
                <a:solidFill>
                  <a:schemeClr val="dk2"/>
                </a:solidFill>
              </a:rPr>
              <a:t>0</a:t>
            </a:r>
            <a:r>
              <a:rPr lang="en" sz="1200">
                <a:solidFill>
                  <a:schemeClr val="dk2"/>
                </a:solidFill>
              </a:rPr>
              <a:t> clustering is </a:t>
            </a:r>
            <a:r>
              <a:rPr b="1" lang="en" sz="1200">
                <a:solidFill>
                  <a:schemeClr val="dk2"/>
                </a:solidFill>
              </a:rPr>
              <a:t>random</a:t>
            </a:r>
            <a:endParaRPr sz="1200"/>
          </a:p>
        </p:txBody>
      </p:sp>
      <p:sp>
        <p:nvSpPr>
          <p:cNvPr id="432" name="Google Shape;432;p43"/>
          <p:cNvSpPr txBox="1"/>
          <p:nvPr/>
        </p:nvSpPr>
        <p:spPr>
          <a:xfrm>
            <a:off x="616500" y="3994700"/>
            <a:ext cx="32574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2"/>
                </a:solidFill>
              </a:rPr>
              <a:t>close to </a:t>
            </a:r>
            <a:r>
              <a:rPr b="1" lang="en" sz="1200">
                <a:solidFill>
                  <a:schemeClr val="dk2"/>
                </a:solidFill>
              </a:rPr>
              <a:t>-1</a:t>
            </a:r>
            <a:r>
              <a:rPr lang="en" sz="1200">
                <a:solidFill>
                  <a:schemeClr val="dk2"/>
                </a:solidFill>
              </a:rPr>
              <a:t> clustering is </a:t>
            </a:r>
            <a:r>
              <a:rPr b="1" lang="en" sz="1200">
                <a:solidFill>
                  <a:schemeClr val="dk2"/>
                </a:solidFill>
              </a:rPr>
              <a:t>opposite</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txBox="1"/>
          <p:nvPr>
            <p:ph idx="1" type="body"/>
          </p:nvPr>
        </p:nvSpPr>
        <p:spPr>
          <a:xfrm>
            <a:off x="3500700" y="751075"/>
            <a:ext cx="5382600" cy="96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t>To compute </a:t>
            </a:r>
            <a:r>
              <a:rPr b="1" lang="en" sz="1400"/>
              <a:t>a</a:t>
            </a:r>
            <a:r>
              <a:rPr lang="en" sz="1400"/>
              <a:t>, find average </a:t>
            </a:r>
            <a:r>
              <a:rPr b="1" lang="en" sz="1400"/>
              <a:t>intra-cluster</a:t>
            </a:r>
            <a:r>
              <a:rPr lang="en" sz="1400"/>
              <a:t> distance by computing Euclidean distance                                      for each pair of points in the </a:t>
            </a:r>
            <a:r>
              <a:rPr b="1" lang="en" sz="1400"/>
              <a:t>same cluster</a:t>
            </a:r>
            <a:r>
              <a:rPr lang="en" sz="1400"/>
              <a:t> and then average.</a:t>
            </a:r>
            <a:endParaRPr sz="1400"/>
          </a:p>
        </p:txBody>
      </p:sp>
      <p:pic>
        <p:nvPicPr>
          <p:cNvPr id="438" name="Google Shape;438;p44"/>
          <p:cNvPicPr preferRelativeResize="0"/>
          <p:nvPr/>
        </p:nvPicPr>
        <p:blipFill>
          <a:blip r:embed="rId3">
            <a:alphaModFix/>
          </a:blip>
          <a:stretch>
            <a:fillRect/>
          </a:stretch>
        </p:blipFill>
        <p:spPr>
          <a:xfrm>
            <a:off x="5104925" y="1090125"/>
            <a:ext cx="1764600" cy="284900"/>
          </a:xfrm>
          <a:prstGeom prst="rect">
            <a:avLst/>
          </a:prstGeom>
          <a:noFill/>
          <a:ln>
            <a:noFill/>
          </a:ln>
        </p:spPr>
      </p:pic>
      <p:pic>
        <p:nvPicPr>
          <p:cNvPr id="439" name="Google Shape;439;p44"/>
          <p:cNvPicPr preferRelativeResize="0"/>
          <p:nvPr/>
        </p:nvPicPr>
        <p:blipFill>
          <a:blip r:embed="rId4">
            <a:alphaModFix/>
          </a:blip>
          <a:stretch>
            <a:fillRect/>
          </a:stretch>
        </p:blipFill>
        <p:spPr>
          <a:xfrm>
            <a:off x="3522122" y="2190875"/>
            <a:ext cx="5275079" cy="1681075"/>
          </a:xfrm>
          <a:prstGeom prst="rect">
            <a:avLst/>
          </a:prstGeom>
          <a:noFill/>
          <a:ln>
            <a:noFill/>
          </a:ln>
        </p:spPr>
      </p:pic>
      <p:pic>
        <p:nvPicPr>
          <p:cNvPr id="440" name="Google Shape;440;p44"/>
          <p:cNvPicPr preferRelativeResize="0"/>
          <p:nvPr/>
        </p:nvPicPr>
        <p:blipFill>
          <a:blip r:embed="rId5">
            <a:alphaModFix/>
          </a:blip>
          <a:stretch>
            <a:fillRect/>
          </a:stretch>
        </p:blipFill>
        <p:spPr>
          <a:xfrm>
            <a:off x="3725351" y="3897425"/>
            <a:ext cx="1855450" cy="788950"/>
          </a:xfrm>
          <a:prstGeom prst="rect">
            <a:avLst/>
          </a:prstGeom>
          <a:noFill/>
          <a:ln>
            <a:noFill/>
          </a:ln>
        </p:spPr>
      </p:pic>
      <p:pic>
        <p:nvPicPr>
          <p:cNvPr id="441" name="Google Shape;441;p44"/>
          <p:cNvPicPr preferRelativeResize="0"/>
          <p:nvPr/>
        </p:nvPicPr>
        <p:blipFill>
          <a:blip r:embed="rId6">
            <a:alphaModFix/>
          </a:blip>
          <a:stretch>
            <a:fillRect/>
          </a:stretch>
        </p:blipFill>
        <p:spPr>
          <a:xfrm>
            <a:off x="76200" y="457200"/>
            <a:ext cx="3424775" cy="4387246"/>
          </a:xfrm>
          <a:prstGeom prst="rect">
            <a:avLst/>
          </a:prstGeom>
          <a:noFill/>
          <a:ln>
            <a:noFill/>
          </a:ln>
        </p:spPr>
      </p:pic>
      <p:sp>
        <p:nvSpPr>
          <p:cNvPr id="442" name="Google Shape;442;p44"/>
          <p:cNvSpPr/>
          <p:nvPr/>
        </p:nvSpPr>
        <p:spPr>
          <a:xfrm>
            <a:off x="3645350" y="3308050"/>
            <a:ext cx="1419900" cy="327300"/>
          </a:xfrm>
          <a:prstGeom prst="rect">
            <a:avLst/>
          </a:prstGeom>
          <a:solidFill>
            <a:srgbClr val="721E81">
              <a:alpha val="3100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44"/>
          <p:cNvSpPr/>
          <p:nvPr/>
        </p:nvSpPr>
        <p:spPr>
          <a:xfrm>
            <a:off x="3645350" y="2244450"/>
            <a:ext cx="1419900" cy="1022700"/>
          </a:xfrm>
          <a:prstGeom prst="rect">
            <a:avLst/>
          </a:prstGeom>
          <a:solidFill>
            <a:srgbClr val="DF7775">
              <a:alpha val="360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45"/>
          <p:cNvPicPr preferRelativeResize="0"/>
          <p:nvPr/>
        </p:nvPicPr>
        <p:blipFill>
          <a:blip r:embed="rId3">
            <a:alphaModFix/>
          </a:blip>
          <a:stretch>
            <a:fillRect/>
          </a:stretch>
        </p:blipFill>
        <p:spPr>
          <a:xfrm>
            <a:off x="3660877" y="1727625"/>
            <a:ext cx="4652699" cy="2120575"/>
          </a:xfrm>
          <a:prstGeom prst="rect">
            <a:avLst/>
          </a:prstGeom>
          <a:noFill/>
          <a:ln>
            <a:noFill/>
          </a:ln>
        </p:spPr>
      </p:pic>
      <p:sp>
        <p:nvSpPr>
          <p:cNvPr id="449" name="Google Shape;449;p45"/>
          <p:cNvSpPr txBox="1"/>
          <p:nvPr>
            <p:ph idx="1" type="body"/>
          </p:nvPr>
        </p:nvSpPr>
        <p:spPr>
          <a:xfrm>
            <a:off x="3500700" y="751075"/>
            <a:ext cx="5382600" cy="96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t>To compute b, find average </a:t>
            </a:r>
            <a:r>
              <a:rPr b="1" lang="en" sz="1400"/>
              <a:t>inter-cluster </a:t>
            </a:r>
            <a:r>
              <a:rPr lang="en" sz="1400"/>
              <a:t>distance by computing Euclidean distance                                      for each pair of points in a </a:t>
            </a:r>
            <a:r>
              <a:rPr b="1" lang="en" sz="1400"/>
              <a:t>different cluster</a:t>
            </a:r>
            <a:r>
              <a:rPr lang="en" sz="1400"/>
              <a:t> and then average.</a:t>
            </a:r>
            <a:endParaRPr sz="1400"/>
          </a:p>
        </p:txBody>
      </p:sp>
      <p:pic>
        <p:nvPicPr>
          <p:cNvPr id="450" name="Google Shape;450;p45"/>
          <p:cNvPicPr preferRelativeResize="0"/>
          <p:nvPr/>
        </p:nvPicPr>
        <p:blipFill>
          <a:blip r:embed="rId4">
            <a:alphaModFix/>
          </a:blip>
          <a:stretch>
            <a:fillRect/>
          </a:stretch>
        </p:blipFill>
        <p:spPr>
          <a:xfrm>
            <a:off x="5104925" y="1090125"/>
            <a:ext cx="1764600" cy="284900"/>
          </a:xfrm>
          <a:prstGeom prst="rect">
            <a:avLst/>
          </a:prstGeom>
          <a:noFill/>
          <a:ln>
            <a:noFill/>
          </a:ln>
        </p:spPr>
      </p:pic>
      <p:pic>
        <p:nvPicPr>
          <p:cNvPr id="451" name="Google Shape;451;p45"/>
          <p:cNvPicPr preferRelativeResize="0"/>
          <p:nvPr/>
        </p:nvPicPr>
        <p:blipFill>
          <a:blip r:embed="rId5">
            <a:alphaModFix/>
          </a:blip>
          <a:stretch>
            <a:fillRect/>
          </a:stretch>
        </p:blipFill>
        <p:spPr>
          <a:xfrm>
            <a:off x="76200" y="457200"/>
            <a:ext cx="3424775" cy="4387246"/>
          </a:xfrm>
          <a:prstGeom prst="rect">
            <a:avLst/>
          </a:prstGeom>
          <a:noFill/>
          <a:ln>
            <a:noFill/>
          </a:ln>
        </p:spPr>
      </p:pic>
      <p:sp>
        <p:nvSpPr>
          <p:cNvPr id="452" name="Google Shape;452;p45"/>
          <p:cNvSpPr/>
          <p:nvPr/>
        </p:nvSpPr>
        <p:spPr>
          <a:xfrm>
            <a:off x="4572000" y="1775725"/>
            <a:ext cx="599700" cy="1976100"/>
          </a:xfrm>
          <a:prstGeom prst="rect">
            <a:avLst/>
          </a:prstGeom>
          <a:solidFill>
            <a:srgbClr val="721E81">
              <a:alpha val="3100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3" name="Google Shape;453;p45"/>
          <p:cNvSpPr/>
          <p:nvPr/>
        </p:nvSpPr>
        <p:spPr>
          <a:xfrm>
            <a:off x="3862050" y="1775725"/>
            <a:ext cx="599700" cy="1976100"/>
          </a:xfrm>
          <a:prstGeom prst="rect">
            <a:avLst/>
          </a:prstGeom>
          <a:solidFill>
            <a:srgbClr val="DF7775">
              <a:alpha val="360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4" name="Google Shape;454;p45"/>
          <p:cNvPicPr preferRelativeResize="0"/>
          <p:nvPr/>
        </p:nvPicPr>
        <p:blipFill>
          <a:blip r:embed="rId6">
            <a:alphaModFix/>
          </a:blip>
          <a:stretch>
            <a:fillRect/>
          </a:stretch>
        </p:blipFill>
        <p:spPr>
          <a:xfrm>
            <a:off x="3660875" y="3848200"/>
            <a:ext cx="2618198" cy="72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46"/>
          <p:cNvPicPr preferRelativeResize="0"/>
          <p:nvPr/>
        </p:nvPicPr>
        <p:blipFill>
          <a:blip r:embed="rId3">
            <a:alphaModFix/>
          </a:blip>
          <a:stretch>
            <a:fillRect/>
          </a:stretch>
        </p:blipFill>
        <p:spPr>
          <a:xfrm>
            <a:off x="4006850" y="926325"/>
            <a:ext cx="3864436" cy="959625"/>
          </a:xfrm>
          <a:prstGeom prst="rect">
            <a:avLst/>
          </a:prstGeom>
          <a:noFill/>
          <a:ln>
            <a:noFill/>
          </a:ln>
        </p:spPr>
      </p:pic>
      <p:sp>
        <p:nvSpPr>
          <p:cNvPr id="460" name="Google Shape;460;p46"/>
          <p:cNvSpPr txBox="1"/>
          <p:nvPr/>
        </p:nvSpPr>
        <p:spPr>
          <a:xfrm>
            <a:off x="4006850" y="1885950"/>
            <a:ext cx="431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Now what? Well, let’s interpret it!</a:t>
            </a:r>
            <a:endParaRPr>
              <a:solidFill>
                <a:schemeClr val="dk2"/>
              </a:solidFill>
            </a:endParaRPr>
          </a:p>
        </p:txBody>
      </p:sp>
      <p:sp>
        <p:nvSpPr>
          <p:cNvPr id="461" name="Google Shape;461;p46"/>
          <p:cNvSpPr txBox="1"/>
          <p:nvPr/>
        </p:nvSpPr>
        <p:spPr>
          <a:xfrm>
            <a:off x="4006849" y="2464125"/>
            <a:ext cx="3694500" cy="11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It’s closer to 1 than 0, so it’s pretty good.</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If the clusters were spaced further apart, then this would go up.</a:t>
            </a:r>
            <a:endParaRPr>
              <a:solidFill>
                <a:schemeClr val="dk2"/>
              </a:solidFill>
            </a:endParaRPr>
          </a:p>
        </p:txBody>
      </p:sp>
      <p:pic>
        <p:nvPicPr>
          <p:cNvPr id="462" name="Google Shape;462;p46"/>
          <p:cNvPicPr preferRelativeResize="0"/>
          <p:nvPr/>
        </p:nvPicPr>
        <p:blipFill>
          <a:blip r:embed="rId4">
            <a:alphaModFix/>
          </a:blip>
          <a:stretch>
            <a:fillRect/>
          </a:stretch>
        </p:blipFill>
        <p:spPr>
          <a:xfrm>
            <a:off x="76200" y="457200"/>
            <a:ext cx="3424775" cy="4387246"/>
          </a:xfrm>
          <a:prstGeom prst="rect">
            <a:avLst/>
          </a:prstGeom>
          <a:noFill/>
          <a:ln>
            <a:noFill/>
          </a:ln>
        </p:spPr>
      </p:pic>
      <p:sp>
        <p:nvSpPr>
          <p:cNvPr id="463" name="Google Shape;463;p46"/>
          <p:cNvSpPr/>
          <p:nvPr/>
        </p:nvSpPr>
        <p:spPr>
          <a:xfrm>
            <a:off x="6981225" y="1032575"/>
            <a:ext cx="807300" cy="560400"/>
          </a:xfrm>
          <a:prstGeom prst="rect">
            <a:avLst/>
          </a:prstGeom>
          <a:noFill/>
          <a:ln cap="flat" cmpd="sng" w="28575">
            <a:solidFill>
              <a:srgbClr val="1B91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Sooo how to choose k??</a:t>
            </a:r>
            <a:endParaRPr/>
          </a:p>
        </p:txBody>
      </p:sp>
      <p:sp>
        <p:nvSpPr>
          <p:cNvPr id="469" name="Google Shape;469;p47"/>
          <p:cNvSpPr txBox="1"/>
          <p:nvPr>
            <p:ph idx="1" type="body"/>
          </p:nvPr>
        </p:nvSpPr>
        <p:spPr>
          <a:xfrm>
            <a:off x="311700" y="1152475"/>
            <a:ext cx="3915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Well, you either have to:</a:t>
            </a:r>
            <a:endParaRPr/>
          </a:p>
          <a:p>
            <a:pPr indent="-342900" lvl="0" marL="457200" rtl="0" algn="l">
              <a:spcBef>
                <a:spcPts val="1200"/>
              </a:spcBef>
              <a:spcAft>
                <a:spcPts val="0"/>
              </a:spcAft>
              <a:buSzPts val="1800"/>
              <a:buAutoNum type="arabicPeriod"/>
            </a:pPr>
            <a:r>
              <a:rPr lang="en"/>
              <a:t>have </a:t>
            </a:r>
            <a:r>
              <a:rPr b="1" lang="en"/>
              <a:t>domain knowledge</a:t>
            </a:r>
            <a:r>
              <a:rPr lang="en"/>
              <a:t>, or </a:t>
            </a:r>
            <a:endParaRPr/>
          </a:p>
          <a:p>
            <a:pPr indent="-342900" lvl="0" marL="457200" rtl="0" algn="l">
              <a:spcBef>
                <a:spcPts val="0"/>
              </a:spcBef>
              <a:spcAft>
                <a:spcPts val="0"/>
              </a:spcAft>
              <a:buSzPts val="1800"/>
              <a:buAutoNum type="arabicPeriod"/>
            </a:pPr>
            <a:r>
              <a:rPr lang="en"/>
              <a:t>try and evaluate </a:t>
            </a:r>
            <a:r>
              <a:rPr b="1" lang="en"/>
              <a:t>different values for k</a:t>
            </a:r>
            <a:r>
              <a:rPr lang="en"/>
              <a:t> picking best silhouette coefficient </a:t>
            </a:r>
            <a:endParaRPr/>
          </a:p>
          <a:p>
            <a:pPr indent="-342900" lvl="0" marL="457200" rtl="0" algn="l">
              <a:spcBef>
                <a:spcPts val="0"/>
              </a:spcBef>
              <a:spcAft>
                <a:spcPts val="0"/>
              </a:spcAft>
              <a:buSzPts val="1800"/>
              <a:buAutoNum type="arabicPeriod"/>
            </a:pPr>
            <a:r>
              <a:rPr lang="en"/>
              <a:t>try </a:t>
            </a:r>
            <a:r>
              <a:rPr b="1" lang="en"/>
              <a:t>hierarchical </a:t>
            </a:r>
            <a:r>
              <a:rPr lang="en"/>
              <a:t>(agglomerate) clustering </a:t>
            </a:r>
            <a:endParaRPr/>
          </a:p>
        </p:txBody>
      </p:sp>
      <p:pic>
        <p:nvPicPr>
          <p:cNvPr id="470" name="Google Shape;470;p47"/>
          <p:cNvPicPr preferRelativeResize="0"/>
          <p:nvPr/>
        </p:nvPicPr>
        <p:blipFill>
          <a:blip r:embed="rId3">
            <a:alphaModFix/>
          </a:blip>
          <a:stretch>
            <a:fillRect/>
          </a:stretch>
        </p:blipFill>
        <p:spPr>
          <a:xfrm>
            <a:off x="4659550" y="1211475"/>
            <a:ext cx="4071575" cy="3123700"/>
          </a:xfrm>
          <a:prstGeom prst="rect">
            <a:avLst/>
          </a:prstGeom>
          <a:noFill/>
          <a:ln>
            <a:noFill/>
          </a:ln>
        </p:spPr>
      </p:pic>
      <p:sp>
        <p:nvSpPr>
          <p:cNvPr id="471" name="Google Shape;471;p47"/>
          <p:cNvSpPr txBox="1"/>
          <p:nvPr/>
        </p:nvSpPr>
        <p:spPr>
          <a:xfrm>
            <a:off x="5659150" y="809775"/>
            <a:ext cx="1781400" cy="3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Proxima Nova"/>
                <a:ea typeface="Proxima Nova"/>
                <a:cs typeface="Proxima Nova"/>
                <a:sym typeface="Proxima Nova"/>
              </a:rPr>
              <a:t>optimal when </a:t>
            </a:r>
            <a:r>
              <a:rPr b="1" lang="en" sz="1200">
                <a:solidFill>
                  <a:schemeClr val="dk2"/>
                </a:solidFill>
                <a:latin typeface="Proxima Nova"/>
                <a:ea typeface="Proxima Nova"/>
                <a:cs typeface="Proxima Nova"/>
                <a:sym typeface="Proxima Nova"/>
              </a:rPr>
              <a:t>k=2</a:t>
            </a:r>
            <a:endParaRPr b="1" sz="1200">
              <a:solidFill>
                <a:schemeClr val="dk2"/>
              </a:solidFill>
              <a:latin typeface="Proxima Nova"/>
              <a:ea typeface="Proxima Nova"/>
              <a:cs typeface="Proxima Nova"/>
              <a:sym typeface="Proxima Nova"/>
            </a:endParaRPr>
          </a:p>
        </p:txBody>
      </p:sp>
      <p:sp>
        <p:nvSpPr>
          <p:cNvPr id="472" name="Google Shape;472;p47"/>
          <p:cNvSpPr/>
          <p:nvPr/>
        </p:nvSpPr>
        <p:spPr>
          <a:xfrm>
            <a:off x="5273763" y="901500"/>
            <a:ext cx="439925" cy="333250"/>
          </a:xfrm>
          <a:custGeom>
            <a:rect b="b" l="l" r="r" t="t"/>
            <a:pathLst>
              <a:path extrusionOk="0" h="13330" w="17597">
                <a:moveTo>
                  <a:pt x="17598" y="4364"/>
                </a:moveTo>
                <a:cubicBezTo>
                  <a:pt x="15710" y="3656"/>
                  <a:pt x="9103" y="-354"/>
                  <a:pt x="6272" y="118"/>
                </a:cubicBezTo>
                <a:cubicBezTo>
                  <a:pt x="3441" y="590"/>
                  <a:pt x="1632" y="4994"/>
                  <a:pt x="610" y="7196"/>
                </a:cubicBezTo>
                <a:cubicBezTo>
                  <a:pt x="-412" y="9398"/>
                  <a:pt x="217" y="12308"/>
                  <a:pt x="138" y="1333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476" name="Shape 476"/>
        <p:cNvGrpSpPr/>
        <p:nvPr/>
      </p:nvGrpSpPr>
      <p:grpSpPr>
        <a:xfrm>
          <a:off x="0" y="0"/>
          <a:ext cx="0" cy="0"/>
          <a:chOff x="0" y="0"/>
          <a:chExt cx="0" cy="0"/>
        </a:xfrm>
      </p:grpSpPr>
      <p:sp>
        <p:nvSpPr>
          <p:cNvPr id="477" name="Google Shape;477;p4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
        <p:nvSpPr>
          <p:cNvPr id="478" name="Google Shape;478;p48"/>
          <p:cNvSpPr txBox="1"/>
          <p:nvPr/>
        </p:nvSpPr>
        <p:spPr>
          <a:xfrm>
            <a:off x="2419125" y="825225"/>
            <a:ext cx="41418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a:solidFill>
                  <a:schemeClr val="dk2"/>
                </a:solidFill>
              </a:rPr>
              <a:t>this workbook contains the code to generate the examples, and can be </a:t>
            </a:r>
            <a:r>
              <a:rPr lang="en">
                <a:solidFill>
                  <a:schemeClr val="dk2"/>
                </a:solidFill>
              </a:rPr>
              <a:t>referenced if you choose to do clustering in your final project.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2" name="Shape 482"/>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83" name="Google Shape;483;p49"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84" name="Google Shape;484;p49"/>
          <p:cNvSpPr/>
          <p:nvPr/>
        </p:nvSpPr>
        <p:spPr>
          <a:xfrm>
            <a:off x="2293625" y="967750"/>
            <a:ext cx="4953000" cy="2689800"/>
          </a:xfrm>
          <a:prstGeom prst="roundRect">
            <a:avLst>
              <a:gd fmla="val 16667" name="adj"/>
            </a:avLst>
          </a:prstGeom>
          <a:solidFill>
            <a:srgbClr val="BE86B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Work Time</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None/>
            </a:pPr>
            <a:r>
              <a:rPr b="1" lang="en" sz="2800">
                <a:solidFill>
                  <a:srgbClr val="7F1E15"/>
                </a:solidFill>
              </a:rPr>
              <a:t>HW3 Q#2</a:t>
            </a:r>
            <a:endParaRPr b="1" sz="2800">
              <a:solidFill>
                <a:srgbClr val="7F1E15"/>
              </a:solidFill>
            </a:endParaRPr>
          </a:p>
          <a:p>
            <a:pPr indent="0" lvl="0" marL="0" rtl="0" algn="ctr">
              <a:spcBef>
                <a:spcPts val="0"/>
              </a:spcBef>
              <a:spcAft>
                <a:spcPts val="0"/>
              </a:spcAft>
              <a:buClr>
                <a:schemeClr val="dk1"/>
              </a:buClr>
              <a:buSzPts val="1100"/>
              <a:buFont typeface="Arial"/>
              <a:buNone/>
            </a:pPr>
            <a:r>
              <a:t/>
            </a:r>
            <a:endParaRPr b="1" sz="2800">
              <a:solidFill>
                <a:srgbClr val="7F1E15"/>
              </a:solidFill>
            </a:endParaRPr>
          </a:p>
          <a:p>
            <a:pPr indent="0" lvl="0" marL="0" rtl="0" algn="ctr">
              <a:spcBef>
                <a:spcPts val="0"/>
              </a:spcBef>
              <a:spcAft>
                <a:spcPts val="0"/>
              </a:spcAft>
              <a:buClr>
                <a:schemeClr val="dk1"/>
              </a:buClr>
              <a:buSzPts val="1100"/>
              <a:buFont typeface="Arial"/>
              <a:buNone/>
            </a:pPr>
            <a:r>
              <a:rPr lang="en">
                <a:solidFill>
                  <a:schemeClr val="dk1"/>
                </a:solidFill>
              </a:rPr>
              <a:t>Let’s get a start on some more homework questions. Grab a partner to get started.</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rPr lang="en" u="sng">
                <a:solidFill>
                  <a:schemeClr val="hlink"/>
                </a:solidFill>
                <a:hlinkClick r:id="rId6"/>
              </a:rPr>
              <a:t>View on our website</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89" name="Google Shape;489;p50"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90" name="Google Shape;490;p50"/>
          <p:cNvSpPr/>
          <p:nvPr/>
        </p:nvSpPr>
        <p:spPr>
          <a:xfrm>
            <a:off x="2293625" y="967750"/>
            <a:ext cx="4953000" cy="2689800"/>
          </a:xfrm>
          <a:prstGeom prst="roundRect">
            <a:avLst>
              <a:gd fmla="val 16667" name="adj"/>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800">
                <a:solidFill>
                  <a:srgbClr val="EAD1DC"/>
                </a:solidFill>
              </a:rPr>
              <a:t>Quiz EVL</a:t>
            </a:r>
            <a:endParaRPr b="1" sz="2800">
              <a:solidFill>
                <a:srgbClr val="EAD1DC"/>
              </a:solidFill>
            </a:endParaRPr>
          </a:p>
          <a:p>
            <a:pPr indent="0" lvl="0" marL="0" rtl="0" algn="ctr">
              <a:spcBef>
                <a:spcPts val="0"/>
              </a:spcBef>
              <a:spcAft>
                <a:spcPts val="0"/>
              </a:spcAft>
              <a:buClr>
                <a:schemeClr val="dk1"/>
              </a:buClr>
              <a:buSzPts val="1100"/>
              <a:buFont typeface="Arial"/>
              <a:buNone/>
            </a:pPr>
            <a:r>
              <a:t/>
            </a:r>
            <a:endParaRPr b="1" sz="2800">
              <a:solidFill>
                <a:srgbClr val="7F1E15"/>
              </a:solidFill>
            </a:endParaRPr>
          </a:p>
          <a:p>
            <a:pPr indent="0" lvl="0" marL="0" rtl="0" algn="ctr">
              <a:spcBef>
                <a:spcPts val="0"/>
              </a:spcBef>
              <a:spcAft>
                <a:spcPts val="0"/>
              </a:spcAft>
              <a:buClr>
                <a:schemeClr val="dk1"/>
              </a:buClr>
              <a:buSzPts val="1100"/>
              <a:buFont typeface="Arial"/>
              <a:buNone/>
            </a:pPr>
            <a:r>
              <a:rPr lang="en">
                <a:solidFill>
                  <a:schemeClr val="dk1"/>
                </a:solidFill>
              </a:rPr>
              <a:t>We’ll continue content at 1:50. Spend ~5 minutes on each page, adding explanation where needed.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4" name="Shape 494"/>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95" name="Google Shape;495;p51"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496" name="Google Shape;496;p51"/>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4422">
                <a:solidFill>
                  <a:schemeClr val="lt1"/>
                </a:solidFill>
                <a:latin typeface="Staatliches"/>
                <a:ea typeface="Staatliches"/>
                <a:cs typeface="Staatliches"/>
                <a:sym typeface="Staatliches"/>
              </a:rPr>
              <a:t>cls</a:t>
            </a:r>
            <a:r>
              <a:rPr b="1" lang="en" sz="4422">
                <a:solidFill>
                  <a:schemeClr val="lt1"/>
                </a:solidFill>
                <a:latin typeface="Source Code Pro"/>
                <a:ea typeface="Source Code Pro"/>
                <a:cs typeface="Source Code Pro"/>
                <a:sym typeface="Source Code Pro"/>
              </a:rPr>
              <a:t>3</a:t>
            </a:r>
            <a:r>
              <a:rPr lang="en" sz="4422">
                <a:solidFill>
                  <a:schemeClr val="dk1"/>
                </a:solidFill>
                <a:latin typeface="Staatliches"/>
                <a:ea typeface="Staatliches"/>
                <a:cs typeface="Staatliches"/>
                <a:sym typeface="Staatliches"/>
              </a:rPr>
              <a:t>: clustering</a:t>
            </a:r>
            <a:r>
              <a:rPr lang="en" sz="3222">
                <a:solidFill>
                  <a:schemeClr val="dk1"/>
                </a:solidFill>
                <a:latin typeface="Staatliches"/>
                <a:ea typeface="Staatliches"/>
                <a:cs typeface="Staatliches"/>
                <a:sym typeface="Staatliches"/>
              </a:rPr>
              <a:t> </a:t>
            </a:r>
            <a:endParaRPr sz="32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example workflow</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2"/>
          <p:cNvSpPr/>
          <p:nvPr/>
        </p:nvSpPr>
        <p:spPr>
          <a:xfrm>
            <a:off x="3565625" y="1252025"/>
            <a:ext cx="1767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Need to reduce dimensionality?</a:t>
            </a:r>
            <a:endParaRPr>
              <a:latin typeface="Proxima Nova"/>
              <a:ea typeface="Proxima Nova"/>
              <a:cs typeface="Proxima Nova"/>
              <a:sym typeface="Proxima Nova"/>
            </a:endParaRPr>
          </a:p>
        </p:txBody>
      </p:sp>
      <p:sp>
        <p:nvSpPr>
          <p:cNvPr id="502" name="Google Shape;502;p52"/>
          <p:cNvSpPr/>
          <p:nvPr/>
        </p:nvSpPr>
        <p:spPr>
          <a:xfrm>
            <a:off x="3565625" y="3702875"/>
            <a:ext cx="1767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Predicting a Numeric Value?</a:t>
            </a:r>
            <a:endParaRPr>
              <a:latin typeface="Proxima Nova"/>
              <a:ea typeface="Proxima Nova"/>
              <a:cs typeface="Proxima Nova"/>
              <a:sym typeface="Proxima Nova"/>
            </a:endParaRPr>
          </a:p>
        </p:txBody>
      </p:sp>
      <p:sp>
        <p:nvSpPr>
          <p:cNvPr id="503" name="Google Shape;503;p52"/>
          <p:cNvSpPr/>
          <p:nvPr/>
        </p:nvSpPr>
        <p:spPr>
          <a:xfrm>
            <a:off x="3565625" y="2553650"/>
            <a:ext cx="1767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roxima Nova"/>
                <a:ea typeface="Proxima Nova"/>
                <a:cs typeface="Proxima Nova"/>
                <a:sym typeface="Proxima Nova"/>
              </a:rPr>
              <a:t>Has a Target Variable?</a:t>
            </a:r>
            <a:endParaRPr>
              <a:latin typeface="Proxima Nova"/>
              <a:ea typeface="Proxima Nova"/>
              <a:cs typeface="Proxima Nova"/>
              <a:sym typeface="Proxima Nova"/>
            </a:endParaRPr>
          </a:p>
        </p:txBody>
      </p:sp>
      <p:sp>
        <p:nvSpPr>
          <p:cNvPr id="504" name="Google Shape;504;p52"/>
          <p:cNvSpPr/>
          <p:nvPr/>
        </p:nvSpPr>
        <p:spPr>
          <a:xfrm>
            <a:off x="457525" y="1861625"/>
            <a:ext cx="2166300" cy="1091100"/>
          </a:xfrm>
          <a:prstGeom prst="rect">
            <a:avLst/>
          </a:prstGeom>
          <a:solidFill>
            <a:srgbClr val="783F0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Unsupervised</a:t>
            </a:r>
            <a:r>
              <a:rPr lang="en" sz="1600">
                <a:latin typeface="Proxima Nova"/>
                <a:ea typeface="Proxima Nova"/>
                <a:cs typeface="Proxima Nova"/>
                <a:sym typeface="Proxima Nova"/>
              </a:rPr>
              <a:t>: Clustering</a:t>
            </a:r>
            <a:endParaRPr sz="1600">
              <a:latin typeface="Proxima Nova"/>
              <a:ea typeface="Proxima Nova"/>
              <a:cs typeface="Proxima Nova"/>
              <a:sym typeface="Proxima Nova"/>
            </a:endParaRPr>
          </a:p>
        </p:txBody>
      </p:sp>
      <p:sp>
        <p:nvSpPr>
          <p:cNvPr id="505" name="Google Shape;505;p52"/>
          <p:cNvSpPr/>
          <p:nvPr/>
        </p:nvSpPr>
        <p:spPr>
          <a:xfrm>
            <a:off x="6046425" y="1090850"/>
            <a:ext cx="1941900" cy="1091100"/>
          </a:xfrm>
          <a:prstGeom prst="rect">
            <a:avLst/>
          </a:prstGeom>
          <a:solidFill>
            <a:srgbClr val="783F0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Unsupervised</a:t>
            </a:r>
            <a:r>
              <a:rPr lang="en" sz="1600">
                <a:latin typeface="Proxima Nova"/>
                <a:ea typeface="Proxima Nova"/>
                <a:cs typeface="Proxima Nova"/>
                <a:sym typeface="Proxima Nova"/>
              </a:rPr>
              <a:t>: Dimensionality Reduction</a:t>
            </a:r>
            <a:endParaRPr sz="1600">
              <a:latin typeface="Proxima Nova"/>
              <a:ea typeface="Proxima Nova"/>
              <a:cs typeface="Proxima Nova"/>
              <a:sym typeface="Proxima Nova"/>
            </a:endParaRPr>
          </a:p>
        </p:txBody>
      </p:sp>
      <p:sp>
        <p:nvSpPr>
          <p:cNvPr id="506" name="Google Shape;506;p52"/>
          <p:cNvSpPr/>
          <p:nvPr/>
        </p:nvSpPr>
        <p:spPr>
          <a:xfrm>
            <a:off x="457525" y="3474275"/>
            <a:ext cx="2166300" cy="948000"/>
          </a:xfrm>
          <a:prstGeom prst="rect">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Supervised</a:t>
            </a:r>
            <a:r>
              <a:rPr lang="en" sz="1600">
                <a:latin typeface="Proxima Nova"/>
                <a:ea typeface="Proxima Nova"/>
                <a:cs typeface="Proxima Nova"/>
                <a:sym typeface="Proxima Nova"/>
              </a:rPr>
              <a:t>: Classification</a:t>
            </a:r>
            <a:endParaRPr sz="1600">
              <a:latin typeface="Proxima Nova"/>
              <a:ea typeface="Proxima Nova"/>
              <a:cs typeface="Proxima Nova"/>
              <a:sym typeface="Proxima Nova"/>
            </a:endParaRPr>
          </a:p>
        </p:txBody>
      </p:sp>
      <p:sp>
        <p:nvSpPr>
          <p:cNvPr id="507" name="Google Shape;507;p52"/>
          <p:cNvSpPr/>
          <p:nvPr/>
        </p:nvSpPr>
        <p:spPr>
          <a:xfrm>
            <a:off x="6275025" y="3474275"/>
            <a:ext cx="1848000" cy="948000"/>
          </a:xfrm>
          <a:prstGeom prst="rect">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Supervised</a:t>
            </a:r>
            <a:r>
              <a:rPr lang="en" sz="1600">
                <a:latin typeface="Proxima Nova"/>
                <a:ea typeface="Proxima Nova"/>
                <a:cs typeface="Proxima Nova"/>
                <a:sym typeface="Proxima Nova"/>
              </a:rPr>
              <a:t>: Regression</a:t>
            </a:r>
            <a:endParaRPr sz="1600">
              <a:latin typeface="Proxima Nova"/>
              <a:ea typeface="Proxima Nova"/>
              <a:cs typeface="Proxima Nova"/>
              <a:sym typeface="Proxima Nova"/>
            </a:endParaRPr>
          </a:p>
        </p:txBody>
      </p:sp>
      <p:cxnSp>
        <p:nvCxnSpPr>
          <p:cNvPr id="508" name="Google Shape;508;p52"/>
          <p:cNvCxnSpPr>
            <a:stCxn id="501" idx="3"/>
            <a:endCxn id="505" idx="1"/>
          </p:cNvCxnSpPr>
          <p:nvPr/>
        </p:nvCxnSpPr>
        <p:spPr>
          <a:xfrm>
            <a:off x="5333225" y="1538375"/>
            <a:ext cx="713100" cy="98100"/>
          </a:xfrm>
          <a:prstGeom prst="straightConnector1">
            <a:avLst/>
          </a:prstGeom>
          <a:noFill/>
          <a:ln cap="flat" cmpd="sng" w="9525">
            <a:solidFill>
              <a:schemeClr val="dk2"/>
            </a:solidFill>
            <a:prstDash val="solid"/>
            <a:round/>
            <a:headEnd len="med" w="med" type="none"/>
            <a:tailEnd len="med" w="med" type="triangle"/>
          </a:ln>
        </p:spPr>
      </p:cxnSp>
      <p:cxnSp>
        <p:nvCxnSpPr>
          <p:cNvPr id="509" name="Google Shape;509;p52"/>
          <p:cNvCxnSpPr>
            <a:stCxn id="501" idx="2"/>
            <a:endCxn id="503" idx="0"/>
          </p:cNvCxnSpPr>
          <p:nvPr/>
        </p:nvCxnSpPr>
        <p:spPr>
          <a:xfrm>
            <a:off x="4449425" y="1824725"/>
            <a:ext cx="0" cy="729000"/>
          </a:xfrm>
          <a:prstGeom prst="straightConnector1">
            <a:avLst/>
          </a:prstGeom>
          <a:noFill/>
          <a:ln cap="flat" cmpd="sng" w="9525">
            <a:solidFill>
              <a:schemeClr val="dk2"/>
            </a:solidFill>
            <a:prstDash val="solid"/>
            <a:round/>
            <a:headEnd len="med" w="med" type="none"/>
            <a:tailEnd len="med" w="med" type="triangle"/>
          </a:ln>
        </p:spPr>
      </p:cxnSp>
      <p:cxnSp>
        <p:nvCxnSpPr>
          <p:cNvPr id="510" name="Google Shape;510;p52"/>
          <p:cNvCxnSpPr>
            <a:stCxn id="503" idx="1"/>
            <a:endCxn id="504" idx="3"/>
          </p:cNvCxnSpPr>
          <p:nvPr/>
        </p:nvCxnSpPr>
        <p:spPr>
          <a:xfrm rot="10800000">
            <a:off x="2623925" y="2407100"/>
            <a:ext cx="941700" cy="432900"/>
          </a:xfrm>
          <a:prstGeom prst="straightConnector1">
            <a:avLst/>
          </a:prstGeom>
          <a:noFill/>
          <a:ln cap="flat" cmpd="sng" w="9525">
            <a:solidFill>
              <a:schemeClr val="dk2"/>
            </a:solidFill>
            <a:prstDash val="solid"/>
            <a:round/>
            <a:headEnd len="med" w="med" type="none"/>
            <a:tailEnd len="med" w="med" type="triangle"/>
          </a:ln>
        </p:spPr>
      </p:cxnSp>
      <p:cxnSp>
        <p:nvCxnSpPr>
          <p:cNvPr id="511" name="Google Shape;511;p52"/>
          <p:cNvCxnSpPr>
            <a:stCxn id="503" idx="0"/>
            <a:endCxn id="505" idx="2"/>
          </p:cNvCxnSpPr>
          <p:nvPr/>
        </p:nvCxnSpPr>
        <p:spPr>
          <a:xfrm flipH="1" rot="10800000">
            <a:off x="4449425" y="2181950"/>
            <a:ext cx="2568000" cy="371700"/>
          </a:xfrm>
          <a:prstGeom prst="straightConnector1">
            <a:avLst/>
          </a:prstGeom>
          <a:noFill/>
          <a:ln cap="flat" cmpd="sng" w="9525">
            <a:solidFill>
              <a:schemeClr val="dk2"/>
            </a:solidFill>
            <a:prstDash val="solid"/>
            <a:round/>
            <a:headEnd len="med" w="med" type="stealth"/>
            <a:tailEnd len="med" w="med" type="none"/>
          </a:ln>
        </p:spPr>
      </p:cxnSp>
      <p:cxnSp>
        <p:nvCxnSpPr>
          <p:cNvPr id="512" name="Google Shape;512;p52"/>
          <p:cNvCxnSpPr>
            <a:stCxn id="502" idx="1"/>
            <a:endCxn id="506" idx="3"/>
          </p:cNvCxnSpPr>
          <p:nvPr/>
        </p:nvCxnSpPr>
        <p:spPr>
          <a:xfrm rot="10800000">
            <a:off x="2623925" y="3948425"/>
            <a:ext cx="941700" cy="40800"/>
          </a:xfrm>
          <a:prstGeom prst="straightConnector1">
            <a:avLst/>
          </a:prstGeom>
          <a:noFill/>
          <a:ln cap="flat" cmpd="sng" w="9525">
            <a:solidFill>
              <a:schemeClr val="dk2"/>
            </a:solidFill>
            <a:prstDash val="solid"/>
            <a:round/>
            <a:headEnd len="med" w="med" type="none"/>
            <a:tailEnd len="med" w="med" type="triangle"/>
          </a:ln>
        </p:spPr>
      </p:cxnSp>
      <p:cxnSp>
        <p:nvCxnSpPr>
          <p:cNvPr id="513" name="Google Shape;513;p52"/>
          <p:cNvCxnSpPr>
            <a:stCxn id="502" idx="3"/>
            <a:endCxn id="507" idx="1"/>
          </p:cNvCxnSpPr>
          <p:nvPr/>
        </p:nvCxnSpPr>
        <p:spPr>
          <a:xfrm flipH="1" rot="10800000">
            <a:off x="5333225" y="3948425"/>
            <a:ext cx="941700" cy="40800"/>
          </a:xfrm>
          <a:prstGeom prst="straightConnector1">
            <a:avLst/>
          </a:prstGeom>
          <a:noFill/>
          <a:ln cap="flat" cmpd="sng" w="9525">
            <a:solidFill>
              <a:schemeClr val="dk2"/>
            </a:solidFill>
            <a:prstDash val="solid"/>
            <a:round/>
            <a:headEnd len="med" w="med" type="none"/>
            <a:tailEnd len="med" w="med" type="triangle"/>
          </a:ln>
        </p:spPr>
      </p:cxnSp>
      <p:cxnSp>
        <p:nvCxnSpPr>
          <p:cNvPr id="514" name="Google Shape;514;p52"/>
          <p:cNvCxnSpPr>
            <a:stCxn id="503" idx="2"/>
            <a:endCxn id="502" idx="0"/>
          </p:cNvCxnSpPr>
          <p:nvPr/>
        </p:nvCxnSpPr>
        <p:spPr>
          <a:xfrm>
            <a:off x="4449425" y="3126350"/>
            <a:ext cx="0" cy="576600"/>
          </a:xfrm>
          <a:prstGeom prst="straightConnector1">
            <a:avLst/>
          </a:prstGeom>
          <a:noFill/>
          <a:ln cap="flat" cmpd="sng" w="9525">
            <a:solidFill>
              <a:schemeClr val="dk2"/>
            </a:solidFill>
            <a:prstDash val="solid"/>
            <a:round/>
            <a:headEnd len="med" w="med" type="none"/>
            <a:tailEnd len="med" w="med" type="triangle"/>
          </a:ln>
        </p:spPr>
      </p:cxnSp>
      <p:sp>
        <p:nvSpPr>
          <p:cNvPr id="515" name="Google Shape;515;p52"/>
          <p:cNvSpPr txBox="1"/>
          <p:nvPr/>
        </p:nvSpPr>
        <p:spPr>
          <a:xfrm>
            <a:off x="5510875" y="1252025"/>
            <a:ext cx="294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Y</a:t>
            </a:r>
            <a:endParaRPr sz="1800">
              <a:solidFill>
                <a:schemeClr val="dk2"/>
              </a:solidFill>
              <a:latin typeface="Proxima Nova"/>
              <a:ea typeface="Proxima Nova"/>
              <a:cs typeface="Proxima Nova"/>
              <a:sym typeface="Proxima Nova"/>
            </a:endParaRPr>
          </a:p>
        </p:txBody>
      </p:sp>
      <p:sp>
        <p:nvSpPr>
          <p:cNvPr id="516" name="Google Shape;516;p52"/>
          <p:cNvSpPr txBox="1"/>
          <p:nvPr/>
        </p:nvSpPr>
        <p:spPr>
          <a:xfrm>
            <a:off x="4419600" y="3200713"/>
            <a:ext cx="427200" cy="2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Y</a:t>
            </a:r>
            <a:endParaRPr sz="1800">
              <a:solidFill>
                <a:schemeClr val="dk2"/>
              </a:solidFill>
              <a:latin typeface="Proxima Nova"/>
              <a:ea typeface="Proxima Nova"/>
              <a:cs typeface="Proxima Nova"/>
              <a:sym typeface="Proxima Nova"/>
            </a:endParaRPr>
          </a:p>
        </p:txBody>
      </p:sp>
      <p:sp>
        <p:nvSpPr>
          <p:cNvPr id="517" name="Google Shape;517;p52"/>
          <p:cNvSpPr txBox="1"/>
          <p:nvPr/>
        </p:nvSpPr>
        <p:spPr>
          <a:xfrm>
            <a:off x="5611975" y="3596825"/>
            <a:ext cx="231900" cy="2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Y</a:t>
            </a:r>
            <a:endParaRPr sz="1800">
              <a:solidFill>
                <a:schemeClr val="dk2"/>
              </a:solidFill>
              <a:latin typeface="Proxima Nova"/>
              <a:ea typeface="Proxima Nova"/>
              <a:cs typeface="Proxima Nova"/>
              <a:sym typeface="Proxima Nova"/>
            </a:endParaRPr>
          </a:p>
        </p:txBody>
      </p:sp>
      <p:sp>
        <p:nvSpPr>
          <p:cNvPr id="518" name="Google Shape;518;p52"/>
          <p:cNvSpPr txBox="1"/>
          <p:nvPr/>
        </p:nvSpPr>
        <p:spPr>
          <a:xfrm>
            <a:off x="4409550" y="1923375"/>
            <a:ext cx="294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a:t>
            </a:r>
            <a:endParaRPr sz="1800">
              <a:solidFill>
                <a:schemeClr val="dk2"/>
              </a:solidFill>
              <a:latin typeface="Proxima Nova"/>
              <a:ea typeface="Proxima Nova"/>
              <a:cs typeface="Proxima Nova"/>
              <a:sym typeface="Proxima Nova"/>
            </a:endParaRPr>
          </a:p>
        </p:txBody>
      </p:sp>
      <p:sp>
        <p:nvSpPr>
          <p:cNvPr id="519" name="Google Shape;519;p52"/>
          <p:cNvSpPr txBox="1"/>
          <p:nvPr/>
        </p:nvSpPr>
        <p:spPr>
          <a:xfrm>
            <a:off x="2935475" y="2221325"/>
            <a:ext cx="294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a:t>
            </a:r>
            <a:endParaRPr sz="1800">
              <a:solidFill>
                <a:schemeClr val="dk2"/>
              </a:solidFill>
              <a:latin typeface="Proxima Nova"/>
              <a:ea typeface="Proxima Nova"/>
              <a:cs typeface="Proxima Nova"/>
              <a:sym typeface="Proxima Nova"/>
            </a:endParaRPr>
          </a:p>
        </p:txBody>
      </p:sp>
      <p:sp>
        <p:nvSpPr>
          <p:cNvPr id="520" name="Google Shape;520;p52"/>
          <p:cNvSpPr txBox="1"/>
          <p:nvPr/>
        </p:nvSpPr>
        <p:spPr>
          <a:xfrm>
            <a:off x="2947275" y="3624875"/>
            <a:ext cx="294900" cy="37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a:t>
            </a:r>
            <a:endParaRPr sz="1800">
              <a:solidFill>
                <a:schemeClr val="dk2"/>
              </a:solidFill>
              <a:latin typeface="Proxima Nova"/>
              <a:ea typeface="Proxima Nova"/>
              <a:cs typeface="Proxima Nova"/>
              <a:sym typeface="Proxima Nova"/>
            </a:endParaRPr>
          </a:p>
        </p:txBody>
      </p:sp>
      <p:sp>
        <p:nvSpPr>
          <p:cNvPr id="521" name="Google Shape;521;p52"/>
          <p:cNvSpPr txBox="1"/>
          <p:nvPr>
            <p:ph type="title"/>
          </p:nvPr>
        </p:nvSpPr>
        <p:spPr>
          <a:xfrm>
            <a:off x="449100" y="445025"/>
            <a:ext cx="481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520">
                <a:latin typeface="Staatliches"/>
                <a:ea typeface="Staatliches"/>
                <a:cs typeface="Staatliches"/>
                <a:sym typeface="Staatliches"/>
              </a:rPr>
              <a:t>Model Selection Flowchart</a:t>
            </a:r>
            <a:endParaRPr sz="3520">
              <a:latin typeface="Staatliches"/>
              <a:ea typeface="Staatliches"/>
              <a:cs typeface="Staatliches"/>
              <a:sym typeface="Staatliche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p:nvPr/>
        </p:nvSpPr>
        <p:spPr>
          <a:xfrm>
            <a:off x="5555750" y="2723075"/>
            <a:ext cx="1088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527" name="Google Shape;527;p53"/>
          <p:cNvSpPr/>
          <p:nvPr/>
        </p:nvSpPr>
        <p:spPr>
          <a:xfrm>
            <a:off x="5603100" y="4227900"/>
            <a:ext cx="1040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528" name="Google Shape;528;p53"/>
          <p:cNvSpPr/>
          <p:nvPr/>
        </p:nvSpPr>
        <p:spPr>
          <a:xfrm>
            <a:off x="5566500" y="3531977"/>
            <a:ext cx="1040100" cy="38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sp>
        <p:nvSpPr>
          <p:cNvPr id="529" name="Google Shape;529;p53"/>
          <p:cNvSpPr/>
          <p:nvPr/>
        </p:nvSpPr>
        <p:spPr>
          <a:xfrm>
            <a:off x="448950" y="1082625"/>
            <a:ext cx="4818300" cy="2656800"/>
          </a:xfrm>
          <a:prstGeom prst="rect">
            <a:avLst/>
          </a:prstGeom>
          <a:solidFill>
            <a:srgbClr val="783F04"/>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Unsupervised</a:t>
            </a:r>
            <a:r>
              <a:rPr lang="en" sz="1600">
                <a:latin typeface="Proxima Nova"/>
                <a:ea typeface="Proxima Nova"/>
                <a:cs typeface="Proxima Nova"/>
                <a:sym typeface="Proxima Nova"/>
              </a:rPr>
              <a:t>: Clustering</a:t>
            </a:r>
            <a:endParaRPr sz="1600">
              <a:latin typeface="Proxima Nova"/>
              <a:ea typeface="Proxima Nova"/>
              <a:cs typeface="Proxima Nova"/>
              <a:sym typeface="Proxima Nova"/>
            </a:endParaRPr>
          </a:p>
        </p:txBody>
      </p:sp>
      <p:sp>
        <p:nvSpPr>
          <p:cNvPr id="530" name="Google Shape;530;p53"/>
          <p:cNvSpPr/>
          <p:nvPr/>
        </p:nvSpPr>
        <p:spPr>
          <a:xfrm>
            <a:off x="6937125" y="2720200"/>
            <a:ext cx="1040100" cy="6297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p:txBody>
      </p:sp>
      <p:sp>
        <p:nvSpPr>
          <p:cNvPr id="531" name="Google Shape;531;p53"/>
          <p:cNvSpPr/>
          <p:nvPr/>
        </p:nvSpPr>
        <p:spPr>
          <a:xfrm>
            <a:off x="4263475" y="4095950"/>
            <a:ext cx="1088100" cy="547200"/>
          </a:xfrm>
          <a:prstGeom prst="rect">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p:txBody>
      </p:sp>
      <p:sp>
        <p:nvSpPr>
          <p:cNvPr id="532" name="Google Shape;532;p53"/>
          <p:cNvSpPr/>
          <p:nvPr/>
        </p:nvSpPr>
        <p:spPr>
          <a:xfrm>
            <a:off x="7043050" y="4095950"/>
            <a:ext cx="934200" cy="547200"/>
          </a:xfrm>
          <a:prstGeom prst="rect">
            <a:avLst/>
          </a:prstGeom>
          <a:solidFill>
            <a:srgbClr val="949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p:txBody>
      </p:sp>
      <p:cxnSp>
        <p:nvCxnSpPr>
          <p:cNvPr id="533" name="Google Shape;533;p53"/>
          <p:cNvCxnSpPr>
            <a:stCxn id="526" idx="3"/>
            <a:endCxn id="530" idx="1"/>
          </p:cNvCxnSpPr>
          <p:nvPr/>
        </p:nvCxnSpPr>
        <p:spPr>
          <a:xfrm>
            <a:off x="6643850" y="2933525"/>
            <a:ext cx="293400" cy="101400"/>
          </a:xfrm>
          <a:prstGeom prst="straightConnector1">
            <a:avLst/>
          </a:prstGeom>
          <a:noFill/>
          <a:ln cap="flat" cmpd="sng" w="9525">
            <a:solidFill>
              <a:schemeClr val="dk1"/>
            </a:solidFill>
            <a:prstDash val="solid"/>
            <a:round/>
            <a:headEnd len="med" w="med" type="none"/>
            <a:tailEnd len="med" w="med" type="triangle"/>
          </a:ln>
        </p:spPr>
      </p:cxnSp>
      <p:cxnSp>
        <p:nvCxnSpPr>
          <p:cNvPr id="534" name="Google Shape;534;p53"/>
          <p:cNvCxnSpPr>
            <a:stCxn id="526" idx="2"/>
            <a:endCxn id="528" idx="0"/>
          </p:cNvCxnSpPr>
          <p:nvPr/>
        </p:nvCxnSpPr>
        <p:spPr>
          <a:xfrm flipH="1">
            <a:off x="6086600" y="3143975"/>
            <a:ext cx="13200" cy="387900"/>
          </a:xfrm>
          <a:prstGeom prst="straightConnector1">
            <a:avLst/>
          </a:prstGeom>
          <a:noFill/>
          <a:ln cap="flat" cmpd="sng" w="9525">
            <a:solidFill>
              <a:schemeClr val="dk1"/>
            </a:solidFill>
            <a:prstDash val="solid"/>
            <a:round/>
            <a:headEnd len="med" w="med" type="none"/>
            <a:tailEnd len="med" w="med" type="triangle"/>
          </a:ln>
        </p:spPr>
      </p:cxnSp>
      <p:cxnSp>
        <p:nvCxnSpPr>
          <p:cNvPr id="535" name="Google Shape;535;p53"/>
          <p:cNvCxnSpPr>
            <a:stCxn id="528" idx="1"/>
            <a:endCxn id="536" idx="3"/>
          </p:cNvCxnSpPr>
          <p:nvPr/>
        </p:nvCxnSpPr>
        <p:spPr>
          <a:xfrm rot="10800000">
            <a:off x="4969200" y="2984327"/>
            <a:ext cx="597300" cy="741600"/>
          </a:xfrm>
          <a:prstGeom prst="straightConnector1">
            <a:avLst/>
          </a:prstGeom>
          <a:noFill/>
          <a:ln cap="flat" cmpd="sng" w="9525">
            <a:solidFill>
              <a:schemeClr val="dk1"/>
            </a:solidFill>
            <a:prstDash val="solid"/>
            <a:round/>
            <a:headEnd len="med" w="med" type="none"/>
            <a:tailEnd len="med" w="med" type="triangle"/>
          </a:ln>
        </p:spPr>
      </p:cxnSp>
      <p:cxnSp>
        <p:nvCxnSpPr>
          <p:cNvPr id="537" name="Google Shape;537;p53"/>
          <p:cNvCxnSpPr>
            <a:stCxn id="528" idx="0"/>
            <a:endCxn id="530" idx="2"/>
          </p:cNvCxnSpPr>
          <p:nvPr/>
        </p:nvCxnSpPr>
        <p:spPr>
          <a:xfrm flipH="1" rot="10800000">
            <a:off x="6086550" y="3349877"/>
            <a:ext cx="1370700" cy="182100"/>
          </a:xfrm>
          <a:prstGeom prst="straightConnector1">
            <a:avLst/>
          </a:prstGeom>
          <a:noFill/>
          <a:ln cap="flat" cmpd="sng" w="9525">
            <a:solidFill>
              <a:schemeClr val="dk1"/>
            </a:solidFill>
            <a:prstDash val="solid"/>
            <a:round/>
            <a:headEnd len="med" w="med" type="stealth"/>
            <a:tailEnd len="med" w="med" type="none"/>
          </a:ln>
        </p:spPr>
      </p:cxnSp>
      <p:cxnSp>
        <p:nvCxnSpPr>
          <p:cNvPr id="538" name="Google Shape;538;p53"/>
          <p:cNvCxnSpPr>
            <a:stCxn id="527" idx="1"/>
            <a:endCxn id="531" idx="3"/>
          </p:cNvCxnSpPr>
          <p:nvPr/>
        </p:nvCxnSpPr>
        <p:spPr>
          <a:xfrm rot="10800000">
            <a:off x="5351700" y="4369650"/>
            <a:ext cx="251400" cy="68700"/>
          </a:xfrm>
          <a:prstGeom prst="straightConnector1">
            <a:avLst/>
          </a:prstGeom>
          <a:noFill/>
          <a:ln cap="flat" cmpd="sng" w="9525">
            <a:solidFill>
              <a:schemeClr val="dk1"/>
            </a:solidFill>
            <a:prstDash val="solid"/>
            <a:round/>
            <a:headEnd len="med" w="med" type="none"/>
            <a:tailEnd len="med" w="med" type="triangle"/>
          </a:ln>
        </p:spPr>
      </p:cxnSp>
      <p:cxnSp>
        <p:nvCxnSpPr>
          <p:cNvPr id="539" name="Google Shape;539;p53"/>
          <p:cNvCxnSpPr>
            <a:stCxn id="527" idx="3"/>
            <a:endCxn id="532" idx="1"/>
          </p:cNvCxnSpPr>
          <p:nvPr/>
        </p:nvCxnSpPr>
        <p:spPr>
          <a:xfrm flipH="1" rot="10800000">
            <a:off x="6643200" y="4369650"/>
            <a:ext cx="399900" cy="68700"/>
          </a:xfrm>
          <a:prstGeom prst="straightConnector1">
            <a:avLst/>
          </a:prstGeom>
          <a:noFill/>
          <a:ln cap="flat" cmpd="sng" w="9525">
            <a:solidFill>
              <a:schemeClr val="dk1"/>
            </a:solidFill>
            <a:prstDash val="solid"/>
            <a:round/>
            <a:headEnd len="med" w="med" type="none"/>
            <a:tailEnd len="med" w="med" type="triangle"/>
          </a:ln>
        </p:spPr>
      </p:cxnSp>
      <p:cxnSp>
        <p:nvCxnSpPr>
          <p:cNvPr id="540" name="Google Shape;540;p53"/>
          <p:cNvCxnSpPr>
            <a:stCxn id="528" idx="2"/>
            <a:endCxn id="527" idx="0"/>
          </p:cNvCxnSpPr>
          <p:nvPr/>
        </p:nvCxnSpPr>
        <p:spPr>
          <a:xfrm>
            <a:off x="6086550" y="3919877"/>
            <a:ext cx="36600" cy="308100"/>
          </a:xfrm>
          <a:prstGeom prst="straightConnector1">
            <a:avLst/>
          </a:prstGeom>
          <a:noFill/>
          <a:ln cap="flat" cmpd="sng" w="9525">
            <a:solidFill>
              <a:schemeClr val="dk1"/>
            </a:solidFill>
            <a:prstDash val="solid"/>
            <a:round/>
            <a:headEnd len="med" w="med" type="none"/>
            <a:tailEnd len="med" w="med" type="triangle"/>
          </a:ln>
        </p:spPr>
      </p:cxnSp>
      <p:sp>
        <p:nvSpPr>
          <p:cNvPr id="541" name="Google Shape;541;p53"/>
          <p:cNvSpPr txBox="1"/>
          <p:nvPr/>
        </p:nvSpPr>
        <p:spPr>
          <a:xfrm>
            <a:off x="6689028" y="2737033"/>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42" name="Google Shape;542;p53"/>
          <p:cNvSpPr txBox="1"/>
          <p:nvPr/>
        </p:nvSpPr>
        <p:spPr>
          <a:xfrm>
            <a:off x="6183497" y="3938045"/>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43" name="Google Shape;543;p53"/>
          <p:cNvSpPr txBox="1"/>
          <p:nvPr/>
        </p:nvSpPr>
        <p:spPr>
          <a:xfrm>
            <a:off x="6735862" y="4166688"/>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44" name="Google Shape;544;p53"/>
          <p:cNvSpPr txBox="1"/>
          <p:nvPr/>
        </p:nvSpPr>
        <p:spPr>
          <a:xfrm>
            <a:off x="6178841" y="3200746"/>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45" name="Google Shape;545;p53"/>
          <p:cNvSpPr txBox="1"/>
          <p:nvPr/>
        </p:nvSpPr>
        <p:spPr>
          <a:xfrm>
            <a:off x="5267380" y="35251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46" name="Google Shape;546;p53"/>
          <p:cNvSpPr txBox="1"/>
          <p:nvPr/>
        </p:nvSpPr>
        <p:spPr>
          <a:xfrm>
            <a:off x="5349046" y="4106678"/>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36" name="Google Shape;536;p53"/>
          <p:cNvSpPr/>
          <p:nvPr/>
        </p:nvSpPr>
        <p:spPr>
          <a:xfrm>
            <a:off x="3881225" y="2773775"/>
            <a:ext cx="1088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Hierarchical?</a:t>
            </a:r>
            <a:endParaRPr sz="1000">
              <a:latin typeface="Proxima Nova"/>
              <a:ea typeface="Proxima Nova"/>
              <a:cs typeface="Proxima Nova"/>
              <a:sym typeface="Proxima Nova"/>
            </a:endParaRPr>
          </a:p>
        </p:txBody>
      </p:sp>
      <p:sp>
        <p:nvSpPr>
          <p:cNvPr id="547" name="Google Shape;547;p53"/>
          <p:cNvSpPr/>
          <p:nvPr/>
        </p:nvSpPr>
        <p:spPr>
          <a:xfrm>
            <a:off x="2410750" y="2773775"/>
            <a:ext cx="1088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Specify k?</a:t>
            </a:r>
            <a:endParaRPr sz="1000">
              <a:latin typeface="Proxima Nova"/>
              <a:ea typeface="Proxima Nova"/>
              <a:cs typeface="Proxima Nova"/>
              <a:sym typeface="Proxima Nova"/>
            </a:endParaRPr>
          </a:p>
        </p:txBody>
      </p:sp>
      <p:sp>
        <p:nvSpPr>
          <p:cNvPr id="548" name="Google Shape;548;p53"/>
          <p:cNvSpPr/>
          <p:nvPr/>
        </p:nvSpPr>
        <p:spPr>
          <a:xfrm>
            <a:off x="2410750" y="1973925"/>
            <a:ext cx="1088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Categorical variables?</a:t>
            </a:r>
            <a:endParaRPr sz="1000">
              <a:latin typeface="Proxima Nova"/>
              <a:ea typeface="Proxima Nova"/>
              <a:cs typeface="Proxima Nova"/>
              <a:sym typeface="Proxima Nova"/>
            </a:endParaRPr>
          </a:p>
        </p:txBody>
      </p:sp>
      <p:sp>
        <p:nvSpPr>
          <p:cNvPr id="549" name="Google Shape;549;p53"/>
          <p:cNvSpPr/>
          <p:nvPr/>
        </p:nvSpPr>
        <p:spPr>
          <a:xfrm>
            <a:off x="1008550" y="1973925"/>
            <a:ext cx="1088100" cy="42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Prefer probabilities?</a:t>
            </a:r>
            <a:endParaRPr sz="1000">
              <a:latin typeface="Proxima Nova"/>
              <a:ea typeface="Proxima Nova"/>
              <a:cs typeface="Proxima Nova"/>
              <a:sym typeface="Proxima Nova"/>
            </a:endParaRPr>
          </a:p>
        </p:txBody>
      </p:sp>
      <p:cxnSp>
        <p:nvCxnSpPr>
          <p:cNvPr id="550" name="Google Shape;550;p53"/>
          <p:cNvCxnSpPr>
            <a:stCxn id="536" idx="1"/>
            <a:endCxn id="547" idx="3"/>
          </p:cNvCxnSpPr>
          <p:nvPr/>
        </p:nvCxnSpPr>
        <p:spPr>
          <a:xfrm rot="10800000">
            <a:off x="3498725" y="2984225"/>
            <a:ext cx="382500" cy="0"/>
          </a:xfrm>
          <a:prstGeom prst="straightConnector1">
            <a:avLst/>
          </a:prstGeom>
          <a:noFill/>
          <a:ln cap="flat" cmpd="sng" w="9525">
            <a:solidFill>
              <a:schemeClr val="dk1"/>
            </a:solidFill>
            <a:prstDash val="solid"/>
            <a:round/>
            <a:headEnd len="med" w="med" type="none"/>
            <a:tailEnd len="med" w="med" type="triangle"/>
          </a:ln>
        </p:spPr>
      </p:cxnSp>
      <p:cxnSp>
        <p:nvCxnSpPr>
          <p:cNvPr id="551" name="Google Shape;551;p53"/>
          <p:cNvCxnSpPr>
            <a:stCxn id="547" idx="0"/>
            <a:endCxn id="548" idx="2"/>
          </p:cNvCxnSpPr>
          <p:nvPr/>
        </p:nvCxnSpPr>
        <p:spPr>
          <a:xfrm rot="10800000">
            <a:off x="2954800" y="2394875"/>
            <a:ext cx="0" cy="378900"/>
          </a:xfrm>
          <a:prstGeom prst="straightConnector1">
            <a:avLst/>
          </a:prstGeom>
          <a:noFill/>
          <a:ln cap="flat" cmpd="sng" w="9525">
            <a:solidFill>
              <a:schemeClr val="dk1"/>
            </a:solidFill>
            <a:prstDash val="solid"/>
            <a:round/>
            <a:headEnd len="med" w="med" type="none"/>
            <a:tailEnd len="med" w="med" type="triangle"/>
          </a:ln>
        </p:spPr>
      </p:cxnSp>
      <p:cxnSp>
        <p:nvCxnSpPr>
          <p:cNvPr id="552" name="Google Shape;552;p53"/>
          <p:cNvCxnSpPr>
            <a:stCxn id="548" idx="1"/>
            <a:endCxn id="549" idx="3"/>
          </p:cNvCxnSpPr>
          <p:nvPr/>
        </p:nvCxnSpPr>
        <p:spPr>
          <a:xfrm rot="10800000">
            <a:off x="2096650" y="2184375"/>
            <a:ext cx="314100" cy="0"/>
          </a:xfrm>
          <a:prstGeom prst="straightConnector1">
            <a:avLst/>
          </a:prstGeom>
          <a:noFill/>
          <a:ln cap="flat" cmpd="sng" w="9525">
            <a:solidFill>
              <a:schemeClr val="dk1"/>
            </a:solidFill>
            <a:prstDash val="solid"/>
            <a:round/>
            <a:headEnd len="med" w="med" type="none"/>
            <a:tailEnd len="med" w="med" type="triangle"/>
          </a:ln>
        </p:spPr>
      </p:cxnSp>
      <p:sp>
        <p:nvSpPr>
          <p:cNvPr id="553" name="Google Shape;553;p53"/>
          <p:cNvSpPr txBox="1"/>
          <p:nvPr/>
        </p:nvSpPr>
        <p:spPr>
          <a:xfrm>
            <a:off x="3621792" y="29587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54" name="Google Shape;554;p53"/>
          <p:cNvSpPr txBox="1"/>
          <p:nvPr/>
        </p:nvSpPr>
        <p:spPr>
          <a:xfrm>
            <a:off x="2996292" y="323067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55" name="Google Shape;555;p53"/>
          <p:cNvSpPr txBox="1"/>
          <p:nvPr/>
        </p:nvSpPr>
        <p:spPr>
          <a:xfrm>
            <a:off x="2173992" y="21967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56" name="Google Shape;556;p53"/>
          <p:cNvSpPr txBox="1"/>
          <p:nvPr/>
        </p:nvSpPr>
        <p:spPr>
          <a:xfrm>
            <a:off x="1564392" y="17395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N</a:t>
            </a:r>
            <a:endParaRPr sz="1000">
              <a:solidFill>
                <a:schemeClr val="dk1"/>
              </a:solidFill>
              <a:latin typeface="Proxima Nova"/>
              <a:ea typeface="Proxima Nova"/>
              <a:cs typeface="Proxima Nova"/>
              <a:sym typeface="Proxima Nova"/>
            </a:endParaRPr>
          </a:p>
        </p:txBody>
      </p:sp>
      <p:sp>
        <p:nvSpPr>
          <p:cNvPr id="557" name="Google Shape;557;p53"/>
          <p:cNvSpPr txBox="1"/>
          <p:nvPr/>
        </p:nvSpPr>
        <p:spPr>
          <a:xfrm>
            <a:off x="1564392" y="24253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58" name="Google Shape;558;p53"/>
          <p:cNvSpPr txBox="1"/>
          <p:nvPr/>
        </p:nvSpPr>
        <p:spPr>
          <a:xfrm>
            <a:off x="2935992" y="25015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59" name="Google Shape;559;p53"/>
          <p:cNvSpPr txBox="1"/>
          <p:nvPr/>
        </p:nvSpPr>
        <p:spPr>
          <a:xfrm>
            <a:off x="2935992" y="17395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sp>
        <p:nvSpPr>
          <p:cNvPr id="560" name="Google Shape;560;p53"/>
          <p:cNvSpPr/>
          <p:nvPr/>
        </p:nvSpPr>
        <p:spPr>
          <a:xfrm>
            <a:off x="3905225" y="2229275"/>
            <a:ext cx="1040100" cy="2145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Hierarchical</a:t>
            </a:r>
            <a:endParaRPr sz="1000">
              <a:latin typeface="Proxima Nova"/>
              <a:ea typeface="Proxima Nova"/>
              <a:cs typeface="Proxima Nova"/>
              <a:sym typeface="Proxima Nova"/>
            </a:endParaRPr>
          </a:p>
        </p:txBody>
      </p:sp>
      <p:sp>
        <p:nvSpPr>
          <p:cNvPr id="561" name="Google Shape;561;p53"/>
          <p:cNvSpPr txBox="1"/>
          <p:nvPr/>
        </p:nvSpPr>
        <p:spPr>
          <a:xfrm>
            <a:off x="4383792" y="25015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Y</a:t>
            </a:r>
            <a:endParaRPr sz="1000">
              <a:solidFill>
                <a:schemeClr val="dk1"/>
              </a:solidFill>
              <a:latin typeface="Proxima Nova"/>
              <a:ea typeface="Proxima Nova"/>
              <a:cs typeface="Proxima Nova"/>
              <a:sym typeface="Proxima Nova"/>
            </a:endParaRPr>
          </a:p>
        </p:txBody>
      </p:sp>
      <p:cxnSp>
        <p:nvCxnSpPr>
          <p:cNvPr id="562" name="Google Shape;562;p53"/>
          <p:cNvCxnSpPr>
            <a:stCxn id="536" idx="0"/>
            <a:endCxn id="560" idx="2"/>
          </p:cNvCxnSpPr>
          <p:nvPr/>
        </p:nvCxnSpPr>
        <p:spPr>
          <a:xfrm rot="10800000">
            <a:off x="4425275" y="2443775"/>
            <a:ext cx="0" cy="330000"/>
          </a:xfrm>
          <a:prstGeom prst="straightConnector1">
            <a:avLst/>
          </a:prstGeom>
          <a:noFill/>
          <a:ln cap="flat" cmpd="sng" w="9525">
            <a:solidFill>
              <a:schemeClr val="dk1"/>
            </a:solidFill>
            <a:prstDash val="solid"/>
            <a:round/>
            <a:headEnd len="med" w="med" type="none"/>
            <a:tailEnd len="med" w="med" type="triangle"/>
          </a:ln>
        </p:spPr>
      </p:cxnSp>
      <p:sp>
        <p:nvSpPr>
          <p:cNvPr id="563" name="Google Shape;563;p53"/>
          <p:cNvSpPr/>
          <p:nvPr/>
        </p:nvSpPr>
        <p:spPr>
          <a:xfrm>
            <a:off x="2434750" y="1505125"/>
            <a:ext cx="1040100" cy="2145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k-modes</a:t>
            </a:r>
            <a:endParaRPr sz="1000">
              <a:latin typeface="Proxima Nova"/>
              <a:ea typeface="Proxima Nova"/>
              <a:cs typeface="Proxima Nova"/>
              <a:sym typeface="Proxima Nova"/>
            </a:endParaRPr>
          </a:p>
        </p:txBody>
      </p:sp>
      <p:cxnSp>
        <p:nvCxnSpPr>
          <p:cNvPr id="564" name="Google Shape;564;p53"/>
          <p:cNvCxnSpPr>
            <a:stCxn id="548" idx="0"/>
            <a:endCxn id="563" idx="2"/>
          </p:cNvCxnSpPr>
          <p:nvPr/>
        </p:nvCxnSpPr>
        <p:spPr>
          <a:xfrm rot="10800000">
            <a:off x="2954800" y="1719525"/>
            <a:ext cx="0" cy="254400"/>
          </a:xfrm>
          <a:prstGeom prst="straightConnector1">
            <a:avLst/>
          </a:prstGeom>
          <a:noFill/>
          <a:ln cap="flat" cmpd="sng" w="9525">
            <a:solidFill>
              <a:schemeClr val="dk1"/>
            </a:solidFill>
            <a:prstDash val="solid"/>
            <a:round/>
            <a:headEnd len="med" w="med" type="none"/>
            <a:tailEnd len="med" w="med" type="triangle"/>
          </a:ln>
        </p:spPr>
      </p:cxnSp>
      <p:sp>
        <p:nvSpPr>
          <p:cNvPr id="565" name="Google Shape;565;p53"/>
          <p:cNvSpPr/>
          <p:nvPr/>
        </p:nvSpPr>
        <p:spPr>
          <a:xfrm>
            <a:off x="1032550" y="1505125"/>
            <a:ext cx="1040100" cy="214500"/>
          </a:xfrm>
          <a:prstGeom prst="rect">
            <a:avLst/>
          </a:prstGeom>
          <a:solidFill>
            <a:srgbClr val="1B91C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k-means</a:t>
            </a:r>
            <a:endParaRPr sz="1000">
              <a:latin typeface="Proxima Nova"/>
              <a:ea typeface="Proxima Nova"/>
              <a:cs typeface="Proxima Nova"/>
              <a:sym typeface="Proxima Nova"/>
            </a:endParaRPr>
          </a:p>
        </p:txBody>
      </p:sp>
      <p:cxnSp>
        <p:nvCxnSpPr>
          <p:cNvPr id="566" name="Google Shape;566;p53"/>
          <p:cNvCxnSpPr>
            <a:stCxn id="549" idx="0"/>
            <a:endCxn id="565" idx="2"/>
          </p:cNvCxnSpPr>
          <p:nvPr/>
        </p:nvCxnSpPr>
        <p:spPr>
          <a:xfrm rot="10800000">
            <a:off x="1552600" y="1719525"/>
            <a:ext cx="0" cy="254400"/>
          </a:xfrm>
          <a:prstGeom prst="straightConnector1">
            <a:avLst/>
          </a:prstGeom>
          <a:noFill/>
          <a:ln cap="flat" cmpd="sng" w="9525">
            <a:solidFill>
              <a:schemeClr val="dk1"/>
            </a:solidFill>
            <a:prstDash val="solid"/>
            <a:round/>
            <a:headEnd len="med" w="med" type="none"/>
            <a:tailEnd len="med" w="med" type="triangle"/>
          </a:ln>
        </p:spPr>
      </p:cxnSp>
      <p:sp>
        <p:nvSpPr>
          <p:cNvPr id="567" name="Google Shape;567;p53"/>
          <p:cNvSpPr/>
          <p:nvPr/>
        </p:nvSpPr>
        <p:spPr>
          <a:xfrm>
            <a:off x="1032550" y="2639825"/>
            <a:ext cx="1040100" cy="2145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GMMs</a:t>
            </a:r>
            <a:endParaRPr sz="1000">
              <a:latin typeface="Proxima Nova"/>
              <a:ea typeface="Proxima Nova"/>
              <a:cs typeface="Proxima Nova"/>
              <a:sym typeface="Proxima Nova"/>
            </a:endParaRPr>
          </a:p>
        </p:txBody>
      </p:sp>
      <p:cxnSp>
        <p:nvCxnSpPr>
          <p:cNvPr id="568" name="Google Shape;568;p53"/>
          <p:cNvCxnSpPr>
            <a:stCxn id="549" idx="2"/>
            <a:endCxn id="567" idx="0"/>
          </p:cNvCxnSpPr>
          <p:nvPr/>
        </p:nvCxnSpPr>
        <p:spPr>
          <a:xfrm>
            <a:off x="1552600" y="2394825"/>
            <a:ext cx="0" cy="245100"/>
          </a:xfrm>
          <a:prstGeom prst="straightConnector1">
            <a:avLst/>
          </a:prstGeom>
          <a:noFill/>
          <a:ln cap="flat" cmpd="sng" w="9525">
            <a:solidFill>
              <a:schemeClr val="dk1"/>
            </a:solidFill>
            <a:prstDash val="solid"/>
            <a:round/>
            <a:headEnd len="med" w="med" type="none"/>
            <a:tailEnd len="med" w="med" type="triangle"/>
          </a:ln>
        </p:spPr>
      </p:cxnSp>
      <p:sp>
        <p:nvSpPr>
          <p:cNvPr id="569" name="Google Shape;569;p53"/>
          <p:cNvSpPr/>
          <p:nvPr/>
        </p:nvSpPr>
        <p:spPr>
          <a:xfrm>
            <a:off x="2434750" y="3449025"/>
            <a:ext cx="1040100" cy="214500"/>
          </a:xfrm>
          <a:prstGeom prst="rect">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DBSCAN</a:t>
            </a:r>
            <a:endParaRPr sz="1000">
              <a:latin typeface="Proxima Nova"/>
              <a:ea typeface="Proxima Nova"/>
              <a:cs typeface="Proxima Nova"/>
              <a:sym typeface="Proxima Nova"/>
            </a:endParaRPr>
          </a:p>
        </p:txBody>
      </p:sp>
      <p:cxnSp>
        <p:nvCxnSpPr>
          <p:cNvPr id="570" name="Google Shape;570;p53"/>
          <p:cNvCxnSpPr>
            <a:stCxn id="547" idx="2"/>
            <a:endCxn id="569" idx="0"/>
          </p:cNvCxnSpPr>
          <p:nvPr/>
        </p:nvCxnSpPr>
        <p:spPr>
          <a:xfrm>
            <a:off x="2954800" y="3194675"/>
            <a:ext cx="0" cy="254400"/>
          </a:xfrm>
          <a:prstGeom prst="straightConnector1">
            <a:avLst/>
          </a:prstGeom>
          <a:noFill/>
          <a:ln cap="flat" cmpd="sng" w="9525">
            <a:solidFill>
              <a:schemeClr val="dk1"/>
            </a:solidFill>
            <a:prstDash val="solid"/>
            <a:round/>
            <a:headEnd len="med" w="med" type="none"/>
            <a:tailEnd len="med" w="med" type="triangle"/>
          </a:ln>
        </p:spPr>
      </p:cxnSp>
      <p:sp>
        <p:nvSpPr>
          <p:cNvPr id="571" name="Google Shape;571;p53"/>
          <p:cNvSpPr txBox="1"/>
          <p:nvPr>
            <p:ph type="title"/>
          </p:nvPr>
        </p:nvSpPr>
        <p:spPr>
          <a:xfrm>
            <a:off x="449100" y="445025"/>
            <a:ext cx="481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420">
                <a:latin typeface="Staatliches"/>
                <a:ea typeface="Staatliches"/>
                <a:cs typeface="Staatliches"/>
                <a:sym typeface="Staatliches"/>
              </a:rPr>
              <a:t>Model Selection Flowchart</a:t>
            </a:r>
            <a:endParaRPr sz="3420">
              <a:latin typeface="Staatliches"/>
              <a:ea typeface="Staatliches"/>
              <a:cs typeface="Staatliches"/>
              <a:sym typeface="Staatlich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575" name="Shape 575"/>
        <p:cNvGrpSpPr/>
        <p:nvPr/>
      </p:nvGrpSpPr>
      <p:grpSpPr>
        <a:xfrm>
          <a:off x="0" y="0"/>
          <a:ext cx="0" cy="0"/>
          <a:chOff x="0" y="0"/>
          <a:chExt cx="0" cy="0"/>
        </a:xfrm>
      </p:grpSpPr>
      <p:sp>
        <p:nvSpPr>
          <p:cNvPr id="576" name="Google Shape;576;p5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
        <p:nvSpPr>
          <p:cNvPr id="577" name="Google Shape;577;p54"/>
          <p:cNvSpPr txBox="1"/>
          <p:nvPr/>
        </p:nvSpPr>
        <p:spPr>
          <a:xfrm>
            <a:off x="2169750" y="3285750"/>
            <a:ext cx="48120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rPr>
              <a:t>Time to see clustering in practice. </a:t>
            </a:r>
            <a:endParaRPr sz="1600">
              <a:solidFill>
                <a:schemeClr val="dk1"/>
              </a:solidFill>
            </a:endParaRPr>
          </a:p>
          <a:p>
            <a:pPr indent="0" lvl="0" marL="0" rtl="0" algn="ctr">
              <a:spcBef>
                <a:spcPts val="0"/>
              </a:spcBef>
              <a:spcAft>
                <a:spcPts val="0"/>
              </a:spcAft>
              <a:buNone/>
            </a:pPr>
            <a:r>
              <a:rPr lang="en" sz="1600">
                <a:solidFill>
                  <a:schemeClr val="dk1"/>
                </a:solidFill>
              </a:rPr>
              <a:t>Code example using breast cancer data.</a:t>
            </a:r>
            <a:endParaRPr sz="1600">
              <a:solidFill>
                <a:schemeClr val="dk1"/>
              </a:solidFill>
            </a:endParaRPr>
          </a:p>
          <a:p>
            <a:pPr indent="0" lvl="0" marL="0" rtl="0" algn="ctr">
              <a:spcBef>
                <a:spcPts val="0"/>
              </a:spcBef>
              <a:spcAft>
                <a:spcPts val="0"/>
              </a:spcAft>
              <a:buNone/>
            </a:pPr>
            <a:r>
              <a:rPr lang="en" sz="1600">
                <a:solidFill>
                  <a:schemeClr val="dk1"/>
                </a:solidFill>
              </a:rPr>
              <a:t>While walking through this example, take note of the various steps of the 5-step ML workflow and the various tasks we do within each step.</a:t>
            </a:r>
            <a:endParaRPr sz="16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sz="6650">
                <a:solidFill>
                  <a:srgbClr val="36174D"/>
                </a:solidFill>
                <a:latin typeface="Staatliches"/>
                <a:ea typeface="Staatliches"/>
                <a:cs typeface="Staatliches"/>
                <a:sym typeface="Staatliches"/>
              </a:rPr>
              <a:t>Example of ML workflow</a:t>
            </a:r>
            <a:endParaRPr b="1" sz="6650">
              <a:solidFill>
                <a:srgbClr val="36174D"/>
              </a:solidFill>
              <a:latin typeface="Staatliches"/>
              <a:ea typeface="Staatliches"/>
              <a:cs typeface="Staatliches"/>
              <a:sym typeface="Staatliches"/>
            </a:endParaRPr>
          </a:p>
        </p:txBody>
      </p:sp>
      <p:sp>
        <p:nvSpPr>
          <p:cNvPr id="583" name="Google Shape;583;p55"/>
          <p:cNvSpPr txBox="1"/>
          <p:nvPr/>
        </p:nvSpPr>
        <p:spPr>
          <a:xfrm>
            <a:off x="1886750" y="3285750"/>
            <a:ext cx="5517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To better understand how we can organize our workflows, we’ll be filling out the diagram layout using the linked colab workbook.</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grpSp>
        <p:nvGrpSpPr>
          <p:cNvPr id="588" name="Google Shape;588;p56"/>
          <p:cNvGrpSpPr/>
          <p:nvPr/>
        </p:nvGrpSpPr>
        <p:grpSpPr>
          <a:xfrm>
            <a:off x="293848" y="585291"/>
            <a:ext cx="8477811" cy="424375"/>
            <a:chOff x="933855" y="2469625"/>
            <a:chExt cx="7289606" cy="738300"/>
          </a:xfrm>
        </p:grpSpPr>
        <p:sp>
          <p:nvSpPr>
            <p:cNvPr id="589" name="Google Shape;589;p56"/>
            <p:cNvSpPr/>
            <p:nvPr/>
          </p:nvSpPr>
          <p:spPr>
            <a:xfrm>
              <a:off x="933855" y="2469625"/>
              <a:ext cx="1388100" cy="73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590" name="Google Shape;590;p56"/>
            <p:cNvSpPr/>
            <p:nvPr/>
          </p:nvSpPr>
          <p:spPr>
            <a:xfrm>
              <a:off x="2396537" y="2469625"/>
              <a:ext cx="1388100" cy="73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591" name="Google Shape;591;p56"/>
            <p:cNvSpPr/>
            <p:nvPr/>
          </p:nvSpPr>
          <p:spPr>
            <a:xfrm>
              <a:off x="5330931" y="2469625"/>
              <a:ext cx="1388100" cy="73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592" name="Google Shape;592;p56"/>
            <p:cNvSpPr/>
            <p:nvPr/>
          </p:nvSpPr>
          <p:spPr>
            <a:xfrm>
              <a:off x="6835360" y="2469625"/>
              <a:ext cx="1388100" cy="73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593" name="Google Shape;593;p56"/>
            <p:cNvSpPr/>
            <p:nvPr/>
          </p:nvSpPr>
          <p:spPr>
            <a:xfrm>
              <a:off x="3851867" y="2469625"/>
              <a:ext cx="1388100" cy="73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594" name="Google Shape;594;p56"/>
          <p:cNvGrpSpPr/>
          <p:nvPr/>
        </p:nvGrpSpPr>
        <p:grpSpPr>
          <a:xfrm>
            <a:off x="293850" y="1009675"/>
            <a:ext cx="8490075" cy="273000"/>
            <a:chOff x="332025" y="836500"/>
            <a:chExt cx="8490075" cy="273000"/>
          </a:xfrm>
        </p:grpSpPr>
        <p:sp>
          <p:nvSpPr>
            <p:cNvPr id="595" name="Google Shape;595;p56"/>
            <p:cNvSpPr/>
            <p:nvPr/>
          </p:nvSpPr>
          <p:spPr>
            <a:xfrm>
              <a:off x="3729225" y="836500"/>
              <a:ext cx="1616700" cy="273000"/>
            </a:xfrm>
            <a:prstGeom prst="rect">
              <a:avLst/>
            </a:prstGeom>
            <a:solidFill>
              <a:srgbClr val="A9AA3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rPr>
                <a:t>selected algorithms</a:t>
              </a:r>
              <a:endParaRPr sz="900">
                <a:solidFill>
                  <a:srgbClr val="FFFFFF"/>
                </a:solidFill>
              </a:endParaRPr>
            </a:p>
          </p:txBody>
        </p:sp>
        <p:sp>
          <p:nvSpPr>
            <p:cNvPr id="596" name="Google Shape;596;p56"/>
            <p:cNvSpPr/>
            <p:nvPr/>
          </p:nvSpPr>
          <p:spPr>
            <a:xfrm>
              <a:off x="2030625" y="836500"/>
              <a:ext cx="1616700" cy="273000"/>
            </a:xfrm>
            <a:prstGeom prst="rect">
              <a:avLst/>
            </a:prstGeom>
            <a:solidFill>
              <a:srgbClr val="A9AA3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rPr>
                <a:t>cleaned data</a:t>
              </a:r>
              <a:endParaRPr sz="900">
                <a:solidFill>
                  <a:srgbClr val="FFFFFF"/>
                </a:solidFill>
              </a:endParaRPr>
            </a:p>
          </p:txBody>
        </p:sp>
        <p:sp>
          <p:nvSpPr>
            <p:cNvPr id="597" name="Google Shape;597;p56"/>
            <p:cNvSpPr/>
            <p:nvPr/>
          </p:nvSpPr>
          <p:spPr>
            <a:xfrm>
              <a:off x="5454750" y="836500"/>
              <a:ext cx="1616700" cy="273000"/>
            </a:xfrm>
            <a:prstGeom prst="rect">
              <a:avLst/>
            </a:prstGeom>
            <a:solidFill>
              <a:srgbClr val="A9AA3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rPr>
                <a:t>fitted models</a:t>
              </a:r>
              <a:endParaRPr sz="900">
                <a:solidFill>
                  <a:srgbClr val="FFFFFF"/>
                </a:solidFill>
              </a:endParaRPr>
            </a:p>
          </p:txBody>
        </p:sp>
        <p:sp>
          <p:nvSpPr>
            <p:cNvPr id="598" name="Google Shape;598;p56"/>
            <p:cNvSpPr/>
            <p:nvPr/>
          </p:nvSpPr>
          <p:spPr>
            <a:xfrm>
              <a:off x="332025" y="836500"/>
              <a:ext cx="1616700" cy="273000"/>
            </a:xfrm>
            <a:prstGeom prst="rect">
              <a:avLst/>
            </a:prstGeom>
            <a:solidFill>
              <a:srgbClr val="A9AA3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rPr>
                <a:t>data insights</a:t>
              </a:r>
              <a:endParaRPr sz="900">
                <a:solidFill>
                  <a:srgbClr val="FFFFFF"/>
                </a:solidFill>
              </a:endParaRPr>
            </a:p>
          </p:txBody>
        </p:sp>
        <p:sp>
          <p:nvSpPr>
            <p:cNvPr id="599" name="Google Shape;599;p56"/>
            <p:cNvSpPr/>
            <p:nvPr/>
          </p:nvSpPr>
          <p:spPr>
            <a:xfrm>
              <a:off x="7205400" y="836500"/>
              <a:ext cx="1616700" cy="273000"/>
            </a:xfrm>
            <a:prstGeom prst="rect">
              <a:avLst/>
            </a:prstGeom>
            <a:solidFill>
              <a:srgbClr val="A9AA3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FFFFFF"/>
                  </a:solidFill>
                </a:rPr>
                <a:t>model insights</a:t>
              </a:r>
              <a:endParaRPr sz="900">
                <a:solidFill>
                  <a:srgbClr val="FFFFFF"/>
                </a:solidFill>
              </a:endParaRPr>
            </a:p>
          </p:txBody>
        </p:sp>
      </p:grpSp>
      <p:sp>
        <p:nvSpPr>
          <p:cNvPr id="600" name="Google Shape;600;p56"/>
          <p:cNvSpPr txBox="1"/>
          <p:nvPr/>
        </p:nvSpPr>
        <p:spPr>
          <a:xfrm>
            <a:off x="293850" y="1462700"/>
            <a:ext cx="16509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latin typeface="Roboto"/>
                <a:ea typeface="Roboto"/>
                <a:cs typeface="Roboto"/>
                <a:sym typeface="Roboto"/>
              </a:rPr>
              <a:t>EDA: data is not missing values. correlation plot. high dim --&gt;visualize with PCA. pairplot visualization --&gt; some groupings, try k=2.</a:t>
            </a:r>
            <a:endParaRPr/>
          </a:p>
        </p:txBody>
      </p:sp>
      <p:sp>
        <p:nvSpPr>
          <p:cNvPr id="601" name="Google Shape;601;p56"/>
          <p:cNvSpPr txBox="1"/>
          <p:nvPr/>
        </p:nvSpPr>
        <p:spPr>
          <a:xfrm>
            <a:off x="1968675" y="1432700"/>
            <a:ext cx="16509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latin typeface="Roboto"/>
                <a:ea typeface="Roboto"/>
                <a:cs typeface="Roboto"/>
                <a:sym typeface="Roboto"/>
              </a:rPr>
              <a:t>DATA: no data cleaning occured.</a:t>
            </a:r>
            <a:endParaRPr/>
          </a:p>
        </p:txBody>
      </p:sp>
      <p:sp>
        <p:nvSpPr>
          <p:cNvPr id="602" name="Google Shape;602;p56"/>
          <p:cNvSpPr txBox="1"/>
          <p:nvPr/>
        </p:nvSpPr>
        <p:spPr>
          <a:xfrm>
            <a:off x="3660075" y="1432700"/>
            <a:ext cx="16926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latin typeface="Roboto"/>
                <a:ea typeface="Roboto"/>
                <a:cs typeface="Roboto"/>
                <a:sym typeface="Roboto"/>
              </a:rPr>
              <a:t>SEL: unsupervised clustering. using k-means with n_clusters (2,20). baseline random cluster assignment with k=2.</a:t>
            </a:r>
            <a:endParaRPr/>
          </a:p>
        </p:txBody>
      </p:sp>
      <p:sp>
        <p:nvSpPr>
          <p:cNvPr id="603" name="Google Shape;603;p56"/>
          <p:cNvSpPr txBox="1"/>
          <p:nvPr/>
        </p:nvSpPr>
        <p:spPr>
          <a:xfrm>
            <a:off x="5393050" y="1462700"/>
            <a:ext cx="1554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600"/>
              </a:spcAft>
              <a:buNone/>
            </a:pPr>
            <a:r>
              <a:rPr lang="en" sz="1200">
                <a:solidFill>
                  <a:srgbClr val="1F1F1F"/>
                </a:solidFill>
                <a:highlight>
                  <a:srgbClr val="FFFFFF"/>
                </a:highlight>
                <a:latin typeface="Roboto"/>
                <a:ea typeface="Roboto"/>
                <a:cs typeface="Roboto"/>
                <a:sym typeface="Roboto"/>
              </a:rPr>
              <a:t>TRAIN: no train/test split since unsupervised.</a:t>
            </a:r>
            <a:endParaRPr/>
          </a:p>
        </p:txBody>
      </p:sp>
      <p:sp>
        <p:nvSpPr>
          <p:cNvPr id="604" name="Google Shape;604;p56"/>
          <p:cNvSpPr txBox="1"/>
          <p:nvPr/>
        </p:nvSpPr>
        <p:spPr>
          <a:xfrm>
            <a:off x="7167600" y="1462700"/>
            <a:ext cx="1692600" cy="307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lang="en" sz="1200">
                <a:solidFill>
                  <a:srgbClr val="1F1F1F"/>
                </a:solidFill>
                <a:highlight>
                  <a:srgbClr val="FFFFFF"/>
                </a:highlight>
                <a:latin typeface="Roboto"/>
                <a:ea typeface="Roboto"/>
                <a:cs typeface="Roboto"/>
                <a:sym typeface="Roboto"/>
              </a:rPr>
              <a:t>EVL: clustering metric--&gt; silhouette coefficient. best fit model = 0.69 --&gt; good clustering. </a:t>
            </a:r>
            <a:endParaRPr sz="1200">
              <a:solidFill>
                <a:srgbClr val="1F1F1F"/>
              </a:solidFill>
              <a:highlight>
                <a:srgbClr val="FFFFFF"/>
              </a:highlight>
              <a:latin typeface="Roboto"/>
              <a:ea typeface="Roboto"/>
              <a:cs typeface="Roboto"/>
              <a:sym typeface="Roboto"/>
            </a:endParaRPr>
          </a:p>
          <a:p>
            <a:pPr indent="0" lvl="0" marL="0" rtl="0" algn="l">
              <a:lnSpc>
                <a:spcPct val="115000"/>
              </a:lnSpc>
              <a:spcBef>
                <a:spcPts val="600"/>
              </a:spcBef>
              <a:spcAft>
                <a:spcPts val="0"/>
              </a:spcAft>
              <a:buNone/>
            </a:pPr>
            <a:r>
              <a:t/>
            </a:r>
            <a:endParaRPr sz="1200">
              <a:solidFill>
                <a:srgbClr val="1F1F1F"/>
              </a:solidFill>
              <a:highlight>
                <a:srgbClr val="FFFFFF"/>
              </a:highlight>
              <a:latin typeface="Roboto"/>
              <a:ea typeface="Roboto"/>
              <a:cs typeface="Roboto"/>
              <a:sym typeface="Roboto"/>
            </a:endParaRPr>
          </a:p>
          <a:p>
            <a:pPr indent="0" lvl="0" marL="0" rtl="0" algn="l">
              <a:lnSpc>
                <a:spcPct val="115000"/>
              </a:lnSpc>
              <a:spcBef>
                <a:spcPts val="600"/>
              </a:spcBef>
              <a:spcAft>
                <a:spcPts val="600"/>
              </a:spcAft>
              <a:buNone/>
            </a:pPr>
            <a:r>
              <a:rPr lang="en" sz="1200">
                <a:solidFill>
                  <a:srgbClr val="1F1F1F"/>
                </a:solidFill>
                <a:highlight>
                  <a:srgbClr val="FFFFFF"/>
                </a:highlight>
                <a:latin typeface="Roboto"/>
                <a:ea typeface="Roboto"/>
                <a:cs typeface="Roboto"/>
                <a:sym typeface="Roboto"/>
              </a:rPr>
              <a:t>Have target variable --&gt; investigate cluster quality. k=2 Cluster 0 --&gt;130M,1B; 99%M. k=2 Cluster 1 --&gt;82M,356B; 18%M 82%B.</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8" name="Shape 608"/>
        <p:cNvGrpSpPr/>
        <p:nvPr/>
      </p:nvGrpSpPr>
      <p:grpSpPr>
        <a:xfrm>
          <a:off x="0" y="0"/>
          <a:ext cx="0" cy="0"/>
          <a:chOff x="0" y="0"/>
          <a:chExt cx="0" cy="0"/>
        </a:xfrm>
      </p:grpSpPr>
      <p:grpSp>
        <p:nvGrpSpPr>
          <p:cNvPr id="609" name="Google Shape;609;p57"/>
          <p:cNvGrpSpPr/>
          <p:nvPr/>
        </p:nvGrpSpPr>
        <p:grpSpPr>
          <a:xfrm>
            <a:off x="332023" y="793116"/>
            <a:ext cx="8477811" cy="424375"/>
            <a:chOff x="933855" y="2469625"/>
            <a:chExt cx="7289606" cy="738300"/>
          </a:xfrm>
        </p:grpSpPr>
        <p:sp>
          <p:nvSpPr>
            <p:cNvPr id="610" name="Google Shape;610;p57"/>
            <p:cNvSpPr/>
            <p:nvPr/>
          </p:nvSpPr>
          <p:spPr>
            <a:xfrm>
              <a:off x="933855"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611" name="Google Shape;611;p57"/>
            <p:cNvSpPr/>
            <p:nvPr/>
          </p:nvSpPr>
          <p:spPr>
            <a:xfrm>
              <a:off x="239653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612" name="Google Shape;612;p57"/>
            <p:cNvSpPr/>
            <p:nvPr/>
          </p:nvSpPr>
          <p:spPr>
            <a:xfrm>
              <a:off x="5330931"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613" name="Google Shape;613;p57"/>
            <p:cNvSpPr/>
            <p:nvPr/>
          </p:nvSpPr>
          <p:spPr>
            <a:xfrm>
              <a:off x="6835360"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614" name="Google Shape;614;p57"/>
            <p:cNvSpPr/>
            <p:nvPr/>
          </p:nvSpPr>
          <p:spPr>
            <a:xfrm>
              <a:off x="385186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615" name="Google Shape;615;p57"/>
          <p:cNvGrpSpPr/>
          <p:nvPr/>
        </p:nvGrpSpPr>
        <p:grpSpPr>
          <a:xfrm>
            <a:off x="332025" y="1217500"/>
            <a:ext cx="8490075" cy="273000"/>
            <a:chOff x="332025" y="836500"/>
            <a:chExt cx="8490075" cy="273000"/>
          </a:xfrm>
        </p:grpSpPr>
        <p:sp>
          <p:nvSpPr>
            <p:cNvPr id="616" name="Google Shape;616;p57"/>
            <p:cNvSpPr/>
            <p:nvPr/>
          </p:nvSpPr>
          <p:spPr>
            <a:xfrm>
              <a:off x="37292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617" name="Google Shape;617;p57"/>
            <p:cNvSpPr/>
            <p:nvPr/>
          </p:nvSpPr>
          <p:spPr>
            <a:xfrm>
              <a:off x="20306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618" name="Google Shape;618;p57"/>
            <p:cNvSpPr/>
            <p:nvPr/>
          </p:nvSpPr>
          <p:spPr>
            <a:xfrm>
              <a:off x="545475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619" name="Google Shape;619;p57"/>
            <p:cNvSpPr/>
            <p:nvPr/>
          </p:nvSpPr>
          <p:spPr>
            <a:xfrm>
              <a:off x="3320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620" name="Google Shape;620;p57"/>
            <p:cNvSpPr/>
            <p:nvPr/>
          </p:nvSpPr>
          <p:spPr>
            <a:xfrm>
              <a:off x="720540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grpSp>
      <p:sp>
        <p:nvSpPr>
          <p:cNvPr id="621" name="Google Shape;621;p57"/>
          <p:cNvSpPr/>
          <p:nvPr/>
        </p:nvSpPr>
        <p:spPr>
          <a:xfrm>
            <a:off x="410950" y="1756375"/>
            <a:ext cx="1145100" cy="643800"/>
          </a:xfrm>
          <a:prstGeom prst="rect">
            <a:avLst/>
          </a:prstGeom>
          <a:solidFill>
            <a:srgbClr val="EEEEE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rPr>
              <a:t>Breast cancer dataset from scikit</a:t>
            </a:r>
            <a:endParaRPr sz="900">
              <a:solidFill>
                <a:schemeClr val="dk1"/>
              </a:solidFill>
            </a:endParaRPr>
          </a:p>
        </p:txBody>
      </p:sp>
      <p:grpSp>
        <p:nvGrpSpPr>
          <p:cNvPr id="622" name="Google Shape;622;p57"/>
          <p:cNvGrpSpPr/>
          <p:nvPr/>
        </p:nvGrpSpPr>
        <p:grpSpPr>
          <a:xfrm>
            <a:off x="2859875" y="1775550"/>
            <a:ext cx="1668400" cy="643800"/>
            <a:chOff x="2859875" y="1851750"/>
            <a:chExt cx="1668400" cy="643800"/>
          </a:xfrm>
        </p:grpSpPr>
        <p:sp>
          <p:nvSpPr>
            <p:cNvPr id="623" name="Google Shape;623;p57"/>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statistical measure</a:t>
              </a:r>
              <a:endParaRPr sz="900"/>
            </a:p>
          </p:txBody>
        </p:sp>
        <p:sp>
          <p:nvSpPr>
            <p:cNvPr id="624" name="Google Shape;624;p57"/>
            <p:cNvSpPr txBox="1"/>
            <p:nvPr/>
          </p:nvSpPr>
          <p:spPr>
            <a:xfrm>
              <a:off x="28598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625" name="Google Shape;625;p57"/>
          <p:cNvGrpSpPr/>
          <p:nvPr/>
        </p:nvGrpSpPr>
        <p:grpSpPr>
          <a:xfrm>
            <a:off x="4401500" y="1756375"/>
            <a:ext cx="1546000" cy="643800"/>
            <a:chOff x="4401500" y="1832575"/>
            <a:chExt cx="1546000" cy="643800"/>
          </a:xfrm>
        </p:grpSpPr>
        <p:sp>
          <p:nvSpPr>
            <p:cNvPr id="626" name="Google Shape;626;p57"/>
            <p:cNvSpPr/>
            <p:nvPr/>
          </p:nvSpPr>
          <p:spPr>
            <a:xfrm>
              <a:off x="4802400"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visualizations</a:t>
              </a:r>
              <a:endParaRPr sz="900"/>
            </a:p>
          </p:txBody>
        </p:sp>
        <p:sp>
          <p:nvSpPr>
            <p:cNvPr id="627" name="Google Shape;627;p57"/>
            <p:cNvSpPr txBox="1"/>
            <p:nvPr/>
          </p:nvSpPr>
          <p:spPr>
            <a:xfrm>
              <a:off x="440150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628" name="Google Shape;628;p57"/>
          <p:cNvGrpSpPr/>
          <p:nvPr/>
        </p:nvGrpSpPr>
        <p:grpSpPr>
          <a:xfrm>
            <a:off x="5826050" y="1756375"/>
            <a:ext cx="1540675" cy="643800"/>
            <a:chOff x="5826050" y="1832575"/>
            <a:chExt cx="1540675" cy="643800"/>
          </a:xfrm>
        </p:grpSpPr>
        <p:sp>
          <p:nvSpPr>
            <p:cNvPr id="629" name="Google Shape;629;p57"/>
            <p:cNvSpPr/>
            <p:nvPr/>
          </p:nvSpPr>
          <p:spPr>
            <a:xfrm>
              <a:off x="6221625"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statistical tests</a:t>
              </a:r>
              <a:endParaRPr sz="900"/>
            </a:p>
          </p:txBody>
        </p:sp>
        <p:sp>
          <p:nvSpPr>
            <p:cNvPr id="630" name="Google Shape;630;p57"/>
            <p:cNvSpPr txBox="1"/>
            <p:nvPr/>
          </p:nvSpPr>
          <p:spPr>
            <a:xfrm>
              <a:off x="582605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631" name="Google Shape;631;p57"/>
          <p:cNvSpPr/>
          <p:nvPr/>
        </p:nvSpPr>
        <p:spPr>
          <a:xfrm>
            <a:off x="7610425" y="1756375"/>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632" name="Google Shape;632;p57"/>
          <p:cNvSpPr txBox="1"/>
          <p:nvPr/>
        </p:nvSpPr>
        <p:spPr>
          <a:xfrm>
            <a:off x="7250600" y="18397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sp>
        <p:nvSpPr>
          <p:cNvPr id="633" name="Google Shape;633;p57"/>
          <p:cNvSpPr/>
          <p:nvPr/>
        </p:nvSpPr>
        <p:spPr>
          <a:xfrm>
            <a:off x="332025" y="793125"/>
            <a:ext cx="1619100" cy="705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34" name="Google Shape;634;p57"/>
          <p:cNvGrpSpPr/>
          <p:nvPr/>
        </p:nvGrpSpPr>
        <p:grpSpPr>
          <a:xfrm>
            <a:off x="1403650" y="1756375"/>
            <a:ext cx="1592200" cy="643800"/>
            <a:chOff x="2936075" y="1851750"/>
            <a:chExt cx="1592200" cy="643800"/>
          </a:xfrm>
        </p:grpSpPr>
        <p:sp>
          <p:nvSpPr>
            <p:cNvPr id="635" name="Google Shape;635;p57"/>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rPr>
                <a:t>look at data</a:t>
              </a:r>
              <a:endParaRPr sz="900"/>
            </a:p>
          </p:txBody>
        </p:sp>
        <p:sp>
          <p:nvSpPr>
            <p:cNvPr id="636" name="Google Shape;636;p57"/>
            <p:cNvSpPr txBox="1"/>
            <p:nvPr/>
          </p:nvSpPr>
          <p:spPr>
            <a:xfrm>
              <a:off x="29360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637" name="Google Shape;637;p57"/>
          <p:cNvSpPr/>
          <p:nvPr/>
        </p:nvSpPr>
        <p:spPr>
          <a:xfrm>
            <a:off x="1859563" y="371492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high dimensional</a:t>
            </a:r>
            <a:endParaRPr sz="900"/>
          </a:p>
        </p:txBody>
      </p:sp>
      <p:sp>
        <p:nvSpPr>
          <p:cNvPr id="638" name="Google Shape;638;p57"/>
          <p:cNvSpPr/>
          <p:nvPr/>
        </p:nvSpPr>
        <p:spPr>
          <a:xfrm>
            <a:off x="1859563" y="26660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no missing values</a:t>
            </a:r>
            <a:endParaRPr sz="900"/>
          </a:p>
        </p:txBody>
      </p:sp>
      <p:sp>
        <p:nvSpPr>
          <p:cNvPr id="639" name="Google Shape;639;p57"/>
          <p:cNvSpPr/>
          <p:nvPr/>
        </p:nvSpPr>
        <p:spPr>
          <a:xfrm>
            <a:off x="1859563" y="330987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nothing</a:t>
            </a:r>
            <a:endParaRPr sz="900">
              <a:solidFill>
                <a:schemeClr val="lt1"/>
              </a:solidFill>
            </a:endParaRPr>
          </a:p>
        </p:txBody>
      </p:sp>
      <p:sp>
        <p:nvSpPr>
          <p:cNvPr id="640" name="Google Shape;640;p57"/>
          <p:cNvSpPr/>
          <p:nvPr/>
        </p:nvSpPr>
        <p:spPr>
          <a:xfrm>
            <a:off x="1859563" y="435872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PCA</a:t>
            </a:r>
            <a:endParaRPr sz="900">
              <a:solidFill>
                <a:schemeClr val="lt1"/>
              </a:solidFill>
            </a:endParaRPr>
          </a:p>
        </p:txBody>
      </p:sp>
      <p:sp>
        <p:nvSpPr>
          <p:cNvPr id="641" name="Google Shape;641;p57"/>
          <p:cNvSpPr/>
          <p:nvPr/>
        </p:nvSpPr>
        <p:spPr>
          <a:xfrm>
            <a:off x="3383163" y="26660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target feature: 1 is benign 0 is malignant </a:t>
            </a:r>
            <a:endParaRPr sz="900"/>
          </a:p>
        </p:txBody>
      </p:sp>
      <p:sp>
        <p:nvSpPr>
          <p:cNvPr id="642" name="Google Shape;642;p57"/>
          <p:cNvSpPr/>
          <p:nvPr/>
        </p:nvSpPr>
        <p:spPr>
          <a:xfrm>
            <a:off x="3383163" y="33098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65% benign</a:t>
            </a:r>
            <a:endParaRPr sz="900">
              <a:solidFill>
                <a:schemeClr val="lt1"/>
              </a:solidFill>
            </a:endParaRPr>
          </a:p>
        </p:txBody>
      </p:sp>
      <p:sp>
        <p:nvSpPr>
          <p:cNvPr id="643" name="Google Shape;643;p57"/>
          <p:cNvSpPr/>
          <p:nvPr/>
        </p:nvSpPr>
        <p:spPr>
          <a:xfrm>
            <a:off x="4802388" y="371490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correlation plot</a:t>
            </a:r>
            <a:endParaRPr sz="900"/>
          </a:p>
        </p:txBody>
      </p:sp>
      <p:sp>
        <p:nvSpPr>
          <p:cNvPr id="644" name="Google Shape;644;p57"/>
          <p:cNvSpPr/>
          <p:nvPr/>
        </p:nvSpPr>
        <p:spPr>
          <a:xfrm>
            <a:off x="4802388" y="26660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PCA pairplot shows some potential groupings</a:t>
            </a:r>
            <a:endParaRPr sz="900"/>
          </a:p>
        </p:txBody>
      </p:sp>
      <p:sp>
        <p:nvSpPr>
          <p:cNvPr id="645" name="Google Shape;645;p57"/>
          <p:cNvSpPr/>
          <p:nvPr/>
        </p:nvSpPr>
        <p:spPr>
          <a:xfrm>
            <a:off x="4802388" y="33098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try k=2</a:t>
            </a:r>
            <a:endParaRPr sz="900">
              <a:solidFill>
                <a:schemeClr val="lt1"/>
              </a:solidFill>
            </a:endParaRPr>
          </a:p>
        </p:txBody>
      </p:sp>
      <p:sp>
        <p:nvSpPr>
          <p:cNvPr id="646" name="Google Shape;646;p57"/>
          <p:cNvSpPr/>
          <p:nvPr/>
        </p:nvSpPr>
        <p:spPr>
          <a:xfrm>
            <a:off x="4802388" y="435870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not that helpful</a:t>
            </a:r>
            <a:endParaRPr sz="900">
              <a:solidFill>
                <a:schemeClr val="lt1"/>
              </a:solidFill>
            </a:endParaRPr>
          </a:p>
        </p:txBody>
      </p:sp>
      <p:sp>
        <p:nvSpPr>
          <p:cNvPr id="647" name="Google Shape;647;p57"/>
          <p:cNvSpPr/>
          <p:nvPr/>
        </p:nvSpPr>
        <p:spPr>
          <a:xfrm>
            <a:off x="6221613" y="26660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lots of features</a:t>
            </a:r>
            <a:endParaRPr sz="900"/>
          </a:p>
        </p:txBody>
      </p:sp>
      <p:sp>
        <p:nvSpPr>
          <p:cNvPr id="648" name="Google Shape;648;p57"/>
          <p:cNvSpPr/>
          <p:nvPr/>
        </p:nvSpPr>
        <p:spPr>
          <a:xfrm>
            <a:off x="6221613" y="33098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skip</a:t>
            </a:r>
            <a:endParaRPr sz="900">
              <a:solidFill>
                <a:schemeClr val="lt1"/>
              </a:solidFill>
            </a:endParaRPr>
          </a:p>
        </p:txBody>
      </p:sp>
      <p:sp>
        <p:nvSpPr>
          <p:cNvPr id="649" name="Google Shape;649;p57"/>
          <p:cNvSpPr txBox="1"/>
          <p:nvPr/>
        </p:nvSpPr>
        <p:spPr>
          <a:xfrm>
            <a:off x="1972100" y="288425"/>
            <a:ext cx="5507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Staatliches"/>
                <a:ea typeface="Staatliches"/>
                <a:cs typeface="Staatliches"/>
                <a:sym typeface="Staatliches"/>
              </a:rPr>
              <a:t>What kinds of exploratory data analysis will you do?</a:t>
            </a:r>
            <a:endParaRPr sz="2000">
              <a:latin typeface="Staatliches"/>
              <a:ea typeface="Staatliches"/>
              <a:cs typeface="Staatliches"/>
              <a:sym typeface="Staatliche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3" name="Shape 653"/>
        <p:cNvGrpSpPr/>
        <p:nvPr/>
      </p:nvGrpSpPr>
      <p:grpSpPr>
        <a:xfrm>
          <a:off x="0" y="0"/>
          <a:ext cx="0" cy="0"/>
          <a:chOff x="0" y="0"/>
          <a:chExt cx="0" cy="0"/>
        </a:xfrm>
      </p:grpSpPr>
      <p:grpSp>
        <p:nvGrpSpPr>
          <p:cNvPr id="654" name="Google Shape;654;p58"/>
          <p:cNvGrpSpPr/>
          <p:nvPr/>
        </p:nvGrpSpPr>
        <p:grpSpPr>
          <a:xfrm>
            <a:off x="332023" y="793116"/>
            <a:ext cx="8477811" cy="424375"/>
            <a:chOff x="933855" y="2469625"/>
            <a:chExt cx="7289606" cy="738300"/>
          </a:xfrm>
        </p:grpSpPr>
        <p:sp>
          <p:nvSpPr>
            <p:cNvPr id="655" name="Google Shape;655;p58"/>
            <p:cNvSpPr/>
            <p:nvPr/>
          </p:nvSpPr>
          <p:spPr>
            <a:xfrm>
              <a:off x="933855"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656" name="Google Shape;656;p58"/>
            <p:cNvSpPr/>
            <p:nvPr/>
          </p:nvSpPr>
          <p:spPr>
            <a:xfrm>
              <a:off x="239653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657" name="Google Shape;657;p58"/>
            <p:cNvSpPr/>
            <p:nvPr/>
          </p:nvSpPr>
          <p:spPr>
            <a:xfrm>
              <a:off x="5330931"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658" name="Google Shape;658;p58"/>
            <p:cNvSpPr/>
            <p:nvPr/>
          </p:nvSpPr>
          <p:spPr>
            <a:xfrm>
              <a:off x="6835360"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659" name="Google Shape;659;p58"/>
            <p:cNvSpPr/>
            <p:nvPr/>
          </p:nvSpPr>
          <p:spPr>
            <a:xfrm>
              <a:off x="385186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660" name="Google Shape;660;p58"/>
          <p:cNvGrpSpPr/>
          <p:nvPr/>
        </p:nvGrpSpPr>
        <p:grpSpPr>
          <a:xfrm>
            <a:off x="332025" y="1217500"/>
            <a:ext cx="8490075" cy="273000"/>
            <a:chOff x="332025" y="836500"/>
            <a:chExt cx="8490075" cy="273000"/>
          </a:xfrm>
        </p:grpSpPr>
        <p:sp>
          <p:nvSpPr>
            <p:cNvPr id="661" name="Google Shape;661;p58"/>
            <p:cNvSpPr/>
            <p:nvPr/>
          </p:nvSpPr>
          <p:spPr>
            <a:xfrm>
              <a:off x="37292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662" name="Google Shape;662;p58"/>
            <p:cNvSpPr/>
            <p:nvPr/>
          </p:nvSpPr>
          <p:spPr>
            <a:xfrm>
              <a:off x="20306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663" name="Google Shape;663;p58"/>
            <p:cNvSpPr/>
            <p:nvPr/>
          </p:nvSpPr>
          <p:spPr>
            <a:xfrm>
              <a:off x="545475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664" name="Google Shape;664;p58"/>
            <p:cNvSpPr/>
            <p:nvPr/>
          </p:nvSpPr>
          <p:spPr>
            <a:xfrm>
              <a:off x="3320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665" name="Google Shape;665;p58"/>
            <p:cNvSpPr/>
            <p:nvPr/>
          </p:nvSpPr>
          <p:spPr>
            <a:xfrm>
              <a:off x="720540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grpSp>
      <p:sp>
        <p:nvSpPr>
          <p:cNvPr id="666" name="Google Shape;666;p58"/>
          <p:cNvSpPr/>
          <p:nvPr/>
        </p:nvSpPr>
        <p:spPr>
          <a:xfrm>
            <a:off x="7610425" y="1756375"/>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667" name="Google Shape;667;p58"/>
          <p:cNvSpPr txBox="1"/>
          <p:nvPr/>
        </p:nvSpPr>
        <p:spPr>
          <a:xfrm>
            <a:off x="7250600" y="18397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sp>
        <p:nvSpPr>
          <p:cNvPr id="668" name="Google Shape;668;p58"/>
          <p:cNvSpPr/>
          <p:nvPr/>
        </p:nvSpPr>
        <p:spPr>
          <a:xfrm>
            <a:off x="2038450" y="784875"/>
            <a:ext cx="1619100" cy="705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9" name="Google Shape;669;p58"/>
          <p:cNvSpPr/>
          <p:nvPr/>
        </p:nvSpPr>
        <p:spPr>
          <a:xfrm>
            <a:off x="362700" y="1751288"/>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670" name="Google Shape;670;p58"/>
          <p:cNvSpPr txBox="1"/>
          <p:nvPr/>
        </p:nvSpPr>
        <p:spPr>
          <a:xfrm>
            <a:off x="344200" y="288425"/>
            <a:ext cx="847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Staatliches"/>
                <a:ea typeface="Staatliches"/>
                <a:cs typeface="Staatliches"/>
                <a:sym typeface="Staatliches"/>
              </a:rPr>
              <a:t>What data cleaning, conversion, or preparation will you need to do to prepare your data set?</a:t>
            </a:r>
            <a:endParaRPr sz="1800">
              <a:latin typeface="Staatliches"/>
              <a:ea typeface="Staatliches"/>
              <a:cs typeface="Staatliches"/>
              <a:sym typeface="Staatliches"/>
            </a:endParaRPr>
          </a:p>
        </p:txBody>
      </p:sp>
      <p:grpSp>
        <p:nvGrpSpPr>
          <p:cNvPr id="671" name="Google Shape;671;p58"/>
          <p:cNvGrpSpPr/>
          <p:nvPr/>
        </p:nvGrpSpPr>
        <p:grpSpPr>
          <a:xfrm>
            <a:off x="1403650" y="1756375"/>
            <a:ext cx="5966500" cy="643800"/>
            <a:chOff x="2936075" y="1851750"/>
            <a:chExt cx="5966500" cy="643800"/>
          </a:xfrm>
        </p:grpSpPr>
        <p:sp>
          <p:nvSpPr>
            <p:cNvPr id="672" name="Google Shape;672;p58"/>
            <p:cNvSpPr/>
            <p:nvPr/>
          </p:nvSpPr>
          <p:spPr>
            <a:xfrm>
              <a:off x="3383175" y="1851750"/>
              <a:ext cx="55194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skip</a:t>
              </a:r>
              <a:endParaRPr sz="900"/>
            </a:p>
          </p:txBody>
        </p:sp>
        <p:sp>
          <p:nvSpPr>
            <p:cNvPr id="673" name="Google Shape;673;p58"/>
            <p:cNvSpPr txBox="1"/>
            <p:nvPr/>
          </p:nvSpPr>
          <p:spPr>
            <a:xfrm>
              <a:off x="29360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grpSp>
        <p:nvGrpSpPr>
          <p:cNvPr id="678" name="Google Shape;678;p59"/>
          <p:cNvGrpSpPr/>
          <p:nvPr/>
        </p:nvGrpSpPr>
        <p:grpSpPr>
          <a:xfrm>
            <a:off x="332023" y="869316"/>
            <a:ext cx="8477811" cy="424375"/>
            <a:chOff x="933855" y="2469625"/>
            <a:chExt cx="7289606" cy="738300"/>
          </a:xfrm>
        </p:grpSpPr>
        <p:sp>
          <p:nvSpPr>
            <p:cNvPr id="679" name="Google Shape;679;p59"/>
            <p:cNvSpPr/>
            <p:nvPr/>
          </p:nvSpPr>
          <p:spPr>
            <a:xfrm>
              <a:off x="933855"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680" name="Google Shape;680;p59"/>
            <p:cNvSpPr/>
            <p:nvPr/>
          </p:nvSpPr>
          <p:spPr>
            <a:xfrm>
              <a:off x="239653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681" name="Google Shape;681;p59"/>
            <p:cNvSpPr/>
            <p:nvPr/>
          </p:nvSpPr>
          <p:spPr>
            <a:xfrm>
              <a:off x="5330931"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682" name="Google Shape;682;p59"/>
            <p:cNvSpPr/>
            <p:nvPr/>
          </p:nvSpPr>
          <p:spPr>
            <a:xfrm>
              <a:off x="6835360"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683" name="Google Shape;683;p59"/>
            <p:cNvSpPr/>
            <p:nvPr/>
          </p:nvSpPr>
          <p:spPr>
            <a:xfrm>
              <a:off x="385186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684" name="Google Shape;684;p59"/>
          <p:cNvGrpSpPr/>
          <p:nvPr/>
        </p:nvGrpSpPr>
        <p:grpSpPr>
          <a:xfrm>
            <a:off x="332025" y="1293700"/>
            <a:ext cx="8490075" cy="273000"/>
            <a:chOff x="332025" y="836500"/>
            <a:chExt cx="8490075" cy="273000"/>
          </a:xfrm>
        </p:grpSpPr>
        <p:sp>
          <p:nvSpPr>
            <p:cNvPr id="685" name="Google Shape;685;p59"/>
            <p:cNvSpPr/>
            <p:nvPr/>
          </p:nvSpPr>
          <p:spPr>
            <a:xfrm>
              <a:off x="37292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686" name="Google Shape;686;p59"/>
            <p:cNvSpPr/>
            <p:nvPr/>
          </p:nvSpPr>
          <p:spPr>
            <a:xfrm>
              <a:off x="20306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687" name="Google Shape;687;p59"/>
            <p:cNvSpPr/>
            <p:nvPr/>
          </p:nvSpPr>
          <p:spPr>
            <a:xfrm>
              <a:off x="545475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688" name="Google Shape;688;p59"/>
            <p:cNvSpPr/>
            <p:nvPr/>
          </p:nvSpPr>
          <p:spPr>
            <a:xfrm>
              <a:off x="3320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689" name="Google Shape;689;p59"/>
            <p:cNvSpPr/>
            <p:nvPr/>
          </p:nvSpPr>
          <p:spPr>
            <a:xfrm>
              <a:off x="720540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grpSp>
      <p:grpSp>
        <p:nvGrpSpPr>
          <p:cNvPr id="690" name="Google Shape;690;p59"/>
          <p:cNvGrpSpPr/>
          <p:nvPr/>
        </p:nvGrpSpPr>
        <p:grpSpPr>
          <a:xfrm>
            <a:off x="2859875" y="1851750"/>
            <a:ext cx="1668400" cy="643800"/>
            <a:chOff x="2859875" y="1851750"/>
            <a:chExt cx="1668400" cy="643800"/>
          </a:xfrm>
        </p:grpSpPr>
        <p:sp>
          <p:nvSpPr>
            <p:cNvPr id="691" name="Google Shape;691;p59"/>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null model</a:t>
              </a:r>
              <a:endParaRPr sz="900"/>
            </a:p>
          </p:txBody>
        </p:sp>
        <p:sp>
          <p:nvSpPr>
            <p:cNvPr id="692" name="Google Shape;692;p59"/>
            <p:cNvSpPr txBox="1"/>
            <p:nvPr/>
          </p:nvSpPr>
          <p:spPr>
            <a:xfrm>
              <a:off x="28598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693" name="Google Shape;693;p59"/>
          <p:cNvGrpSpPr/>
          <p:nvPr/>
        </p:nvGrpSpPr>
        <p:grpSpPr>
          <a:xfrm>
            <a:off x="4401500" y="1832575"/>
            <a:ext cx="1546000" cy="643800"/>
            <a:chOff x="4401500" y="1832575"/>
            <a:chExt cx="1546000" cy="643800"/>
          </a:xfrm>
        </p:grpSpPr>
        <p:sp>
          <p:nvSpPr>
            <p:cNvPr id="694" name="Google Shape;694;p59"/>
            <p:cNvSpPr/>
            <p:nvPr/>
          </p:nvSpPr>
          <p:spPr>
            <a:xfrm>
              <a:off x="4802400"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simple model</a:t>
              </a:r>
              <a:endParaRPr sz="900"/>
            </a:p>
          </p:txBody>
        </p:sp>
        <p:sp>
          <p:nvSpPr>
            <p:cNvPr id="695" name="Google Shape;695;p59"/>
            <p:cNvSpPr txBox="1"/>
            <p:nvPr/>
          </p:nvSpPr>
          <p:spPr>
            <a:xfrm>
              <a:off x="440150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696" name="Google Shape;696;p59"/>
          <p:cNvGrpSpPr/>
          <p:nvPr/>
        </p:nvGrpSpPr>
        <p:grpSpPr>
          <a:xfrm>
            <a:off x="5826050" y="1832575"/>
            <a:ext cx="1540675" cy="643800"/>
            <a:chOff x="5826050" y="1832575"/>
            <a:chExt cx="1540675" cy="643800"/>
          </a:xfrm>
        </p:grpSpPr>
        <p:sp>
          <p:nvSpPr>
            <p:cNvPr id="697" name="Google Shape;697;p59"/>
            <p:cNvSpPr/>
            <p:nvPr/>
          </p:nvSpPr>
          <p:spPr>
            <a:xfrm>
              <a:off x="6221625"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complex model</a:t>
              </a:r>
              <a:endParaRPr sz="900"/>
            </a:p>
          </p:txBody>
        </p:sp>
        <p:sp>
          <p:nvSpPr>
            <p:cNvPr id="698" name="Google Shape;698;p59"/>
            <p:cNvSpPr txBox="1"/>
            <p:nvPr/>
          </p:nvSpPr>
          <p:spPr>
            <a:xfrm>
              <a:off x="582605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699" name="Google Shape;699;p59"/>
          <p:cNvSpPr/>
          <p:nvPr/>
        </p:nvSpPr>
        <p:spPr>
          <a:xfrm>
            <a:off x="7610425" y="1832575"/>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700" name="Google Shape;700;p59"/>
          <p:cNvSpPr txBox="1"/>
          <p:nvPr/>
        </p:nvSpPr>
        <p:spPr>
          <a:xfrm>
            <a:off x="725060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sp>
        <p:nvSpPr>
          <p:cNvPr id="701" name="Google Shape;701;p59"/>
          <p:cNvSpPr/>
          <p:nvPr/>
        </p:nvSpPr>
        <p:spPr>
          <a:xfrm>
            <a:off x="3726625" y="861100"/>
            <a:ext cx="1619100" cy="705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2" name="Google Shape;702;p59"/>
          <p:cNvGrpSpPr/>
          <p:nvPr/>
        </p:nvGrpSpPr>
        <p:grpSpPr>
          <a:xfrm>
            <a:off x="1403650" y="1832575"/>
            <a:ext cx="1592200" cy="643800"/>
            <a:chOff x="2936075" y="1851750"/>
            <a:chExt cx="1592200" cy="643800"/>
          </a:xfrm>
        </p:grpSpPr>
        <p:sp>
          <p:nvSpPr>
            <p:cNvPr id="703" name="Google Shape;703;p59"/>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learning approach</a:t>
              </a:r>
              <a:endParaRPr sz="900"/>
            </a:p>
          </p:txBody>
        </p:sp>
        <p:sp>
          <p:nvSpPr>
            <p:cNvPr id="704" name="Google Shape;704;p59"/>
            <p:cNvSpPr txBox="1"/>
            <p:nvPr/>
          </p:nvSpPr>
          <p:spPr>
            <a:xfrm>
              <a:off x="29360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705" name="Google Shape;705;p59"/>
          <p:cNvSpPr/>
          <p:nvPr/>
        </p:nvSpPr>
        <p:spPr>
          <a:xfrm>
            <a:off x="1859563" y="379112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have target variable</a:t>
            </a:r>
            <a:endParaRPr sz="900"/>
          </a:p>
        </p:txBody>
      </p:sp>
      <p:sp>
        <p:nvSpPr>
          <p:cNvPr id="706" name="Google Shape;706;p59"/>
          <p:cNvSpPr/>
          <p:nvPr/>
        </p:nvSpPr>
        <p:spPr>
          <a:xfrm>
            <a:off x="1859563" y="27422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unsupervised</a:t>
            </a:r>
            <a:endParaRPr sz="900"/>
          </a:p>
        </p:txBody>
      </p:sp>
      <p:sp>
        <p:nvSpPr>
          <p:cNvPr id="707" name="Google Shape;707;p59"/>
          <p:cNvSpPr/>
          <p:nvPr/>
        </p:nvSpPr>
        <p:spPr>
          <a:xfrm>
            <a:off x="1859563" y="338607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clustering</a:t>
            </a:r>
            <a:endParaRPr sz="900">
              <a:solidFill>
                <a:schemeClr val="lt1"/>
              </a:solidFill>
            </a:endParaRPr>
          </a:p>
        </p:txBody>
      </p:sp>
      <p:sp>
        <p:nvSpPr>
          <p:cNvPr id="708" name="Google Shape;708;p59"/>
          <p:cNvSpPr/>
          <p:nvPr/>
        </p:nvSpPr>
        <p:spPr>
          <a:xfrm>
            <a:off x="1859575" y="4434925"/>
            <a:ext cx="1145100" cy="273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investigate clusters</a:t>
            </a:r>
            <a:endParaRPr sz="900">
              <a:solidFill>
                <a:schemeClr val="lt1"/>
              </a:solidFill>
            </a:endParaRPr>
          </a:p>
        </p:txBody>
      </p:sp>
      <p:sp>
        <p:nvSpPr>
          <p:cNvPr id="709" name="Google Shape;709;p59"/>
          <p:cNvSpPr/>
          <p:nvPr/>
        </p:nvSpPr>
        <p:spPr>
          <a:xfrm>
            <a:off x="362700" y="1827488"/>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710" name="Google Shape;710;p59"/>
          <p:cNvSpPr/>
          <p:nvPr/>
        </p:nvSpPr>
        <p:spPr>
          <a:xfrm>
            <a:off x="3383163" y="27422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randomly assigning records to k clusters</a:t>
            </a:r>
            <a:endParaRPr sz="900"/>
          </a:p>
        </p:txBody>
      </p:sp>
      <p:sp>
        <p:nvSpPr>
          <p:cNvPr id="711" name="Google Shape;711;p59"/>
          <p:cNvSpPr/>
          <p:nvPr/>
        </p:nvSpPr>
        <p:spPr>
          <a:xfrm>
            <a:off x="3383163" y="33860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use k from best-fit</a:t>
            </a:r>
            <a:endParaRPr sz="900">
              <a:solidFill>
                <a:schemeClr val="lt1"/>
              </a:solidFill>
            </a:endParaRPr>
          </a:p>
        </p:txBody>
      </p:sp>
      <p:sp>
        <p:nvSpPr>
          <p:cNvPr id="712" name="Google Shape;712;p59"/>
          <p:cNvSpPr/>
          <p:nvPr/>
        </p:nvSpPr>
        <p:spPr>
          <a:xfrm>
            <a:off x="4802388" y="27422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900">
                <a:solidFill>
                  <a:schemeClr val="dk1"/>
                </a:solidFill>
              </a:rPr>
              <a:t>Kmeans</a:t>
            </a:r>
            <a:endParaRPr b="1" sz="900">
              <a:solidFill>
                <a:schemeClr val="dk1"/>
              </a:solidFill>
            </a:endParaRPr>
          </a:p>
          <a:p>
            <a:pPr indent="0" lvl="0" marL="0" rtl="0" algn="ctr">
              <a:spcBef>
                <a:spcPts val="0"/>
              </a:spcBef>
              <a:spcAft>
                <a:spcPts val="0"/>
              </a:spcAft>
              <a:buClr>
                <a:schemeClr val="dk1"/>
              </a:buClr>
              <a:buSzPts val="1100"/>
              <a:buFont typeface="Arial"/>
              <a:buNone/>
            </a:pPr>
            <a:r>
              <a:rPr lang="en" sz="900">
                <a:solidFill>
                  <a:schemeClr val="dk1"/>
                </a:solidFill>
              </a:rPr>
              <a:t>n_clusters (2,20)</a:t>
            </a:r>
            <a:endParaRPr sz="900">
              <a:solidFill>
                <a:schemeClr val="dk1"/>
              </a:solidFill>
            </a:endParaRPr>
          </a:p>
          <a:p>
            <a:pPr indent="0" lvl="0" marL="0" rtl="0" algn="ctr">
              <a:spcBef>
                <a:spcPts val="0"/>
              </a:spcBef>
              <a:spcAft>
                <a:spcPts val="0"/>
              </a:spcAft>
              <a:buClr>
                <a:schemeClr val="dk1"/>
              </a:buClr>
              <a:buSzPts val="1100"/>
              <a:buFont typeface="Arial"/>
              <a:buNone/>
            </a:pPr>
            <a:r>
              <a:rPr lang="en" sz="900">
                <a:solidFill>
                  <a:schemeClr val="dk1"/>
                </a:solidFill>
              </a:rPr>
              <a:t>random_state (42)</a:t>
            </a:r>
            <a:endParaRPr sz="900"/>
          </a:p>
        </p:txBody>
      </p:sp>
      <p:sp>
        <p:nvSpPr>
          <p:cNvPr id="713" name="Google Shape;713;p59"/>
          <p:cNvSpPr/>
          <p:nvPr/>
        </p:nvSpPr>
        <p:spPr>
          <a:xfrm>
            <a:off x="4802388" y="33860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endParaRPr>
          </a:p>
        </p:txBody>
      </p:sp>
      <p:sp>
        <p:nvSpPr>
          <p:cNvPr id="714" name="Google Shape;714;p59"/>
          <p:cNvSpPr/>
          <p:nvPr/>
        </p:nvSpPr>
        <p:spPr>
          <a:xfrm>
            <a:off x="6221613" y="27422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none</a:t>
            </a:r>
            <a:endParaRPr sz="900"/>
          </a:p>
        </p:txBody>
      </p:sp>
      <p:sp>
        <p:nvSpPr>
          <p:cNvPr id="715" name="Google Shape;715;p59"/>
          <p:cNvSpPr/>
          <p:nvPr/>
        </p:nvSpPr>
        <p:spPr>
          <a:xfrm>
            <a:off x="6221613" y="33860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skip</a:t>
            </a:r>
            <a:endParaRPr sz="900">
              <a:solidFill>
                <a:schemeClr val="lt1"/>
              </a:solidFill>
            </a:endParaRPr>
          </a:p>
        </p:txBody>
      </p:sp>
      <p:sp>
        <p:nvSpPr>
          <p:cNvPr id="716" name="Google Shape;716;p59"/>
          <p:cNvSpPr txBox="1"/>
          <p:nvPr/>
        </p:nvSpPr>
        <p:spPr>
          <a:xfrm>
            <a:off x="338050" y="136025"/>
            <a:ext cx="8477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Staatliches"/>
                <a:ea typeface="Staatliches"/>
                <a:cs typeface="Staatliches"/>
                <a:sym typeface="Staatliches"/>
              </a:rPr>
              <a:t>Which machine learning algorithms will you use to train models? </a:t>
            </a:r>
            <a:endParaRPr sz="1800">
              <a:latin typeface="Staatliches"/>
              <a:ea typeface="Staatliches"/>
              <a:cs typeface="Staatliches"/>
              <a:sym typeface="Staatliches"/>
            </a:endParaRPr>
          </a:p>
          <a:p>
            <a:pPr indent="0" lvl="0" marL="0" rtl="0" algn="ctr">
              <a:spcBef>
                <a:spcPts val="0"/>
              </a:spcBef>
              <a:spcAft>
                <a:spcPts val="0"/>
              </a:spcAft>
              <a:buClr>
                <a:schemeClr val="dk1"/>
              </a:buClr>
              <a:buSzPts val="1100"/>
              <a:buFont typeface="Arial"/>
              <a:buNone/>
            </a:pPr>
            <a:r>
              <a:rPr lang="en" sz="1800">
                <a:latin typeface="Staatliches"/>
                <a:ea typeface="Staatliches"/>
                <a:cs typeface="Staatliches"/>
                <a:sym typeface="Staatliches"/>
              </a:rPr>
              <a:t>Why are you choosing these algorithms?</a:t>
            </a:r>
            <a:endParaRPr sz="1800">
              <a:latin typeface="Staatliches"/>
              <a:ea typeface="Staatliches"/>
              <a:cs typeface="Staatliches"/>
              <a:sym typeface="Staatliches"/>
            </a:endParaRPr>
          </a:p>
          <a:p>
            <a:pPr indent="0" lvl="0" marL="0" rtl="0" algn="l">
              <a:spcBef>
                <a:spcPts val="0"/>
              </a:spcBef>
              <a:spcAft>
                <a:spcPts val="0"/>
              </a:spcAft>
              <a:buNone/>
            </a:pPr>
            <a:r>
              <a:t/>
            </a:r>
            <a:endParaRPr sz="1800">
              <a:latin typeface="Staatliches"/>
              <a:ea typeface="Staatliches"/>
              <a:cs typeface="Staatliches"/>
              <a:sym typeface="Staatliche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0" name="Shape 720"/>
        <p:cNvGrpSpPr/>
        <p:nvPr/>
      </p:nvGrpSpPr>
      <p:grpSpPr>
        <a:xfrm>
          <a:off x="0" y="0"/>
          <a:ext cx="0" cy="0"/>
          <a:chOff x="0" y="0"/>
          <a:chExt cx="0" cy="0"/>
        </a:xfrm>
      </p:grpSpPr>
      <p:grpSp>
        <p:nvGrpSpPr>
          <p:cNvPr id="721" name="Google Shape;721;p60"/>
          <p:cNvGrpSpPr/>
          <p:nvPr/>
        </p:nvGrpSpPr>
        <p:grpSpPr>
          <a:xfrm>
            <a:off x="332023" y="716916"/>
            <a:ext cx="8477811" cy="424375"/>
            <a:chOff x="933855" y="2469625"/>
            <a:chExt cx="7289606" cy="738300"/>
          </a:xfrm>
        </p:grpSpPr>
        <p:sp>
          <p:nvSpPr>
            <p:cNvPr id="722" name="Google Shape;722;p60"/>
            <p:cNvSpPr/>
            <p:nvPr/>
          </p:nvSpPr>
          <p:spPr>
            <a:xfrm>
              <a:off x="933855"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723" name="Google Shape;723;p60"/>
            <p:cNvSpPr/>
            <p:nvPr/>
          </p:nvSpPr>
          <p:spPr>
            <a:xfrm>
              <a:off x="239653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724" name="Google Shape;724;p60"/>
            <p:cNvSpPr/>
            <p:nvPr/>
          </p:nvSpPr>
          <p:spPr>
            <a:xfrm>
              <a:off x="5330931"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725" name="Google Shape;725;p60"/>
            <p:cNvSpPr/>
            <p:nvPr/>
          </p:nvSpPr>
          <p:spPr>
            <a:xfrm>
              <a:off x="6835360"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726" name="Google Shape;726;p60"/>
            <p:cNvSpPr/>
            <p:nvPr/>
          </p:nvSpPr>
          <p:spPr>
            <a:xfrm>
              <a:off x="385186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727" name="Google Shape;727;p60"/>
          <p:cNvGrpSpPr/>
          <p:nvPr/>
        </p:nvGrpSpPr>
        <p:grpSpPr>
          <a:xfrm>
            <a:off x="332025" y="1141300"/>
            <a:ext cx="8490075" cy="273000"/>
            <a:chOff x="332025" y="836500"/>
            <a:chExt cx="8490075" cy="273000"/>
          </a:xfrm>
        </p:grpSpPr>
        <p:sp>
          <p:nvSpPr>
            <p:cNvPr id="728" name="Google Shape;728;p60"/>
            <p:cNvSpPr/>
            <p:nvPr/>
          </p:nvSpPr>
          <p:spPr>
            <a:xfrm>
              <a:off x="37292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729" name="Google Shape;729;p60"/>
            <p:cNvSpPr/>
            <p:nvPr/>
          </p:nvSpPr>
          <p:spPr>
            <a:xfrm>
              <a:off x="20306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730" name="Google Shape;730;p60"/>
            <p:cNvSpPr/>
            <p:nvPr/>
          </p:nvSpPr>
          <p:spPr>
            <a:xfrm>
              <a:off x="545475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731" name="Google Shape;731;p60"/>
            <p:cNvSpPr/>
            <p:nvPr/>
          </p:nvSpPr>
          <p:spPr>
            <a:xfrm>
              <a:off x="3320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732" name="Google Shape;732;p60"/>
            <p:cNvSpPr/>
            <p:nvPr/>
          </p:nvSpPr>
          <p:spPr>
            <a:xfrm>
              <a:off x="720540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grpSp>
      <p:sp>
        <p:nvSpPr>
          <p:cNvPr id="733" name="Google Shape;733;p60"/>
          <p:cNvSpPr/>
          <p:nvPr/>
        </p:nvSpPr>
        <p:spPr>
          <a:xfrm>
            <a:off x="3383175" y="30470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900">
                <a:solidFill>
                  <a:schemeClr val="dk1"/>
                </a:solidFill>
              </a:rPr>
              <a:t>Kmeans</a:t>
            </a:r>
            <a:endParaRPr b="1" sz="900">
              <a:solidFill>
                <a:schemeClr val="dk1"/>
              </a:solidFill>
            </a:endParaRPr>
          </a:p>
          <a:p>
            <a:pPr indent="0" lvl="0" marL="0" rtl="0" algn="ctr">
              <a:spcBef>
                <a:spcPts val="0"/>
              </a:spcBef>
              <a:spcAft>
                <a:spcPts val="0"/>
              </a:spcAft>
              <a:buClr>
                <a:schemeClr val="dk1"/>
              </a:buClr>
              <a:buSzPts val="1100"/>
              <a:buFont typeface="Arial"/>
              <a:buNone/>
            </a:pPr>
            <a:r>
              <a:rPr lang="en" sz="900">
                <a:solidFill>
                  <a:schemeClr val="dk1"/>
                </a:solidFill>
              </a:rPr>
              <a:t>n_clusters (2,20)</a:t>
            </a:r>
            <a:endParaRPr sz="900">
              <a:solidFill>
                <a:schemeClr val="dk1"/>
              </a:solidFill>
            </a:endParaRPr>
          </a:p>
          <a:p>
            <a:pPr indent="0" lvl="0" marL="0" rtl="0" algn="ctr">
              <a:spcBef>
                <a:spcPts val="0"/>
              </a:spcBef>
              <a:spcAft>
                <a:spcPts val="0"/>
              </a:spcAft>
              <a:buClr>
                <a:schemeClr val="dk1"/>
              </a:buClr>
              <a:buSzPts val="1100"/>
              <a:buFont typeface="Arial"/>
              <a:buNone/>
            </a:pPr>
            <a:r>
              <a:rPr lang="en" sz="900">
                <a:solidFill>
                  <a:schemeClr val="dk1"/>
                </a:solidFill>
              </a:rPr>
              <a:t>random_state (42)</a:t>
            </a:r>
            <a:endParaRPr sz="900"/>
          </a:p>
        </p:txBody>
      </p:sp>
      <p:grpSp>
        <p:nvGrpSpPr>
          <p:cNvPr id="734" name="Google Shape;734;p60"/>
          <p:cNvGrpSpPr/>
          <p:nvPr/>
        </p:nvGrpSpPr>
        <p:grpSpPr>
          <a:xfrm>
            <a:off x="414250" y="2156550"/>
            <a:ext cx="2656713" cy="643800"/>
            <a:chOff x="414250" y="1851750"/>
            <a:chExt cx="2656713" cy="643800"/>
          </a:xfrm>
        </p:grpSpPr>
        <p:sp>
          <p:nvSpPr>
            <p:cNvPr id="735" name="Google Shape;735;p60"/>
            <p:cNvSpPr/>
            <p:nvPr/>
          </p:nvSpPr>
          <p:spPr>
            <a:xfrm>
              <a:off x="1871563" y="1851750"/>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736" name="Google Shape;736;p60"/>
            <p:cNvSpPr/>
            <p:nvPr/>
          </p:nvSpPr>
          <p:spPr>
            <a:xfrm>
              <a:off x="414250" y="1851750"/>
              <a:ext cx="11451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737" name="Google Shape;737;p60"/>
            <p:cNvSpPr txBox="1"/>
            <p:nvPr/>
          </p:nvSpPr>
          <p:spPr>
            <a:xfrm>
              <a:off x="1542850" y="1915975"/>
              <a:ext cx="2619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738" name="Google Shape;738;p60"/>
          <p:cNvGrpSpPr/>
          <p:nvPr/>
        </p:nvGrpSpPr>
        <p:grpSpPr>
          <a:xfrm>
            <a:off x="2936075" y="2156550"/>
            <a:ext cx="1592200" cy="643800"/>
            <a:chOff x="2936075" y="1851750"/>
            <a:chExt cx="1592200" cy="643800"/>
          </a:xfrm>
        </p:grpSpPr>
        <p:sp>
          <p:nvSpPr>
            <p:cNvPr id="739" name="Google Shape;739;p60"/>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tune hyperparameters</a:t>
              </a:r>
              <a:endParaRPr sz="900"/>
            </a:p>
          </p:txBody>
        </p:sp>
        <p:sp>
          <p:nvSpPr>
            <p:cNvPr id="740" name="Google Shape;740;p60"/>
            <p:cNvSpPr txBox="1"/>
            <p:nvPr/>
          </p:nvSpPr>
          <p:spPr>
            <a:xfrm>
              <a:off x="29360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741" name="Google Shape;741;p60"/>
          <p:cNvGrpSpPr/>
          <p:nvPr/>
        </p:nvGrpSpPr>
        <p:grpSpPr>
          <a:xfrm>
            <a:off x="4401500" y="2137375"/>
            <a:ext cx="1546000" cy="643800"/>
            <a:chOff x="4401500" y="1832575"/>
            <a:chExt cx="1546000" cy="643800"/>
          </a:xfrm>
        </p:grpSpPr>
        <p:sp>
          <p:nvSpPr>
            <p:cNvPr id="742" name="Google Shape;742;p60"/>
            <p:cNvSpPr/>
            <p:nvPr/>
          </p:nvSpPr>
          <p:spPr>
            <a:xfrm>
              <a:off x="4802400"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select test set</a:t>
              </a:r>
              <a:endParaRPr sz="900"/>
            </a:p>
          </p:txBody>
        </p:sp>
        <p:sp>
          <p:nvSpPr>
            <p:cNvPr id="743" name="Google Shape;743;p60"/>
            <p:cNvSpPr txBox="1"/>
            <p:nvPr/>
          </p:nvSpPr>
          <p:spPr>
            <a:xfrm>
              <a:off x="440150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744" name="Google Shape;744;p60"/>
          <p:cNvGrpSpPr/>
          <p:nvPr/>
        </p:nvGrpSpPr>
        <p:grpSpPr>
          <a:xfrm>
            <a:off x="5826050" y="2137375"/>
            <a:ext cx="1540675" cy="643800"/>
            <a:chOff x="5826050" y="1832575"/>
            <a:chExt cx="1540675" cy="643800"/>
          </a:xfrm>
        </p:grpSpPr>
        <p:sp>
          <p:nvSpPr>
            <p:cNvPr id="745" name="Google Shape;745;p60"/>
            <p:cNvSpPr/>
            <p:nvPr/>
          </p:nvSpPr>
          <p:spPr>
            <a:xfrm>
              <a:off x="6221625"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train models</a:t>
              </a:r>
              <a:endParaRPr sz="900"/>
            </a:p>
          </p:txBody>
        </p:sp>
        <p:sp>
          <p:nvSpPr>
            <p:cNvPr id="746" name="Google Shape;746;p60"/>
            <p:cNvSpPr txBox="1"/>
            <p:nvPr/>
          </p:nvSpPr>
          <p:spPr>
            <a:xfrm>
              <a:off x="582605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747" name="Google Shape;747;p60"/>
          <p:cNvSpPr/>
          <p:nvPr/>
        </p:nvSpPr>
        <p:spPr>
          <a:xfrm>
            <a:off x="7610425" y="2137375"/>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best fit model</a:t>
            </a:r>
            <a:endParaRPr sz="900">
              <a:solidFill>
                <a:schemeClr val="lt1"/>
              </a:solidFill>
            </a:endParaRPr>
          </a:p>
        </p:txBody>
      </p:sp>
      <p:sp>
        <p:nvSpPr>
          <p:cNvPr id="748" name="Google Shape;748;p60"/>
          <p:cNvSpPr txBox="1"/>
          <p:nvPr/>
        </p:nvSpPr>
        <p:spPr>
          <a:xfrm>
            <a:off x="7250600" y="22207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sp>
        <p:nvSpPr>
          <p:cNvPr id="749" name="Google Shape;749;p60"/>
          <p:cNvSpPr/>
          <p:nvPr/>
        </p:nvSpPr>
        <p:spPr>
          <a:xfrm>
            <a:off x="4802400" y="30470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unsupervised</a:t>
            </a:r>
            <a:endParaRPr sz="900"/>
          </a:p>
        </p:txBody>
      </p:sp>
      <p:sp>
        <p:nvSpPr>
          <p:cNvPr id="750" name="Google Shape;750;p60"/>
          <p:cNvSpPr/>
          <p:nvPr/>
        </p:nvSpPr>
        <p:spPr>
          <a:xfrm>
            <a:off x="3383175" y="369087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lt1"/>
              </a:solidFill>
            </a:endParaRPr>
          </a:p>
        </p:txBody>
      </p:sp>
      <p:sp>
        <p:nvSpPr>
          <p:cNvPr id="751" name="Google Shape;751;p60"/>
          <p:cNvSpPr/>
          <p:nvPr/>
        </p:nvSpPr>
        <p:spPr>
          <a:xfrm>
            <a:off x="4802400" y="369087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none</a:t>
            </a:r>
            <a:endParaRPr sz="900">
              <a:solidFill>
                <a:schemeClr val="lt1"/>
              </a:solidFill>
            </a:endParaRPr>
          </a:p>
        </p:txBody>
      </p:sp>
      <p:sp>
        <p:nvSpPr>
          <p:cNvPr id="752" name="Google Shape;752;p60"/>
          <p:cNvSpPr/>
          <p:nvPr/>
        </p:nvSpPr>
        <p:spPr>
          <a:xfrm>
            <a:off x="6221625" y="30470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Find best fit model</a:t>
            </a:r>
            <a:endParaRPr sz="900"/>
          </a:p>
        </p:txBody>
      </p:sp>
      <p:sp>
        <p:nvSpPr>
          <p:cNvPr id="753" name="Google Shape;753;p60"/>
          <p:cNvSpPr/>
          <p:nvPr/>
        </p:nvSpPr>
        <p:spPr>
          <a:xfrm>
            <a:off x="6221625" y="3614675"/>
            <a:ext cx="1145100" cy="273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silhouette score</a:t>
            </a:r>
            <a:endParaRPr sz="900">
              <a:solidFill>
                <a:schemeClr val="lt1"/>
              </a:solidFill>
            </a:endParaRPr>
          </a:p>
        </p:txBody>
      </p:sp>
      <p:grpSp>
        <p:nvGrpSpPr>
          <p:cNvPr id="754" name="Google Shape;754;p60"/>
          <p:cNvGrpSpPr/>
          <p:nvPr/>
        </p:nvGrpSpPr>
        <p:grpSpPr>
          <a:xfrm>
            <a:off x="1699047" y="1487375"/>
            <a:ext cx="5105290" cy="688075"/>
            <a:chOff x="1699047" y="1182575"/>
            <a:chExt cx="5105290" cy="688075"/>
          </a:xfrm>
        </p:grpSpPr>
        <p:sp>
          <p:nvSpPr>
            <p:cNvPr id="755" name="Google Shape;755;p60"/>
            <p:cNvSpPr/>
            <p:nvPr/>
          </p:nvSpPr>
          <p:spPr>
            <a:xfrm>
              <a:off x="1699047" y="1422200"/>
              <a:ext cx="5105290" cy="448450"/>
            </a:xfrm>
            <a:custGeom>
              <a:rect b="b" l="l" r="r" t="t"/>
              <a:pathLst>
                <a:path extrusionOk="0" h="17938" w="167318">
                  <a:moveTo>
                    <a:pt x="167319" y="16796"/>
                  </a:moveTo>
                  <a:cubicBezTo>
                    <a:pt x="165033" y="14320"/>
                    <a:pt x="170367" y="4604"/>
                    <a:pt x="153603" y="1937"/>
                  </a:cubicBezTo>
                  <a:cubicBezTo>
                    <a:pt x="136839" y="-730"/>
                    <a:pt x="91056" y="858"/>
                    <a:pt x="66735" y="794"/>
                  </a:cubicBezTo>
                  <a:cubicBezTo>
                    <a:pt x="42415" y="731"/>
                    <a:pt x="18793" y="-1301"/>
                    <a:pt x="7680" y="1556"/>
                  </a:cubicBezTo>
                  <a:cubicBezTo>
                    <a:pt x="-3432" y="4414"/>
                    <a:pt x="1330" y="15209"/>
                    <a:pt x="60" y="17939"/>
                  </a:cubicBezTo>
                </a:path>
              </a:pathLst>
            </a:custGeom>
            <a:noFill/>
            <a:ln cap="flat" cmpd="sng" w="9525">
              <a:solidFill>
                <a:schemeClr val="dk2"/>
              </a:solidFill>
              <a:prstDash val="solid"/>
              <a:round/>
              <a:headEnd len="med" w="med" type="none"/>
              <a:tailEnd len="med" w="med" type="stealth"/>
            </a:ln>
          </p:spPr>
        </p:sp>
        <p:sp>
          <p:nvSpPr>
            <p:cNvPr id="756" name="Google Shape;756;p60"/>
            <p:cNvSpPr txBox="1"/>
            <p:nvPr/>
          </p:nvSpPr>
          <p:spPr>
            <a:xfrm>
              <a:off x="2976275" y="1182575"/>
              <a:ext cx="3121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change complexity by feature OR algo selection</a:t>
              </a:r>
              <a:endParaRPr/>
            </a:p>
          </p:txBody>
        </p:sp>
      </p:grpSp>
      <p:sp>
        <p:nvSpPr>
          <p:cNvPr id="757" name="Google Shape;757;p60"/>
          <p:cNvSpPr/>
          <p:nvPr/>
        </p:nvSpPr>
        <p:spPr>
          <a:xfrm>
            <a:off x="5451925" y="704825"/>
            <a:ext cx="1619100" cy="705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8" name="Google Shape;758;p60"/>
          <p:cNvSpPr txBox="1"/>
          <p:nvPr/>
        </p:nvSpPr>
        <p:spPr>
          <a:xfrm>
            <a:off x="344200" y="212225"/>
            <a:ext cx="8477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latin typeface="Staatliches"/>
                <a:ea typeface="Staatliches"/>
                <a:cs typeface="Staatliches"/>
                <a:sym typeface="Staatliches"/>
              </a:rPr>
              <a:t>How will you attempt to optimize your models?</a:t>
            </a:r>
            <a:endParaRPr sz="2200">
              <a:latin typeface="Staatliches"/>
              <a:ea typeface="Staatliches"/>
              <a:cs typeface="Staatliches"/>
              <a:sym typeface="Staatlich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2" name="Shape 762"/>
        <p:cNvGrpSpPr/>
        <p:nvPr/>
      </p:nvGrpSpPr>
      <p:grpSpPr>
        <a:xfrm>
          <a:off x="0" y="0"/>
          <a:ext cx="0" cy="0"/>
          <a:chOff x="0" y="0"/>
          <a:chExt cx="0" cy="0"/>
        </a:xfrm>
      </p:grpSpPr>
      <p:grpSp>
        <p:nvGrpSpPr>
          <p:cNvPr id="763" name="Google Shape;763;p61"/>
          <p:cNvGrpSpPr/>
          <p:nvPr/>
        </p:nvGrpSpPr>
        <p:grpSpPr>
          <a:xfrm>
            <a:off x="332023" y="716916"/>
            <a:ext cx="8477811" cy="424375"/>
            <a:chOff x="933855" y="2469625"/>
            <a:chExt cx="7289606" cy="738300"/>
          </a:xfrm>
        </p:grpSpPr>
        <p:sp>
          <p:nvSpPr>
            <p:cNvPr id="764" name="Google Shape;764;p61"/>
            <p:cNvSpPr/>
            <p:nvPr/>
          </p:nvSpPr>
          <p:spPr>
            <a:xfrm>
              <a:off x="933855"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Exploring Data</a:t>
              </a:r>
              <a:endParaRPr/>
            </a:p>
          </p:txBody>
        </p:sp>
        <p:sp>
          <p:nvSpPr>
            <p:cNvPr id="765" name="Google Shape;765;p61"/>
            <p:cNvSpPr/>
            <p:nvPr/>
          </p:nvSpPr>
          <p:spPr>
            <a:xfrm>
              <a:off x="239653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Data cleaning</a:t>
              </a:r>
              <a:endParaRPr/>
            </a:p>
          </p:txBody>
        </p:sp>
        <p:sp>
          <p:nvSpPr>
            <p:cNvPr id="766" name="Google Shape;766;p61"/>
            <p:cNvSpPr/>
            <p:nvPr/>
          </p:nvSpPr>
          <p:spPr>
            <a:xfrm>
              <a:off x="5330931"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training</a:t>
              </a:r>
              <a:endParaRPr/>
            </a:p>
          </p:txBody>
        </p:sp>
        <p:sp>
          <p:nvSpPr>
            <p:cNvPr id="767" name="Google Shape;767;p61"/>
            <p:cNvSpPr/>
            <p:nvPr/>
          </p:nvSpPr>
          <p:spPr>
            <a:xfrm>
              <a:off x="6835360"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evaluation</a:t>
              </a:r>
              <a:endParaRPr/>
            </a:p>
          </p:txBody>
        </p:sp>
        <p:sp>
          <p:nvSpPr>
            <p:cNvPr id="768" name="Google Shape;768;p61"/>
            <p:cNvSpPr/>
            <p:nvPr/>
          </p:nvSpPr>
          <p:spPr>
            <a:xfrm>
              <a:off x="3851867" y="2469625"/>
              <a:ext cx="1388100" cy="738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Model selection</a:t>
              </a:r>
              <a:endParaRPr/>
            </a:p>
          </p:txBody>
        </p:sp>
      </p:grpSp>
      <p:grpSp>
        <p:nvGrpSpPr>
          <p:cNvPr id="769" name="Google Shape;769;p61"/>
          <p:cNvGrpSpPr/>
          <p:nvPr/>
        </p:nvGrpSpPr>
        <p:grpSpPr>
          <a:xfrm>
            <a:off x="332025" y="1141300"/>
            <a:ext cx="8490075" cy="273000"/>
            <a:chOff x="332025" y="836500"/>
            <a:chExt cx="8490075" cy="273000"/>
          </a:xfrm>
        </p:grpSpPr>
        <p:sp>
          <p:nvSpPr>
            <p:cNvPr id="770" name="Google Shape;770;p61"/>
            <p:cNvSpPr/>
            <p:nvPr/>
          </p:nvSpPr>
          <p:spPr>
            <a:xfrm>
              <a:off x="37292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selected algorithms</a:t>
              </a:r>
              <a:endParaRPr sz="900">
                <a:solidFill>
                  <a:schemeClr val="lt1"/>
                </a:solidFill>
              </a:endParaRPr>
            </a:p>
          </p:txBody>
        </p:sp>
        <p:sp>
          <p:nvSpPr>
            <p:cNvPr id="771" name="Google Shape;771;p61"/>
            <p:cNvSpPr/>
            <p:nvPr/>
          </p:nvSpPr>
          <p:spPr>
            <a:xfrm>
              <a:off x="20306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cleaned data</a:t>
              </a:r>
              <a:endParaRPr sz="900">
                <a:solidFill>
                  <a:schemeClr val="lt1"/>
                </a:solidFill>
              </a:endParaRPr>
            </a:p>
          </p:txBody>
        </p:sp>
        <p:sp>
          <p:nvSpPr>
            <p:cNvPr id="772" name="Google Shape;772;p61"/>
            <p:cNvSpPr/>
            <p:nvPr/>
          </p:nvSpPr>
          <p:spPr>
            <a:xfrm>
              <a:off x="545475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773" name="Google Shape;773;p61"/>
            <p:cNvSpPr/>
            <p:nvPr/>
          </p:nvSpPr>
          <p:spPr>
            <a:xfrm>
              <a:off x="332025"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data insights</a:t>
              </a:r>
              <a:endParaRPr sz="900">
                <a:solidFill>
                  <a:schemeClr val="lt1"/>
                </a:solidFill>
              </a:endParaRPr>
            </a:p>
          </p:txBody>
        </p:sp>
        <p:sp>
          <p:nvSpPr>
            <p:cNvPr id="774" name="Google Shape;774;p61"/>
            <p:cNvSpPr/>
            <p:nvPr/>
          </p:nvSpPr>
          <p:spPr>
            <a:xfrm>
              <a:off x="7205400" y="836500"/>
              <a:ext cx="1616700" cy="2730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grpSp>
      <p:grpSp>
        <p:nvGrpSpPr>
          <p:cNvPr id="775" name="Google Shape;775;p61"/>
          <p:cNvGrpSpPr/>
          <p:nvPr/>
        </p:nvGrpSpPr>
        <p:grpSpPr>
          <a:xfrm>
            <a:off x="2859875" y="1699350"/>
            <a:ext cx="1668400" cy="643800"/>
            <a:chOff x="2859875" y="1851750"/>
            <a:chExt cx="1668400" cy="643800"/>
          </a:xfrm>
        </p:grpSpPr>
        <p:sp>
          <p:nvSpPr>
            <p:cNvPr id="776" name="Google Shape;776;p61"/>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 quality</a:t>
              </a:r>
              <a:endParaRPr sz="900"/>
            </a:p>
          </p:txBody>
        </p:sp>
        <p:sp>
          <p:nvSpPr>
            <p:cNvPr id="777" name="Google Shape;777;p61"/>
            <p:cNvSpPr txBox="1"/>
            <p:nvPr/>
          </p:nvSpPr>
          <p:spPr>
            <a:xfrm>
              <a:off x="28598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778" name="Google Shape;778;p61"/>
          <p:cNvGrpSpPr/>
          <p:nvPr/>
        </p:nvGrpSpPr>
        <p:grpSpPr>
          <a:xfrm>
            <a:off x="4401500" y="1680175"/>
            <a:ext cx="1546000" cy="643800"/>
            <a:chOff x="4401500" y="1832575"/>
            <a:chExt cx="1546000" cy="643800"/>
          </a:xfrm>
        </p:grpSpPr>
        <p:sp>
          <p:nvSpPr>
            <p:cNvPr id="779" name="Google Shape;779;p61"/>
            <p:cNvSpPr/>
            <p:nvPr/>
          </p:nvSpPr>
          <p:spPr>
            <a:xfrm>
              <a:off x="4802400"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 investigation</a:t>
              </a:r>
              <a:endParaRPr sz="900"/>
            </a:p>
          </p:txBody>
        </p:sp>
        <p:sp>
          <p:nvSpPr>
            <p:cNvPr id="780" name="Google Shape;780;p61"/>
            <p:cNvSpPr txBox="1"/>
            <p:nvPr/>
          </p:nvSpPr>
          <p:spPr>
            <a:xfrm>
              <a:off x="440150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grpSp>
        <p:nvGrpSpPr>
          <p:cNvPr id="781" name="Google Shape;781;p61"/>
          <p:cNvGrpSpPr/>
          <p:nvPr/>
        </p:nvGrpSpPr>
        <p:grpSpPr>
          <a:xfrm>
            <a:off x="5826050" y="1680175"/>
            <a:ext cx="1540675" cy="643800"/>
            <a:chOff x="5826050" y="1832575"/>
            <a:chExt cx="1540675" cy="643800"/>
          </a:xfrm>
        </p:grpSpPr>
        <p:sp>
          <p:nvSpPr>
            <p:cNvPr id="782" name="Google Shape;782;p61"/>
            <p:cNvSpPr/>
            <p:nvPr/>
          </p:nvSpPr>
          <p:spPr>
            <a:xfrm>
              <a:off x="6221625" y="1832575"/>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results</a:t>
              </a:r>
              <a:endParaRPr sz="900"/>
            </a:p>
          </p:txBody>
        </p:sp>
        <p:sp>
          <p:nvSpPr>
            <p:cNvPr id="783" name="Google Shape;783;p61"/>
            <p:cNvSpPr txBox="1"/>
            <p:nvPr/>
          </p:nvSpPr>
          <p:spPr>
            <a:xfrm>
              <a:off x="5826050"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784" name="Google Shape;784;p61"/>
          <p:cNvSpPr/>
          <p:nvPr/>
        </p:nvSpPr>
        <p:spPr>
          <a:xfrm>
            <a:off x="7610425" y="1680175"/>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model insights</a:t>
            </a:r>
            <a:endParaRPr sz="900">
              <a:solidFill>
                <a:schemeClr val="lt1"/>
              </a:solidFill>
            </a:endParaRPr>
          </a:p>
        </p:txBody>
      </p:sp>
      <p:sp>
        <p:nvSpPr>
          <p:cNvPr id="785" name="Google Shape;785;p61"/>
          <p:cNvSpPr txBox="1"/>
          <p:nvPr/>
        </p:nvSpPr>
        <p:spPr>
          <a:xfrm>
            <a:off x="7250600" y="17635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sp>
        <p:nvSpPr>
          <p:cNvPr id="786" name="Google Shape;786;p61"/>
          <p:cNvSpPr/>
          <p:nvPr/>
        </p:nvSpPr>
        <p:spPr>
          <a:xfrm>
            <a:off x="7203000" y="708700"/>
            <a:ext cx="1619100" cy="7056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87" name="Google Shape;787;p61"/>
          <p:cNvGrpSpPr/>
          <p:nvPr/>
        </p:nvGrpSpPr>
        <p:grpSpPr>
          <a:xfrm>
            <a:off x="1403650" y="1680175"/>
            <a:ext cx="1592200" cy="643800"/>
            <a:chOff x="2936075" y="1851750"/>
            <a:chExt cx="1592200" cy="643800"/>
          </a:xfrm>
        </p:grpSpPr>
        <p:sp>
          <p:nvSpPr>
            <p:cNvPr id="788" name="Google Shape;788;p61"/>
            <p:cNvSpPr/>
            <p:nvPr/>
          </p:nvSpPr>
          <p:spPr>
            <a:xfrm>
              <a:off x="3383175" y="1851750"/>
              <a:ext cx="1145100" cy="643800"/>
            </a:xfrm>
            <a:prstGeom prst="rect">
              <a:avLst/>
            </a:prstGeom>
            <a:solidFill>
              <a:srgbClr val="C6B8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clustering metric</a:t>
              </a:r>
              <a:endParaRPr sz="900"/>
            </a:p>
          </p:txBody>
        </p:sp>
        <p:sp>
          <p:nvSpPr>
            <p:cNvPr id="789" name="Google Shape;789;p61"/>
            <p:cNvSpPr txBox="1"/>
            <p:nvPr/>
          </p:nvSpPr>
          <p:spPr>
            <a:xfrm>
              <a:off x="2936075" y="1915975"/>
              <a:ext cx="489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rPr>
                <a:t>→</a:t>
              </a:r>
              <a:endParaRPr sz="2400"/>
            </a:p>
          </p:txBody>
        </p:sp>
      </p:grpSp>
      <p:sp>
        <p:nvSpPr>
          <p:cNvPr id="790" name="Google Shape;790;p61"/>
          <p:cNvSpPr/>
          <p:nvPr/>
        </p:nvSpPr>
        <p:spPr>
          <a:xfrm>
            <a:off x="1859563" y="2589875"/>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silhouette score to find best fit model</a:t>
            </a:r>
            <a:endParaRPr sz="900"/>
          </a:p>
        </p:txBody>
      </p:sp>
      <p:sp>
        <p:nvSpPr>
          <p:cNvPr id="791" name="Google Shape;791;p61"/>
          <p:cNvSpPr/>
          <p:nvPr/>
        </p:nvSpPr>
        <p:spPr>
          <a:xfrm>
            <a:off x="1859563" y="3233675"/>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k = 2</a:t>
            </a:r>
            <a:endParaRPr sz="900">
              <a:solidFill>
                <a:schemeClr val="lt1"/>
              </a:solidFill>
            </a:endParaRPr>
          </a:p>
        </p:txBody>
      </p:sp>
      <p:sp>
        <p:nvSpPr>
          <p:cNvPr id="792" name="Google Shape;792;p61"/>
          <p:cNvSpPr/>
          <p:nvPr/>
        </p:nvSpPr>
        <p:spPr>
          <a:xfrm>
            <a:off x="362700" y="1675088"/>
            <a:ext cx="1199400" cy="643800"/>
          </a:xfrm>
          <a:prstGeom prst="rect">
            <a:avLst/>
          </a:prstGeom>
          <a:solidFill>
            <a:srgbClr val="A9AA3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fitted models</a:t>
            </a:r>
            <a:endParaRPr sz="900">
              <a:solidFill>
                <a:schemeClr val="lt1"/>
              </a:solidFill>
            </a:endParaRPr>
          </a:p>
        </p:txBody>
      </p:sp>
      <p:sp>
        <p:nvSpPr>
          <p:cNvPr id="793" name="Google Shape;793;p61"/>
          <p:cNvSpPr/>
          <p:nvPr/>
        </p:nvSpPr>
        <p:spPr>
          <a:xfrm>
            <a:off x="3383163" y="363870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 1 mix</a:t>
            </a:r>
            <a:endParaRPr sz="900"/>
          </a:p>
        </p:txBody>
      </p:sp>
      <p:sp>
        <p:nvSpPr>
          <p:cNvPr id="794" name="Google Shape;794;p61"/>
          <p:cNvSpPr/>
          <p:nvPr/>
        </p:nvSpPr>
        <p:spPr>
          <a:xfrm>
            <a:off x="3383163" y="25898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rPr>
              <a:t>sil score 0.69</a:t>
            </a:r>
            <a:endParaRPr sz="900"/>
          </a:p>
        </p:txBody>
      </p:sp>
      <p:sp>
        <p:nvSpPr>
          <p:cNvPr id="795" name="Google Shape;795;p61"/>
          <p:cNvSpPr/>
          <p:nvPr/>
        </p:nvSpPr>
        <p:spPr>
          <a:xfrm>
            <a:off x="3383163" y="323365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900">
                <a:solidFill>
                  <a:schemeClr val="lt1"/>
                </a:solidFill>
              </a:rPr>
              <a:t>good clustering</a:t>
            </a:r>
            <a:endParaRPr sz="900">
              <a:solidFill>
                <a:schemeClr val="lt1"/>
              </a:solidFill>
            </a:endParaRPr>
          </a:p>
        </p:txBody>
      </p:sp>
      <p:sp>
        <p:nvSpPr>
          <p:cNvPr id="796" name="Google Shape;796;p61"/>
          <p:cNvSpPr/>
          <p:nvPr/>
        </p:nvSpPr>
        <p:spPr>
          <a:xfrm>
            <a:off x="3383163" y="4282500"/>
            <a:ext cx="1145100" cy="218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further investigate</a:t>
            </a:r>
            <a:endParaRPr sz="900">
              <a:solidFill>
                <a:schemeClr val="lt1"/>
              </a:solidFill>
            </a:endParaRPr>
          </a:p>
        </p:txBody>
      </p:sp>
      <p:sp>
        <p:nvSpPr>
          <p:cNvPr id="797" name="Google Shape;797;p61"/>
          <p:cNvSpPr/>
          <p:nvPr/>
        </p:nvSpPr>
        <p:spPr>
          <a:xfrm>
            <a:off x="4802388" y="363870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 1:</a:t>
            </a:r>
            <a:endParaRPr sz="900"/>
          </a:p>
          <a:p>
            <a:pPr indent="0" lvl="0" marL="0" rtl="0" algn="ctr">
              <a:spcBef>
                <a:spcPts val="0"/>
              </a:spcBef>
              <a:spcAft>
                <a:spcPts val="0"/>
              </a:spcAft>
              <a:buClr>
                <a:schemeClr val="dk1"/>
              </a:buClr>
              <a:buSzPts val="1100"/>
              <a:buFont typeface="Arial"/>
              <a:buNone/>
            </a:pPr>
            <a:r>
              <a:rPr lang="en" sz="900">
                <a:solidFill>
                  <a:schemeClr val="dk1"/>
                </a:solidFill>
              </a:rPr>
              <a:t>#0: 82, #1:356</a:t>
            </a:r>
            <a:endParaRPr sz="900">
              <a:solidFill>
                <a:schemeClr val="dk1"/>
              </a:solidFill>
            </a:endParaRPr>
          </a:p>
          <a:p>
            <a:pPr indent="0" lvl="0" marL="0" rtl="0" algn="ctr">
              <a:spcBef>
                <a:spcPts val="0"/>
              </a:spcBef>
              <a:spcAft>
                <a:spcPts val="0"/>
              </a:spcAft>
              <a:buClr>
                <a:schemeClr val="dk1"/>
              </a:buClr>
              <a:buSzPts val="1100"/>
              <a:buFont typeface="Arial"/>
              <a:buNone/>
            </a:pPr>
            <a:r>
              <a:rPr lang="en" sz="900">
                <a:solidFill>
                  <a:schemeClr val="dk1"/>
                </a:solidFill>
              </a:rPr>
              <a:t>12% malignant, 82% benign</a:t>
            </a:r>
            <a:endParaRPr sz="900"/>
          </a:p>
        </p:txBody>
      </p:sp>
      <p:sp>
        <p:nvSpPr>
          <p:cNvPr id="798" name="Google Shape;798;p61"/>
          <p:cNvSpPr/>
          <p:nvPr/>
        </p:nvSpPr>
        <p:spPr>
          <a:xfrm>
            <a:off x="4802388" y="25898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Cluster 0:</a:t>
            </a:r>
            <a:endParaRPr sz="900"/>
          </a:p>
          <a:p>
            <a:pPr indent="0" lvl="0" marL="0" rtl="0" algn="ctr">
              <a:spcBef>
                <a:spcPts val="0"/>
              </a:spcBef>
              <a:spcAft>
                <a:spcPts val="0"/>
              </a:spcAft>
              <a:buNone/>
            </a:pPr>
            <a:r>
              <a:rPr lang="en" sz="900"/>
              <a:t>#0: 130, #1:1</a:t>
            </a:r>
            <a:endParaRPr sz="900"/>
          </a:p>
          <a:p>
            <a:pPr indent="0" lvl="0" marL="0" rtl="0" algn="ctr">
              <a:spcBef>
                <a:spcPts val="0"/>
              </a:spcBef>
              <a:spcAft>
                <a:spcPts val="0"/>
              </a:spcAft>
              <a:buNone/>
            </a:pPr>
            <a:r>
              <a:rPr lang="en" sz="900"/>
              <a:t>99% malignant</a:t>
            </a:r>
            <a:endParaRPr sz="900"/>
          </a:p>
        </p:txBody>
      </p:sp>
      <p:sp>
        <p:nvSpPr>
          <p:cNvPr id="799" name="Google Shape;799;p61"/>
          <p:cNvSpPr/>
          <p:nvPr/>
        </p:nvSpPr>
        <p:spPr>
          <a:xfrm>
            <a:off x="4802400" y="3233650"/>
            <a:ext cx="11451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contains 60% of actual malignant</a:t>
            </a:r>
            <a:endParaRPr sz="900">
              <a:solidFill>
                <a:schemeClr val="lt1"/>
              </a:solidFill>
            </a:endParaRPr>
          </a:p>
        </p:txBody>
      </p:sp>
      <p:sp>
        <p:nvSpPr>
          <p:cNvPr id="800" name="Google Shape;800;p61"/>
          <p:cNvSpPr/>
          <p:nvPr/>
        </p:nvSpPr>
        <p:spPr>
          <a:xfrm>
            <a:off x="4802400" y="4282500"/>
            <a:ext cx="11451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contains 40% of all malignant</a:t>
            </a:r>
            <a:endParaRPr sz="900">
              <a:solidFill>
                <a:schemeClr val="lt1"/>
              </a:solidFill>
            </a:endParaRPr>
          </a:p>
        </p:txBody>
      </p:sp>
      <p:sp>
        <p:nvSpPr>
          <p:cNvPr id="801" name="Google Shape;801;p61"/>
          <p:cNvSpPr/>
          <p:nvPr/>
        </p:nvSpPr>
        <p:spPr>
          <a:xfrm>
            <a:off x="6221613" y="258985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further look at summary metrics of each cluster</a:t>
            </a:r>
            <a:endParaRPr sz="900"/>
          </a:p>
        </p:txBody>
      </p:sp>
      <p:sp>
        <p:nvSpPr>
          <p:cNvPr id="802" name="Google Shape;802;p61"/>
          <p:cNvSpPr/>
          <p:nvPr/>
        </p:nvSpPr>
        <p:spPr>
          <a:xfrm>
            <a:off x="6221625" y="3233650"/>
            <a:ext cx="1145100" cy="32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What identifies Cluster 0?</a:t>
            </a:r>
            <a:endParaRPr sz="900">
              <a:solidFill>
                <a:schemeClr val="lt1"/>
              </a:solidFill>
            </a:endParaRPr>
          </a:p>
        </p:txBody>
      </p:sp>
      <p:sp>
        <p:nvSpPr>
          <p:cNvPr id="803" name="Google Shape;803;p61"/>
          <p:cNvSpPr txBox="1"/>
          <p:nvPr/>
        </p:nvSpPr>
        <p:spPr>
          <a:xfrm>
            <a:off x="344200" y="212225"/>
            <a:ext cx="8477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latin typeface="Staatliches"/>
                <a:ea typeface="Staatliches"/>
                <a:cs typeface="Staatliches"/>
                <a:sym typeface="Staatliches"/>
              </a:rPr>
              <a:t>How will you analyze the performance of your models?</a:t>
            </a:r>
            <a:endParaRPr sz="2200">
              <a:latin typeface="Staatliches"/>
              <a:ea typeface="Staatliches"/>
              <a:cs typeface="Staatliches"/>
              <a:sym typeface="Staatliches"/>
            </a:endParaRPr>
          </a:p>
        </p:txBody>
      </p:sp>
      <p:sp>
        <p:nvSpPr>
          <p:cNvPr id="804" name="Google Shape;804;p61"/>
          <p:cNvSpPr/>
          <p:nvPr/>
        </p:nvSpPr>
        <p:spPr>
          <a:xfrm>
            <a:off x="1897050" y="3638700"/>
            <a:ext cx="1145100" cy="64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performs significantly better than random baseline</a:t>
            </a:r>
            <a:endParaRPr sz="900"/>
          </a:p>
        </p:txBody>
      </p:sp>
      <p:sp>
        <p:nvSpPr>
          <p:cNvPr id="805" name="Google Shape;805;p61"/>
          <p:cNvSpPr/>
          <p:nvPr/>
        </p:nvSpPr>
        <p:spPr>
          <a:xfrm>
            <a:off x="1897050" y="4282500"/>
            <a:ext cx="1145100" cy="273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rPr>
              <a:t>clusters are present</a:t>
            </a:r>
            <a:endParaRPr sz="9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