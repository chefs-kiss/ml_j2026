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embeddedFontLst>
    <p:embeddedFont>
      <p:font typeface="Staatliches"/>
      <p:regular r:id="rId52"/>
    </p:embeddedFont>
    <p:embeddedFont>
      <p:font typeface="Proxima Nova"/>
      <p:regular r:id="rId53"/>
      <p:bold r:id="rId54"/>
      <p:italic r:id="rId55"/>
      <p:boldItalic r:id="rId56"/>
    </p:embeddedFont>
    <p:embeddedFont>
      <p:font typeface="Source Code Pro"/>
      <p:regular r:id="rId57"/>
      <p:bold r:id="rId58"/>
      <p:italic r:id="rId59"/>
      <p:boldItalic r:id="rId60"/>
    </p:embeddedFont>
    <p:embeddedFont>
      <p:font typeface="Manrope"/>
      <p:regular r:id="rId61"/>
      <p:bold r:id="rId62"/>
    </p:embeddedFont>
    <p:embeddedFont>
      <p:font typeface="Alfa Slab One"/>
      <p:regular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anrope-bold.fntdata"/><Relationship Id="rId61" Type="http://schemas.openxmlformats.org/officeDocument/2006/relationships/font" Target="fonts/Manrope-regular.fntdata"/><Relationship Id="rId20" Type="http://schemas.openxmlformats.org/officeDocument/2006/relationships/slide" Target="slides/slide14.xml"/><Relationship Id="rId63" Type="http://schemas.openxmlformats.org/officeDocument/2006/relationships/font" Target="fonts/AlfaSlabOne-regular.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SourceCodePro-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ProximaNova-regular.fntdata"/><Relationship Id="rId52" Type="http://schemas.openxmlformats.org/officeDocument/2006/relationships/font" Target="fonts/Staatliches-regular.fntdata"/><Relationship Id="rId11" Type="http://schemas.openxmlformats.org/officeDocument/2006/relationships/slide" Target="slides/slide5.xml"/><Relationship Id="rId55" Type="http://schemas.openxmlformats.org/officeDocument/2006/relationships/font" Target="fonts/ProximaNova-italic.fntdata"/><Relationship Id="rId10" Type="http://schemas.openxmlformats.org/officeDocument/2006/relationships/slide" Target="slides/slide4.xml"/><Relationship Id="rId54" Type="http://schemas.openxmlformats.org/officeDocument/2006/relationships/font" Target="fonts/ProximaNova-bold.fntdata"/><Relationship Id="rId13" Type="http://schemas.openxmlformats.org/officeDocument/2006/relationships/slide" Target="slides/slide7.xml"/><Relationship Id="rId57" Type="http://schemas.openxmlformats.org/officeDocument/2006/relationships/font" Target="fonts/SourceCodePro-regular.fntdata"/><Relationship Id="rId12" Type="http://schemas.openxmlformats.org/officeDocument/2006/relationships/slide" Target="slides/slide6.xml"/><Relationship Id="rId56" Type="http://schemas.openxmlformats.org/officeDocument/2006/relationships/font" Target="fonts/ProximaNova-boldItalic.fntdata"/><Relationship Id="rId15" Type="http://schemas.openxmlformats.org/officeDocument/2006/relationships/slide" Target="slides/slide9.xml"/><Relationship Id="rId59" Type="http://schemas.openxmlformats.org/officeDocument/2006/relationships/font" Target="fonts/SourceCodePro-italic.fntdata"/><Relationship Id="rId14" Type="http://schemas.openxmlformats.org/officeDocument/2006/relationships/slide" Target="slides/slide8.xml"/><Relationship Id="rId58" Type="http://schemas.openxmlformats.org/officeDocument/2006/relationships/font" Target="fonts/SourceCodePro-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a82aea7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a82aea7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a82aea71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a82aea71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5c8a145e8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25c8a145e8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340f4813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340f4813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3340f4813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3340f4813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3340f4813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3340f4813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3340f4813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3340f4813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33f225c8d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33f225c8d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b83f8975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b83f8975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3340f48133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3340f48133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333f225c8d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333f225c8d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3340f48133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3340f48133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333f225c8d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333f225c8d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3340f48133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3340f4813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333f225c8d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333f225c8d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333f225c8d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333f225c8d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b88220614e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b88220614e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333f225c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333f225c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333f225c8d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333f225c8d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333f225c8d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333f225c8d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ba82aea71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ba82aea71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3340f48133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3340f48133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333f225c8d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333f225c8d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333f225c8d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333f225c8d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333f225c8d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333f225c8d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333f225c8d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333f225c8d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333f225c8d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333f225c8d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333f225c8d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333f225c8d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333f225c8d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333f225c8d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ba82aea71e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ba82aea71e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ba82aea71e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ba82aea71e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39e4b9204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39e4b9204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35b31aa31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35b31aa31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35b31aa31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35b31aa31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35b31aa31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35b31aa31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3340f48133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3340f48133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35b31aa31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35b31aa31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a Pear Deck Multiple Choice Slide. Your current options are: A: overfitting, B: underfitting, </a:t>
            </a:r>
            <a:endParaRPr/>
          </a:p>
          <a:p>
            <a:pPr indent="0" lvl="0" marL="0" rtl="0" algn="l">
              <a:spcBef>
                <a:spcPts val="0"/>
              </a:spcBef>
              <a:spcAft>
                <a:spcPts val="0"/>
              </a:spcAft>
              <a:buNone/>
            </a:pPr>
            <a:r>
              <a:rPr lang="en"/>
              <a:t>🍐  To edit the type of question or choices, go back to the "Ask Students a Question" in the Pear Deck sidebar.</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333f225c8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333f225c8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333f225c8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333f225c8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333f225c8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333f225c8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333f225c8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333f225c8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35b31aa31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35b31aa31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333f225c8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333f225c8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333f225c8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333f225c8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35b31aa31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35b31aa31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C6B8EB"/>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hyperlink" Target="http://www.youtube.com/watch?v=4xDzrJKXOOY" TargetMode="External"/><Relationship Id="rId5"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hyperlink" Target="https://www.kaggle.com/datasets/uciml/breast-cancer-wisconsin-data" TargetMode="External"/><Relationship Id="rId5" Type="http://schemas.openxmlformats.org/officeDocument/2006/relationships/image" Target="../media/image10.png"/><Relationship Id="rId6" Type="http://schemas.openxmlformats.org/officeDocument/2006/relationships/hyperlink" Target="https://github.com/mwaskom/seaborn-data" TargetMode="External"/><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www.youtube.com/watch?v=Tio8r3Zf70M" TargetMode="Externa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hyperlink" Target="http://www.youtube.com/watch?v=Tio8r3Zf70M" TargetMode="External"/><Relationship Id="rId6"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hyperlink" Target="http://www.youtube.com/watch?v=Tio8r3Zf70M" TargetMode="External"/><Relationship Id="rId5"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hyperlink" Target="http://www.youtube.com/watch?v=k2iou3ecAFQ" TargetMode="External"/><Relationship Id="rId5" Type="http://schemas.openxmlformats.org/officeDocument/2006/relationships/image" Target="../media/image2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hyperlink" Target="http://www.youtube.com/watch?v=4xDzrJKXOOY" TargetMode="External"/><Relationship Id="rId5"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hyperlink" Target="http://www.youtube.com/watch?v=lqxMyk31xII" TargetMode="External"/><Relationship Id="rId5"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hyperlink" Target="http://www.youtube.com/watch?v=lqxMyk31xII" TargetMode="External"/><Relationship Id="rId4" Type="http://schemas.openxmlformats.org/officeDocument/2006/relationships/image" Target="../media/image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4.jpg"/><Relationship Id="rId4" Type="http://schemas.openxmlformats.org/officeDocument/2006/relationships/hyperlink" Target="http://www.youtube.com/watch?v=4xDzrJKXOOY" TargetMode="External"/><Relationship Id="rId5" Type="http://schemas.openxmlformats.org/officeDocument/2006/relationships/image" Target="../media/image2.jpg"/><Relationship Id="rId6" Type="http://schemas.openxmlformats.org/officeDocument/2006/relationships/hyperlink" Target="https://chefs-kiss.github.io/ML_J2026/homework.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 Id="rId4" Type="http://schemas.openxmlformats.org/officeDocument/2006/relationships/hyperlink" Target="http://www.youtube.com/watch?v=4xDzrJKXOOY" TargetMode="External"/><Relationship Id="rId5" Type="http://schemas.openxmlformats.org/officeDocument/2006/relationships/image" Target="../media/image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hyperlink" Target="https://colab.research.google.com/drive/1lquIgFqjllAnU3sO970ZS4u8ZRejkF5P?usp=sharing"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hyperlink" Target="http://www.youtube.com/watch?v=lqxMyk31xII" TargetMode="External"/><Relationship Id="rId4" Type="http://schemas.openxmlformats.org/officeDocument/2006/relationships/image" Target="../media/image8.jpg"/><Relationship Id="rId5"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26.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hyperlink" Target="http://dontchangethislink.peardeckmagic.zone?eyJ0eXBlIjoiZ29vZ2xlLXNsaWRlcy1hZGRvbi1yZXNwb25zZS1mb290ZXIiLCJsYXN0RWRpdGVkQnkiOiJ1bmtub3duIiwicHJlc2VudGF0aW9uSWQiOiIxWTVlSlE3WEV5bkxubjNudmNxNUpxZnJqT3RrbGw4R1FMa2Fkcld2Q21nZyIsImNvbnRlbnRJZCI6ImN1c3RvbS1yZXNwb25zZS1tdWx0aXBsZUNob2ljZSIsInNsaWRlSWQiOiJnMmNmYjM4M2FmMjdfMF8wIiwiY29udGVudEluc3RhbmNlSWQiOiIxWTVlSlE3WEV5bkxubjNudmNxNUpxZnJqT3RrbGw4R1FMa2Fkcld2Q21nZy9kN2U1OTE2MC1lMDdhLTQ5NGUtOGVjNy00Y2E1OTIzMzBmY2IifQ==pearId=magic-pear-metadata-identifier"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hyperlink" Target="https://scikit-learn.org/stable/modules/ensemble.html#gradient-boosted-tree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hyperlink" Target="https://scikit-learn.org/stable/modules/ensemble.html#feature-importance-evaluation" TargetMode="External"/><Relationship Id="rId4" Type="http://schemas.openxmlformats.org/officeDocument/2006/relationships/hyperlink" Target="https://scikit-learn.org/stable/modules/partial_dependence.html#:~:text=Partial%20dependence%20plots%20(PDP)%20and,of%20input%20features%20of%20interest."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hyperlink" Target="https://shap.readthedocs.io/en/latest/example_notebooks/api_examples/plots/beeswarm.html" TargetMode="External"/><Relationship Id="rId4" Type="http://schemas.openxmlformats.org/officeDocument/2006/relationships/image" Target="../media/image23.png"/><Relationship Id="rId5" Type="http://schemas.openxmlformats.org/officeDocument/2006/relationships/hyperlink" Target="http://www.youtube.com/watch?v=4xDzrJKXOOY" TargetMode="External"/><Relationship Id="rId6" Type="http://schemas.openxmlformats.org/officeDocument/2006/relationships/image" Target="../media/image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hyperlink" Target="http://www.youtube.com/watch?v=4xDzrJKXOOY" TargetMode="External"/><Relationship Id="rId4" Type="http://schemas.openxmlformats.org/officeDocument/2006/relationships/image" Target="../media/image2.jpg"/><Relationship Id="rId5"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99" name="Google Shape;99;p25"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100" name="Google Shape;100;p25"/>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3622">
                <a:solidFill>
                  <a:schemeClr val="lt1"/>
                </a:solidFill>
                <a:latin typeface="Staatliches"/>
                <a:ea typeface="Staatliches"/>
                <a:cs typeface="Staatliches"/>
                <a:sym typeface="Staatliches"/>
              </a:rPr>
              <a:t>TREE</a:t>
            </a:r>
            <a:r>
              <a:rPr b="1" lang="en" sz="3622">
                <a:solidFill>
                  <a:schemeClr val="lt1"/>
                </a:solidFill>
                <a:latin typeface="Source Code Pro"/>
                <a:ea typeface="Source Code Pro"/>
                <a:cs typeface="Source Code Pro"/>
                <a:sym typeface="Source Code Pro"/>
              </a:rPr>
              <a:t>1</a:t>
            </a:r>
            <a:r>
              <a:rPr lang="en" sz="3622">
                <a:solidFill>
                  <a:schemeClr val="dk1"/>
                </a:solidFill>
                <a:latin typeface="Staatliches"/>
                <a:ea typeface="Staatliches"/>
                <a:cs typeface="Staatliches"/>
                <a:sym typeface="Staatliches"/>
              </a:rPr>
              <a:t>: tree-based algorithms</a:t>
            </a:r>
            <a:r>
              <a:rPr lang="en" sz="2422">
                <a:solidFill>
                  <a:schemeClr val="dk1"/>
                </a:solidFill>
                <a:latin typeface="Staatliches"/>
                <a:ea typeface="Staatliches"/>
                <a:cs typeface="Staatliches"/>
                <a:sym typeface="Staatliches"/>
              </a:rPr>
              <a:t> </a:t>
            </a:r>
            <a:endParaRPr sz="24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decision boundaries, gini + entropy (WS)</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 name="Shape 104"/>
        <p:cNvGrpSpPr/>
        <p:nvPr/>
      </p:nvGrpSpPr>
      <p:grpSpPr>
        <a:xfrm>
          <a:off x="0" y="0"/>
          <a:ext cx="0" cy="0"/>
          <a:chOff x="0" y="0"/>
          <a:chExt cx="0" cy="0"/>
        </a:xfrm>
      </p:grpSpPr>
      <p:sp>
        <p:nvSpPr>
          <p:cNvPr id="105" name="Google Shape;105;p26"/>
          <p:cNvSpPr txBox="1"/>
          <p:nvPr/>
        </p:nvSpPr>
        <p:spPr>
          <a:xfrm>
            <a:off x="1506438" y="215125"/>
            <a:ext cx="6044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lt1"/>
                </a:solidFill>
              </a:rPr>
              <a:t>Datasets This Week</a:t>
            </a:r>
            <a:endParaRPr>
              <a:solidFill>
                <a:schemeClr val="lt1"/>
              </a:solidFill>
            </a:endParaRPr>
          </a:p>
        </p:txBody>
      </p:sp>
      <p:sp>
        <p:nvSpPr>
          <p:cNvPr id="106" name="Google Shape;106;p26"/>
          <p:cNvSpPr txBox="1"/>
          <p:nvPr/>
        </p:nvSpPr>
        <p:spPr>
          <a:xfrm>
            <a:off x="1506438" y="215125"/>
            <a:ext cx="6044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lt1"/>
                </a:solidFill>
              </a:rPr>
              <a:t>Datasets This Week</a:t>
            </a:r>
            <a:endParaRPr>
              <a:solidFill>
                <a:schemeClr val="lt1"/>
              </a:solidFill>
            </a:endParaRPr>
          </a:p>
        </p:txBody>
      </p:sp>
      <p:grpSp>
        <p:nvGrpSpPr>
          <p:cNvPr id="107" name="Google Shape;107;p26"/>
          <p:cNvGrpSpPr/>
          <p:nvPr/>
        </p:nvGrpSpPr>
        <p:grpSpPr>
          <a:xfrm>
            <a:off x="4707184" y="861617"/>
            <a:ext cx="2556081" cy="3981769"/>
            <a:chOff x="6047309" y="265350"/>
            <a:chExt cx="2797200" cy="4612800"/>
          </a:xfrm>
        </p:grpSpPr>
        <p:sp>
          <p:nvSpPr>
            <p:cNvPr id="108" name="Google Shape;108;p26"/>
            <p:cNvSpPr/>
            <p:nvPr/>
          </p:nvSpPr>
          <p:spPr>
            <a:xfrm>
              <a:off x="6047309" y="265350"/>
              <a:ext cx="2797200" cy="46128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26"/>
            <p:cNvSpPr txBox="1"/>
            <p:nvPr/>
          </p:nvSpPr>
          <p:spPr>
            <a:xfrm>
              <a:off x="6106938" y="349670"/>
              <a:ext cx="2678100" cy="74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t>Lab</a:t>
              </a:r>
              <a:endParaRPr sz="3000">
                <a:solidFill>
                  <a:srgbClr val="000000"/>
                </a:solidFill>
              </a:endParaRPr>
            </a:p>
          </p:txBody>
        </p:sp>
        <p:sp>
          <p:nvSpPr>
            <p:cNvPr id="110" name="Google Shape;110;p26"/>
            <p:cNvSpPr txBox="1"/>
            <p:nvPr/>
          </p:nvSpPr>
          <p:spPr>
            <a:xfrm>
              <a:off x="6106938" y="3673005"/>
              <a:ext cx="2678100" cy="106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rgbClr val="000000"/>
                  </a:solidFill>
                </a:rPr>
                <a:t>Wisconsin </a:t>
              </a:r>
              <a:endParaRPr sz="1900">
                <a:solidFill>
                  <a:srgbClr val="000000"/>
                </a:solidFill>
              </a:endParaRPr>
            </a:p>
            <a:p>
              <a:pPr indent="0" lvl="0" marL="0" rtl="0" algn="ctr">
                <a:spcBef>
                  <a:spcPts val="0"/>
                </a:spcBef>
                <a:spcAft>
                  <a:spcPts val="0"/>
                </a:spcAft>
                <a:buNone/>
              </a:pPr>
              <a:r>
                <a:rPr lang="en" sz="1900">
                  <a:solidFill>
                    <a:srgbClr val="000000"/>
                  </a:solidFill>
                </a:rPr>
                <a:t>Breast Cancer</a:t>
              </a:r>
              <a:endParaRPr sz="1900">
                <a:solidFill>
                  <a:srgbClr val="000000"/>
                </a:solidFill>
              </a:endParaRPr>
            </a:p>
            <a:p>
              <a:pPr indent="0" lvl="0" marL="0" rtl="0" algn="ctr">
                <a:spcBef>
                  <a:spcPts val="0"/>
                </a:spcBef>
                <a:spcAft>
                  <a:spcPts val="0"/>
                </a:spcAft>
                <a:buNone/>
              </a:pPr>
              <a:r>
                <a:rPr lang="en" sz="1000">
                  <a:solidFill>
                    <a:srgbClr val="000000"/>
                  </a:solidFill>
                </a:rPr>
                <a:t>link: </a:t>
              </a:r>
              <a:r>
                <a:rPr lang="en" sz="1000" u="sng">
                  <a:solidFill>
                    <a:srgbClr val="0097A7"/>
                  </a:solidFill>
                  <a:hlinkClick r:id="rId4">
                    <a:extLst>
                      <a:ext uri="{A12FA001-AC4F-418D-AE19-62706E023703}">
                        <ahyp:hlinkClr val="tx"/>
                      </a:ext>
                    </a:extLst>
                  </a:hlinkClick>
                </a:rPr>
                <a:t>kaggle</a:t>
              </a:r>
              <a:endParaRPr sz="1000">
                <a:solidFill>
                  <a:srgbClr val="000000"/>
                </a:solidFill>
              </a:endParaRPr>
            </a:p>
          </p:txBody>
        </p:sp>
      </p:grpSp>
      <p:pic>
        <p:nvPicPr>
          <p:cNvPr id="111" name="Google Shape;111;p26"/>
          <p:cNvPicPr preferRelativeResize="0"/>
          <p:nvPr/>
        </p:nvPicPr>
        <p:blipFill rotWithShape="1">
          <a:blip r:embed="rId5">
            <a:alphaModFix/>
          </a:blip>
          <a:srcRect b="14908" l="0" r="0" t="0"/>
          <a:stretch/>
        </p:blipFill>
        <p:spPr>
          <a:xfrm>
            <a:off x="5214425" y="2050725"/>
            <a:ext cx="1617576" cy="1376475"/>
          </a:xfrm>
          <a:prstGeom prst="rect">
            <a:avLst/>
          </a:prstGeom>
          <a:noFill/>
          <a:ln>
            <a:noFill/>
          </a:ln>
        </p:spPr>
      </p:pic>
      <p:grpSp>
        <p:nvGrpSpPr>
          <p:cNvPr id="112" name="Google Shape;112;p26"/>
          <p:cNvGrpSpPr/>
          <p:nvPr/>
        </p:nvGrpSpPr>
        <p:grpSpPr>
          <a:xfrm>
            <a:off x="1907395" y="861617"/>
            <a:ext cx="2556081" cy="3981769"/>
            <a:chOff x="3173416" y="265350"/>
            <a:chExt cx="2797200" cy="4612800"/>
          </a:xfrm>
        </p:grpSpPr>
        <p:sp>
          <p:nvSpPr>
            <p:cNvPr id="113" name="Google Shape;113;p26"/>
            <p:cNvSpPr/>
            <p:nvPr/>
          </p:nvSpPr>
          <p:spPr>
            <a:xfrm>
              <a:off x="3173416" y="265350"/>
              <a:ext cx="2797200" cy="46128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26"/>
            <p:cNvSpPr txBox="1"/>
            <p:nvPr/>
          </p:nvSpPr>
          <p:spPr>
            <a:xfrm>
              <a:off x="3233026" y="349670"/>
              <a:ext cx="2678100" cy="74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t>HW</a:t>
              </a:r>
              <a:endParaRPr sz="3000">
                <a:solidFill>
                  <a:srgbClr val="000000"/>
                </a:solidFill>
              </a:endParaRPr>
            </a:p>
          </p:txBody>
        </p:sp>
        <p:sp>
          <p:nvSpPr>
            <p:cNvPr id="115" name="Google Shape;115;p26"/>
            <p:cNvSpPr txBox="1"/>
            <p:nvPr/>
          </p:nvSpPr>
          <p:spPr>
            <a:xfrm>
              <a:off x="3233026" y="3937833"/>
              <a:ext cx="2678100" cy="74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000000"/>
                  </a:solidFill>
                </a:rPr>
                <a:t>Titanic</a:t>
              </a:r>
              <a:endParaRPr sz="2000">
                <a:solidFill>
                  <a:srgbClr val="000000"/>
                </a:solidFill>
              </a:endParaRPr>
            </a:p>
            <a:p>
              <a:pPr indent="0" lvl="0" marL="0" rtl="0" algn="ctr">
                <a:spcBef>
                  <a:spcPts val="0"/>
                </a:spcBef>
                <a:spcAft>
                  <a:spcPts val="0"/>
                </a:spcAft>
                <a:buClr>
                  <a:srgbClr val="000000"/>
                </a:buClr>
                <a:buSzPts val="1100"/>
                <a:buFont typeface="Arial"/>
                <a:buNone/>
              </a:pPr>
              <a:r>
                <a:rPr lang="en" sz="1000">
                  <a:solidFill>
                    <a:srgbClr val="000000"/>
                  </a:solidFill>
                </a:rPr>
                <a:t>link: </a:t>
              </a:r>
              <a:r>
                <a:rPr lang="en" sz="1000" u="sng">
                  <a:solidFill>
                    <a:srgbClr val="0097A7"/>
                  </a:solidFill>
                  <a:hlinkClick r:id="rId6">
                    <a:extLst>
                      <a:ext uri="{A12FA001-AC4F-418D-AE19-62706E023703}">
                        <ahyp:hlinkClr val="tx"/>
                      </a:ext>
                    </a:extLst>
                  </a:hlinkClick>
                </a:rPr>
                <a:t>github</a:t>
              </a:r>
              <a:endParaRPr sz="1000">
                <a:solidFill>
                  <a:srgbClr val="000000"/>
                </a:solidFill>
              </a:endParaRPr>
            </a:p>
          </p:txBody>
        </p:sp>
      </p:grpSp>
      <p:pic>
        <p:nvPicPr>
          <p:cNvPr id="116" name="Google Shape;116;p26"/>
          <p:cNvPicPr preferRelativeResize="0"/>
          <p:nvPr/>
        </p:nvPicPr>
        <p:blipFill rotWithShape="1">
          <a:blip r:embed="rId7">
            <a:alphaModFix/>
          </a:blip>
          <a:srcRect b="23780" l="0" r="0" t="0"/>
          <a:stretch/>
        </p:blipFill>
        <p:spPr>
          <a:xfrm>
            <a:off x="2281650" y="1974525"/>
            <a:ext cx="1805874" cy="1376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120" name="Shape 120"/>
        <p:cNvGrpSpPr/>
        <p:nvPr/>
      </p:nvGrpSpPr>
      <p:grpSpPr>
        <a:xfrm>
          <a:off x="0" y="0"/>
          <a:ext cx="0" cy="0"/>
          <a:chOff x="0" y="0"/>
          <a:chExt cx="0" cy="0"/>
        </a:xfrm>
      </p:grpSpPr>
      <p:sp>
        <p:nvSpPr>
          <p:cNvPr id="121" name="Google Shape;121;p27"/>
          <p:cNvSpPr txBox="1"/>
          <p:nvPr/>
        </p:nvSpPr>
        <p:spPr>
          <a:xfrm>
            <a:off x="488225" y="1189750"/>
            <a:ext cx="4157100" cy="23211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 sz="5750">
                <a:solidFill>
                  <a:schemeClr val="lt1"/>
                </a:solidFill>
                <a:latin typeface="Staatliches"/>
                <a:ea typeface="Staatliches"/>
                <a:cs typeface="Staatliches"/>
                <a:sym typeface="Staatliches"/>
              </a:rPr>
              <a:t>warmup</a:t>
            </a:r>
            <a:endParaRPr b="1" sz="5750">
              <a:solidFill>
                <a:schemeClr val="lt1"/>
              </a:solidFill>
              <a:latin typeface="Staatliches"/>
              <a:ea typeface="Staatliches"/>
              <a:cs typeface="Staatliches"/>
              <a:sym typeface="Staatliches"/>
            </a:endParaRPr>
          </a:p>
          <a:p>
            <a:pPr indent="0" lvl="0" marL="0" rtl="0" algn="l">
              <a:lnSpc>
                <a:spcPct val="80000"/>
              </a:lnSpc>
              <a:spcBef>
                <a:spcPts val="0"/>
              </a:spcBef>
              <a:spcAft>
                <a:spcPts val="0"/>
              </a:spcAft>
              <a:buNone/>
            </a:pPr>
            <a:r>
              <a:t/>
            </a:r>
            <a:endParaRPr b="1" sz="1800">
              <a:solidFill>
                <a:schemeClr val="lt1"/>
              </a:solidFill>
            </a:endParaRPr>
          </a:p>
          <a:p>
            <a:pPr indent="0" lvl="0" marL="0" rtl="0" algn="l">
              <a:lnSpc>
                <a:spcPct val="80000"/>
              </a:lnSpc>
              <a:spcBef>
                <a:spcPts val="0"/>
              </a:spcBef>
              <a:spcAft>
                <a:spcPts val="0"/>
              </a:spcAft>
              <a:buNone/>
            </a:pPr>
            <a:r>
              <a:rPr lang="en">
                <a:solidFill>
                  <a:schemeClr val="lt1"/>
                </a:solidFill>
              </a:rPr>
              <a:t>Get into groups of 3-4 and have one person think of something smaller than a loaf of bread. </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The other people have up to 20 tries to ask questions that must give yes/no responses to find out what the first person thought of.</a:t>
            </a:r>
            <a:endParaRPr>
              <a:solidFill>
                <a:schemeClr val="lt1"/>
              </a:solidFill>
            </a:endParaRPr>
          </a:p>
          <a:p>
            <a:pPr indent="0" lvl="0" marL="0" rtl="0" algn="l">
              <a:lnSpc>
                <a:spcPct val="80000"/>
              </a:lnSpc>
              <a:spcBef>
                <a:spcPts val="0"/>
              </a:spcBef>
              <a:spcAft>
                <a:spcPts val="0"/>
              </a:spcAft>
              <a:buClr>
                <a:srgbClr val="000000"/>
              </a:buClr>
              <a:buSzPts val="1100"/>
              <a:buFont typeface="Arial"/>
              <a:buNone/>
            </a:pPr>
            <a:r>
              <a:t/>
            </a:r>
            <a:endParaRPr>
              <a:solidFill>
                <a:schemeClr val="lt1"/>
              </a:solidFill>
            </a:endParaRPr>
          </a:p>
        </p:txBody>
      </p:sp>
      <p:grpSp>
        <p:nvGrpSpPr>
          <p:cNvPr id="122" name="Google Shape;122;p27"/>
          <p:cNvGrpSpPr/>
          <p:nvPr/>
        </p:nvGrpSpPr>
        <p:grpSpPr>
          <a:xfrm>
            <a:off x="4964475" y="1331075"/>
            <a:ext cx="3657600" cy="1955600"/>
            <a:chOff x="4126275" y="340475"/>
            <a:chExt cx="3657600" cy="1955600"/>
          </a:xfrm>
        </p:grpSpPr>
        <p:sp>
          <p:nvSpPr>
            <p:cNvPr id="123" name="Google Shape;123;p27"/>
            <p:cNvSpPr txBox="1"/>
            <p:nvPr/>
          </p:nvSpPr>
          <p:spPr>
            <a:xfrm>
              <a:off x="4126275" y="340475"/>
              <a:ext cx="1529400" cy="5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Question 1</a:t>
              </a:r>
              <a:r>
                <a:rPr lang="en">
                  <a:solidFill>
                    <a:schemeClr val="lt1"/>
                  </a:solidFill>
                  <a:latin typeface="Proxima Nova"/>
                  <a:ea typeface="Proxima Nova"/>
                  <a:cs typeface="Proxima Nova"/>
                  <a:sym typeface="Proxima Nova"/>
                </a:rPr>
                <a:t>: is it smaller than a loaf of bread?</a:t>
              </a:r>
              <a:endParaRPr>
                <a:solidFill>
                  <a:schemeClr val="lt1"/>
                </a:solidFill>
                <a:latin typeface="Proxima Nova"/>
                <a:ea typeface="Proxima Nova"/>
                <a:cs typeface="Proxima Nova"/>
                <a:sym typeface="Proxima Nova"/>
              </a:endParaRPr>
            </a:p>
          </p:txBody>
        </p:sp>
        <p:sp>
          <p:nvSpPr>
            <p:cNvPr id="124" name="Google Shape;124;p27"/>
            <p:cNvSpPr txBox="1"/>
            <p:nvPr/>
          </p:nvSpPr>
          <p:spPr>
            <a:xfrm>
              <a:off x="4238475" y="1204075"/>
              <a:ext cx="1071000" cy="5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no	yes	</a:t>
              </a:r>
              <a:endParaRPr>
                <a:solidFill>
                  <a:schemeClr val="lt1"/>
                </a:solidFill>
                <a:latin typeface="Proxima Nova"/>
                <a:ea typeface="Proxima Nova"/>
                <a:cs typeface="Proxima Nova"/>
                <a:sym typeface="Proxima Nova"/>
              </a:endParaRPr>
            </a:p>
          </p:txBody>
        </p:sp>
        <p:sp>
          <p:nvSpPr>
            <p:cNvPr id="125" name="Google Shape;125;p27"/>
            <p:cNvSpPr txBox="1"/>
            <p:nvPr/>
          </p:nvSpPr>
          <p:spPr>
            <a:xfrm>
              <a:off x="5815375" y="1127875"/>
              <a:ext cx="1295400" cy="5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Question 2</a:t>
              </a:r>
              <a:r>
                <a:rPr lang="en">
                  <a:solidFill>
                    <a:schemeClr val="lt1"/>
                  </a:solidFill>
                  <a:latin typeface="Proxima Nova"/>
                  <a:ea typeface="Proxima Nova"/>
                  <a:cs typeface="Proxima Nova"/>
                  <a:sym typeface="Proxima Nova"/>
                </a:rPr>
                <a:t>: is it XXX?</a:t>
              </a:r>
              <a:endParaRPr>
                <a:solidFill>
                  <a:schemeClr val="lt1"/>
                </a:solidFill>
                <a:latin typeface="Proxima Nova"/>
                <a:ea typeface="Proxima Nova"/>
                <a:cs typeface="Proxima Nova"/>
                <a:sym typeface="Proxima Nova"/>
              </a:endParaRPr>
            </a:p>
          </p:txBody>
        </p:sp>
        <p:sp>
          <p:nvSpPr>
            <p:cNvPr id="126" name="Google Shape;126;p27"/>
            <p:cNvSpPr txBox="1"/>
            <p:nvPr/>
          </p:nvSpPr>
          <p:spPr>
            <a:xfrm>
              <a:off x="6712875" y="1711975"/>
              <a:ext cx="1071000" cy="5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no	yes	</a:t>
              </a:r>
              <a:endParaRPr>
                <a:solidFill>
                  <a:schemeClr val="lt1"/>
                </a:solidFill>
                <a:latin typeface="Proxima Nova"/>
                <a:ea typeface="Proxima Nova"/>
                <a:cs typeface="Proxima Nova"/>
                <a:sym typeface="Proxima Nova"/>
              </a:endParaRPr>
            </a:p>
          </p:txBody>
        </p:sp>
        <p:sp>
          <p:nvSpPr>
            <p:cNvPr id="127" name="Google Shape;127;p27"/>
            <p:cNvSpPr/>
            <p:nvPr/>
          </p:nvSpPr>
          <p:spPr>
            <a:xfrm>
              <a:off x="4456475" y="1064375"/>
              <a:ext cx="139700" cy="254000"/>
            </a:xfrm>
            <a:custGeom>
              <a:rect b="b" l="l" r="r" t="t"/>
              <a:pathLst>
                <a:path extrusionOk="0" h="10160" w="5588">
                  <a:moveTo>
                    <a:pt x="5588" y="0"/>
                  </a:moveTo>
                  <a:cubicBezTo>
                    <a:pt x="4657" y="1693"/>
                    <a:pt x="931" y="8467"/>
                    <a:pt x="0" y="10160"/>
                  </a:cubicBezTo>
                </a:path>
              </a:pathLst>
            </a:custGeom>
            <a:noFill/>
            <a:ln cap="flat" cmpd="sng" w="19050">
              <a:solidFill>
                <a:srgbClr val="949AF8"/>
              </a:solidFill>
              <a:prstDash val="solid"/>
              <a:round/>
              <a:headEnd len="med" w="med" type="none"/>
              <a:tailEnd len="med" w="med" type="stealth"/>
            </a:ln>
          </p:spPr>
        </p:sp>
        <p:sp>
          <p:nvSpPr>
            <p:cNvPr id="128" name="Google Shape;128;p27"/>
            <p:cNvSpPr/>
            <p:nvPr/>
          </p:nvSpPr>
          <p:spPr>
            <a:xfrm flipH="1">
              <a:off x="4758100" y="1064375"/>
              <a:ext cx="139700" cy="254000"/>
            </a:xfrm>
            <a:custGeom>
              <a:rect b="b" l="l" r="r" t="t"/>
              <a:pathLst>
                <a:path extrusionOk="0" h="10160" w="5588">
                  <a:moveTo>
                    <a:pt x="5588" y="0"/>
                  </a:moveTo>
                  <a:cubicBezTo>
                    <a:pt x="4657" y="1693"/>
                    <a:pt x="931" y="8467"/>
                    <a:pt x="0" y="10160"/>
                  </a:cubicBezTo>
                </a:path>
              </a:pathLst>
            </a:custGeom>
            <a:noFill/>
            <a:ln cap="flat" cmpd="sng" w="19050">
              <a:solidFill>
                <a:srgbClr val="949AF8"/>
              </a:solidFill>
              <a:prstDash val="solid"/>
              <a:round/>
              <a:headEnd len="med" w="med" type="none"/>
              <a:tailEnd len="med" w="med" type="stealth"/>
            </a:ln>
          </p:spPr>
        </p:sp>
        <p:sp>
          <p:nvSpPr>
            <p:cNvPr id="129" name="Google Shape;129;p27"/>
            <p:cNvSpPr/>
            <p:nvPr/>
          </p:nvSpPr>
          <p:spPr>
            <a:xfrm rot="-10173764">
              <a:off x="5124778" y="1300573"/>
              <a:ext cx="715778" cy="196288"/>
            </a:xfrm>
            <a:custGeom>
              <a:rect b="b" l="l" r="r" t="t"/>
              <a:pathLst>
                <a:path extrusionOk="0" h="10160" w="5588">
                  <a:moveTo>
                    <a:pt x="5588" y="0"/>
                  </a:moveTo>
                  <a:cubicBezTo>
                    <a:pt x="4657" y="1693"/>
                    <a:pt x="931" y="8467"/>
                    <a:pt x="0" y="10160"/>
                  </a:cubicBezTo>
                </a:path>
              </a:pathLst>
            </a:custGeom>
            <a:noFill/>
            <a:ln cap="flat" cmpd="sng" w="19050">
              <a:solidFill>
                <a:srgbClr val="949AF8"/>
              </a:solidFill>
              <a:prstDash val="solid"/>
              <a:round/>
              <a:headEnd len="med" w="med" type="none"/>
              <a:tailEnd len="med" w="med" type="stealth"/>
            </a:ln>
          </p:spPr>
        </p:sp>
        <p:sp>
          <p:nvSpPr>
            <p:cNvPr id="130" name="Google Shape;130;p27"/>
            <p:cNvSpPr/>
            <p:nvPr/>
          </p:nvSpPr>
          <p:spPr>
            <a:xfrm flipH="1">
              <a:off x="6653574" y="1457975"/>
              <a:ext cx="221201" cy="404368"/>
            </a:xfrm>
            <a:custGeom>
              <a:rect b="b" l="l" r="r" t="t"/>
              <a:pathLst>
                <a:path extrusionOk="0" h="10160" w="5588">
                  <a:moveTo>
                    <a:pt x="5588" y="0"/>
                  </a:moveTo>
                  <a:cubicBezTo>
                    <a:pt x="4657" y="1693"/>
                    <a:pt x="931" y="8467"/>
                    <a:pt x="0" y="10160"/>
                  </a:cubicBezTo>
                </a:path>
              </a:pathLst>
            </a:custGeom>
            <a:noFill/>
            <a:ln cap="flat" cmpd="sng" w="19050">
              <a:solidFill>
                <a:srgbClr val="949AF8"/>
              </a:solidFill>
              <a:prstDash val="solid"/>
              <a:round/>
              <a:headEnd len="med" w="med" type="none"/>
              <a:tailEnd len="med" w="med" type="stealth"/>
            </a:ln>
          </p:spPr>
        </p:sp>
        <p:sp>
          <p:nvSpPr>
            <p:cNvPr id="131" name="Google Shape;131;p27"/>
            <p:cNvSpPr/>
            <p:nvPr/>
          </p:nvSpPr>
          <p:spPr>
            <a:xfrm flipH="1">
              <a:off x="6874776" y="1457975"/>
              <a:ext cx="419100" cy="404368"/>
            </a:xfrm>
            <a:custGeom>
              <a:rect b="b" l="l" r="r" t="t"/>
              <a:pathLst>
                <a:path extrusionOk="0" h="10160" w="5588">
                  <a:moveTo>
                    <a:pt x="5588" y="0"/>
                  </a:moveTo>
                  <a:cubicBezTo>
                    <a:pt x="4657" y="1693"/>
                    <a:pt x="931" y="8467"/>
                    <a:pt x="0" y="10160"/>
                  </a:cubicBezTo>
                </a:path>
              </a:pathLst>
            </a:custGeom>
            <a:noFill/>
            <a:ln cap="flat" cmpd="sng" w="19050">
              <a:solidFill>
                <a:srgbClr val="949AF8"/>
              </a:solidFill>
              <a:prstDash val="solid"/>
              <a:round/>
              <a:headEnd len="med" w="med" type="none"/>
              <a:tailEnd len="med" w="med" type="stealth"/>
            </a:ln>
          </p:spPr>
        </p:sp>
      </p:grpSp>
      <p:pic>
        <p:nvPicPr>
          <p:cNvPr descr="3 Minute Timer Relaxing Music Lofi Fish Background&#10;Song- https://www.youtube.com/watch?v=Nh_oj5hsAbs&amp;t=41s&#10;&#10;&#10;&#10;TAGS&#10;3 minute&#10;3 minute countdown&#10;3 minute lo-fi hiphop timer&#10;3 minute timer&#10;countdown&#10;lo-fi music&#10;lofi study song&#10;study music&#10;study timer&#10;time&#10;timer&#10;working music&#10;3 minute timer with music&#10;3 minute clock&#10;lofi hiphop&#10;relaxing timers&#10;relaxing music&#10;relaxing lofi timer&#10;nature timer&#10;meditation&#10;meditation music&#10;relaxing sleep music&#10;school timer&#10;sleep timer&#10;chill timer&#10;chill music&#10;lofi timer&#10;lofi hiphop timer&#10;lofi hip hop" id="132" name="Google Shape;132;p27" title="3 Minute Timer Relaxing Music Lofi Fish Background">
            <a:hlinkClick r:id="rId3"/>
          </p:cNvPr>
          <p:cNvPicPr preferRelativeResize="0"/>
          <p:nvPr/>
        </p:nvPicPr>
        <p:blipFill>
          <a:blip r:embed="rId4">
            <a:alphaModFix/>
          </a:blip>
          <a:stretch>
            <a:fillRect/>
          </a:stretch>
        </p:blipFill>
        <p:spPr>
          <a:xfrm>
            <a:off x="7858650" y="4295050"/>
            <a:ext cx="981600" cy="552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type="title"/>
          </p:nvPr>
        </p:nvSpPr>
        <p:spPr>
          <a:xfrm>
            <a:off x="706225" y="1312875"/>
            <a:ext cx="2808000" cy="1329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chemeClr val="dk1"/>
                </a:solidFill>
              </a:rPr>
              <a:t>Supervised Learning</a:t>
            </a:r>
            <a:endParaRPr>
              <a:solidFill>
                <a:schemeClr val="dk1"/>
              </a:solidFill>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targets given</a:t>
            </a:r>
            <a:endParaRPr sz="1800">
              <a:solidFill>
                <a:schemeClr val="dk2"/>
              </a:solidFill>
              <a:latin typeface="Proxima Nova"/>
              <a:ea typeface="Proxima Nova"/>
              <a:cs typeface="Proxima Nova"/>
              <a:sym typeface="Proxima Nova"/>
            </a:endParaRPr>
          </a:p>
        </p:txBody>
      </p:sp>
      <p:sp>
        <p:nvSpPr>
          <p:cNvPr id="138" name="Google Shape;138;p28"/>
          <p:cNvSpPr txBox="1"/>
          <p:nvPr>
            <p:ph type="title"/>
          </p:nvPr>
        </p:nvSpPr>
        <p:spPr>
          <a:xfrm>
            <a:off x="630025" y="2922500"/>
            <a:ext cx="2808000" cy="152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Unsupervised</a:t>
            </a:r>
            <a:endParaRPr/>
          </a:p>
          <a:p>
            <a:pPr indent="0" lvl="0" marL="0" rtl="0" algn="l">
              <a:spcBef>
                <a:spcPts val="0"/>
              </a:spcBef>
              <a:spcAft>
                <a:spcPts val="0"/>
              </a:spcAft>
              <a:buNone/>
            </a:pPr>
            <a:r>
              <a:rPr lang="en"/>
              <a:t>Learning</a:t>
            </a:r>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targets not given, only features</a:t>
            </a:r>
            <a:endParaRPr sz="1800"/>
          </a:p>
        </p:txBody>
      </p:sp>
      <p:sp>
        <p:nvSpPr>
          <p:cNvPr id="139" name="Google Shape;139;p28"/>
          <p:cNvSpPr txBox="1"/>
          <p:nvPr>
            <p:ph type="title"/>
          </p:nvPr>
        </p:nvSpPr>
        <p:spPr>
          <a:xfrm>
            <a:off x="4498725" y="1160475"/>
            <a:ext cx="3345300" cy="1034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chemeClr val="dk1"/>
                </a:solidFill>
              </a:rPr>
              <a:t>Classification</a:t>
            </a:r>
            <a:endParaRPr>
              <a:solidFill>
                <a:schemeClr val="dk1"/>
              </a:solidFill>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goal is </a:t>
            </a:r>
            <a:r>
              <a:rPr b="1" lang="en" sz="1800">
                <a:solidFill>
                  <a:schemeClr val="dk2"/>
                </a:solidFill>
                <a:latin typeface="Proxima Nova"/>
                <a:ea typeface="Proxima Nova"/>
                <a:cs typeface="Proxima Nova"/>
                <a:sym typeface="Proxima Nova"/>
              </a:rPr>
              <a:t>categorical</a:t>
            </a:r>
            <a:r>
              <a:rPr lang="en" sz="1800">
                <a:solidFill>
                  <a:schemeClr val="dk2"/>
                </a:solidFill>
                <a:latin typeface="Proxima Nova"/>
                <a:ea typeface="Proxima Nova"/>
                <a:cs typeface="Proxima Nova"/>
                <a:sym typeface="Proxima Nova"/>
              </a:rPr>
              <a:t>, discrete</a:t>
            </a:r>
            <a:endParaRPr sz="1400">
              <a:solidFill>
                <a:schemeClr val="dk2"/>
              </a:solidFill>
              <a:latin typeface="Proxima Nova"/>
              <a:ea typeface="Proxima Nova"/>
              <a:cs typeface="Proxima Nova"/>
              <a:sym typeface="Proxima Nova"/>
            </a:endParaRPr>
          </a:p>
        </p:txBody>
      </p:sp>
      <p:sp>
        <p:nvSpPr>
          <p:cNvPr id="140" name="Google Shape;140;p28"/>
          <p:cNvSpPr txBox="1"/>
          <p:nvPr>
            <p:ph type="title"/>
          </p:nvPr>
        </p:nvSpPr>
        <p:spPr>
          <a:xfrm>
            <a:off x="4511125" y="2320375"/>
            <a:ext cx="3409200" cy="946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chemeClr val="dk1"/>
                </a:solidFill>
              </a:rPr>
              <a:t>Regression</a:t>
            </a:r>
            <a:endParaRPr>
              <a:solidFill>
                <a:schemeClr val="dk1"/>
              </a:solidFill>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goal is </a:t>
            </a:r>
            <a:r>
              <a:rPr b="1" lang="en" sz="1800">
                <a:solidFill>
                  <a:schemeClr val="dk2"/>
                </a:solidFill>
                <a:latin typeface="Proxima Nova"/>
                <a:ea typeface="Proxima Nova"/>
                <a:cs typeface="Proxima Nova"/>
                <a:sym typeface="Proxima Nova"/>
              </a:rPr>
              <a:t>number</a:t>
            </a:r>
            <a:r>
              <a:rPr lang="en" sz="1800">
                <a:solidFill>
                  <a:schemeClr val="dk2"/>
                </a:solidFill>
                <a:latin typeface="Proxima Nova"/>
                <a:ea typeface="Proxima Nova"/>
                <a:cs typeface="Proxima Nova"/>
                <a:sym typeface="Proxima Nova"/>
              </a:rPr>
              <a:t>, continuous</a:t>
            </a:r>
            <a:endParaRPr sz="1400">
              <a:solidFill>
                <a:schemeClr val="dk2"/>
              </a:solidFill>
              <a:latin typeface="Proxima Nova"/>
              <a:ea typeface="Proxima Nova"/>
              <a:cs typeface="Proxima Nova"/>
              <a:sym typeface="Proxima Nova"/>
            </a:endParaRPr>
          </a:p>
        </p:txBody>
      </p:sp>
      <p:sp>
        <p:nvSpPr>
          <p:cNvPr id="141" name="Google Shape;141;p28"/>
          <p:cNvSpPr txBox="1"/>
          <p:nvPr>
            <p:ph type="title"/>
          </p:nvPr>
        </p:nvSpPr>
        <p:spPr>
          <a:xfrm>
            <a:off x="4523125" y="3342800"/>
            <a:ext cx="3778200" cy="1329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Clustering</a:t>
            </a:r>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goal is finding </a:t>
            </a:r>
            <a:r>
              <a:rPr b="1" lang="en" sz="1800">
                <a:solidFill>
                  <a:schemeClr val="dk2"/>
                </a:solidFill>
                <a:latin typeface="Proxima Nova"/>
                <a:ea typeface="Proxima Nova"/>
                <a:cs typeface="Proxima Nova"/>
                <a:sym typeface="Proxima Nova"/>
              </a:rPr>
              <a:t>patterns</a:t>
            </a:r>
            <a:r>
              <a:rPr lang="en" sz="1800">
                <a:solidFill>
                  <a:schemeClr val="dk2"/>
                </a:solidFill>
                <a:latin typeface="Proxima Nova"/>
                <a:ea typeface="Proxima Nova"/>
                <a:cs typeface="Proxima Nova"/>
                <a:sym typeface="Proxima Nova"/>
              </a:rPr>
              <a:t>, or labeling data for use in supervised learning</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550">
                <a:solidFill>
                  <a:schemeClr val="dk2"/>
                </a:solidFill>
                <a:latin typeface="Proxima Nova"/>
                <a:ea typeface="Proxima Nova"/>
                <a:cs typeface="Proxima Nova"/>
                <a:sym typeface="Proxima Nova"/>
              </a:rPr>
              <a:t>algs: k-means, hierarchical, GMMs</a:t>
            </a:r>
            <a:endParaRPr sz="1550">
              <a:solidFill>
                <a:schemeClr val="dk2"/>
              </a:solidFill>
              <a:latin typeface="Proxima Nova"/>
              <a:ea typeface="Proxima Nova"/>
              <a:cs typeface="Proxima Nova"/>
              <a:sym typeface="Proxima Nova"/>
            </a:endParaRPr>
          </a:p>
        </p:txBody>
      </p:sp>
      <p:sp>
        <p:nvSpPr>
          <p:cNvPr id="142" name="Google Shape;142;p28"/>
          <p:cNvSpPr txBox="1"/>
          <p:nvPr>
            <p:ph type="title"/>
          </p:nvPr>
        </p:nvSpPr>
        <p:spPr>
          <a:xfrm>
            <a:off x="553825" y="426375"/>
            <a:ext cx="2808000" cy="734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dk2"/>
                </a:solidFill>
              </a:rPr>
              <a:t>ML Approaches</a:t>
            </a:r>
            <a:endParaRPr sz="1800">
              <a:solidFill>
                <a:schemeClr val="dk2"/>
              </a:solidFill>
              <a:latin typeface="Proxima Nova"/>
              <a:ea typeface="Proxima Nova"/>
              <a:cs typeface="Proxima Nova"/>
              <a:sym typeface="Proxima Nova"/>
            </a:endParaRPr>
          </a:p>
        </p:txBody>
      </p:sp>
      <p:sp>
        <p:nvSpPr>
          <p:cNvPr id="143" name="Google Shape;143;p28"/>
          <p:cNvSpPr txBox="1"/>
          <p:nvPr>
            <p:ph type="title"/>
          </p:nvPr>
        </p:nvSpPr>
        <p:spPr>
          <a:xfrm>
            <a:off x="4516225" y="426375"/>
            <a:ext cx="2808000" cy="734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dk2"/>
                </a:solidFill>
              </a:rPr>
              <a:t>Algorithm Types</a:t>
            </a:r>
            <a:endParaRPr sz="1800">
              <a:solidFill>
                <a:schemeClr val="dk2"/>
              </a:solidFill>
              <a:latin typeface="Proxima Nova"/>
              <a:ea typeface="Proxima Nova"/>
              <a:cs typeface="Proxima Nova"/>
              <a:sym typeface="Proxima Nova"/>
            </a:endParaRPr>
          </a:p>
        </p:txBody>
      </p:sp>
      <p:sp>
        <p:nvSpPr>
          <p:cNvPr id="144" name="Google Shape;144;p28"/>
          <p:cNvSpPr/>
          <p:nvPr/>
        </p:nvSpPr>
        <p:spPr>
          <a:xfrm>
            <a:off x="2531325" y="1489025"/>
            <a:ext cx="1863400" cy="674125"/>
          </a:xfrm>
          <a:custGeom>
            <a:rect b="b" l="l" r="r" t="t"/>
            <a:pathLst>
              <a:path extrusionOk="0" h="26965" w="74536">
                <a:moveTo>
                  <a:pt x="0" y="21442"/>
                </a:moveTo>
                <a:cubicBezTo>
                  <a:pt x="1362" y="21697"/>
                  <a:pt x="766" y="22207"/>
                  <a:pt x="8169" y="22973"/>
                </a:cubicBezTo>
                <a:cubicBezTo>
                  <a:pt x="15572" y="23739"/>
                  <a:pt x="36163" y="29014"/>
                  <a:pt x="44416" y="26036"/>
                </a:cubicBezTo>
                <a:cubicBezTo>
                  <a:pt x="52669" y="23058"/>
                  <a:pt x="52669" y="9444"/>
                  <a:pt x="57689" y="5105"/>
                </a:cubicBezTo>
                <a:cubicBezTo>
                  <a:pt x="62709" y="766"/>
                  <a:pt x="71728" y="851"/>
                  <a:pt x="74536" y="0"/>
                </a:cubicBezTo>
              </a:path>
            </a:pathLst>
          </a:custGeom>
          <a:noFill/>
          <a:ln cap="flat" cmpd="sng" w="28575">
            <a:solidFill>
              <a:schemeClr val="dk2"/>
            </a:solidFill>
            <a:prstDash val="solid"/>
            <a:round/>
            <a:headEnd len="med" w="med" type="none"/>
            <a:tailEnd len="med" w="med" type="stealth"/>
          </a:ln>
        </p:spPr>
      </p:sp>
      <p:sp>
        <p:nvSpPr>
          <p:cNvPr id="145" name="Google Shape;145;p28"/>
          <p:cNvSpPr/>
          <p:nvPr/>
        </p:nvSpPr>
        <p:spPr>
          <a:xfrm>
            <a:off x="3438025" y="2163150"/>
            <a:ext cx="880650" cy="459475"/>
          </a:xfrm>
          <a:custGeom>
            <a:rect b="b" l="l" r="r" t="t"/>
            <a:pathLst>
              <a:path extrusionOk="0" h="18379" w="35226">
                <a:moveTo>
                  <a:pt x="0" y="0"/>
                </a:moveTo>
                <a:cubicBezTo>
                  <a:pt x="2212" y="596"/>
                  <a:pt x="10381" y="851"/>
                  <a:pt x="13274" y="3574"/>
                </a:cubicBezTo>
                <a:cubicBezTo>
                  <a:pt x="16167" y="6297"/>
                  <a:pt x="13699" y="13870"/>
                  <a:pt x="17358" y="16337"/>
                </a:cubicBezTo>
                <a:cubicBezTo>
                  <a:pt x="21017" y="18805"/>
                  <a:pt x="32248" y="18039"/>
                  <a:pt x="35226" y="18379"/>
                </a:cubicBezTo>
              </a:path>
            </a:pathLst>
          </a:custGeom>
          <a:noFill/>
          <a:ln cap="flat" cmpd="sng" w="28575">
            <a:solidFill>
              <a:schemeClr val="dk2"/>
            </a:solidFill>
            <a:prstDash val="solid"/>
            <a:round/>
            <a:headEnd len="med" w="med" type="none"/>
            <a:tailEnd len="med" w="med" type="stealth"/>
          </a:ln>
        </p:spPr>
      </p:sp>
      <p:sp>
        <p:nvSpPr>
          <p:cNvPr id="146" name="Google Shape;146;p28"/>
          <p:cNvSpPr/>
          <p:nvPr/>
        </p:nvSpPr>
        <p:spPr>
          <a:xfrm>
            <a:off x="2824875" y="3556625"/>
            <a:ext cx="1595375" cy="191450"/>
          </a:xfrm>
          <a:custGeom>
            <a:rect b="b" l="l" r="r" t="t"/>
            <a:pathLst>
              <a:path extrusionOk="0" h="7658" w="63815">
                <a:moveTo>
                  <a:pt x="0" y="0"/>
                </a:moveTo>
                <a:cubicBezTo>
                  <a:pt x="5361" y="851"/>
                  <a:pt x="21527" y="3829"/>
                  <a:pt x="32163" y="5105"/>
                </a:cubicBezTo>
                <a:cubicBezTo>
                  <a:pt x="42799" y="6381"/>
                  <a:pt x="58540" y="7233"/>
                  <a:pt x="63815" y="7658"/>
                </a:cubicBezTo>
              </a:path>
            </a:pathLst>
          </a:custGeom>
          <a:noFill/>
          <a:ln cap="flat" cmpd="sng" w="28575">
            <a:solidFill>
              <a:schemeClr val="dk2"/>
            </a:solidFill>
            <a:prstDash val="solid"/>
            <a:round/>
            <a:headEnd len="med" w="med" type="none"/>
            <a:tailEnd len="med" w="med" type="stealth"/>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type="title"/>
          </p:nvPr>
        </p:nvSpPr>
        <p:spPr>
          <a:xfrm>
            <a:off x="553825" y="1160475"/>
            <a:ext cx="3281700" cy="1731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200">
                <a:solidFill>
                  <a:schemeClr val="dk1"/>
                </a:solidFill>
              </a:rPr>
              <a:t>Tree-based</a:t>
            </a:r>
            <a:endParaRPr sz="2200">
              <a:solidFill>
                <a:schemeClr val="dk1"/>
              </a:solidFill>
            </a:endParaRPr>
          </a:p>
          <a:p>
            <a:pPr indent="0" lvl="0" marL="0" rtl="0" algn="l">
              <a:spcBef>
                <a:spcPts val="0"/>
              </a:spcBef>
              <a:spcAft>
                <a:spcPts val="0"/>
              </a:spcAft>
              <a:buNone/>
            </a:pPr>
            <a:r>
              <a:rPr lang="en" sz="1600">
                <a:solidFill>
                  <a:schemeClr val="dk2"/>
                </a:solidFill>
                <a:latin typeface="Proxima Nova"/>
                <a:ea typeface="Proxima Nova"/>
                <a:cs typeface="Proxima Nova"/>
                <a:sym typeface="Proxima Nova"/>
              </a:rPr>
              <a:t>segment feature space into simple </a:t>
            </a:r>
            <a:r>
              <a:rPr b="1" lang="en" sz="1600">
                <a:solidFill>
                  <a:schemeClr val="dk2"/>
                </a:solidFill>
                <a:latin typeface="Proxima Nova"/>
                <a:ea typeface="Proxima Nova"/>
                <a:cs typeface="Proxima Nova"/>
                <a:sym typeface="Proxima Nova"/>
              </a:rPr>
              <a:t>regions</a:t>
            </a:r>
            <a:r>
              <a:rPr lang="en" sz="1600">
                <a:solidFill>
                  <a:schemeClr val="dk2"/>
                </a:solidFill>
                <a:latin typeface="Proxima Nova"/>
                <a:ea typeface="Proxima Nova"/>
                <a:cs typeface="Proxima Nova"/>
                <a:sym typeface="Proxima Nova"/>
              </a:rPr>
              <a:t> and then make prediction based on which region a new record falls into</a:t>
            </a:r>
            <a:endParaRPr sz="1600">
              <a:solidFill>
                <a:schemeClr val="dk2"/>
              </a:solidFill>
              <a:latin typeface="Proxima Nova"/>
              <a:ea typeface="Proxima Nova"/>
              <a:cs typeface="Proxima Nova"/>
              <a:sym typeface="Proxima Nova"/>
            </a:endParaRPr>
          </a:p>
        </p:txBody>
      </p:sp>
      <p:sp>
        <p:nvSpPr>
          <p:cNvPr id="152" name="Google Shape;152;p29"/>
          <p:cNvSpPr txBox="1"/>
          <p:nvPr>
            <p:ph type="title"/>
          </p:nvPr>
        </p:nvSpPr>
        <p:spPr>
          <a:xfrm>
            <a:off x="5273125" y="1276150"/>
            <a:ext cx="3345300" cy="1034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chemeClr val="dk1"/>
                </a:solidFill>
              </a:rPr>
              <a:t>Classification</a:t>
            </a:r>
            <a:endParaRPr>
              <a:solidFill>
                <a:schemeClr val="dk1"/>
              </a:solidFill>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goal is </a:t>
            </a:r>
            <a:r>
              <a:rPr b="1" lang="en" sz="1800">
                <a:solidFill>
                  <a:schemeClr val="dk2"/>
                </a:solidFill>
                <a:latin typeface="Proxima Nova"/>
                <a:ea typeface="Proxima Nova"/>
                <a:cs typeface="Proxima Nova"/>
                <a:sym typeface="Proxima Nova"/>
              </a:rPr>
              <a:t>categorical</a:t>
            </a:r>
            <a:r>
              <a:rPr lang="en" sz="1800">
                <a:solidFill>
                  <a:schemeClr val="dk2"/>
                </a:solidFill>
                <a:latin typeface="Proxima Nova"/>
                <a:ea typeface="Proxima Nova"/>
                <a:cs typeface="Proxima Nova"/>
                <a:sym typeface="Proxima Nova"/>
              </a:rPr>
              <a:t>, discrete</a:t>
            </a:r>
            <a:endParaRPr b="1" sz="1400">
              <a:latin typeface="Proxima Nova"/>
              <a:ea typeface="Proxima Nova"/>
              <a:cs typeface="Proxima Nova"/>
              <a:sym typeface="Proxima Nova"/>
            </a:endParaRPr>
          </a:p>
        </p:txBody>
      </p:sp>
      <p:sp>
        <p:nvSpPr>
          <p:cNvPr id="153" name="Google Shape;153;p29"/>
          <p:cNvSpPr txBox="1"/>
          <p:nvPr>
            <p:ph type="title"/>
          </p:nvPr>
        </p:nvSpPr>
        <p:spPr>
          <a:xfrm>
            <a:off x="5285525" y="2436050"/>
            <a:ext cx="3409200" cy="946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chemeClr val="dk1"/>
                </a:solidFill>
              </a:rPr>
              <a:t>Regression</a:t>
            </a:r>
            <a:endParaRPr>
              <a:solidFill>
                <a:schemeClr val="dk1"/>
              </a:solidFill>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goal is </a:t>
            </a:r>
            <a:r>
              <a:rPr b="1" lang="en" sz="1800">
                <a:solidFill>
                  <a:schemeClr val="dk2"/>
                </a:solidFill>
                <a:latin typeface="Proxima Nova"/>
                <a:ea typeface="Proxima Nova"/>
                <a:cs typeface="Proxima Nova"/>
                <a:sym typeface="Proxima Nova"/>
              </a:rPr>
              <a:t>number</a:t>
            </a:r>
            <a:r>
              <a:rPr lang="en" sz="1800">
                <a:solidFill>
                  <a:schemeClr val="dk2"/>
                </a:solidFill>
                <a:latin typeface="Proxima Nova"/>
                <a:ea typeface="Proxima Nova"/>
                <a:cs typeface="Proxima Nova"/>
                <a:sym typeface="Proxima Nova"/>
              </a:rPr>
              <a:t>, continuous</a:t>
            </a:r>
            <a:endParaRPr sz="1400">
              <a:solidFill>
                <a:schemeClr val="dk2"/>
              </a:solidFill>
              <a:latin typeface="Proxima Nova"/>
              <a:ea typeface="Proxima Nova"/>
              <a:cs typeface="Proxima Nova"/>
              <a:sym typeface="Proxima Nova"/>
            </a:endParaRPr>
          </a:p>
        </p:txBody>
      </p:sp>
      <p:sp>
        <p:nvSpPr>
          <p:cNvPr id="154" name="Google Shape;154;p29"/>
          <p:cNvSpPr txBox="1"/>
          <p:nvPr>
            <p:ph type="title"/>
          </p:nvPr>
        </p:nvSpPr>
        <p:spPr>
          <a:xfrm>
            <a:off x="553825" y="426375"/>
            <a:ext cx="2808000" cy="734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dk2"/>
                </a:solidFill>
              </a:rPr>
              <a:t>Model Types</a:t>
            </a:r>
            <a:endParaRPr sz="1800">
              <a:solidFill>
                <a:schemeClr val="dk2"/>
              </a:solidFill>
              <a:latin typeface="Proxima Nova"/>
              <a:ea typeface="Proxima Nova"/>
              <a:cs typeface="Proxima Nova"/>
              <a:sym typeface="Proxima Nova"/>
            </a:endParaRPr>
          </a:p>
        </p:txBody>
      </p:sp>
      <p:sp>
        <p:nvSpPr>
          <p:cNvPr id="155" name="Google Shape;155;p29"/>
          <p:cNvSpPr txBox="1"/>
          <p:nvPr>
            <p:ph type="title"/>
          </p:nvPr>
        </p:nvSpPr>
        <p:spPr>
          <a:xfrm>
            <a:off x="5273125" y="426375"/>
            <a:ext cx="2808000" cy="734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dk2"/>
                </a:solidFill>
              </a:rPr>
              <a:t>Algorithm Types</a:t>
            </a:r>
            <a:endParaRPr sz="1800">
              <a:solidFill>
                <a:schemeClr val="dk2"/>
              </a:solidFill>
              <a:latin typeface="Proxima Nova"/>
              <a:ea typeface="Proxima Nova"/>
              <a:cs typeface="Proxima Nova"/>
              <a:sym typeface="Proxima Nova"/>
            </a:endParaRPr>
          </a:p>
        </p:txBody>
      </p:sp>
      <p:sp>
        <p:nvSpPr>
          <p:cNvPr id="156" name="Google Shape;156;p29"/>
          <p:cNvSpPr txBox="1"/>
          <p:nvPr>
            <p:ph type="title"/>
          </p:nvPr>
        </p:nvSpPr>
        <p:spPr>
          <a:xfrm>
            <a:off x="591925" y="3044475"/>
            <a:ext cx="3205500" cy="164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Linear</a:t>
            </a:r>
            <a:endParaRPr>
              <a:solidFill>
                <a:schemeClr val="dk1"/>
              </a:solidFill>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detect linear relationships among features and then make prediction on a response variable with infinite possibilities</a:t>
            </a:r>
            <a:endParaRPr sz="1800">
              <a:solidFill>
                <a:schemeClr val="dk2"/>
              </a:solidFill>
              <a:latin typeface="Proxima Nova"/>
              <a:ea typeface="Proxima Nova"/>
              <a:cs typeface="Proxima Nova"/>
              <a:sym typeface="Proxima Nova"/>
            </a:endParaRPr>
          </a:p>
        </p:txBody>
      </p:sp>
      <p:sp>
        <p:nvSpPr>
          <p:cNvPr id="157" name="Google Shape;157;p29"/>
          <p:cNvSpPr txBox="1"/>
          <p:nvPr/>
        </p:nvSpPr>
        <p:spPr>
          <a:xfrm>
            <a:off x="5283200" y="3714875"/>
            <a:ext cx="2899500" cy="103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Proxima Nova"/>
                <a:ea typeface="Proxima Nova"/>
                <a:cs typeface="Proxima Nova"/>
                <a:sym typeface="Proxima Nova"/>
              </a:rPr>
              <a:t>Both tree and linear models have both classification and regression algorithms!</a:t>
            </a:r>
            <a:endParaRPr sz="1600">
              <a:solidFill>
                <a:schemeClr val="dk2"/>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30"/>
          <p:cNvPicPr preferRelativeResize="0"/>
          <p:nvPr/>
        </p:nvPicPr>
        <p:blipFill>
          <a:blip r:embed="rId3">
            <a:alphaModFix/>
          </a:blip>
          <a:stretch>
            <a:fillRect/>
          </a:stretch>
        </p:blipFill>
        <p:spPr>
          <a:xfrm>
            <a:off x="4376975" y="2016825"/>
            <a:ext cx="4148124" cy="2858174"/>
          </a:xfrm>
          <a:prstGeom prst="rect">
            <a:avLst/>
          </a:prstGeom>
          <a:noFill/>
          <a:ln>
            <a:noFill/>
          </a:ln>
        </p:spPr>
      </p:pic>
      <p:sp>
        <p:nvSpPr>
          <p:cNvPr id="163" name="Google Shape;163;p30"/>
          <p:cNvSpPr txBox="1"/>
          <p:nvPr>
            <p:ph type="title"/>
          </p:nvPr>
        </p:nvSpPr>
        <p:spPr>
          <a:xfrm>
            <a:off x="553825" y="718250"/>
            <a:ext cx="3281700" cy="306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Decision Trees</a:t>
            </a:r>
            <a:endParaRPr sz="1600">
              <a:latin typeface="Proxima Nova"/>
              <a:ea typeface="Proxima Nova"/>
              <a:cs typeface="Proxima Nova"/>
              <a:sym typeface="Proxima Nova"/>
            </a:endParaRPr>
          </a:p>
          <a:p>
            <a:pPr indent="0" lvl="0" marL="0" rtl="0" algn="l">
              <a:spcBef>
                <a:spcPts val="0"/>
              </a:spcBef>
              <a:spcAft>
                <a:spcPts val="0"/>
              </a:spcAft>
              <a:buNone/>
            </a:pPr>
            <a:r>
              <a:rPr lang="en" sz="1600">
                <a:solidFill>
                  <a:schemeClr val="dk2"/>
                </a:solidFill>
                <a:latin typeface="Proxima Nova"/>
                <a:ea typeface="Proxima Nova"/>
                <a:cs typeface="Proxima Nova"/>
                <a:sym typeface="Proxima Nova"/>
              </a:rPr>
              <a:t>essentially play 20Q </a:t>
            </a:r>
            <a:endParaRPr sz="16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6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600">
                <a:solidFill>
                  <a:schemeClr val="dk2"/>
                </a:solidFill>
                <a:latin typeface="Proxima Nova"/>
                <a:ea typeface="Proxima Nova"/>
                <a:cs typeface="Proxima Nova"/>
                <a:sym typeface="Proxima Nova"/>
              </a:rPr>
              <a:t>ask enough yes/no questions until we can make a prediction</a:t>
            </a:r>
            <a:endParaRPr sz="16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6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6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1"/>
                </a:solidFill>
              </a:rPr>
              <a:t>Big Idea</a:t>
            </a:r>
            <a:r>
              <a:rPr lang="en" sz="1600">
                <a:solidFill>
                  <a:schemeClr val="dk2"/>
                </a:solidFill>
                <a:latin typeface="Proxima Nova"/>
                <a:ea typeface="Proxima Nova"/>
                <a:cs typeface="Proxima Nova"/>
                <a:sym typeface="Proxima Nova"/>
              </a:rPr>
              <a:t>: pick the </a:t>
            </a:r>
            <a:r>
              <a:rPr b="1" lang="en" sz="1600">
                <a:solidFill>
                  <a:srgbClr val="A9AA35"/>
                </a:solidFill>
                <a:latin typeface="Proxima Nova"/>
                <a:ea typeface="Proxima Nova"/>
                <a:cs typeface="Proxima Nova"/>
                <a:sym typeface="Proxima Nova"/>
              </a:rPr>
              <a:t>right</a:t>
            </a:r>
            <a:r>
              <a:rPr lang="en" sz="1600">
                <a:solidFill>
                  <a:schemeClr val="dk2"/>
                </a:solidFill>
                <a:latin typeface="Proxima Nova"/>
                <a:ea typeface="Proxima Nova"/>
                <a:cs typeface="Proxima Nova"/>
                <a:sym typeface="Proxima Nova"/>
              </a:rPr>
              <a:t> questions to separate the classes</a:t>
            </a:r>
            <a:endParaRPr sz="1600">
              <a:solidFill>
                <a:schemeClr val="dk2"/>
              </a:solidFill>
              <a:latin typeface="Proxima Nova"/>
              <a:ea typeface="Proxima Nova"/>
              <a:cs typeface="Proxima Nova"/>
              <a:sym typeface="Proxima Nova"/>
            </a:endParaRPr>
          </a:p>
        </p:txBody>
      </p:sp>
      <p:sp>
        <p:nvSpPr>
          <p:cNvPr id="164" name="Google Shape;164;p30"/>
          <p:cNvSpPr txBox="1"/>
          <p:nvPr>
            <p:ph type="title"/>
          </p:nvPr>
        </p:nvSpPr>
        <p:spPr>
          <a:xfrm>
            <a:off x="4469450" y="718250"/>
            <a:ext cx="4055700" cy="145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solidFill>
                  <a:schemeClr val="dk1"/>
                </a:solidFill>
              </a:rPr>
              <a:t>Simple Example</a:t>
            </a:r>
            <a:endParaRPr sz="16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600">
                <a:solidFill>
                  <a:schemeClr val="dk2"/>
                </a:solidFill>
                <a:latin typeface="Proxima Nova"/>
                <a:ea typeface="Proxima Nova"/>
                <a:cs typeface="Proxima Nova"/>
                <a:sym typeface="Proxima Nova"/>
              </a:rPr>
              <a:t>which question would split our feature space so that all open circles and all closed circles are in their own regions? </a:t>
            </a:r>
            <a:endParaRPr sz="1600">
              <a:solidFill>
                <a:schemeClr val="dk2"/>
              </a:solidFill>
              <a:latin typeface="Proxima Nova"/>
              <a:ea typeface="Proxima Nova"/>
              <a:cs typeface="Proxima Nova"/>
              <a:sym typeface="Proxima Nova"/>
            </a:endParaRPr>
          </a:p>
        </p:txBody>
      </p:sp>
      <p:sp>
        <p:nvSpPr>
          <p:cNvPr id="165" name="Google Shape;165;p30"/>
          <p:cNvSpPr txBox="1"/>
          <p:nvPr/>
        </p:nvSpPr>
        <p:spPr>
          <a:xfrm>
            <a:off x="6608025" y="3888625"/>
            <a:ext cx="17859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A9AA35"/>
                </a:solidFill>
                <a:latin typeface="Proxima Nova"/>
                <a:ea typeface="Proxima Nova"/>
                <a:cs typeface="Proxima Nova"/>
                <a:sym typeface="Proxima Nova"/>
              </a:rPr>
              <a:t>is x &lt; -2?</a:t>
            </a:r>
            <a:endParaRPr b="1" sz="1800">
              <a:solidFill>
                <a:srgbClr val="A9AA35"/>
              </a:solidFill>
              <a:latin typeface="Proxima Nova"/>
              <a:ea typeface="Proxima Nova"/>
              <a:cs typeface="Proxima Nova"/>
              <a:sym typeface="Proxima Nova"/>
            </a:endParaRPr>
          </a:p>
        </p:txBody>
      </p:sp>
      <p:sp>
        <p:nvSpPr>
          <p:cNvPr id="166" name="Google Shape;166;p30"/>
          <p:cNvSpPr/>
          <p:nvPr/>
        </p:nvSpPr>
        <p:spPr>
          <a:xfrm>
            <a:off x="6486075" y="1916350"/>
            <a:ext cx="34025" cy="3061600"/>
          </a:xfrm>
          <a:custGeom>
            <a:rect b="b" l="l" r="r" t="t"/>
            <a:pathLst>
              <a:path extrusionOk="0" h="122464" w="1361">
                <a:moveTo>
                  <a:pt x="1361" y="0"/>
                </a:moveTo>
                <a:cubicBezTo>
                  <a:pt x="1134" y="20411"/>
                  <a:pt x="227" y="102053"/>
                  <a:pt x="0" y="122464"/>
                </a:cubicBezTo>
              </a:path>
            </a:pathLst>
          </a:custGeom>
          <a:noFill/>
          <a:ln cap="flat" cmpd="sng" w="38100">
            <a:solidFill>
              <a:srgbClr val="A9AA35"/>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31"/>
          <p:cNvPicPr preferRelativeResize="0"/>
          <p:nvPr/>
        </p:nvPicPr>
        <p:blipFill>
          <a:blip r:embed="rId3">
            <a:alphaModFix/>
          </a:blip>
          <a:stretch>
            <a:fillRect/>
          </a:stretch>
        </p:blipFill>
        <p:spPr>
          <a:xfrm>
            <a:off x="4376975" y="2016825"/>
            <a:ext cx="4148124" cy="2858174"/>
          </a:xfrm>
          <a:prstGeom prst="rect">
            <a:avLst/>
          </a:prstGeom>
          <a:noFill/>
          <a:ln>
            <a:noFill/>
          </a:ln>
        </p:spPr>
      </p:pic>
      <p:sp>
        <p:nvSpPr>
          <p:cNvPr id="172" name="Google Shape;172;p31"/>
          <p:cNvSpPr txBox="1"/>
          <p:nvPr>
            <p:ph type="title"/>
          </p:nvPr>
        </p:nvSpPr>
        <p:spPr>
          <a:xfrm>
            <a:off x="4469450" y="718250"/>
            <a:ext cx="4055700" cy="145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solidFill>
                  <a:schemeClr val="dk1"/>
                </a:solidFill>
              </a:rPr>
              <a:t>Simple Example</a:t>
            </a:r>
            <a:endParaRPr sz="1600">
              <a:solidFill>
                <a:schemeClr val="dk2"/>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600">
                <a:solidFill>
                  <a:schemeClr val="dk2"/>
                </a:solidFill>
                <a:latin typeface="Proxima Nova"/>
                <a:ea typeface="Proxima Nova"/>
                <a:cs typeface="Proxima Nova"/>
                <a:sym typeface="Proxima Nova"/>
              </a:rPr>
              <a:t>which question would split our feature space so that all open circles and all closed circles are in their own regions? </a:t>
            </a:r>
            <a:endParaRPr sz="1600">
              <a:solidFill>
                <a:schemeClr val="dk2"/>
              </a:solidFill>
              <a:latin typeface="Proxima Nova"/>
              <a:ea typeface="Proxima Nova"/>
              <a:cs typeface="Proxima Nova"/>
              <a:sym typeface="Proxima Nova"/>
            </a:endParaRPr>
          </a:p>
        </p:txBody>
      </p:sp>
      <p:sp>
        <p:nvSpPr>
          <p:cNvPr id="173" name="Google Shape;173;p31"/>
          <p:cNvSpPr txBox="1"/>
          <p:nvPr/>
        </p:nvSpPr>
        <p:spPr>
          <a:xfrm>
            <a:off x="6608025" y="3888625"/>
            <a:ext cx="1785900" cy="6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A9AA35"/>
                </a:solidFill>
                <a:latin typeface="Proxima Nova"/>
                <a:ea typeface="Proxima Nova"/>
                <a:cs typeface="Proxima Nova"/>
                <a:sym typeface="Proxima Nova"/>
              </a:rPr>
              <a:t>is x &lt; -2?</a:t>
            </a:r>
            <a:endParaRPr b="1" sz="1800">
              <a:solidFill>
                <a:srgbClr val="A9AA35"/>
              </a:solidFill>
              <a:latin typeface="Proxima Nova"/>
              <a:ea typeface="Proxima Nova"/>
              <a:cs typeface="Proxima Nova"/>
              <a:sym typeface="Proxima Nova"/>
            </a:endParaRPr>
          </a:p>
        </p:txBody>
      </p:sp>
      <p:sp>
        <p:nvSpPr>
          <p:cNvPr id="174" name="Google Shape;174;p31"/>
          <p:cNvSpPr/>
          <p:nvPr/>
        </p:nvSpPr>
        <p:spPr>
          <a:xfrm>
            <a:off x="6486075" y="1916350"/>
            <a:ext cx="34025" cy="3061600"/>
          </a:xfrm>
          <a:custGeom>
            <a:rect b="b" l="l" r="r" t="t"/>
            <a:pathLst>
              <a:path extrusionOk="0" h="122464" w="1361">
                <a:moveTo>
                  <a:pt x="1361" y="0"/>
                </a:moveTo>
                <a:cubicBezTo>
                  <a:pt x="1134" y="20411"/>
                  <a:pt x="227" y="102053"/>
                  <a:pt x="0" y="122464"/>
                </a:cubicBezTo>
              </a:path>
            </a:pathLst>
          </a:custGeom>
          <a:noFill/>
          <a:ln cap="flat" cmpd="sng" w="38100">
            <a:solidFill>
              <a:srgbClr val="A9AA35"/>
            </a:solidFill>
            <a:prstDash val="solid"/>
            <a:round/>
            <a:headEnd len="med" w="med" type="none"/>
            <a:tailEnd len="med" w="med" type="none"/>
          </a:ln>
        </p:spPr>
      </p:sp>
      <p:sp>
        <p:nvSpPr>
          <p:cNvPr id="175" name="Google Shape;175;p31"/>
          <p:cNvSpPr txBox="1"/>
          <p:nvPr/>
        </p:nvSpPr>
        <p:spPr>
          <a:xfrm>
            <a:off x="538175" y="718250"/>
            <a:ext cx="30000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Alfa Slab One"/>
                <a:ea typeface="Alfa Slab One"/>
                <a:cs typeface="Alfa Slab One"/>
                <a:sym typeface="Alfa Slab One"/>
              </a:rPr>
              <a:t>Simple Decision Tree Diagram</a:t>
            </a:r>
            <a:endParaRPr sz="16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600">
                <a:solidFill>
                  <a:schemeClr val="dk2"/>
                </a:solidFill>
                <a:latin typeface="Proxima Nova"/>
                <a:ea typeface="Proxima Nova"/>
                <a:cs typeface="Proxima Nova"/>
                <a:sym typeface="Proxima Nova"/>
              </a:rPr>
              <a:t>Write down our first question “is x&lt;-2”. This is our initial node. Now draw two boxes below this, one labeled </a:t>
            </a:r>
            <a:r>
              <a:rPr lang="en" sz="1600">
                <a:solidFill>
                  <a:schemeClr val="dk2"/>
                </a:solidFill>
                <a:latin typeface="Proxima Nova"/>
                <a:ea typeface="Proxima Nova"/>
                <a:cs typeface="Proxima Nova"/>
                <a:sym typeface="Proxima Nova"/>
              </a:rPr>
              <a:t>open </a:t>
            </a:r>
            <a:r>
              <a:rPr lang="en" sz="1600">
                <a:solidFill>
                  <a:schemeClr val="dk2"/>
                </a:solidFill>
                <a:latin typeface="Proxima Nova"/>
                <a:ea typeface="Proxima Nova"/>
                <a:cs typeface="Proxima Nova"/>
                <a:sym typeface="Proxima Nova"/>
              </a:rPr>
              <a:t>and one labeled closed. Connect our initial node to each label with either a yes or no arrow.</a:t>
            </a:r>
            <a:endParaRPr/>
          </a:p>
        </p:txBody>
      </p:sp>
      <p:sp>
        <p:nvSpPr>
          <p:cNvPr id="176" name="Google Shape;176;p31"/>
          <p:cNvSpPr txBox="1"/>
          <p:nvPr/>
        </p:nvSpPr>
        <p:spPr>
          <a:xfrm>
            <a:off x="1442000" y="3351000"/>
            <a:ext cx="1112100" cy="4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A9AA35"/>
                </a:solidFill>
                <a:latin typeface="Proxima Nova"/>
                <a:ea typeface="Proxima Nova"/>
                <a:cs typeface="Proxima Nova"/>
                <a:sym typeface="Proxima Nova"/>
              </a:rPr>
              <a:t>is x &lt; -2?</a:t>
            </a:r>
            <a:endParaRPr b="1" sz="1800">
              <a:solidFill>
                <a:srgbClr val="A9AA35"/>
              </a:solidFill>
              <a:latin typeface="Proxima Nova"/>
              <a:ea typeface="Proxima Nova"/>
              <a:cs typeface="Proxima Nova"/>
              <a:sym typeface="Proxima Nova"/>
            </a:endParaRPr>
          </a:p>
        </p:txBody>
      </p:sp>
      <p:sp>
        <p:nvSpPr>
          <p:cNvPr id="177" name="Google Shape;177;p31"/>
          <p:cNvSpPr txBox="1"/>
          <p:nvPr/>
        </p:nvSpPr>
        <p:spPr>
          <a:xfrm>
            <a:off x="538175" y="4104325"/>
            <a:ext cx="1419300" cy="430500"/>
          </a:xfrm>
          <a:prstGeom prst="rect">
            <a:avLst/>
          </a:prstGeom>
          <a:noFill/>
          <a:ln cap="flat" cmpd="sng" w="952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Proxima Nova"/>
                <a:ea typeface="Proxima Nova"/>
                <a:cs typeface="Proxima Nova"/>
                <a:sym typeface="Proxima Nova"/>
              </a:rPr>
              <a:t>closed</a:t>
            </a:r>
            <a:endParaRPr b="1" sz="1800">
              <a:solidFill>
                <a:schemeClr val="dk2"/>
              </a:solidFill>
              <a:latin typeface="Proxima Nova"/>
              <a:ea typeface="Proxima Nova"/>
              <a:cs typeface="Proxima Nova"/>
              <a:sym typeface="Proxima Nova"/>
            </a:endParaRPr>
          </a:p>
        </p:txBody>
      </p:sp>
      <p:sp>
        <p:nvSpPr>
          <p:cNvPr id="178" name="Google Shape;178;p31"/>
          <p:cNvSpPr txBox="1"/>
          <p:nvPr/>
        </p:nvSpPr>
        <p:spPr>
          <a:xfrm>
            <a:off x="2457575" y="4104325"/>
            <a:ext cx="1419300" cy="430500"/>
          </a:xfrm>
          <a:prstGeom prst="rect">
            <a:avLst/>
          </a:prstGeom>
          <a:noFill/>
          <a:ln cap="flat" cmpd="sng" w="9525">
            <a:solidFill>
              <a:srgbClr val="FF572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Proxima Nova"/>
                <a:ea typeface="Proxima Nova"/>
                <a:cs typeface="Proxima Nova"/>
                <a:sym typeface="Proxima Nova"/>
              </a:rPr>
              <a:t>open</a:t>
            </a:r>
            <a:endParaRPr b="1" sz="1800">
              <a:solidFill>
                <a:schemeClr val="dk2"/>
              </a:solidFill>
              <a:latin typeface="Proxima Nova"/>
              <a:ea typeface="Proxima Nova"/>
              <a:cs typeface="Proxima Nova"/>
              <a:sym typeface="Proxima Nova"/>
            </a:endParaRPr>
          </a:p>
        </p:txBody>
      </p:sp>
      <p:sp>
        <p:nvSpPr>
          <p:cNvPr id="179" name="Google Shape;179;p31"/>
          <p:cNvSpPr txBox="1"/>
          <p:nvPr/>
        </p:nvSpPr>
        <p:spPr>
          <a:xfrm>
            <a:off x="868625" y="3734750"/>
            <a:ext cx="2627400" cy="5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1F1F"/>
                </a:solidFill>
                <a:latin typeface="Proxima Nova"/>
                <a:ea typeface="Proxima Nova"/>
                <a:cs typeface="Proxima Nova"/>
                <a:sym typeface="Proxima Nova"/>
              </a:rPr>
              <a:t>no 	                          yes	</a:t>
            </a:r>
            <a:endParaRPr>
              <a:solidFill>
                <a:srgbClr val="1F1F1F"/>
              </a:solidFill>
              <a:latin typeface="Proxima Nova"/>
              <a:ea typeface="Proxima Nova"/>
              <a:cs typeface="Proxima Nova"/>
              <a:sym typeface="Proxima Nova"/>
            </a:endParaRPr>
          </a:p>
        </p:txBody>
      </p:sp>
      <p:sp>
        <p:nvSpPr>
          <p:cNvPr id="180" name="Google Shape;180;p31"/>
          <p:cNvSpPr/>
          <p:nvPr/>
        </p:nvSpPr>
        <p:spPr>
          <a:xfrm>
            <a:off x="1211575" y="3718468"/>
            <a:ext cx="575279" cy="430520"/>
          </a:xfrm>
          <a:custGeom>
            <a:rect b="b" l="l" r="r" t="t"/>
            <a:pathLst>
              <a:path extrusionOk="0" h="39461" w="17690">
                <a:moveTo>
                  <a:pt x="17690" y="0"/>
                </a:moveTo>
                <a:cubicBezTo>
                  <a:pt x="14742" y="6577"/>
                  <a:pt x="2948" y="32884"/>
                  <a:pt x="0" y="39461"/>
                </a:cubicBezTo>
              </a:path>
            </a:pathLst>
          </a:custGeom>
          <a:noFill/>
          <a:ln cap="flat" cmpd="sng" w="19050">
            <a:solidFill>
              <a:schemeClr val="dk2"/>
            </a:solidFill>
            <a:prstDash val="solid"/>
            <a:round/>
            <a:headEnd len="med" w="med" type="none"/>
            <a:tailEnd len="med" w="med" type="stealth"/>
          </a:ln>
        </p:spPr>
      </p:sp>
      <p:sp>
        <p:nvSpPr>
          <p:cNvPr id="181" name="Google Shape;181;p31"/>
          <p:cNvSpPr/>
          <p:nvPr/>
        </p:nvSpPr>
        <p:spPr>
          <a:xfrm flipH="1">
            <a:off x="2111691" y="3717301"/>
            <a:ext cx="575279" cy="430520"/>
          </a:xfrm>
          <a:custGeom>
            <a:rect b="b" l="l" r="r" t="t"/>
            <a:pathLst>
              <a:path extrusionOk="0" h="39461" w="17690">
                <a:moveTo>
                  <a:pt x="17690" y="0"/>
                </a:moveTo>
                <a:cubicBezTo>
                  <a:pt x="14742" y="6577"/>
                  <a:pt x="2948" y="32884"/>
                  <a:pt x="0" y="39461"/>
                </a:cubicBezTo>
              </a:path>
            </a:pathLst>
          </a:custGeom>
          <a:noFill/>
          <a:ln cap="flat" cmpd="sng" w="19050">
            <a:solidFill>
              <a:schemeClr val="dk2"/>
            </a:solidFill>
            <a:prstDash val="solid"/>
            <a:round/>
            <a:headEnd len="med" w="med" type="none"/>
            <a:tailEnd len="med" w="med" type="stealth"/>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185" name="Shape 185"/>
        <p:cNvGrpSpPr/>
        <p:nvPr/>
      </p:nvGrpSpPr>
      <p:grpSpPr>
        <a:xfrm>
          <a:off x="0" y="0"/>
          <a:ext cx="0" cy="0"/>
          <a:chOff x="0" y="0"/>
          <a:chExt cx="0" cy="0"/>
        </a:xfrm>
      </p:grpSpPr>
      <p:sp>
        <p:nvSpPr>
          <p:cNvPr id="186" name="Google Shape;186;p32"/>
          <p:cNvSpPr txBox="1"/>
          <p:nvPr/>
        </p:nvSpPr>
        <p:spPr>
          <a:xfrm>
            <a:off x="869225" y="752275"/>
            <a:ext cx="4157100" cy="19764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 sz="5750">
                <a:solidFill>
                  <a:schemeClr val="lt1"/>
                </a:solidFill>
                <a:latin typeface="Staatliches"/>
                <a:ea typeface="Staatliches"/>
                <a:cs typeface="Staatliches"/>
                <a:sym typeface="Staatliches"/>
              </a:rPr>
              <a:t>Exercise</a:t>
            </a:r>
            <a:endParaRPr b="1" sz="5750">
              <a:solidFill>
                <a:schemeClr val="lt1"/>
              </a:solidFill>
              <a:latin typeface="Staatliches"/>
              <a:ea typeface="Staatliches"/>
              <a:cs typeface="Staatliches"/>
              <a:sym typeface="Staatliches"/>
            </a:endParaRPr>
          </a:p>
          <a:p>
            <a:pPr indent="0" lvl="0" marL="0" rtl="0" algn="l">
              <a:lnSpc>
                <a:spcPct val="80000"/>
              </a:lnSpc>
              <a:spcBef>
                <a:spcPts val="0"/>
              </a:spcBef>
              <a:spcAft>
                <a:spcPts val="0"/>
              </a:spcAft>
              <a:buNone/>
            </a:pPr>
            <a:r>
              <a:t/>
            </a:r>
            <a:endParaRPr b="1" sz="1800">
              <a:solidFill>
                <a:schemeClr val="lt1"/>
              </a:solidFill>
            </a:endParaRPr>
          </a:p>
          <a:p>
            <a:pPr indent="0" lvl="0" marL="0" rtl="0" algn="l">
              <a:lnSpc>
                <a:spcPct val="80000"/>
              </a:lnSpc>
              <a:spcBef>
                <a:spcPts val="0"/>
              </a:spcBef>
              <a:spcAft>
                <a:spcPts val="0"/>
              </a:spcAft>
              <a:buNone/>
            </a:pPr>
            <a:r>
              <a:rPr lang="en">
                <a:solidFill>
                  <a:schemeClr val="lt1"/>
                </a:solidFill>
              </a:rPr>
              <a:t>Grab a partner and a whiteboard marker. Based on the decision tree below, shade in the set of points (x, y) that would be classified as cloudy </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Clr>
                <a:srgbClr val="000000"/>
              </a:buClr>
              <a:buSzPts val="1100"/>
              <a:buFont typeface="Arial"/>
              <a:buNone/>
            </a:pPr>
            <a:r>
              <a:t/>
            </a:r>
            <a:endParaRPr>
              <a:solidFill>
                <a:schemeClr val="lt1"/>
              </a:solidFill>
            </a:endParaRPr>
          </a:p>
        </p:txBody>
      </p:sp>
      <p:pic>
        <p:nvPicPr>
          <p:cNvPr id="187" name="Google Shape;187;p32"/>
          <p:cNvPicPr preferRelativeResize="0"/>
          <p:nvPr/>
        </p:nvPicPr>
        <p:blipFill>
          <a:blip r:embed="rId3">
            <a:alphaModFix/>
          </a:blip>
          <a:stretch>
            <a:fillRect/>
          </a:stretch>
        </p:blipFill>
        <p:spPr>
          <a:xfrm>
            <a:off x="774875" y="2392125"/>
            <a:ext cx="4470175" cy="1994400"/>
          </a:xfrm>
          <a:prstGeom prst="rect">
            <a:avLst/>
          </a:prstGeom>
          <a:noFill/>
          <a:ln>
            <a:noFill/>
          </a:ln>
        </p:spPr>
      </p:pic>
      <p:pic>
        <p:nvPicPr>
          <p:cNvPr id="188" name="Google Shape;188;p32"/>
          <p:cNvPicPr preferRelativeResize="0"/>
          <p:nvPr/>
        </p:nvPicPr>
        <p:blipFill>
          <a:blip r:embed="rId4">
            <a:alphaModFix/>
          </a:blip>
          <a:stretch>
            <a:fillRect/>
          </a:stretch>
        </p:blipFill>
        <p:spPr>
          <a:xfrm>
            <a:off x="5570775" y="1046250"/>
            <a:ext cx="2974474" cy="2974474"/>
          </a:xfrm>
          <a:prstGeom prst="rect">
            <a:avLst/>
          </a:prstGeom>
          <a:noFill/>
          <a:ln>
            <a:noFill/>
          </a:ln>
        </p:spPr>
      </p:pic>
      <p:sp>
        <p:nvSpPr>
          <p:cNvPr id="189" name="Google Shape;189;p32"/>
          <p:cNvSpPr/>
          <p:nvPr/>
        </p:nvSpPr>
        <p:spPr>
          <a:xfrm>
            <a:off x="5730075" y="1217850"/>
            <a:ext cx="2655900" cy="987000"/>
          </a:xfrm>
          <a:prstGeom prst="rect">
            <a:avLst/>
          </a:prstGeom>
          <a:solidFill>
            <a:srgbClr val="56C5DC">
              <a:alpha val="215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highlight>
                  <a:schemeClr val="lt1"/>
                </a:highlight>
                <a:latin typeface="Proxima Nova"/>
                <a:ea typeface="Proxima Nova"/>
                <a:cs typeface="Proxima Nova"/>
                <a:sym typeface="Proxima Nova"/>
              </a:rPr>
              <a:t>y &gt; 1 → cloudy  </a:t>
            </a:r>
            <a:r>
              <a:rPr b="1" lang="en" sz="1100">
                <a:latin typeface="Proxima Nova"/>
                <a:ea typeface="Proxima Nova"/>
                <a:cs typeface="Proxima Nova"/>
                <a:sym typeface="Proxima Nova"/>
              </a:rPr>
              <a:t>  </a:t>
            </a:r>
            <a:endParaRPr b="1" sz="1100">
              <a:latin typeface="Proxima Nova"/>
              <a:ea typeface="Proxima Nova"/>
              <a:cs typeface="Proxima Nova"/>
              <a:sym typeface="Proxima Nova"/>
            </a:endParaRPr>
          </a:p>
        </p:txBody>
      </p:sp>
      <p:sp>
        <p:nvSpPr>
          <p:cNvPr id="190" name="Google Shape;190;p32"/>
          <p:cNvSpPr/>
          <p:nvPr/>
        </p:nvSpPr>
        <p:spPr>
          <a:xfrm>
            <a:off x="7085750" y="2272875"/>
            <a:ext cx="1310400" cy="1608900"/>
          </a:xfrm>
          <a:prstGeom prst="rect">
            <a:avLst/>
          </a:prstGeom>
          <a:solidFill>
            <a:srgbClr val="56C5DC">
              <a:alpha val="215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Proxima Nova"/>
                <a:ea typeface="Proxima Nova"/>
                <a:cs typeface="Proxima Nova"/>
                <a:sym typeface="Proxima Nova"/>
              </a:rPr>
              <a:t>           </a:t>
            </a:r>
            <a:endParaRPr b="1">
              <a:latin typeface="Proxima Nova"/>
              <a:ea typeface="Proxima Nova"/>
              <a:cs typeface="Proxima Nova"/>
              <a:sym typeface="Proxima Nova"/>
            </a:endParaRPr>
          </a:p>
          <a:p>
            <a:pPr indent="0" lvl="0" marL="0" rtl="0" algn="ctr">
              <a:spcBef>
                <a:spcPts val="0"/>
              </a:spcBef>
              <a:spcAft>
                <a:spcPts val="0"/>
              </a:spcAft>
              <a:buNone/>
            </a:pPr>
            <a:r>
              <a:rPr b="1" lang="en" sz="1100">
                <a:latin typeface="Proxima Nova"/>
                <a:ea typeface="Proxima Nova"/>
                <a:cs typeface="Proxima Nova"/>
                <a:sym typeface="Proxima Nova"/>
              </a:rPr>
              <a:t> </a:t>
            </a:r>
            <a:r>
              <a:rPr b="1" lang="en" sz="1100">
                <a:highlight>
                  <a:schemeClr val="lt1"/>
                </a:highlight>
                <a:latin typeface="Proxima Nova"/>
                <a:ea typeface="Proxima Nova"/>
                <a:cs typeface="Proxima Nova"/>
                <a:sym typeface="Proxima Nova"/>
              </a:rPr>
              <a:t>x &gt; 0 → cloudy</a:t>
            </a:r>
            <a:r>
              <a:rPr b="1" lang="en" sz="1100">
                <a:latin typeface="Proxima Nova"/>
                <a:ea typeface="Proxima Nova"/>
                <a:cs typeface="Proxima Nova"/>
                <a:sym typeface="Proxima Nova"/>
              </a:rPr>
              <a:t>   </a:t>
            </a:r>
            <a:r>
              <a:rPr b="1" lang="en">
                <a:latin typeface="Proxima Nova"/>
                <a:ea typeface="Proxima Nova"/>
                <a:cs typeface="Proxima Nova"/>
                <a:sym typeface="Proxima Nova"/>
              </a:rPr>
              <a:t>  </a:t>
            </a:r>
            <a:endParaRPr b="1">
              <a:latin typeface="Proxima Nova"/>
              <a:ea typeface="Proxima Nova"/>
              <a:cs typeface="Proxima Nova"/>
              <a:sym typeface="Proxima Nova"/>
            </a:endParaRPr>
          </a:p>
        </p:txBody>
      </p:sp>
      <p:cxnSp>
        <p:nvCxnSpPr>
          <p:cNvPr id="191" name="Google Shape;191;p32"/>
          <p:cNvCxnSpPr/>
          <p:nvPr/>
        </p:nvCxnSpPr>
        <p:spPr>
          <a:xfrm flipH="1" rot="10800000">
            <a:off x="5740300" y="2236825"/>
            <a:ext cx="2664000" cy="8100"/>
          </a:xfrm>
          <a:prstGeom prst="straightConnector1">
            <a:avLst/>
          </a:prstGeom>
          <a:noFill/>
          <a:ln cap="flat" cmpd="sng" w="38100">
            <a:solidFill>
              <a:srgbClr val="A9AA35"/>
            </a:solidFill>
            <a:prstDash val="solid"/>
            <a:round/>
            <a:headEnd len="med" w="med" type="none"/>
            <a:tailEnd len="med" w="med" type="none"/>
          </a:ln>
        </p:spPr>
      </p:cxnSp>
      <p:cxnSp>
        <p:nvCxnSpPr>
          <p:cNvPr id="192" name="Google Shape;192;p32"/>
          <p:cNvCxnSpPr/>
          <p:nvPr/>
        </p:nvCxnSpPr>
        <p:spPr>
          <a:xfrm>
            <a:off x="7064300" y="2260975"/>
            <a:ext cx="8100" cy="1620900"/>
          </a:xfrm>
          <a:prstGeom prst="straightConnector1">
            <a:avLst/>
          </a:prstGeom>
          <a:noFill/>
          <a:ln cap="flat" cmpd="sng" w="38100">
            <a:solidFill>
              <a:srgbClr val="9334E6"/>
            </a:solidFill>
            <a:prstDash val="solid"/>
            <a:round/>
            <a:headEnd len="med" w="med" type="none"/>
            <a:tailEnd len="med" w="med" type="none"/>
          </a:ln>
        </p:spPr>
      </p:cxnSp>
      <p:pic>
        <p:nvPicPr>
          <p:cNvPr descr="3 Minute Timer Relaxing Music Lofi Fish Background&#10;Song- https://www.youtube.com/watch?v=Nh_oj5hsAbs&amp;t=41s&#10;&#10;&#10;&#10;TAGS&#10;3 minute&#10;3 minute countdown&#10;3 minute lo-fi hiphop timer&#10;3 minute timer&#10;countdown&#10;lo-fi music&#10;lofi study song&#10;study music&#10;study timer&#10;time&#10;timer&#10;working music&#10;3 minute timer with music&#10;3 minute clock&#10;lofi hiphop&#10;relaxing timers&#10;relaxing music&#10;relaxing lofi timer&#10;nature timer&#10;meditation&#10;meditation music&#10;relaxing sleep music&#10;school timer&#10;sleep timer&#10;chill timer&#10;chill music&#10;lofi timer&#10;lofi hiphop timer&#10;lofi hip hop" id="193" name="Google Shape;193;p32" title="3 Minute Timer Relaxing Music Lofi Fish Background">
            <a:hlinkClick r:id="rId5"/>
          </p:cNvPr>
          <p:cNvPicPr preferRelativeResize="0"/>
          <p:nvPr/>
        </p:nvPicPr>
        <p:blipFill>
          <a:blip r:embed="rId6">
            <a:alphaModFix/>
          </a:blip>
          <a:stretch>
            <a:fillRect/>
          </a:stretch>
        </p:blipFill>
        <p:spPr>
          <a:xfrm>
            <a:off x="7858650" y="4295050"/>
            <a:ext cx="981600" cy="552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33"/>
          <p:cNvPicPr preferRelativeResize="0"/>
          <p:nvPr/>
        </p:nvPicPr>
        <p:blipFill>
          <a:blip r:embed="rId3">
            <a:alphaModFix/>
          </a:blip>
          <a:stretch>
            <a:fillRect/>
          </a:stretch>
        </p:blipFill>
        <p:spPr>
          <a:xfrm>
            <a:off x="1463847" y="617050"/>
            <a:ext cx="6216294" cy="3628097"/>
          </a:xfrm>
          <a:prstGeom prst="rect">
            <a:avLst/>
          </a:prstGeom>
          <a:noFill/>
          <a:ln>
            <a:noFill/>
          </a:ln>
        </p:spPr>
      </p:pic>
      <p:sp>
        <p:nvSpPr>
          <p:cNvPr id="199" name="Google Shape;199;p33"/>
          <p:cNvSpPr txBox="1"/>
          <p:nvPr/>
        </p:nvSpPr>
        <p:spPr>
          <a:xfrm>
            <a:off x="1463850" y="4245150"/>
            <a:ext cx="62163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2"/>
                </a:solidFill>
                <a:latin typeface="Proxima Nova"/>
                <a:ea typeface="Proxima Nova"/>
                <a:cs typeface="Proxima Nova"/>
                <a:sym typeface="Proxima Nova"/>
              </a:rPr>
              <a:t>Picture of whiteboard from example exercise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34"/>
          <p:cNvPicPr preferRelativeResize="0"/>
          <p:nvPr/>
        </p:nvPicPr>
        <p:blipFill>
          <a:blip r:embed="rId3">
            <a:alphaModFix/>
          </a:blip>
          <a:stretch>
            <a:fillRect/>
          </a:stretch>
        </p:blipFill>
        <p:spPr>
          <a:xfrm>
            <a:off x="4710300" y="90925"/>
            <a:ext cx="4433699" cy="4384762"/>
          </a:xfrm>
          <a:prstGeom prst="rect">
            <a:avLst/>
          </a:prstGeom>
          <a:noFill/>
          <a:ln>
            <a:noFill/>
          </a:ln>
        </p:spPr>
      </p:pic>
      <p:sp>
        <p:nvSpPr>
          <p:cNvPr id="205" name="Google Shape;205;p34"/>
          <p:cNvSpPr txBox="1"/>
          <p:nvPr>
            <p:ph idx="1" type="body"/>
          </p:nvPr>
        </p:nvSpPr>
        <p:spPr>
          <a:xfrm>
            <a:off x="117250" y="1000075"/>
            <a:ext cx="4593000" cy="3602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Begin at the </a:t>
            </a:r>
            <a:r>
              <a:rPr b="1" lang="en" sz="1600"/>
              <a:t>root node</a:t>
            </a:r>
            <a:r>
              <a:rPr lang="en" sz="1600"/>
              <a:t>, with the </a:t>
            </a:r>
            <a:r>
              <a:rPr b="1" lang="en" sz="1600"/>
              <a:t>set of data points R. </a:t>
            </a:r>
            <a:r>
              <a:rPr lang="en" sz="1600"/>
              <a:t>If all data points in R have the same class, end. </a:t>
            </a:r>
            <a:endParaRPr sz="1600"/>
          </a:p>
          <a:p>
            <a:pPr indent="-330200" lvl="0" marL="457200" rtl="0" algn="l">
              <a:spcBef>
                <a:spcPts val="0"/>
              </a:spcBef>
              <a:spcAft>
                <a:spcPts val="0"/>
              </a:spcAft>
              <a:buSzPts val="1600"/>
              <a:buAutoNum type="arabicPeriod"/>
            </a:pPr>
            <a:r>
              <a:rPr lang="en" sz="1600"/>
              <a:t>For each </a:t>
            </a:r>
            <a:r>
              <a:rPr b="1" lang="en" sz="1600"/>
              <a:t>attribute</a:t>
            </a:r>
            <a:r>
              <a:rPr lang="en" sz="1600"/>
              <a:t>, compute how much </a:t>
            </a:r>
            <a:r>
              <a:rPr b="1" lang="en" sz="1600"/>
              <a:t>splitting on it would reduce</a:t>
            </a:r>
            <a:r>
              <a:rPr lang="en" sz="1600"/>
              <a:t> </a:t>
            </a:r>
            <a:r>
              <a:rPr b="1" lang="en" sz="1600"/>
              <a:t>uncertainty </a:t>
            </a:r>
            <a:r>
              <a:rPr lang="en" sz="1600"/>
              <a:t>(based on chosen measure)</a:t>
            </a:r>
            <a:endParaRPr sz="1600"/>
          </a:p>
          <a:p>
            <a:pPr indent="-330200" lvl="0" marL="457200" rtl="0" algn="l">
              <a:spcBef>
                <a:spcPts val="0"/>
              </a:spcBef>
              <a:spcAft>
                <a:spcPts val="0"/>
              </a:spcAft>
              <a:buSzPts val="1600"/>
              <a:buAutoNum type="arabicPeriod"/>
            </a:pPr>
            <a:r>
              <a:rPr lang="en" sz="1600"/>
              <a:t>Split on </a:t>
            </a:r>
            <a:r>
              <a:rPr b="1" lang="en" sz="1600"/>
              <a:t>attribute that reduce uncertainty the most</a:t>
            </a:r>
            <a:r>
              <a:rPr lang="en" sz="1600"/>
              <a:t>, partitioning </a:t>
            </a:r>
            <a:r>
              <a:rPr b="1" lang="en" sz="1600"/>
              <a:t>R</a:t>
            </a:r>
            <a:r>
              <a:rPr lang="en" sz="1600"/>
              <a:t> into </a:t>
            </a:r>
            <a:r>
              <a:rPr b="1" lang="en" sz="1600"/>
              <a:t>Ri and Rj</a:t>
            </a:r>
            <a:endParaRPr b="1" sz="1600"/>
          </a:p>
          <a:p>
            <a:pPr indent="-330200" lvl="0" marL="457200" rtl="0" algn="l">
              <a:spcBef>
                <a:spcPts val="0"/>
              </a:spcBef>
              <a:spcAft>
                <a:spcPts val="0"/>
              </a:spcAft>
              <a:buSzPts val="1600"/>
              <a:buAutoNum type="arabicPeriod"/>
            </a:pPr>
            <a:r>
              <a:rPr lang="en" sz="1600"/>
              <a:t>Create </a:t>
            </a:r>
            <a:r>
              <a:rPr b="1" lang="en" sz="1600"/>
              <a:t>two branches from the root</a:t>
            </a:r>
            <a:r>
              <a:rPr lang="en" sz="1600"/>
              <a:t>, and recursively call (i.e. go back to step 1) the decision tree algorithm for each branch (i.e. replace R with subsets </a:t>
            </a:r>
            <a:r>
              <a:rPr b="1" lang="en" sz="1600"/>
              <a:t>Ri</a:t>
            </a:r>
            <a:r>
              <a:rPr lang="en" sz="1600"/>
              <a:t> and </a:t>
            </a:r>
            <a:r>
              <a:rPr b="1" lang="en" sz="1600"/>
              <a:t>Rj</a:t>
            </a:r>
            <a:r>
              <a:rPr lang="en" sz="1600"/>
              <a:t>) and repeat until all data points in subsets have same class.</a:t>
            </a:r>
            <a:endParaRPr sz="1600"/>
          </a:p>
        </p:txBody>
      </p:sp>
      <p:sp>
        <p:nvSpPr>
          <p:cNvPr id="206" name="Google Shape;20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 Tree Algorithm</a:t>
            </a:r>
            <a:endParaRPr/>
          </a:p>
        </p:txBody>
      </p:sp>
      <p:sp>
        <p:nvSpPr>
          <p:cNvPr id="207" name="Google Shape;207;p34"/>
          <p:cNvSpPr txBox="1"/>
          <p:nvPr/>
        </p:nvSpPr>
        <p:spPr>
          <a:xfrm>
            <a:off x="5293475" y="4120525"/>
            <a:ext cx="32889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Proxima Nova"/>
                <a:ea typeface="Proxima Nova"/>
                <a:cs typeface="Proxima Nova"/>
                <a:sym typeface="Proxima Nova"/>
              </a:rPr>
              <a:t>Figure from I</a:t>
            </a:r>
            <a:r>
              <a:rPr b="1" lang="en" sz="1000">
                <a:latin typeface="Proxima Nova"/>
                <a:ea typeface="Proxima Nova"/>
                <a:cs typeface="Proxima Nova"/>
                <a:sym typeface="Proxima Nova"/>
              </a:rPr>
              <a:t>SL 8.1</a:t>
            </a:r>
            <a:endParaRPr sz="1000">
              <a:latin typeface="Proxima Nova"/>
              <a:ea typeface="Proxima Nova"/>
              <a:cs typeface="Proxima Nova"/>
              <a:sym typeface="Proxima Nova"/>
            </a:endParaRPr>
          </a:p>
          <a:p>
            <a:pPr indent="0" lvl="0" marL="0" rtl="0" algn="l">
              <a:spcBef>
                <a:spcPts val="0"/>
              </a:spcBef>
              <a:spcAft>
                <a:spcPts val="0"/>
              </a:spcAft>
              <a:buNone/>
            </a:pPr>
            <a:r>
              <a:rPr lang="en" sz="1000">
                <a:latin typeface="Proxima Nova"/>
                <a:ea typeface="Proxima Nova"/>
                <a:cs typeface="Proxima Nova"/>
                <a:sym typeface="Proxima Nova"/>
              </a:rPr>
              <a:t>Top left: regions that cannot be represented by a tree </a:t>
            </a:r>
            <a:endParaRPr sz="1000">
              <a:latin typeface="Proxima Nova"/>
              <a:ea typeface="Proxima Nova"/>
              <a:cs typeface="Proxima Nova"/>
              <a:sym typeface="Proxima Nova"/>
            </a:endParaRPr>
          </a:p>
          <a:p>
            <a:pPr indent="0" lvl="0" marL="0" rtl="0" algn="l">
              <a:spcBef>
                <a:spcPts val="0"/>
              </a:spcBef>
              <a:spcAft>
                <a:spcPts val="0"/>
              </a:spcAft>
              <a:buNone/>
            </a:pPr>
            <a:r>
              <a:rPr lang="en" sz="1000">
                <a:latin typeface="Proxima Nova"/>
                <a:ea typeface="Proxima Nova"/>
                <a:cs typeface="Proxima Nova"/>
                <a:sym typeface="Proxima Nova"/>
              </a:rPr>
              <a:t>Top right: regions that can be represented by a tree </a:t>
            </a:r>
            <a:endParaRPr sz="1000">
              <a:latin typeface="Proxima Nova"/>
              <a:ea typeface="Proxima Nova"/>
              <a:cs typeface="Proxima Nova"/>
              <a:sym typeface="Proxima Nova"/>
            </a:endParaRPr>
          </a:p>
          <a:p>
            <a:pPr indent="0" lvl="0" marL="0" rtl="0" algn="l">
              <a:spcBef>
                <a:spcPts val="0"/>
              </a:spcBef>
              <a:spcAft>
                <a:spcPts val="0"/>
              </a:spcAft>
              <a:buNone/>
            </a:pPr>
            <a:r>
              <a:rPr lang="en" sz="1000">
                <a:latin typeface="Proxima Nova"/>
                <a:ea typeface="Proxima Nova"/>
                <a:cs typeface="Proxima Nova"/>
                <a:sym typeface="Proxima Nova"/>
              </a:rPr>
              <a:t>Bottom left: tree generating the top right regions </a:t>
            </a:r>
            <a:endParaRPr sz="1000">
              <a:latin typeface="Proxima Nova"/>
              <a:ea typeface="Proxima Nova"/>
              <a:cs typeface="Proxima Nova"/>
              <a:sym typeface="Proxima Nova"/>
            </a:endParaRPr>
          </a:p>
          <a:p>
            <a:pPr indent="0" lvl="0" marL="0" rtl="0" algn="l">
              <a:spcBef>
                <a:spcPts val="0"/>
              </a:spcBef>
              <a:spcAft>
                <a:spcPts val="0"/>
              </a:spcAft>
              <a:buNone/>
            </a:pPr>
            <a:r>
              <a:rPr lang="en" sz="1000">
                <a:latin typeface="Proxima Nova"/>
                <a:ea typeface="Proxima Nova"/>
                <a:cs typeface="Proxima Nova"/>
                <a:sym typeface="Proxima Nova"/>
              </a:rPr>
              <a:t>Bottom right: function values assigned to the regions</a:t>
            </a:r>
            <a:endParaRPr sz="1000">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211" name="Shape 211"/>
        <p:cNvGrpSpPr/>
        <p:nvPr/>
      </p:nvGrpSpPr>
      <p:grpSpPr>
        <a:xfrm>
          <a:off x="0" y="0"/>
          <a:ext cx="0" cy="0"/>
          <a:chOff x="0" y="0"/>
          <a:chExt cx="0" cy="0"/>
        </a:xfrm>
      </p:grpSpPr>
      <p:sp>
        <p:nvSpPr>
          <p:cNvPr id="212" name="Google Shape;212;p35"/>
          <p:cNvSpPr txBox="1"/>
          <p:nvPr/>
        </p:nvSpPr>
        <p:spPr>
          <a:xfrm>
            <a:off x="640625" y="523675"/>
            <a:ext cx="4157100" cy="19764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 sz="5750">
                <a:solidFill>
                  <a:schemeClr val="lt1"/>
                </a:solidFill>
                <a:latin typeface="Staatliches"/>
                <a:ea typeface="Staatliches"/>
                <a:cs typeface="Staatliches"/>
                <a:sym typeface="Staatliches"/>
              </a:rPr>
              <a:t>Exercise</a:t>
            </a:r>
            <a:endParaRPr b="1" sz="5750">
              <a:solidFill>
                <a:schemeClr val="lt1"/>
              </a:solidFill>
              <a:latin typeface="Staatliches"/>
              <a:ea typeface="Staatliches"/>
              <a:cs typeface="Staatliches"/>
              <a:sym typeface="Staatliches"/>
            </a:endParaRPr>
          </a:p>
          <a:p>
            <a:pPr indent="0" lvl="0" marL="0" rtl="0" algn="l">
              <a:lnSpc>
                <a:spcPct val="80000"/>
              </a:lnSpc>
              <a:spcBef>
                <a:spcPts val="0"/>
              </a:spcBef>
              <a:spcAft>
                <a:spcPts val="0"/>
              </a:spcAft>
              <a:buNone/>
            </a:pPr>
            <a:r>
              <a:t/>
            </a:r>
            <a:endParaRPr b="1" sz="1800">
              <a:solidFill>
                <a:schemeClr val="lt1"/>
              </a:solidFill>
            </a:endParaRPr>
          </a:p>
          <a:p>
            <a:pPr indent="0" lvl="0" marL="0" rtl="0" algn="l">
              <a:lnSpc>
                <a:spcPct val="80000"/>
              </a:lnSpc>
              <a:spcBef>
                <a:spcPts val="0"/>
              </a:spcBef>
              <a:spcAft>
                <a:spcPts val="0"/>
              </a:spcAft>
              <a:buNone/>
            </a:pPr>
            <a:r>
              <a:rPr lang="en">
                <a:solidFill>
                  <a:schemeClr val="lt1"/>
                </a:solidFill>
              </a:rPr>
              <a:t>you are trying to figure out if a soccer game will happen today and last year you recorded the information in the table below:</a:t>
            </a:r>
            <a:r>
              <a:rPr lang="en">
                <a:solidFill>
                  <a:schemeClr val="lt1"/>
                </a:solidFill>
              </a:rPr>
              <a:t> </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Clr>
                <a:srgbClr val="000000"/>
              </a:buClr>
              <a:buSzPts val="1100"/>
              <a:buFont typeface="Arial"/>
              <a:buNone/>
            </a:pPr>
            <a:r>
              <a:t/>
            </a:r>
            <a:endParaRPr>
              <a:solidFill>
                <a:schemeClr val="lt1"/>
              </a:solidFill>
            </a:endParaRPr>
          </a:p>
        </p:txBody>
      </p:sp>
      <p:sp>
        <p:nvSpPr>
          <p:cNvPr id="213" name="Google Shape;213;p35"/>
          <p:cNvSpPr txBox="1"/>
          <p:nvPr/>
        </p:nvSpPr>
        <p:spPr>
          <a:xfrm>
            <a:off x="5071275" y="601800"/>
            <a:ext cx="30000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1. For Saturday, the forecast is 90 degrees, high humidity, and no rain. Do you think a game will occur?</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2. For Sunday, the forecast is 70 degrees, low humidity, and rain. Do you think a game will occur?</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3. Draw a decision tree that tells you if a game will happen based on the weather</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When finished,  continue working on this worksheet</a:t>
            </a:r>
            <a:endParaRPr>
              <a:solidFill>
                <a:schemeClr val="lt1"/>
              </a:solidFill>
            </a:endParaRPr>
          </a:p>
        </p:txBody>
      </p:sp>
      <p:sp>
        <p:nvSpPr>
          <p:cNvPr id="214" name="Google Shape;214;p35"/>
          <p:cNvSpPr txBox="1"/>
          <p:nvPr/>
        </p:nvSpPr>
        <p:spPr>
          <a:xfrm>
            <a:off x="5675725" y="1440300"/>
            <a:ext cx="76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A9AA35"/>
                </a:solidFill>
              </a:rPr>
              <a:t>No</a:t>
            </a:r>
            <a:endParaRPr b="1">
              <a:solidFill>
                <a:srgbClr val="A9AA35"/>
              </a:solidFill>
            </a:endParaRPr>
          </a:p>
        </p:txBody>
      </p:sp>
      <p:sp>
        <p:nvSpPr>
          <p:cNvPr id="215" name="Google Shape;215;p35"/>
          <p:cNvSpPr txBox="1"/>
          <p:nvPr/>
        </p:nvSpPr>
        <p:spPr>
          <a:xfrm>
            <a:off x="5675725" y="2744275"/>
            <a:ext cx="72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949AF8"/>
                </a:solidFill>
              </a:rPr>
              <a:t>Yes</a:t>
            </a:r>
            <a:endParaRPr b="1">
              <a:solidFill>
                <a:srgbClr val="949AF8"/>
              </a:solidFill>
            </a:endParaRPr>
          </a:p>
        </p:txBody>
      </p:sp>
      <p:grpSp>
        <p:nvGrpSpPr>
          <p:cNvPr id="216" name="Google Shape;216;p35"/>
          <p:cNvGrpSpPr/>
          <p:nvPr/>
        </p:nvGrpSpPr>
        <p:grpSpPr>
          <a:xfrm>
            <a:off x="1204325" y="2578125"/>
            <a:ext cx="2634775" cy="1874275"/>
            <a:chOff x="1204325" y="2578125"/>
            <a:chExt cx="2634775" cy="1874275"/>
          </a:xfrm>
        </p:grpSpPr>
        <p:sp>
          <p:nvSpPr>
            <p:cNvPr id="217" name="Google Shape;217;p35"/>
            <p:cNvSpPr txBox="1"/>
            <p:nvPr/>
          </p:nvSpPr>
          <p:spPr>
            <a:xfrm>
              <a:off x="1835000" y="2578125"/>
              <a:ext cx="17859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Proxima Nova"/>
                  <a:ea typeface="Proxima Nova"/>
                  <a:cs typeface="Proxima Nova"/>
                  <a:sym typeface="Proxima Nova"/>
                </a:rPr>
                <a:t>is temp &gt; 80?</a:t>
              </a:r>
              <a:endParaRPr b="1" sz="1800">
                <a:solidFill>
                  <a:schemeClr val="lt1"/>
                </a:solidFill>
                <a:latin typeface="Proxima Nova"/>
                <a:ea typeface="Proxima Nova"/>
                <a:cs typeface="Proxima Nova"/>
                <a:sym typeface="Proxima Nova"/>
              </a:endParaRPr>
            </a:p>
          </p:txBody>
        </p:sp>
        <p:sp>
          <p:nvSpPr>
            <p:cNvPr id="218" name="Google Shape;218;p35"/>
            <p:cNvSpPr txBox="1"/>
            <p:nvPr/>
          </p:nvSpPr>
          <p:spPr>
            <a:xfrm>
              <a:off x="3042000" y="3934600"/>
              <a:ext cx="7971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Proxima Nova"/>
                  <a:ea typeface="Proxima Nova"/>
                  <a:cs typeface="Proxima Nova"/>
                  <a:sym typeface="Proxima Nova"/>
                </a:rPr>
                <a:t>play</a:t>
              </a:r>
              <a:endParaRPr b="1" sz="1800">
                <a:solidFill>
                  <a:schemeClr val="lt1"/>
                </a:solidFill>
                <a:latin typeface="Proxima Nova"/>
                <a:ea typeface="Proxima Nova"/>
                <a:cs typeface="Proxima Nova"/>
                <a:sym typeface="Proxima Nova"/>
              </a:endParaRPr>
            </a:p>
          </p:txBody>
        </p:sp>
        <p:sp>
          <p:nvSpPr>
            <p:cNvPr id="219" name="Google Shape;219;p35"/>
            <p:cNvSpPr txBox="1"/>
            <p:nvPr/>
          </p:nvSpPr>
          <p:spPr>
            <a:xfrm>
              <a:off x="1204325" y="3934600"/>
              <a:ext cx="13761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Proxima Nova"/>
                  <a:ea typeface="Proxima Nova"/>
                  <a:cs typeface="Proxima Nova"/>
                  <a:sym typeface="Proxima Nova"/>
                </a:rPr>
                <a:t>don’t play</a:t>
              </a:r>
              <a:endParaRPr b="1" sz="1800">
                <a:solidFill>
                  <a:schemeClr val="lt1"/>
                </a:solidFill>
                <a:latin typeface="Proxima Nova"/>
                <a:ea typeface="Proxima Nova"/>
                <a:cs typeface="Proxima Nova"/>
                <a:sym typeface="Proxima Nova"/>
              </a:endParaRPr>
            </a:p>
          </p:txBody>
        </p:sp>
        <p:sp>
          <p:nvSpPr>
            <p:cNvPr id="220" name="Google Shape;220;p35"/>
            <p:cNvSpPr/>
            <p:nvPr/>
          </p:nvSpPr>
          <p:spPr>
            <a:xfrm>
              <a:off x="2002175" y="3027825"/>
              <a:ext cx="442250" cy="986525"/>
            </a:xfrm>
            <a:custGeom>
              <a:rect b="b" l="l" r="r" t="t"/>
              <a:pathLst>
                <a:path extrusionOk="0" h="39461" w="17690">
                  <a:moveTo>
                    <a:pt x="17690" y="0"/>
                  </a:moveTo>
                  <a:cubicBezTo>
                    <a:pt x="14742" y="6577"/>
                    <a:pt x="2948" y="32884"/>
                    <a:pt x="0" y="39461"/>
                  </a:cubicBezTo>
                </a:path>
              </a:pathLst>
            </a:custGeom>
            <a:solidFill>
              <a:schemeClr val="lt2"/>
            </a:solidFill>
            <a:ln cap="flat" cmpd="sng" w="19050">
              <a:solidFill>
                <a:srgbClr val="FF5722"/>
              </a:solidFill>
              <a:prstDash val="solid"/>
              <a:round/>
              <a:headEnd len="med" w="med" type="none"/>
              <a:tailEnd len="med" w="med" type="stealth"/>
            </a:ln>
          </p:spPr>
        </p:sp>
        <p:sp>
          <p:nvSpPr>
            <p:cNvPr id="221" name="Google Shape;221;p35"/>
            <p:cNvSpPr/>
            <p:nvPr/>
          </p:nvSpPr>
          <p:spPr>
            <a:xfrm>
              <a:off x="2776425" y="2976800"/>
              <a:ext cx="425225" cy="1020525"/>
            </a:xfrm>
            <a:custGeom>
              <a:rect b="b" l="l" r="r" t="t"/>
              <a:pathLst>
                <a:path extrusionOk="0" h="40821" w="17009">
                  <a:moveTo>
                    <a:pt x="0" y="0"/>
                  </a:moveTo>
                  <a:cubicBezTo>
                    <a:pt x="2835" y="6804"/>
                    <a:pt x="14174" y="34018"/>
                    <a:pt x="17009" y="40821"/>
                  </a:cubicBezTo>
                </a:path>
              </a:pathLst>
            </a:custGeom>
            <a:solidFill>
              <a:schemeClr val="lt2"/>
            </a:solidFill>
            <a:ln cap="flat" cmpd="sng" w="19050">
              <a:solidFill>
                <a:srgbClr val="FF5722"/>
              </a:solidFill>
              <a:prstDash val="solid"/>
              <a:round/>
              <a:headEnd len="med" w="med" type="none"/>
              <a:tailEnd len="med" w="med" type="stealth"/>
            </a:ln>
          </p:spPr>
        </p:sp>
        <p:sp>
          <p:nvSpPr>
            <p:cNvPr id="222" name="Google Shape;222;p35"/>
            <p:cNvSpPr txBox="1"/>
            <p:nvPr/>
          </p:nvSpPr>
          <p:spPr>
            <a:xfrm>
              <a:off x="1701450" y="3223200"/>
              <a:ext cx="1785900" cy="5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949AF8"/>
                  </a:solidFill>
                  <a:latin typeface="Proxima Nova"/>
                  <a:ea typeface="Proxima Nova"/>
                  <a:cs typeface="Proxima Nova"/>
                  <a:sym typeface="Proxima Nova"/>
                </a:rPr>
                <a:t>yes</a:t>
              </a:r>
              <a:r>
                <a:rPr lang="en">
                  <a:solidFill>
                    <a:srgbClr val="1F1F1F"/>
                  </a:solidFill>
                  <a:latin typeface="Proxima Nova"/>
                  <a:ea typeface="Proxima Nova"/>
                  <a:cs typeface="Proxima Nova"/>
                  <a:sym typeface="Proxima Nova"/>
                </a:rPr>
                <a:t>  	                  </a:t>
              </a:r>
              <a:r>
                <a:rPr b="1" lang="en">
                  <a:solidFill>
                    <a:srgbClr val="A9AA35"/>
                  </a:solidFill>
                  <a:latin typeface="Proxima Nova"/>
                  <a:ea typeface="Proxima Nova"/>
                  <a:cs typeface="Proxima Nova"/>
                  <a:sym typeface="Proxima Nova"/>
                </a:rPr>
                <a:t>no</a:t>
              </a:r>
              <a:r>
                <a:rPr lang="en">
                  <a:solidFill>
                    <a:srgbClr val="1F1F1F"/>
                  </a:solidFill>
                  <a:latin typeface="Proxima Nova"/>
                  <a:ea typeface="Proxima Nova"/>
                  <a:cs typeface="Proxima Nova"/>
                  <a:sym typeface="Proxima Nova"/>
                </a:rPr>
                <a:t>	</a:t>
              </a:r>
              <a:endParaRPr>
                <a:solidFill>
                  <a:srgbClr val="1F1F1F"/>
                </a:solidFill>
                <a:latin typeface="Proxima Nova"/>
                <a:ea typeface="Proxima Nova"/>
                <a:cs typeface="Proxima Nova"/>
                <a:sym typeface="Proxima Nova"/>
              </a:endParaRPr>
            </a:p>
          </p:txBody>
        </p:sp>
      </p:grpSp>
      <p:pic>
        <p:nvPicPr>
          <p:cNvPr id="223" name="Google Shape;223;p35"/>
          <p:cNvPicPr preferRelativeResize="0"/>
          <p:nvPr/>
        </p:nvPicPr>
        <p:blipFill>
          <a:blip r:embed="rId3">
            <a:alphaModFix/>
          </a:blip>
          <a:stretch>
            <a:fillRect/>
          </a:stretch>
        </p:blipFill>
        <p:spPr>
          <a:xfrm>
            <a:off x="829825" y="2267625"/>
            <a:ext cx="3581426" cy="2579575"/>
          </a:xfrm>
          <a:prstGeom prst="rect">
            <a:avLst/>
          </a:prstGeom>
          <a:noFill/>
          <a:ln>
            <a:noFill/>
          </a:ln>
        </p:spPr>
      </p:pic>
      <p:pic>
        <p:nvPicPr>
          <p:cNvPr descr="3 Minute Timer Relaxing Music Lofi Fish Background&#10;Song- https://www.youtube.com/watch?v=Nh_oj5hsAbs&amp;t=41s&#10;&#10;&#10;&#10;TAGS&#10;3 minute&#10;3 minute countdown&#10;3 minute lo-fi hiphop timer&#10;3 minute timer&#10;countdown&#10;lo-fi music&#10;lofi study song&#10;study music&#10;study timer&#10;time&#10;timer&#10;working music&#10;3 minute timer with music&#10;3 minute clock&#10;lofi hiphop&#10;relaxing timers&#10;relaxing music&#10;relaxing lofi timer&#10;nature timer&#10;meditation&#10;meditation music&#10;relaxing sleep music&#10;school timer&#10;sleep timer&#10;chill timer&#10;chill music&#10;lofi timer&#10;lofi hiphop timer&#10;lofi hip hop" id="224" name="Google Shape;224;p35" title="3 Minute Timer Relaxing Music Lofi Fish Background">
            <a:hlinkClick r:id="rId4"/>
          </p:cNvPr>
          <p:cNvPicPr preferRelativeResize="0"/>
          <p:nvPr/>
        </p:nvPicPr>
        <p:blipFill>
          <a:blip r:embed="rId5">
            <a:alphaModFix/>
          </a:blip>
          <a:stretch>
            <a:fillRect/>
          </a:stretch>
        </p:blipFill>
        <p:spPr>
          <a:xfrm>
            <a:off x="8416925" y="4535825"/>
            <a:ext cx="553550" cy="311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idx="4294967295" type="title"/>
          </p:nvPr>
        </p:nvSpPr>
        <p:spPr>
          <a:xfrm>
            <a:off x="391675" y="1384325"/>
            <a:ext cx="3535200" cy="116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400">
                <a:solidFill>
                  <a:schemeClr val="dk1"/>
                </a:solidFill>
              </a:rPr>
              <a:t>How does the decision tree algorithm decide what questions to ask in the tree?</a:t>
            </a:r>
            <a:endParaRPr sz="1400">
              <a:solidFill>
                <a:schemeClr val="dk2"/>
              </a:solidFill>
              <a:latin typeface="Proxima Nova"/>
              <a:ea typeface="Proxima Nova"/>
              <a:cs typeface="Proxima Nova"/>
              <a:sym typeface="Proxima Nova"/>
            </a:endParaRPr>
          </a:p>
          <a:p>
            <a:pPr indent="0" lvl="0" marL="0" rtl="0" algn="l">
              <a:spcBef>
                <a:spcPts val="0"/>
              </a:spcBef>
              <a:spcAft>
                <a:spcPts val="0"/>
              </a:spcAft>
              <a:buSzPts val="990"/>
              <a:buNone/>
            </a:pPr>
            <a:r>
              <a:t/>
            </a:r>
            <a:endParaRPr sz="1400">
              <a:solidFill>
                <a:schemeClr val="dk2"/>
              </a:solidFill>
              <a:latin typeface="Proxima Nova"/>
              <a:ea typeface="Proxima Nova"/>
              <a:cs typeface="Proxima Nova"/>
              <a:sym typeface="Proxima Nova"/>
            </a:endParaRPr>
          </a:p>
          <a:p>
            <a:pPr indent="0" lvl="0" marL="0" rtl="0" algn="l">
              <a:spcBef>
                <a:spcPts val="0"/>
              </a:spcBef>
              <a:spcAft>
                <a:spcPts val="0"/>
              </a:spcAft>
              <a:buSzPts val="990"/>
              <a:buNone/>
            </a:pPr>
            <a:r>
              <a:t/>
            </a:r>
            <a:endParaRPr sz="1400">
              <a:solidFill>
                <a:schemeClr val="dk2"/>
              </a:solidFill>
              <a:latin typeface="Proxima Nova"/>
              <a:ea typeface="Proxima Nova"/>
              <a:cs typeface="Proxima Nova"/>
              <a:sym typeface="Proxima Nova"/>
            </a:endParaRPr>
          </a:p>
        </p:txBody>
      </p:sp>
      <p:sp>
        <p:nvSpPr>
          <p:cNvPr id="230" name="Google Shape;230;p36"/>
          <p:cNvSpPr txBox="1"/>
          <p:nvPr/>
        </p:nvSpPr>
        <p:spPr>
          <a:xfrm>
            <a:off x="4808400" y="2582200"/>
            <a:ext cx="3428400" cy="18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Our goal is to find the feature that explains the </a:t>
            </a:r>
            <a:r>
              <a:rPr b="1" lang="en">
                <a:solidFill>
                  <a:schemeClr val="dk1"/>
                </a:solidFill>
                <a:latin typeface="Proxima Nova"/>
                <a:ea typeface="Proxima Nova"/>
                <a:cs typeface="Proxima Nova"/>
                <a:sym typeface="Proxima Nova"/>
              </a:rPr>
              <a:t>most uncertainty / chaos / disorder / variability</a:t>
            </a:r>
            <a:r>
              <a:rPr lang="en">
                <a:solidFill>
                  <a:schemeClr val="dk1"/>
                </a:solidFill>
                <a:latin typeface="Proxima Nova"/>
                <a:ea typeface="Proxima Nova"/>
                <a:cs typeface="Proxima Nova"/>
                <a:sym typeface="Proxima Nova"/>
              </a:rPr>
              <a:t> within our feature space since splitting on this variable will create the most ordered space possible</a:t>
            </a:r>
            <a:endParaRPr>
              <a:solidFill>
                <a:schemeClr val="dk1"/>
              </a:solidFill>
              <a:latin typeface="Proxima Nova"/>
              <a:ea typeface="Proxima Nova"/>
              <a:cs typeface="Proxima Nova"/>
              <a:sym typeface="Proxima Nova"/>
            </a:endParaRPr>
          </a:p>
        </p:txBody>
      </p:sp>
      <p:sp>
        <p:nvSpPr>
          <p:cNvPr id="231" name="Google Shape;231;p36"/>
          <p:cNvSpPr txBox="1"/>
          <p:nvPr/>
        </p:nvSpPr>
        <p:spPr>
          <a:xfrm>
            <a:off x="4845775" y="1102400"/>
            <a:ext cx="3258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lfa Slab One"/>
                <a:ea typeface="Alfa Slab One"/>
                <a:cs typeface="Alfa Slab One"/>
                <a:sym typeface="Alfa Slab One"/>
              </a:rPr>
              <a:t>Key Idea</a:t>
            </a:r>
            <a:r>
              <a:rPr lang="en">
                <a:solidFill>
                  <a:schemeClr val="dk1"/>
                </a:solidFill>
                <a:latin typeface="Proxima Nova"/>
                <a:ea typeface="Proxima Nova"/>
                <a:cs typeface="Proxima Nova"/>
                <a:sym typeface="Proxima Nova"/>
              </a:rPr>
              <a:t>: At each split, use the question that reduces uncertainty the most</a:t>
            </a:r>
            <a:endParaRPr>
              <a:solidFill>
                <a:schemeClr val="dk1"/>
              </a:solidFill>
              <a:latin typeface="Proxima Nova"/>
              <a:ea typeface="Proxima Nova"/>
              <a:cs typeface="Proxima Nova"/>
              <a:sym typeface="Proxima Nova"/>
            </a:endParaRPr>
          </a:p>
        </p:txBody>
      </p:sp>
      <p:grpSp>
        <p:nvGrpSpPr>
          <p:cNvPr id="232" name="Google Shape;232;p36"/>
          <p:cNvGrpSpPr/>
          <p:nvPr/>
        </p:nvGrpSpPr>
        <p:grpSpPr>
          <a:xfrm>
            <a:off x="1204325" y="2578125"/>
            <a:ext cx="2634775" cy="1874275"/>
            <a:chOff x="1204325" y="2578125"/>
            <a:chExt cx="2634775" cy="1874275"/>
          </a:xfrm>
        </p:grpSpPr>
        <p:sp>
          <p:nvSpPr>
            <p:cNvPr id="233" name="Google Shape;233;p36"/>
            <p:cNvSpPr txBox="1"/>
            <p:nvPr/>
          </p:nvSpPr>
          <p:spPr>
            <a:xfrm>
              <a:off x="1835000" y="2578125"/>
              <a:ext cx="17859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is temp &gt; 80?</a:t>
              </a:r>
              <a:endParaRPr b="1" sz="1800">
                <a:solidFill>
                  <a:schemeClr val="dk1"/>
                </a:solidFill>
                <a:latin typeface="Proxima Nova"/>
                <a:ea typeface="Proxima Nova"/>
                <a:cs typeface="Proxima Nova"/>
                <a:sym typeface="Proxima Nova"/>
              </a:endParaRPr>
            </a:p>
          </p:txBody>
        </p:sp>
        <p:sp>
          <p:nvSpPr>
            <p:cNvPr id="234" name="Google Shape;234;p36"/>
            <p:cNvSpPr txBox="1"/>
            <p:nvPr/>
          </p:nvSpPr>
          <p:spPr>
            <a:xfrm>
              <a:off x="3042000" y="3934600"/>
              <a:ext cx="7971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play</a:t>
              </a:r>
              <a:endParaRPr b="1" sz="1800">
                <a:solidFill>
                  <a:schemeClr val="dk1"/>
                </a:solidFill>
                <a:latin typeface="Proxima Nova"/>
                <a:ea typeface="Proxima Nova"/>
                <a:cs typeface="Proxima Nova"/>
                <a:sym typeface="Proxima Nova"/>
              </a:endParaRPr>
            </a:p>
          </p:txBody>
        </p:sp>
        <p:sp>
          <p:nvSpPr>
            <p:cNvPr id="235" name="Google Shape;235;p36"/>
            <p:cNvSpPr txBox="1"/>
            <p:nvPr/>
          </p:nvSpPr>
          <p:spPr>
            <a:xfrm>
              <a:off x="1204325" y="3934600"/>
              <a:ext cx="13761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don’t play</a:t>
              </a:r>
              <a:endParaRPr b="1" sz="1800">
                <a:solidFill>
                  <a:schemeClr val="dk1"/>
                </a:solidFill>
                <a:latin typeface="Proxima Nova"/>
                <a:ea typeface="Proxima Nova"/>
                <a:cs typeface="Proxima Nova"/>
                <a:sym typeface="Proxima Nova"/>
              </a:endParaRPr>
            </a:p>
          </p:txBody>
        </p:sp>
        <p:sp>
          <p:nvSpPr>
            <p:cNvPr id="236" name="Google Shape;236;p36"/>
            <p:cNvSpPr/>
            <p:nvPr/>
          </p:nvSpPr>
          <p:spPr>
            <a:xfrm>
              <a:off x="2002175" y="3027825"/>
              <a:ext cx="442250" cy="986525"/>
            </a:xfrm>
            <a:custGeom>
              <a:rect b="b" l="l" r="r" t="t"/>
              <a:pathLst>
                <a:path extrusionOk="0" h="39461" w="17690">
                  <a:moveTo>
                    <a:pt x="17690" y="0"/>
                  </a:moveTo>
                  <a:cubicBezTo>
                    <a:pt x="14742" y="6577"/>
                    <a:pt x="2948" y="32884"/>
                    <a:pt x="0" y="39461"/>
                  </a:cubicBezTo>
                </a:path>
              </a:pathLst>
            </a:custGeom>
            <a:solidFill>
              <a:schemeClr val="lt2"/>
            </a:solidFill>
            <a:ln cap="flat" cmpd="sng" w="19050">
              <a:solidFill>
                <a:srgbClr val="FF5722"/>
              </a:solidFill>
              <a:prstDash val="solid"/>
              <a:round/>
              <a:headEnd len="med" w="med" type="none"/>
              <a:tailEnd len="med" w="med" type="stealth"/>
            </a:ln>
          </p:spPr>
        </p:sp>
        <p:sp>
          <p:nvSpPr>
            <p:cNvPr id="237" name="Google Shape;237;p36"/>
            <p:cNvSpPr/>
            <p:nvPr/>
          </p:nvSpPr>
          <p:spPr>
            <a:xfrm>
              <a:off x="2776425" y="2976800"/>
              <a:ext cx="425225" cy="1020525"/>
            </a:xfrm>
            <a:custGeom>
              <a:rect b="b" l="l" r="r" t="t"/>
              <a:pathLst>
                <a:path extrusionOk="0" h="40821" w="17009">
                  <a:moveTo>
                    <a:pt x="0" y="0"/>
                  </a:moveTo>
                  <a:cubicBezTo>
                    <a:pt x="2835" y="6804"/>
                    <a:pt x="14174" y="34018"/>
                    <a:pt x="17009" y="40821"/>
                  </a:cubicBezTo>
                </a:path>
              </a:pathLst>
            </a:custGeom>
            <a:solidFill>
              <a:schemeClr val="lt2"/>
            </a:solidFill>
            <a:ln cap="flat" cmpd="sng" w="19050">
              <a:solidFill>
                <a:srgbClr val="FF5722"/>
              </a:solidFill>
              <a:prstDash val="solid"/>
              <a:round/>
              <a:headEnd len="med" w="med" type="none"/>
              <a:tailEnd len="med" w="med" type="stealth"/>
            </a:ln>
          </p:spPr>
        </p:sp>
        <p:sp>
          <p:nvSpPr>
            <p:cNvPr id="238" name="Google Shape;238;p36"/>
            <p:cNvSpPr txBox="1"/>
            <p:nvPr/>
          </p:nvSpPr>
          <p:spPr>
            <a:xfrm>
              <a:off x="1701450" y="3223200"/>
              <a:ext cx="1785900" cy="5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949AF8"/>
                  </a:solidFill>
                  <a:latin typeface="Proxima Nova"/>
                  <a:ea typeface="Proxima Nova"/>
                  <a:cs typeface="Proxima Nova"/>
                  <a:sym typeface="Proxima Nova"/>
                </a:rPr>
                <a:t>yes</a:t>
              </a:r>
              <a:r>
                <a:rPr lang="en">
                  <a:solidFill>
                    <a:srgbClr val="1F1F1F"/>
                  </a:solidFill>
                  <a:latin typeface="Proxima Nova"/>
                  <a:ea typeface="Proxima Nova"/>
                  <a:cs typeface="Proxima Nova"/>
                  <a:sym typeface="Proxima Nova"/>
                </a:rPr>
                <a:t>  	                  </a:t>
              </a:r>
              <a:r>
                <a:rPr b="1" lang="en">
                  <a:solidFill>
                    <a:srgbClr val="A9AA35"/>
                  </a:solidFill>
                  <a:latin typeface="Proxima Nova"/>
                  <a:ea typeface="Proxima Nova"/>
                  <a:cs typeface="Proxima Nova"/>
                  <a:sym typeface="Proxima Nova"/>
                </a:rPr>
                <a:t>no</a:t>
              </a:r>
              <a:r>
                <a:rPr lang="en">
                  <a:solidFill>
                    <a:srgbClr val="1F1F1F"/>
                  </a:solidFill>
                  <a:latin typeface="Proxima Nova"/>
                  <a:ea typeface="Proxima Nova"/>
                  <a:cs typeface="Proxima Nova"/>
                  <a:sym typeface="Proxima Nova"/>
                </a:rPr>
                <a:t>	</a:t>
              </a:r>
              <a:endParaRPr>
                <a:solidFill>
                  <a:srgbClr val="1F1F1F"/>
                </a:solidFill>
                <a:latin typeface="Proxima Nova"/>
                <a:ea typeface="Proxima Nova"/>
                <a:cs typeface="Proxima Nova"/>
                <a:sym typeface="Proxima Nova"/>
              </a:endParaRPr>
            </a:p>
          </p:txBody>
        </p:sp>
      </p:grpSp>
      <p:sp>
        <p:nvSpPr>
          <p:cNvPr id="239" name="Google Shape;239;p36"/>
          <p:cNvSpPr/>
          <p:nvPr/>
        </p:nvSpPr>
        <p:spPr>
          <a:xfrm>
            <a:off x="1301466" y="2036300"/>
            <a:ext cx="523025" cy="770325"/>
          </a:xfrm>
          <a:custGeom>
            <a:rect b="b" l="l" r="r" t="t"/>
            <a:pathLst>
              <a:path extrusionOk="0" h="30813" w="20921">
                <a:moveTo>
                  <a:pt x="1984" y="0"/>
                </a:moveTo>
                <a:cubicBezTo>
                  <a:pt x="1877" y="4012"/>
                  <a:pt x="-1814" y="18938"/>
                  <a:pt x="1342" y="24073"/>
                </a:cubicBezTo>
                <a:cubicBezTo>
                  <a:pt x="4498" y="29209"/>
                  <a:pt x="17658" y="29690"/>
                  <a:pt x="20921" y="30813"/>
                </a:cubicBezTo>
              </a:path>
            </a:pathLst>
          </a:custGeom>
          <a:noFill/>
          <a:ln cap="flat" cmpd="sng" w="9525">
            <a:solidFill>
              <a:schemeClr val="dk2"/>
            </a:solidFill>
            <a:prstDash val="solid"/>
            <a:round/>
            <a:headEnd len="med" w="med" type="none"/>
            <a:tailEnd len="med" w="med" type="stealth"/>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7"/>
          <p:cNvPicPr preferRelativeResize="0"/>
          <p:nvPr/>
        </p:nvPicPr>
        <p:blipFill>
          <a:blip r:embed="rId3">
            <a:alphaModFix/>
          </a:blip>
          <a:stretch>
            <a:fillRect/>
          </a:stretch>
        </p:blipFill>
        <p:spPr>
          <a:xfrm>
            <a:off x="733199" y="490025"/>
            <a:ext cx="7489948" cy="4163475"/>
          </a:xfrm>
          <a:prstGeom prst="rect">
            <a:avLst/>
          </a:prstGeom>
          <a:noFill/>
          <a:ln>
            <a:noFill/>
          </a:ln>
        </p:spPr>
      </p:pic>
      <p:sp>
        <p:nvSpPr>
          <p:cNvPr id="245" name="Google Shape;245;p37"/>
          <p:cNvSpPr txBox="1"/>
          <p:nvPr/>
        </p:nvSpPr>
        <p:spPr>
          <a:xfrm>
            <a:off x="1182575" y="2171550"/>
            <a:ext cx="673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334E6"/>
                </a:solidFill>
              </a:rPr>
              <a:t>6 days high </a:t>
            </a:r>
            <a:r>
              <a:rPr lang="en">
                <a:solidFill>
                  <a:srgbClr val="9334E6"/>
                </a:solidFill>
              </a:rPr>
              <a:t>humidity</a:t>
            </a:r>
            <a:r>
              <a:rPr lang="en">
                <a:solidFill>
                  <a:srgbClr val="9334E6"/>
                </a:solidFill>
              </a:rPr>
              <a:t>: 3 yes, 3 no → </a:t>
            </a:r>
            <a:r>
              <a:rPr b="1" lang="en">
                <a:solidFill>
                  <a:srgbClr val="9334E6"/>
                </a:solidFill>
              </a:rPr>
              <a:t>P(yes and high </a:t>
            </a:r>
            <a:r>
              <a:rPr b="1" lang="en">
                <a:solidFill>
                  <a:srgbClr val="9334E6"/>
                </a:solidFill>
              </a:rPr>
              <a:t>humidity) = 3/6</a:t>
            </a:r>
            <a:r>
              <a:rPr lang="en">
                <a:solidFill>
                  <a:srgbClr val="9334E6"/>
                </a:solidFill>
              </a:rPr>
              <a:t> </a:t>
            </a:r>
            <a:endParaRPr>
              <a:solidFill>
                <a:srgbClr val="9334E6"/>
              </a:solidFill>
            </a:endParaRPr>
          </a:p>
        </p:txBody>
      </p:sp>
      <p:sp>
        <p:nvSpPr>
          <p:cNvPr id="246" name="Google Shape;246;p37"/>
          <p:cNvSpPr txBox="1"/>
          <p:nvPr/>
        </p:nvSpPr>
        <p:spPr>
          <a:xfrm>
            <a:off x="1182575" y="2949825"/>
            <a:ext cx="673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97A7"/>
                </a:solidFill>
              </a:rPr>
              <a:t>3</a:t>
            </a:r>
            <a:r>
              <a:rPr lang="en">
                <a:solidFill>
                  <a:srgbClr val="0097A7"/>
                </a:solidFill>
              </a:rPr>
              <a:t> days low humidity: 2 yes, 1 no → </a:t>
            </a:r>
            <a:r>
              <a:rPr b="1" lang="en">
                <a:solidFill>
                  <a:srgbClr val="0097A7"/>
                </a:solidFill>
              </a:rPr>
              <a:t>P(yes and low humidity) = 2/3</a:t>
            </a:r>
            <a:r>
              <a:rPr lang="en">
                <a:solidFill>
                  <a:srgbClr val="0097A7"/>
                </a:solidFill>
              </a:rPr>
              <a:t> </a:t>
            </a:r>
            <a:endParaRPr>
              <a:solidFill>
                <a:srgbClr val="0097A7"/>
              </a:solidFill>
            </a:endParaRPr>
          </a:p>
        </p:txBody>
      </p:sp>
      <p:sp>
        <p:nvSpPr>
          <p:cNvPr id="247" name="Google Shape;247;p37"/>
          <p:cNvSpPr txBox="1"/>
          <p:nvPr/>
        </p:nvSpPr>
        <p:spPr>
          <a:xfrm>
            <a:off x="1182575" y="3728100"/>
            <a:ext cx="673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97A7"/>
                </a:solidFill>
              </a:rPr>
              <a:t>low </a:t>
            </a:r>
            <a:r>
              <a:rPr b="1" lang="en">
                <a:solidFill>
                  <a:srgbClr val="0097A7"/>
                </a:solidFill>
              </a:rPr>
              <a:t>humidity</a:t>
            </a:r>
            <a:r>
              <a:rPr lang="en">
                <a:solidFill>
                  <a:schemeClr val="dk2"/>
                </a:solidFill>
              </a:rPr>
              <a:t> since </a:t>
            </a:r>
            <a:r>
              <a:rPr lang="en">
                <a:solidFill>
                  <a:schemeClr val="dk2"/>
                </a:solidFill>
              </a:rPr>
              <a:t>2/3</a:t>
            </a:r>
            <a:r>
              <a:rPr lang="en">
                <a:solidFill>
                  <a:schemeClr val="dk2"/>
                </a:solidFill>
              </a:rPr>
              <a:t> &gt; 3/6</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8"/>
          <p:cNvSpPr txBox="1"/>
          <p:nvPr>
            <p:ph type="title"/>
          </p:nvPr>
        </p:nvSpPr>
        <p:spPr>
          <a:xfrm>
            <a:off x="235500" y="1130825"/>
            <a:ext cx="8520600" cy="119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2"/>
                </a:solidFill>
                <a:latin typeface="Proxima Nova"/>
                <a:ea typeface="Proxima Nova"/>
                <a:cs typeface="Proxima Nova"/>
                <a:sym typeface="Proxima Nova"/>
              </a:rPr>
              <a:t>The two ways to mathematically measure uncertainty are the</a:t>
            </a:r>
            <a:r>
              <a:rPr lang="en" sz="1400">
                <a:solidFill>
                  <a:schemeClr val="dk1"/>
                </a:solidFill>
                <a:latin typeface="Proxima Nova"/>
                <a:ea typeface="Proxima Nova"/>
                <a:cs typeface="Proxima Nova"/>
                <a:sym typeface="Proxima Nova"/>
              </a:rPr>
              <a:t> </a:t>
            </a:r>
            <a:r>
              <a:rPr lang="en" sz="1400">
                <a:solidFill>
                  <a:schemeClr val="dk1"/>
                </a:solidFill>
              </a:rPr>
              <a:t>Gini impurity </a:t>
            </a:r>
            <a:r>
              <a:rPr lang="en" sz="1400">
                <a:solidFill>
                  <a:schemeClr val="dk2"/>
                </a:solidFill>
                <a:latin typeface="Proxima Nova"/>
                <a:ea typeface="Proxima Nova"/>
                <a:cs typeface="Proxima Nova"/>
                <a:sym typeface="Proxima Nova"/>
              </a:rPr>
              <a:t>and </a:t>
            </a:r>
            <a:r>
              <a:rPr lang="en" sz="1400">
                <a:solidFill>
                  <a:schemeClr val="dk1"/>
                </a:solidFill>
              </a:rPr>
              <a:t>entropy</a:t>
            </a:r>
            <a:r>
              <a:rPr lang="en" sz="1400">
                <a:solidFill>
                  <a:schemeClr val="dk1"/>
                </a:solidFill>
                <a:latin typeface="Proxima Nova"/>
                <a:ea typeface="Proxima Nova"/>
                <a:cs typeface="Proxima Nova"/>
                <a:sym typeface="Proxima Nova"/>
              </a:rPr>
              <a:t>. </a:t>
            </a:r>
            <a:r>
              <a:rPr lang="en" sz="1400">
                <a:solidFill>
                  <a:schemeClr val="dk2"/>
                </a:solidFill>
                <a:latin typeface="Proxima Nova"/>
                <a:ea typeface="Proxima Nova"/>
                <a:cs typeface="Proxima Nova"/>
                <a:sym typeface="Proxima Nova"/>
              </a:rPr>
              <a:t>Suppose the probability of an event happening is </a:t>
            </a:r>
            <a:r>
              <a:rPr lang="en" sz="1400">
                <a:solidFill>
                  <a:schemeClr val="dk2"/>
                </a:solidFill>
              </a:rPr>
              <a:t>p</a:t>
            </a:r>
            <a:r>
              <a:rPr lang="en" sz="1400">
                <a:solidFill>
                  <a:schemeClr val="dk2"/>
                </a:solidFill>
                <a:latin typeface="Proxima Nova"/>
                <a:ea typeface="Proxima Nova"/>
                <a:cs typeface="Proxima Nova"/>
                <a:sym typeface="Proxima Nova"/>
              </a:rPr>
              <a:t>, and the probability of the same event not happening is </a:t>
            </a:r>
            <a:r>
              <a:rPr lang="en" sz="1400">
                <a:solidFill>
                  <a:schemeClr val="dk2"/>
                </a:solidFill>
              </a:rPr>
              <a:t>1-p</a:t>
            </a:r>
            <a:r>
              <a:rPr lang="en" sz="1400">
                <a:solidFill>
                  <a:schemeClr val="dk2"/>
                </a:solidFill>
                <a:latin typeface="Proxima Nova"/>
                <a:ea typeface="Proxima Nova"/>
                <a:cs typeface="Proxima Nova"/>
                <a:sym typeface="Proxima Nova"/>
              </a:rPr>
              <a:t>. </a:t>
            </a:r>
            <a:endParaRPr sz="1400">
              <a:solidFill>
                <a:schemeClr val="dk1"/>
              </a:solidFill>
              <a:latin typeface="Proxima Nova"/>
              <a:ea typeface="Proxima Nova"/>
              <a:cs typeface="Proxima Nova"/>
              <a:sym typeface="Proxima Nova"/>
            </a:endParaRPr>
          </a:p>
        </p:txBody>
      </p:sp>
      <p:sp>
        <p:nvSpPr>
          <p:cNvPr id="253" name="Google Shape;253;p38"/>
          <p:cNvSpPr txBox="1"/>
          <p:nvPr>
            <p:ph idx="1" type="body"/>
          </p:nvPr>
        </p:nvSpPr>
        <p:spPr>
          <a:xfrm>
            <a:off x="845100" y="2176025"/>
            <a:ext cx="4184400" cy="108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Then the Gini impurity in this situation is </a:t>
            </a:r>
            <a:endParaRPr>
              <a:latin typeface="Alfa Slab One"/>
              <a:ea typeface="Alfa Slab One"/>
              <a:cs typeface="Alfa Slab One"/>
              <a:sym typeface="Alfa Slab One"/>
            </a:endParaRPr>
          </a:p>
          <a:p>
            <a:pPr indent="0" lvl="0" marL="0" rtl="0" algn="l">
              <a:spcBef>
                <a:spcPts val="1200"/>
              </a:spcBef>
              <a:spcAft>
                <a:spcPts val="0"/>
              </a:spcAft>
              <a:buNone/>
            </a:pPr>
            <a:r>
              <a:t/>
            </a:r>
            <a:endParaRPr>
              <a:latin typeface="Alfa Slab One"/>
              <a:ea typeface="Alfa Slab One"/>
              <a:cs typeface="Alfa Slab One"/>
              <a:sym typeface="Alfa Slab One"/>
            </a:endParaRPr>
          </a:p>
          <a:p>
            <a:pPr indent="0" lvl="0" marL="0" rtl="0" algn="l">
              <a:spcBef>
                <a:spcPts val="1200"/>
              </a:spcBef>
              <a:spcAft>
                <a:spcPts val="1200"/>
              </a:spcAft>
              <a:buNone/>
            </a:pPr>
            <a:r>
              <a:t/>
            </a:r>
            <a:endParaRPr>
              <a:latin typeface="Alfa Slab One"/>
              <a:ea typeface="Alfa Slab One"/>
              <a:cs typeface="Alfa Slab One"/>
              <a:sym typeface="Alfa Slab One"/>
            </a:endParaRPr>
          </a:p>
        </p:txBody>
      </p:sp>
      <p:sp>
        <p:nvSpPr>
          <p:cNvPr id="254" name="Google Shape;254;p38"/>
          <p:cNvSpPr txBox="1"/>
          <p:nvPr>
            <p:ph idx="2" type="body"/>
          </p:nvPr>
        </p:nvSpPr>
        <p:spPr>
          <a:xfrm>
            <a:off x="4756200" y="2177525"/>
            <a:ext cx="3999900" cy="12807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n"/>
              <a:t>The entropy in this situation is </a:t>
            </a:r>
            <a:endParaRPr/>
          </a:p>
          <a:p>
            <a:pPr indent="0" lvl="0" marL="0" rtl="0" algn="l">
              <a:lnSpc>
                <a:spcPct val="105000"/>
              </a:lnSpc>
              <a:spcBef>
                <a:spcPts val="1200"/>
              </a:spcBef>
              <a:spcAft>
                <a:spcPts val="0"/>
              </a:spcAft>
              <a:buNone/>
            </a:pPr>
            <a:r>
              <a:t/>
            </a:r>
            <a:endParaRPr/>
          </a:p>
          <a:p>
            <a:pPr indent="0" lvl="0" marL="0" rtl="0" algn="l">
              <a:lnSpc>
                <a:spcPct val="105000"/>
              </a:lnSpc>
              <a:spcBef>
                <a:spcPts val="1200"/>
              </a:spcBef>
              <a:spcAft>
                <a:spcPts val="1200"/>
              </a:spcAft>
              <a:buNone/>
            </a:pPr>
            <a:r>
              <a:t/>
            </a:r>
            <a:endParaRPr>
              <a:latin typeface="Alfa Slab One"/>
              <a:ea typeface="Alfa Slab One"/>
              <a:cs typeface="Alfa Slab One"/>
              <a:sym typeface="Alfa Slab One"/>
            </a:endParaRPr>
          </a:p>
        </p:txBody>
      </p:sp>
      <p:pic>
        <p:nvPicPr>
          <p:cNvPr id="255" name="Google Shape;255;p38"/>
          <p:cNvPicPr preferRelativeResize="0"/>
          <p:nvPr/>
        </p:nvPicPr>
        <p:blipFill rotWithShape="1">
          <a:blip r:embed="rId3">
            <a:alphaModFix/>
          </a:blip>
          <a:srcRect b="0" l="5150" r="0" t="0"/>
          <a:stretch/>
        </p:blipFill>
        <p:spPr>
          <a:xfrm>
            <a:off x="1484275" y="2532350"/>
            <a:ext cx="1924800" cy="401050"/>
          </a:xfrm>
          <a:prstGeom prst="rect">
            <a:avLst/>
          </a:prstGeom>
          <a:noFill/>
          <a:ln>
            <a:noFill/>
          </a:ln>
        </p:spPr>
      </p:pic>
      <p:pic>
        <p:nvPicPr>
          <p:cNvPr id="256" name="Google Shape;256;p38"/>
          <p:cNvPicPr preferRelativeResize="0"/>
          <p:nvPr/>
        </p:nvPicPr>
        <p:blipFill>
          <a:blip r:embed="rId4">
            <a:alphaModFix/>
          </a:blip>
          <a:stretch>
            <a:fillRect/>
          </a:stretch>
        </p:blipFill>
        <p:spPr>
          <a:xfrm>
            <a:off x="4627395" y="2535196"/>
            <a:ext cx="2992980" cy="401050"/>
          </a:xfrm>
          <a:prstGeom prst="rect">
            <a:avLst/>
          </a:prstGeom>
          <a:noFill/>
          <a:ln>
            <a:noFill/>
          </a:ln>
        </p:spPr>
      </p:pic>
      <p:sp>
        <p:nvSpPr>
          <p:cNvPr id="257" name="Google Shape;257;p38"/>
          <p:cNvSpPr txBox="1"/>
          <p:nvPr>
            <p:ph idx="1" type="body"/>
          </p:nvPr>
        </p:nvSpPr>
        <p:spPr>
          <a:xfrm>
            <a:off x="387675" y="3320825"/>
            <a:ext cx="7994700" cy="119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 Gini impurity and entropy are </a:t>
            </a:r>
            <a:r>
              <a:rPr b="1" lang="en"/>
              <a:t>between 0 and 1</a:t>
            </a:r>
            <a:r>
              <a:rPr lang="en"/>
              <a:t>, with larger values corresponding to greater uncertainty. Values </a:t>
            </a:r>
            <a:r>
              <a:rPr b="1" lang="en"/>
              <a:t>closer to zero</a:t>
            </a:r>
            <a:r>
              <a:rPr lang="en"/>
              <a:t> mean there is </a:t>
            </a:r>
            <a:r>
              <a:rPr b="1" lang="en"/>
              <a:t>less uncertainty</a:t>
            </a:r>
            <a:r>
              <a:rPr lang="en"/>
              <a:t>, so our </a:t>
            </a:r>
            <a:r>
              <a:rPr b="1" lang="en"/>
              <a:t>guesses are more accurate</a:t>
            </a:r>
            <a:r>
              <a:rPr lang="en"/>
              <a:t>.</a:t>
            </a:r>
            <a:endParaRPr>
              <a:latin typeface="Alfa Slab One"/>
              <a:ea typeface="Alfa Slab One"/>
              <a:cs typeface="Alfa Slab One"/>
              <a:sym typeface="Alfa Slab One"/>
            </a:endParaRPr>
          </a:p>
          <a:p>
            <a:pPr indent="0" lvl="0" marL="0" rtl="0" algn="l">
              <a:spcBef>
                <a:spcPts val="1200"/>
              </a:spcBef>
              <a:spcAft>
                <a:spcPts val="0"/>
              </a:spcAft>
              <a:buNone/>
            </a:pPr>
            <a:r>
              <a:t/>
            </a:r>
            <a:endParaRPr>
              <a:latin typeface="Alfa Slab One"/>
              <a:ea typeface="Alfa Slab One"/>
              <a:cs typeface="Alfa Slab One"/>
              <a:sym typeface="Alfa Slab One"/>
            </a:endParaRPr>
          </a:p>
          <a:p>
            <a:pPr indent="0" lvl="0" marL="0" rtl="0" algn="l">
              <a:spcBef>
                <a:spcPts val="1200"/>
              </a:spcBef>
              <a:spcAft>
                <a:spcPts val="1200"/>
              </a:spcAft>
              <a:buNone/>
            </a:pPr>
            <a:r>
              <a:t/>
            </a:r>
            <a:endParaRPr>
              <a:latin typeface="Alfa Slab One"/>
              <a:ea typeface="Alfa Slab One"/>
              <a:cs typeface="Alfa Slab One"/>
              <a:sym typeface="Alfa Slab On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39"/>
          <p:cNvPicPr preferRelativeResize="0"/>
          <p:nvPr/>
        </p:nvPicPr>
        <p:blipFill rotWithShape="1">
          <a:blip r:embed="rId3">
            <a:alphaModFix/>
          </a:blip>
          <a:srcRect b="10690" l="0" r="0" t="0"/>
          <a:stretch/>
        </p:blipFill>
        <p:spPr>
          <a:xfrm>
            <a:off x="1046175" y="549700"/>
            <a:ext cx="6946450" cy="4093725"/>
          </a:xfrm>
          <a:prstGeom prst="rect">
            <a:avLst/>
          </a:prstGeom>
          <a:noFill/>
          <a:ln>
            <a:noFill/>
          </a:ln>
        </p:spPr>
      </p:pic>
      <p:sp>
        <p:nvSpPr>
          <p:cNvPr id="263" name="Google Shape;263;p39"/>
          <p:cNvSpPr txBox="1"/>
          <p:nvPr/>
        </p:nvSpPr>
        <p:spPr>
          <a:xfrm>
            <a:off x="3971975" y="870550"/>
            <a:ext cx="36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A9AA35"/>
                </a:solidFill>
              </a:rPr>
              <a:t>5</a:t>
            </a:r>
            <a:endParaRPr>
              <a:solidFill>
                <a:srgbClr val="A9AA35"/>
              </a:solidFill>
            </a:endParaRPr>
          </a:p>
        </p:txBody>
      </p:sp>
      <p:sp>
        <p:nvSpPr>
          <p:cNvPr id="264" name="Google Shape;264;p39"/>
          <p:cNvSpPr txBox="1"/>
          <p:nvPr/>
        </p:nvSpPr>
        <p:spPr>
          <a:xfrm>
            <a:off x="2118325" y="1047025"/>
            <a:ext cx="36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A9AA35"/>
                </a:solidFill>
              </a:rPr>
              <a:t>1</a:t>
            </a:r>
            <a:endParaRPr>
              <a:solidFill>
                <a:srgbClr val="A9AA35"/>
              </a:solidFill>
            </a:endParaRPr>
          </a:p>
        </p:txBody>
      </p:sp>
      <p:sp>
        <p:nvSpPr>
          <p:cNvPr id="265" name="Google Shape;265;p39"/>
          <p:cNvSpPr txBox="1"/>
          <p:nvPr/>
        </p:nvSpPr>
        <p:spPr>
          <a:xfrm>
            <a:off x="1275750" y="1230625"/>
            <a:ext cx="53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A9AA35"/>
                </a:solidFill>
              </a:rPr>
              <a:t>1/5</a:t>
            </a:r>
            <a:endParaRPr>
              <a:solidFill>
                <a:srgbClr val="A9AA35"/>
              </a:solidFill>
            </a:endParaRPr>
          </a:p>
        </p:txBody>
      </p:sp>
      <p:sp>
        <p:nvSpPr>
          <p:cNvPr id="266" name="Google Shape;266;p39"/>
          <p:cNvSpPr txBox="1"/>
          <p:nvPr/>
        </p:nvSpPr>
        <p:spPr>
          <a:xfrm>
            <a:off x="6443250" y="1230625"/>
            <a:ext cx="53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A9AA35"/>
                </a:solidFill>
              </a:rPr>
              <a:t>4</a:t>
            </a:r>
            <a:r>
              <a:rPr lang="en">
                <a:solidFill>
                  <a:srgbClr val="A9AA35"/>
                </a:solidFill>
              </a:rPr>
              <a:t>/5</a:t>
            </a:r>
            <a:endParaRPr>
              <a:solidFill>
                <a:srgbClr val="A9AA35"/>
              </a:solidFill>
            </a:endParaRPr>
          </a:p>
        </p:txBody>
      </p:sp>
      <p:sp>
        <p:nvSpPr>
          <p:cNvPr id="267" name="Google Shape;267;p39"/>
          <p:cNvSpPr txBox="1"/>
          <p:nvPr/>
        </p:nvSpPr>
        <p:spPr>
          <a:xfrm>
            <a:off x="4229400" y="1728075"/>
            <a:ext cx="181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334E6"/>
                </a:solidFill>
              </a:rPr>
              <a:t>1/5</a:t>
            </a:r>
            <a:r>
              <a:rPr lang="en">
                <a:solidFill>
                  <a:srgbClr val="9334E6"/>
                </a:solidFill>
              </a:rPr>
              <a:t>(</a:t>
            </a:r>
            <a:r>
              <a:rPr lang="en">
                <a:solidFill>
                  <a:srgbClr val="9334E6"/>
                </a:solidFill>
              </a:rPr>
              <a:t>4/5</a:t>
            </a:r>
            <a:r>
              <a:rPr lang="en">
                <a:solidFill>
                  <a:srgbClr val="9334E6"/>
                </a:solidFill>
              </a:rPr>
              <a:t>) + </a:t>
            </a:r>
            <a:r>
              <a:rPr lang="en">
                <a:solidFill>
                  <a:srgbClr val="9334E6"/>
                </a:solidFill>
              </a:rPr>
              <a:t>4/5</a:t>
            </a:r>
            <a:r>
              <a:rPr lang="en">
                <a:solidFill>
                  <a:srgbClr val="9334E6"/>
                </a:solidFill>
              </a:rPr>
              <a:t>(</a:t>
            </a:r>
            <a:r>
              <a:rPr lang="en">
                <a:solidFill>
                  <a:srgbClr val="9334E6"/>
                </a:solidFill>
              </a:rPr>
              <a:t>1/5</a:t>
            </a:r>
            <a:r>
              <a:rPr lang="en">
                <a:solidFill>
                  <a:srgbClr val="9334E6"/>
                </a:solidFill>
              </a:rPr>
              <a:t>)</a:t>
            </a:r>
            <a:endParaRPr>
              <a:solidFill>
                <a:srgbClr val="9334E6"/>
              </a:solidFill>
            </a:endParaRPr>
          </a:p>
        </p:txBody>
      </p:sp>
      <p:sp>
        <p:nvSpPr>
          <p:cNvPr id="268" name="Google Shape;268;p39"/>
          <p:cNvSpPr txBox="1"/>
          <p:nvPr/>
        </p:nvSpPr>
        <p:spPr>
          <a:xfrm>
            <a:off x="5985975" y="1664850"/>
            <a:ext cx="53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334E6"/>
                </a:solidFill>
                <a:highlight>
                  <a:schemeClr val="lt2"/>
                </a:highlight>
              </a:rPr>
              <a:t>8/25</a:t>
            </a:r>
            <a:endParaRPr>
              <a:solidFill>
                <a:srgbClr val="9334E6"/>
              </a:solidFill>
              <a:highlight>
                <a:schemeClr val="lt2"/>
              </a:highlight>
            </a:endParaRPr>
          </a:p>
        </p:txBody>
      </p:sp>
      <p:sp>
        <p:nvSpPr>
          <p:cNvPr id="269" name="Google Shape;269;p39"/>
          <p:cNvSpPr txBox="1"/>
          <p:nvPr/>
        </p:nvSpPr>
        <p:spPr>
          <a:xfrm>
            <a:off x="2034025" y="2467200"/>
            <a:ext cx="592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A9AA35"/>
                </a:solidFill>
              </a:rPr>
              <a:t>p = 1 </a:t>
            </a:r>
            <a:r>
              <a:rPr lang="en">
                <a:solidFill>
                  <a:srgbClr val="9334E6"/>
                </a:solidFill>
              </a:rPr>
              <a:t>→ 0(1) + 1(0) = </a:t>
            </a:r>
            <a:r>
              <a:rPr lang="en">
                <a:solidFill>
                  <a:srgbClr val="9334E6"/>
                </a:solidFill>
                <a:highlight>
                  <a:schemeClr val="lt2"/>
                </a:highlight>
              </a:rPr>
              <a:t>0</a:t>
            </a:r>
            <a:r>
              <a:rPr lang="en">
                <a:solidFill>
                  <a:srgbClr val="A9AA35"/>
                </a:solidFill>
              </a:rPr>
              <a:t> </a:t>
            </a:r>
            <a:r>
              <a:rPr lang="en">
                <a:solidFill>
                  <a:schemeClr val="dk1"/>
                </a:solidFill>
              </a:rPr>
              <a:t>→ you play all games so no uncertainty</a:t>
            </a:r>
            <a:endParaRPr>
              <a:solidFill>
                <a:schemeClr val="dk1"/>
              </a:solidFill>
            </a:endParaRPr>
          </a:p>
        </p:txBody>
      </p:sp>
      <p:sp>
        <p:nvSpPr>
          <p:cNvPr id="270" name="Google Shape;270;p39"/>
          <p:cNvSpPr txBox="1"/>
          <p:nvPr/>
        </p:nvSpPr>
        <p:spPr>
          <a:xfrm>
            <a:off x="2034025" y="3077000"/>
            <a:ext cx="592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A9AA35"/>
                </a:solidFill>
              </a:rPr>
              <a:t>P(high </a:t>
            </a:r>
            <a:r>
              <a:rPr lang="en">
                <a:solidFill>
                  <a:srgbClr val="A9AA35"/>
                </a:solidFill>
              </a:rPr>
              <a:t>humidity</a:t>
            </a:r>
            <a:r>
              <a:rPr lang="en">
                <a:solidFill>
                  <a:srgbClr val="A9AA35"/>
                </a:solidFill>
              </a:rPr>
              <a:t> and yes) = 3/6 or </a:t>
            </a:r>
            <a:r>
              <a:rPr lang="en">
                <a:solidFill>
                  <a:srgbClr val="A9AA35"/>
                </a:solidFill>
              </a:rPr>
              <a:t>1/2</a:t>
            </a:r>
            <a:r>
              <a:rPr lang="en">
                <a:solidFill>
                  <a:srgbClr val="A9AA35"/>
                </a:solidFill>
              </a:rPr>
              <a:t> </a:t>
            </a:r>
            <a:r>
              <a:rPr lang="en">
                <a:solidFill>
                  <a:srgbClr val="9334E6"/>
                </a:solidFill>
              </a:rPr>
              <a:t>→</a:t>
            </a:r>
            <a:r>
              <a:rPr lang="en">
                <a:solidFill>
                  <a:srgbClr val="A9AA35"/>
                </a:solidFill>
              </a:rPr>
              <a:t> </a:t>
            </a:r>
            <a:r>
              <a:rPr lang="en">
                <a:solidFill>
                  <a:srgbClr val="9334E6"/>
                </a:solidFill>
              </a:rPr>
              <a:t>1/2</a:t>
            </a:r>
            <a:r>
              <a:rPr lang="en">
                <a:solidFill>
                  <a:srgbClr val="9334E6"/>
                </a:solidFill>
              </a:rPr>
              <a:t>(1/2) *2= </a:t>
            </a:r>
            <a:r>
              <a:rPr lang="en">
                <a:solidFill>
                  <a:srgbClr val="9334E6"/>
                </a:solidFill>
                <a:highlight>
                  <a:schemeClr val="lt2"/>
                </a:highlight>
              </a:rPr>
              <a:t>1/2</a:t>
            </a:r>
            <a:endParaRPr>
              <a:solidFill>
                <a:srgbClr val="A9AA35"/>
              </a:solidFill>
              <a:highlight>
                <a:schemeClr val="lt2"/>
              </a:highlight>
            </a:endParaRPr>
          </a:p>
        </p:txBody>
      </p:sp>
      <p:sp>
        <p:nvSpPr>
          <p:cNvPr id="271" name="Google Shape;271;p39"/>
          <p:cNvSpPr txBox="1"/>
          <p:nvPr/>
        </p:nvSpPr>
        <p:spPr>
          <a:xfrm>
            <a:off x="2118325" y="3686800"/>
            <a:ext cx="592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A9AA35"/>
                </a:solidFill>
              </a:rPr>
              <a:t>P(low humidity and yes) = 2/3 </a:t>
            </a:r>
            <a:r>
              <a:rPr lang="en">
                <a:solidFill>
                  <a:srgbClr val="9334E6"/>
                </a:solidFill>
              </a:rPr>
              <a:t>→</a:t>
            </a:r>
            <a:r>
              <a:rPr lang="en">
                <a:solidFill>
                  <a:srgbClr val="A9AA35"/>
                </a:solidFill>
              </a:rPr>
              <a:t> </a:t>
            </a:r>
            <a:r>
              <a:rPr lang="en">
                <a:solidFill>
                  <a:srgbClr val="9334E6"/>
                </a:solidFill>
              </a:rPr>
              <a:t>2</a:t>
            </a:r>
            <a:r>
              <a:rPr lang="en">
                <a:solidFill>
                  <a:srgbClr val="9334E6"/>
                </a:solidFill>
              </a:rPr>
              <a:t>/3(1/3) *2= </a:t>
            </a:r>
            <a:r>
              <a:rPr lang="en">
                <a:solidFill>
                  <a:srgbClr val="9334E6"/>
                </a:solidFill>
                <a:highlight>
                  <a:schemeClr val="lt2"/>
                </a:highlight>
              </a:rPr>
              <a:t>4/9</a:t>
            </a:r>
            <a:endParaRPr>
              <a:solidFill>
                <a:srgbClr val="A9AA35"/>
              </a:solidFill>
              <a:highlight>
                <a:schemeClr val="lt2"/>
              </a:highlight>
            </a:endParaRPr>
          </a:p>
        </p:txBody>
      </p:sp>
      <p:grpSp>
        <p:nvGrpSpPr>
          <p:cNvPr id="272" name="Google Shape;272;p39"/>
          <p:cNvGrpSpPr/>
          <p:nvPr/>
        </p:nvGrpSpPr>
        <p:grpSpPr>
          <a:xfrm>
            <a:off x="2777500" y="1973775"/>
            <a:ext cx="3115925" cy="369300"/>
            <a:chOff x="2777500" y="1745175"/>
            <a:chExt cx="3115925" cy="369300"/>
          </a:xfrm>
        </p:grpSpPr>
        <p:sp>
          <p:nvSpPr>
            <p:cNvPr id="273" name="Google Shape;273;p39"/>
            <p:cNvSpPr txBox="1"/>
            <p:nvPr/>
          </p:nvSpPr>
          <p:spPr>
            <a:xfrm>
              <a:off x="2777500" y="1745175"/>
              <a:ext cx="2986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same as </a:t>
              </a:r>
              <a:r>
                <a:rPr lang="en" sz="1200">
                  <a:solidFill>
                    <a:schemeClr val="dk1"/>
                  </a:solidFill>
                </a:rPr>
                <a:t>1/5(4/5) *2 or p(1-p)*2 </a:t>
              </a:r>
              <a:endParaRPr sz="1200">
                <a:solidFill>
                  <a:schemeClr val="dk1"/>
                </a:solidFill>
              </a:endParaRPr>
            </a:p>
          </p:txBody>
        </p:sp>
        <p:sp>
          <p:nvSpPr>
            <p:cNvPr id="274" name="Google Shape;274;p39"/>
            <p:cNvSpPr/>
            <p:nvPr/>
          </p:nvSpPr>
          <p:spPr>
            <a:xfrm>
              <a:off x="5058250" y="1843725"/>
              <a:ext cx="835175" cy="197575"/>
            </a:xfrm>
            <a:custGeom>
              <a:rect b="b" l="l" r="r" t="t"/>
              <a:pathLst>
                <a:path extrusionOk="0" h="7903" w="33407">
                  <a:moveTo>
                    <a:pt x="0" y="4815"/>
                  </a:moveTo>
                  <a:cubicBezTo>
                    <a:pt x="5136" y="5296"/>
                    <a:pt x="25571" y="8506"/>
                    <a:pt x="30813" y="7703"/>
                  </a:cubicBezTo>
                  <a:cubicBezTo>
                    <a:pt x="36056" y="6901"/>
                    <a:pt x="31348" y="1284"/>
                    <a:pt x="31455" y="0"/>
                  </a:cubicBezTo>
                </a:path>
              </a:pathLst>
            </a:custGeom>
            <a:noFill/>
            <a:ln cap="flat" cmpd="sng" w="9525">
              <a:solidFill>
                <a:schemeClr val="dk2"/>
              </a:solidFill>
              <a:prstDash val="solid"/>
              <a:round/>
              <a:headEnd len="med" w="med" type="none"/>
              <a:tailEnd len="med" w="med" type="stealth"/>
            </a:ln>
          </p:spPr>
        </p:sp>
      </p:grpSp>
      <p:sp>
        <p:nvSpPr>
          <p:cNvPr id="275" name="Google Shape;275;p39"/>
          <p:cNvSpPr txBox="1"/>
          <p:nvPr/>
        </p:nvSpPr>
        <p:spPr>
          <a:xfrm>
            <a:off x="2118325" y="4243225"/>
            <a:ext cx="592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more uncertainty when </a:t>
            </a:r>
            <a:r>
              <a:rPr lang="en">
                <a:solidFill>
                  <a:schemeClr val="dk1"/>
                </a:solidFill>
              </a:rPr>
              <a:t>humidity</a:t>
            </a:r>
            <a:r>
              <a:rPr lang="en">
                <a:solidFill>
                  <a:schemeClr val="dk1"/>
                </a:solidFill>
              </a:rPr>
              <a:t> is </a:t>
            </a:r>
            <a:r>
              <a:rPr b="1" lang="en">
                <a:solidFill>
                  <a:schemeClr val="dk1"/>
                </a:solidFill>
              </a:rPr>
              <a:t>high</a:t>
            </a:r>
            <a:r>
              <a:rPr lang="en">
                <a:solidFill>
                  <a:schemeClr val="dk1"/>
                </a:solidFill>
              </a:rPr>
              <a:t> since larger impurity → 4/9 &lt; 1/2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279" name="Shape 279"/>
        <p:cNvGrpSpPr/>
        <p:nvPr/>
      </p:nvGrpSpPr>
      <p:grpSpPr>
        <a:xfrm>
          <a:off x="0" y="0"/>
          <a:ext cx="0" cy="0"/>
          <a:chOff x="0" y="0"/>
          <a:chExt cx="0" cy="0"/>
        </a:xfrm>
      </p:grpSpPr>
      <p:sp>
        <p:nvSpPr>
          <p:cNvPr id="280" name="Google Shape;280;p40"/>
          <p:cNvSpPr txBox="1"/>
          <p:nvPr/>
        </p:nvSpPr>
        <p:spPr>
          <a:xfrm>
            <a:off x="412025" y="828475"/>
            <a:ext cx="4068600" cy="35280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 sz="5750">
                <a:solidFill>
                  <a:schemeClr val="lt1"/>
                </a:solidFill>
                <a:latin typeface="Staatliches"/>
                <a:ea typeface="Staatliches"/>
                <a:cs typeface="Staatliches"/>
                <a:sym typeface="Staatliches"/>
              </a:rPr>
              <a:t>Exercise</a:t>
            </a:r>
            <a:endParaRPr b="1" sz="5750">
              <a:solidFill>
                <a:schemeClr val="lt1"/>
              </a:solidFill>
              <a:latin typeface="Staatliches"/>
              <a:ea typeface="Staatliches"/>
              <a:cs typeface="Staatliches"/>
              <a:sym typeface="Staatliches"/>
            </a:endParaRPr>
          </a:p>
          <a:p>
            <a:pPr indent="0" lvl="0" marL="0" rtl="0" algn="l">
              <a:lnSpc>
                <a:spcPct val="80000"/>
              </a:lnSpc>
              <a:spcBef>
                <a:spcPts val="0"/>
              </a:spcBef>
              <a:spcAft>
                <a:spcPts val="0"/>
              </a:spcAft>
              <a:buNone/>
            </a:pPr>
            <a:r>
              <a:t/>
            </a:r>
            <a:endParaRPr b="1" sz="1800">
              <a:solidFill>
                <a:schemeClr val="lt1"/>
              </a:solidFill>
            </a:endParaRPr>
          </a:p>
          <a:p>
            <a:pPr indent="0" lvl="0" marL="0" rtl="0" algn="l">
              <a:lnSpc>
                <a:spcPct val="80000"/>
              </a:lnSpc>
              <a:spcBef>
                <a:spcPts val="0"/>
              </a:spcBef>
              <a:spcAft>
                <a:spcPts val="0"/>
              </a:spcAft>
              <a:buNone/>
            </a:pPr>
            <a:r>
              <a:rPr lang="en">
                <a:solidFill>
                  <a:schemeClr val="lt1"/>
                </a:solidFill>
              </a:rPr>
              <a:t>If the humidity is not high (so it’s either low or medium), what is the probability that the game is played? What is the Gini impurity?</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If the humidity is not low (so it’s either medium or high), what is the probability that the game is played? What is the Gini impurity?</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In which situation is there more uncertainty: when the humidity is not high, or when it is not low?</a:t>
            </a:r>
            <a:endParaRPr>
              <a:solidFill>
                <a:schemeClr val="lt1"/>
              </a:solidFill>
            </a:endParaRPr>
          </a:p>
          <a:p>
            <a:pPr indent="0" lvl="0" marL="0" rtl="0" algn="l">
              <a:lnSpc>
                <a:spcPct val="80000"/>
              </a:lnSpc>
              <a:spcBef>
                <a:spcPts val="0"/>
              </a:spcBef>
              <a:spcAft>
                <a:spcPts val="0"/>
              </a:spcAft>
              <a:buClr>
                <a:srgbClr val="000000"/>
              </a:buClr>
              <a:buSzPts val="1100"/>
              <a:buFont typeface="Arial"/>
              <a:buNone/>
            </a:pPr>
            <a:r>
              <a:t/>
            </a:r>
            <a:endParaRPr>
              <a:solidFill>
                <a:schemeClr val="lt1"/>
              </a:solidFill>
            </a:endParaRPr>
          </a:p>
        </p:txBody>
      </p:sp>
      <p:pic>
        <p:nvPicPr>
          <p:cNvPr id="281" name="Google Shape;281;p40"/>
          <p:cNvPicPr preferRelativeResize="0"/>
          <p:nvPr/>
        </p:nvPicPr>
        <p:blipFill rotWithShape="1">
          <a:blip r:embed="rId3">
            <a:alphaModFix/>
          </a:blip>
          <a:srcRect b="5409" l="4911" r="4794" t="5622"/>
          <a:stretch/>
        </p:blipFill>
        <p:spPr>
          <a:xfrm>
            <a:off x="5140338" y="768400"/>
            <a:ext cx="3233750" cy="2294900"/>
          </a:xfrm>
          <a:prstGeom prst="rect">
            <a:avLst/>
          </a:prstGeom>
          <a:noFill/>
          <a:ln>
            <a:noFill/>
          </a:ln>
        </p:spPr>
      </p:pic>
      <p:pic>
        <p:nvPicPr>
          <p:cNvPr descr="4 Minute Timer Relaxing Music Lofi Fish Background&#10;Song- https://www.youtube.com/watch?v=Nh_oj5hsAbs&amp;t=41s&#10;&#10;&#10;&#10;TAGS&#10;6 minute&#10;6 minute countdown&#10;6 minute lo-fi hiphop timer&#10;6 minute timer&#10;countdown&#10;lo-fi music&#10;lofi study song&#10;study music&#10;study timer&#10;time&#10;timer&#10;working music&#10;6 minute timer with music&#10;6 minute clock&#10;lofi hiphop&#10;relaxing timers&#10;relaxing music&#10;relaxing lofi timer&#10;nature timer&#10;meditation&#10;meditation music&#10;relaxing sleep music&#10;school timer&#10;sleep timer&#10;chill timer&#10;chill music&#10;lofi timer&#10;lofi hiphop timer&#10;lofi hip hop" id="282" name="Google Shape;282;p40" title="4 Minute Timer Relaxing Music Lofi Fish Background">
            <a:hlinkClick r:id="rId4"/>
          </p:cNvPr>
          <p:cNvPicPr preferRelativeResize="0"/>
          <p:nvPr/>
        </p:nvPicPr>
        <p:blipFill>
          <a:blip r:embed="rId5">
            <a:alphaModFix/>
          </a:blip>
          <a:stretch>
            <a:fillRect/>
          </a:stretch>
        </p:blipFill>
        <p:spPr>
          <a:xfrm>
            <a:off x="591400" y="4259000"/>
            <a:ext cx="778350" cy="437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41" title="Screenshot 2026-01-16 at 10.31.11 AM.png"/>
          <p:cNvPicPr preferRelativeResize="0"/>
          <p:nvPr/>
        </p:nvPicPr>
        <p:blipFill>
          <a:blip r:embed="rId3">
            <a:alphaModFix/>
          </a:blip>
          <a:stretch>
            <a:fillRect/>
          </a:stretch>
        </p:blipFill>
        <p:spPr>
          <a:xfrm>
            <a:off x="3354525" y="87925"/>
            <a:ext cx="5569189" cy="4838701"/>
          </a:xfrm>
          <a:prstGeom prst="rect">
            <a:avLst/>
          </a:prstGeom>
          <a:noFill/>
          <a:ln>
            <a:noFill/>
          </a:ln>
        </p:spPr>
      </p:pic>
      <p:sp>
        <p:nvSpPr>
          <p:cNvPr id="288" name="Google Shape;288;p41"/>
          <p:cNvSpPr txBox="1"/>
          <p:nvPr/>
        </p:nvSpPr>
        <p:spPr>
          <a:xfrm>
            <a:off x="501450" y="1060225"/>
            <a:ext cx="24213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The worksheet walks you through a specific example of how to measure a good split.</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The next slide will walk through how to generalize this particular process.</a:t>
            </a:r>
            <a:endParaRPr>
              <a:solidFill>
                <a:schemeClr val="dk2"/>
              </a:solidFill>
            </a:endParaRPr>
          </a:p>
        </p:txBody>
      </p:sp>
      <p:sp>
        <p:nvSpPr>
          <p:cNvPr id="289" name="Google Shape;289;p41"/>
          <p:cNvSpPr txBox="1"/>
          <p:nvPr/>
        </p:nvSpPr>
        <p:spPr>
          <a:xfrm>
            <a:off x="8094825" y="4644000"/>
            <a:ext cx="82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page 3</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2"/>
          <p:cNvSpPr txBox="1"/>
          <p:nvPr>
            <p:ph idx="1" type="body"/>
          </p:nvPr>
        </p:nvSpPr>
        <p:spPr>
          <a:xfrm>
            <a:off x="320100" y="195600"/>
            <a:ext cx="8377500" cy="74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Alfa Slab One"/>
                <a:ea typeface="Alfa Slab One"/>
                <a:cs typeface="Alfa Slab One"/>
                <a:sym typeface="Alfa Slab One"/>
              </a:rPr>
              <a:t>Let’s say we have a question (called Q or feature) we want to consider as a feature split</a:t>
            </a:r>
            <a:r>
              <a:rPr lang="en" sz="1600"/>
              <a:t>. In the soccer example this could be “is it high humidity” or “is temp &gt; 80?”. </a:t>
            </a:r>
            <a:endParaRPr sz="1600"/>
          </a:p>
          <a:p>
            <a:pPr indent="457200" lvl="0" marL="0" rtl="0" algn="ctr">
              <a:lnSpc>
                <a:spcPct val="100000"/>
              </a:lnSpc>
              <a:spcBef>
                <a:spcPts val="1200"/>
              </a:spcBef>
              <a:spcAft>
                <a:spcPts val="1200"/>
              </a:spcAft>
              <a:buNone/>
            </a:pPr>
            <a:r>
              <a:t/>
            </a:r>
            <a:endParaRPr sz="1900">
              <a:latin typeface="Alfa Slab One"/>
              <a:ea typeface="Alfa Slab One"/>
              <a:cs typeface="Alfa Slab One"/>
              <a:sym typeface="Alfa Slab One"/>
            </a:endParaRPr>
          </a:p>
        </p:txBody>
      </p:sp>
      <p:sp>
        <p:nvSpPr>
          <p:cNvPr id="295" name="Google Shape;295;p42"/>
          <p:cNvSpPr txBox="1"/>
          <p:nvPr/>
        </p:nvSpPr>
        <p:spPr>
          <a:xfrm>
            <a:off x="318900" y="944700"/>
            <a:ext cx="8506200" cy="88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2"/>
                </a:solidFill>
                <a:latin typeface="Alfa Slab One"/>
                <a:ea typeface="Alfa Slab One"/>
                <a:cs typeface="Alfa Slab One"/>
                <a:sym typeface="Alfa Slab One"/>
              </a:rPr>
              <a:t>Step1</a:t>
            </a:r>
            <a:r>
              <a:rPr lang="en" sz="1600">
                <a:solidFill>
                  <a:schemeClr val="dk2"/>
                </a:solidFill>
                <a:latin typeface="Proxima Nova"/>
                <a:ea typeface="Proxima Nova"/>
                <a:cs typeface="Proxima Nova"/>
                <a:sym typeface="Proxima Nova"/>
              </a:rPr>
              <a:t>: Compute total uncertainty that exists in the data as-is using chosen measure:</a:t>
            </a:r>
            <a:endParaRPr sz="1600">
              <a:solidFill>
                <a:schemeClr val="dk2"/>
              </a:solidFill>
              <a:latin typeface="Proxima Nova"/>
              <a:ea typeface="Proxima Nova"/>
              <a:cs typeface="Proxima Nova"/>
              <a:sym typeface="Proxima Nova"/>
            </a:endParaRPr>
          </a:p>
          <a:p>
            <a:pPr indent="457200" lvl="0" marL="0" rtl="0" algn="ctr">
              <a:lnSpc>
                <a:spcPct val="115000"/>
              </a:lnSpc>
              <a:spcBef>
                <a:spcPts val="1200"/>
              </a:spcBef>
              <a:spcAft>
                <a:spcPts val="1200"/>
              </a:spcAft>
              <a:buNone/>
            </a:pPr>
            <a:r>
              <a:rPr lang="en" sz="1700">
                <a:solidFill>
                  <a:schemeClr val="dk2"/>
                </a:solidFill>
                <a:latin typeface="Alfa Slab One"/>
                <a:ea typeface="Alfa Slab One"/>
                <a:cs typeface="Alfa Slab One"/>
                <a:sym typeface="Alfa Slab One"/>
              </a:rPr>
              <a:t>Impurity </a:t>
            </a:r>
            <a:r>
              <a:rPr lang="en" sz="1200">
                <a:solidFill>
                  <a:schemeClr val="dk2"/>
                </a:solidFill>
                <a:latin typeface="Alfa Slab One"/>
                <a:ea typeface="Alfa Slab One"/>
                <a:cs typeface="Alfa Slab One"/>
                <a:sym typeface="Alfa Slab One"/>
              </a:rPr>
              <a:t>TOTAL</a:t>
            </a:r>
            <a:r>
              <a:rPr lang="en" sz="1700">
                <a:solidFill>
                  <a:schemeClr val="dk2"/>
                </a:solidFill>
                <a:latin typeface="Alfa Slab One"/>
                <a:ea typeface="Alfa Slab One"/>
                <a:cs typeface="Alfa Slab One"/>
                <a:sym typeface="Alfa Slab One"/>
              </a:rPr>
              <a:t> = P(</a:t>
            </a:r>
            <a:r>
              <a:rPr lang="en" sz="1200">
                <a:solidFill>
                  <a:schemeClr val="accent5"/>
                </a:solidFill>
                <a:latin typeface="Alfa Slab One"/>
                <a:ea typeface="Alfa Slab One"/>
                <a:cs typeface="Alfa Slab One"/>
                <a:sym typeface="Alfa Slab One"/>
              </a:rPr>
              <a:t>TARGET=YES</a:t>
            </a:r>
            <a:r>
              <a:rPr lang="en" sz="1700">
                <a:solidFill>
                  <a:schemeClr val="dk2"/>
                </a:solidFill>
                <a:latin typeface="Alfa Slab One"/>
                <a:ea typeface="Alfa Slab One"/>
                <a:cs typeface="Alfa Slab One"/>
                <a:sym typeface="Alfa Slab One"/>
              </a:rPr>
              <a:t>) * P(</a:t>
            </a:r>
            <a:r>
              <a:rPr lang="en" sz="1200">
                <a:solidFill>
                  <a:schemeClr val="accent4"/>
                </a:solidFill>
                <a:latin typeface="Alfa Slab One"/>
                <a:ea typeface="Alfa Slab One"/>
                <a:cs typeface="Alfa Slab One"/>
                <a:sym typeface="Alfa Slab One"/>
              </a:rPr>
              <a:t>TARGET=NO</a:t>
            </a:r>
            <a:r>
              <a:rPr lang="en" sz="1700">
                <a:solidFill>
                  <a:schemeClr val="dk2"/>
                </a:solidFill>
                <a:latin typeface="Alfa Slab One"/>
                <a:ea typeface="Alfa Slab One"/>
                <a:cs typeface="Alfa Slab One"/>
                <a:sym typeface="Alfa Slab One"/>
              </a:rPr>
              <a:t>) * 2</a:t>
            </a:r>
            <a:endParaRPr/>
          </a:p>
        </p:txBody>
      </p:sp>
      <p:sp>
        <p:nvSpPr>
          <p:cNvPr id="296" name="Google Shape;296;p42"/>
          <p:cNvSpPr txBox="1"/>
          <p:nvPr/>
        </p:nvSpPr>
        <p:spPr>
          <a:xfrm>
            <a:off x="293525" y="1828200"/>
            <a:ext cx="83775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Alfa Slab One"/>
                <a:ea typeface="Alfa Slab One"/>
                <a:cs typeface="Alfa Slab One"/>
                <a:sym typeface="Alfa Slab One"/>
              </a:rPr>
              <a:t>Step2</a:t>
            </a:r>
            <a:r>
              <a:rPr lang="en" sz="1600">
                <a:solidFill>
                  <a:schemeClr val="dk2"/>
                </a:solidFill>
                <a:latin typeface="Proxima Nova"/>
                <a:ea typeface="Proxima Nova"/>
                <a:cs typeface="Proxima Nova"/>
                <a:sym typeface="Proxima Nova"/>
              </a:rPr>
              <a:t>: Compute weighted average uncertainty for each feature question using chosen measure:</a:t>
            </a:r>
            <a:endParaRPr sz="1100">
              <a:solidFill>
                <a:schemeClr val="dk2"/>
              </a:solidFill>
              <a:latin typeface="Proxima Nova"/>
              <a:ea typeface="Proxima Nova"/>
              <a:cs typeface="Proxima Nova"/>
              <a:sym typeface="Proxima Nova"/>
            </a:endParaRPr>
          </a:p>
          <a:p>
            <a:pPr indent="457200" lvl="0" marL="0" rtl="0" algn="ctr">
              <a:spcBef>
                <a:spcPts val="1200"/>
              </a:spcBef>
              <a:spcAft>
                <a:spcPts val="0"/>
              </a:spcAft>
              <a:buNone/>
            </a:pPr>
            <a:r>
              <a:rPr lang="en" sz="1800">
                <a:solidFill>
                  <a:schemeClr val="dk2"/>
                </a:solidFill>
                <a:latin typeface="Proxima Nova"/>
                <a:ea typeface="Proxima Nova"/>
                <a:cs typeface="Proxima Nova"/>
                <a:sym typeface="Proxima Nova"/>
              </a:rPr>
              <a:t> </a:t>
            </a:r>
            <a:r>
              <a:rPr lang="en" sz="1700">
                <a:solidFill>
                  <a:schemeClr val="dk2"/>
                </a:solidFill>
                <a:latin typeface="Alfa Slab One"/>
                <a:ea typeface="Alfa Slab One"/>
                <a:cs typeface="Alfa Slab One"/>
                <a:sym typeface="Alfa Slab One"/>
              </a:rPr>
              <a:t>Impurity </a:t>
            </a:r>
            <a:r>
              <a:rPr lang="en" sz="1200">
                <a:solidFill>
                  <a:schemeClr val="dk2"/>
                </a:solidFill>
                <a:latin typeface="Alfa Slab One"/>
                <a:ea typeface="Alfa Slab One"/>
                <a:cs typeface="Alfa Slab One"/>
                <a:sym typeface="Alfa Slab One"/>
              </a:rPr>
              <a:t>Q</a:t>
            </a:r>
            <a:r>
              <a:rPr lang="en" sz="1700">
                <a:solidFill>
                  <a:schemeClr val="dk2"/>
                </a:solidFill>
                <a:latin typeface="Alfa Slab One"/>
                <a:ea typeface="Alfa Slab One"/>
                <a:cs typeface="Alfa Slab One"/>
                <a:sym typeface="Alfa Slab One"/>
              </a:rPr>
              <a:t> = P(</a:t>
            </a:r>
            <a:r>
              <a:rPr lang="en" sz="1200">
                <a:solidFill>
                  <a:schemeClr val="dk1"/>
                </a:solidFill>
                <a:latin typeface="Alfa Slab One"/>
                <a:ea typeface="Alfa Slab One"/>
                <a:cs typeface="Alfa Slab One"/>
                <a:sym typeface="Alfa Slab One"/>
              </a:rPr>
              <a:t>Q=YES</a:t>
            </a:r>
            <a:r>
              <a:rPr lang="en" sz="1700">
                <a:solidFill>
                  <a:schemeClr val="dk2"/>
                </a:solidFill>
                <a:latin typeface="Alfa Slab One"/>
                <a:ea typeface="Alfa Slab One"/>
                <a:cs typeface="Alfa Slab One"/>
                <a:sym typeface="Alfa Slab One"/>
              </a:rPr>
              <a:t>)*</a:t>
            </a:r>
            <a:r>
              <a:rPr lang="en" sz="1800">
                <a:solidFill>
                  <a:schemeClr val="dk2"/>
                </a:solidFill>
                <a:latin typeface="Alfa Slab One"/>
                <a:ea typeface="Alfa Slab One"/>
                <a:cs typeface="Alfa Slab One"/>
                <a:sym typeface="Alfa Slab One"/>
              </a:rPr>
              <a:t> </a:t>
            </a:r>
            <a:r>
              <a:rPr lang="en" sz="1700">
                <a:solidFill>
                  <a:schemeClr val="dk2"/>
                </a:solidFill>
                <a:latin typeface="Alfa Slab One"/>
                <a:ea typeface="Alfa Slab One"/>
                <a:cs typeface="Alfa Slab One"/>
                <a:sym typeface="Alfa Slab One"/>
              </a:rPr>
              <a:t>Impurity </a:t>
            </a:r>
            <a:r>
              <a:rPr lang="en" sz="1200">
                <a:solidFill>
                  <a:schemeClr val="dk1"/>
                </a:solidFill>
                <a:latin typeface="Alfa Slab One"/>
                <a:ea typeface="Alfa Slab One"/>
                <a:cs typeface="Alfa Slab One"/>
                <a:sym typeface="Alfa Slab One"/>
              </a:rPr>
              <a:t>Q=YES</a:t>
            </a:r>
            <a:r>
              <a:rPr lang="en" sz="1800">
                <a:solidFill>
                  <a:schemeClr val="dk2"/>
                </a:solidFill>
                <a:latin typeface="Alfa Slab One"/>
                <a:ea typeface="Alfa Slab One"/>
                <a:cs typeface="Alfa Slab One"/>
                <a:sym typeface="Alfa Slab One"/>
              </a:rPr>
              <a:t> + </a:t>
            </a:r>
            <a:r>
              <a:rPr lang="en" sz="1700">
                <a:solidFill>
                  <a:schemeClr val="dk2"/>
                </a:solidFill>
                <a:latin typeface="Alfa Slab One"/>
                <a:ea typeface="Alfa Slab One"/>
                <a:cs typeface="Alfa Slab One"/>
                <a:sym typeface="Alfa Slab One"/>
              </a:rPr>
              <a:t>P(</a:t>
            </a:r>
            <a:r>
              <a:rPr lang="en" sz="1200">
                <a:solidFill>
                  <a:schemeClr val="accent3"/>
                </a:solidFill>
                <a:latin typeface="Alfa Slab One"/>
                <a:ea typeface="Alfa Slab One"/>
                <a:cs typeface="Alfa Slab One"/>
                <a:sym typeface="Alfa Slab One"/>
              </a:rPr>
              <a:t>Q=NO</a:t>
            </a:r>
            <a:r>
              <a:rPr lang="en" sz="1700">
                <a:solidFill>
                  <a:schemeClr val="dk2"/>
                </a:solidFill>
                <a:latin typeface="Alfa Slab One"/>
                <a:ea typeface="Alfa Slab One"/>
                <a:cs typeface="Alfa Slab One"/>
                <a:sym typeface="Alfa Slab One"/>
              </a:rPr>
              <a:t>)*</a:t>
            </a:r>
            <a:r>
              <a:rPr lang="en" sz="1800">
                <a:solidFill>
                  <a:schemeClr val="dk2"/>
                </a:solidFill>
                <a:latin typeface="Alfa Slab One"/>
                <a:ea typeface="Alfa Slab One"/>
                <a:cs typeface="Alfa Slab One"/>
                <a:sym typeface="Alfa Slab One"/>
              </a:rPr>
              <a:t> </a:t>
            </a:r>
            <a:r>
              <a:rPr lang="en" sz="1700">
                <a:solidFill>
                  <a:schemeClr val="dk2"/>
                </a:solidFill>
                <a:latin typeface="Alfa Slab One"/>
                <a:ea typeface="Alfa Slab One"/>
                <a:cs typeface="Alfa Slab One"/>
                <a:sym typeface="Alfa Slab One"/>
              </a:rPr>
              <a:t>Impurity </a:t>
            </a:r>
            <a:r>
              <a:rPr lang="en" sz="1200">
                <a:solidFill>
                  <a:schemeClr val="accent3"/>
                </a:solidFill>
                <a:latin typeface="Alfa Slab One"/>
                <a:ea typeface="Alfa Slab One"/>
                <a:cs typeface="Alfa Slab One"/>
                <a:sym typeface="Alfa Slab One"/>
              </a:rPr>
              <a:t>Q=NO</a:t>
            </a:r>
            <a:endParaRPr sz="1200">
              <a:solidFill>
                <a:schemeClr val="accent3"/>
              </a:solidFill>
              <a:latin typeface="Alfa Slab One"/>
              <a:ea typeface="Alfa Slab One"/>
              <a:cs typeface="Alfa Slab One"/>
              <a:sym typeface="Alfa Slab One"/>
            </a:endParaRPr>
          </a:p>
          <a:p>
            <a:pPr indent="457200" lvl="0" marL="0" rtl="0" algn="ctr">
              <a:spcBef>
                <a:spcPts val="1200"/>
              </a:spcBef>
              <a:spcAft>
                <a:spcPts val="0"/>
              </a:spcAft>
              <a:buNone/>
            </a:pPr>
            <a:r>
              <a:rPr lang="en" sz="1500">
                <a:solidFill>
                  <a:schemeClr val="dk2"/>
                </a:solidFill>
                <a:latin typeface="Proxima Nova"/>
                <a:ea typeface="Proxima Nova"/>
                <a:cs typeface="Proxima Nova"/>
                <a:sym typeface="Proxima Nova"/>
              </a:rPr>
              <a:t>where </a:t>
            </a:r>
            <a:r>
              <a:rPr lang="en" sz="9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Impurity </a:t>
            </a:r>
            <a:r>
              <a:rPr lang="en" sz="900">
                <a:solidFill>
                  <a:schemeClr val="dk1"/>
                </a:solidFill>
                <a:latin typeface="Proxima Nova"/>
                <a:ea typeface="Proxima Nova"/>
                <a:cs typeface="Proxima Nova"/>
                <a:sym typeface="Proxima Nova"/>
              </a:rPr>
              <a:t>Q=YES</a:t>
            </a:r>
            <a:r>
              <a:rPr lang="en" sz="900">
                <a:solidFill>
                  <a:schemeClr val="dk2"/>
                </a:solidFill>
                <a:latin typeface="Proxima Nova"/>
                <a:ea typeface="Proxima Nova"/>
                <a:cs typeface="Proxima Nova"/>
                <a:sym typeface="Proxima Nova"/>
              </a:rPr>
              <a:t>  </a:t>
            </a:r>
            <a:r>
              <a:rPr lang="en" sz="15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P(</a:t>
            </a:r>
            <a:r>
              <a:rPr lang="en" sz="900">
                <a:solidFill>
                  <a:schemeClr val="accent5"/>
                </a:solidFill>
                <a:latin typeface="Proxima Nova"/>
                <a:ea typeface="Proxima Nova"/>
                <a:cs typeface="Proxima Nova"/>
                <a:sym typeface="Proxima Nova"/>
              </a:rPr>
              <a:t>TARGET=YES</a:t>
            </a:r>
            <a:r>
              <a:rPr lang="en" sz="900">
                <a:solidFill>
                  <a:schemeClr val="dk2"/>
                </a:solidFill>
                <a:latin typeface="Proxima Nova"/>
                <a:ea typeface="Proxima Nova"/>
                <a:cs typeface="Proxima Nova"/>
                <a:sym typeface="Proxima Nova"/>
              </a:rPr>
              <a:t> &amp; </a:t>
            </a:r>
            <a:r>
              <a:rPr lang="en" sz="900">
                <a:solidFill>
                  <a:schemeClr val="dk1"/>
                </a:solidFill>
                <a:latin typeface="Proxima Nova"/>
                <a:ea typeface="Proxima Nova"/>
                <a:cs typeface="Proxima Nova"/>
                <a:sym typeface="Proxima Nova"/>
              </a:rPr>
              <a:t>Q=YES</a:t>
            </a:r>
            <a:r>
              <a:rPr lang="en" sz="9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 * P(</a:t>
            </a:r>
            <a:r>
              <a:rPr lang="en" sz="900">
                <a:solidFill>
                  <a:schemeClr val="accent4"/>
                </a:solidFill>
                <a:latin typeface="Proxima Nova"/>
                <a:ea typeface="Proxima Nova"/>
                <a:cs typeface="Proxima Nova"/>
                <a:sym typeface="Proxima Nova"/>
              </a:rPr>
              <a:t>TARGET=NO</a:t>
            </a:r>
            <a:r>
              <a:rPr lang="en" sz="900">
                <a:solidFill>
                  <a:schemeClr val="dk2"/>
                </a:solidFill>
                <a:latin typeface="Proxima Nova"/>
                <a:ea typeface="Proxima Nova"/>
                <a:cs typeface="Proxima Nova"/>
                <a:sym typeface="Proxima Nova"/>
              </a:rPr>
              <a:t> &amp; </a:t>
            </a:r>
            <a:r>
              <a:rPr lang="en" sz="900">
                <a:solidFill>
                  <a:schemeClr val="dk1"/>
                </a:solidFill>
                <a:latin typeface="Proxima Nova"/>
                <a:ea typeface="Proxima Nova"/>
                <a:cs typeface="Proxima Nova"/>
                <a:sym typeface="Proxima Nova"/>
              </a:rPr>
              <a:t>Q=YES</a:t>
            </a:r>
            <a:r>
              <a:rPr lang="en">
                <a:solidFill>
                  <a:schemeClr val="dk2"/>
                </a:solidFill>
                <a:latin typeface="Proxima Nova"/>
                <a:ea typeface="Proxima Nova"/>
                <a:cs typeface="Proxima Nova"/>
                <a:sym typeface="Proxima Nova"/>
              </a:rPr>
              <a:t>) * 2      </a:t>
            </a:r>
            <a:r>
              <a:rPr lang="en">
                <a:solidFill>
                  <a:schemeClr val="lt1"/>
                </a:solidFill>
                <a:latin typeface="Proxima Nova"/>
                <a:ea typeface="Proxima Nova"/>
                <a:cs typeface="Proxima Nova"/>
                <a:sym typeface="Proxima Nova"/>
              </a:rPr>
              <a:t> .</a:t>
            </a:r>
            <a:endParaRPr>
              <a:solidFill>
                <a:schemeClr val="lt1"/>
              </a:solidFill>
              <a:latin typeface="Proxima Nova"/>
              <a:ea typeface="Proxima Nova"/>
              <a:cs typeface="Proxima Nova"/>
              <a:sym typeface="Proxima Nova"/>
            </a:endParaRPr>
          </a:p>
          <a:p>
            <a:pPr indent="457200" lvl="0" marL="0" rtl="0" algn="ctr">
              <a:spcBef>
                <a:spcPts val="1200"/>
              </a:spcBef>
              <a:spcAft>
                <a:spcPts val="1200"/>
              </a:spcAft>
              <a:buNone/>
            </a:pPr>
            <a:r>
              <a:rPr lang="en">
                <a:solidFill>
                  <a:schemeClr val="dk2"/>
                </a:solidFill>
                <a:latin typeface="Proxima Nova"/>
                <a:ea typeface="Proxima Nova"/>
                <a:cs typeface="Proxima Nova"/>
                <a:sym typeface="Proxima Nova"/>
              </a:rPr>
              <a:t>   and     Impurity </a:t>
            </a:r>
            <a:r>
              <a:rPr lang="en" sz="900">
                <a:solidFill>
                  <a:schemeClr val="accent3"/>
                </a:solidFill>
                <a:latin typeface="Proxima Nova"/>
                <a:ea typeface="Proxima Nova"/>
                <a:cs typeface="Proxima Nova"/>
                <a:sym typeface="Proxima Nova"/>
              </a:rPr>
              <a:t>Q=NO</a:t>
            </a:r>
            <a:r>
              <a:rPr lang="en" sz="900">
                <a:solidFill>
                  <a:schemeClr val="dk2"/>
                </a:solidFill>
                <a:latin typeface="Proxima Nova"/>
                <a:ea typeface="Proxima Nova"/>
                <a:cs typeface="Proxima Nova"/>
                <a:sym typeface="Proxima Nova"/>
              </a:rPr>
              <a:t>   </a:t>
            </a:r>
            <a:r>
              <a:rPr lang="en" sz="15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P(</a:t>
            </a:r>
            <a:r>
              <a:rPr lang="en" sz="900">
                <a:solidFill>
                  <a:schemeClr val="accent5"/>
                </a:solidFill>
                <a:latin typeface="Proxima Nova"/>
                <a:ea typeface="Proxima Nova"/>
                <a:cs typeface="Proxima Nova"/>
                <a:sym typeface="Proxima Nova"/>
              </a:rPr>
              <a:t>TARGET=YES </a:t>
            </a:r>
            <a:r>
              <a:rPr lang="en" sz="900">
                <a:solidFill>
                  <a:schemeClr val="dk2"/>
                </a:solidFill>
                <a:latin typeface="Proxima Nova"/>
                <a:ea typeface="Proxima Nova"/>
                <a:cs typeface="Proxima Nova"/>
                <a:sym typeface="Proxima Nova"/>
              </a:rPr>
              <a:t>&amp; </a:t>
            </a:r>
            <a:r>
              <a:rPr lang="en" sz="900">
                <a:solidFill>
                  <a:schemeClr val="accent3"/>
                </a:solidFill>
                <a:latin typeface="Proxima Nova"/>
                <a:ea typeface="Proxima Nova"/>
                <a:cs typeface="Proxima Nova"/>
                <a:sym typeface="Proxima Nova"/>
              </a:rPr>
              <a:t>Q=NO</a:t>
            </a:r>
            <a:r>
              <a:rPr lang="en" sz="9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  *  P(</a:t>
            </a:r>
            <a:r>
              <a:rPr lang="en" sz="900">
                <a:solidFill>
                  <a:schemeClr val="accent4"/>
                </a:solidFill>
                <a:latin typeface="Proxima Nova"/>
                <a:ea typeface="Proxima Nova"/>
                <a:cs typeface="Proxima Nova"/>
                <a:sym typeface="Proxima Nova"/>
              </a:rPr>
              <a:t>TARGET=NO </a:t>
            </a:r>
            <a:r>
              <a:rPr lang="en" sz="900">
                <a:solidFill>
                  <a:schemeClr val="dk2"/>
                </a:solidFill>
                <a:latin typeface="Proxima Nova"/>
                <a:ea typeface="Proxima Nova"/>
                <a:cs typeface="Proxima Nova"/>
                <a:sym typeface="Proxima Nova"/>
              </a:rPr>
              <a:t>&amp; </a:t>
            </a:r>
            <a:r>
              <a:rPr lang="en" sz="900">
                <a:solidFill>
                  <a:schemeClr val="accent3"/>
                </a:solidFill>
                <a:latin typeface="Proxima Nova"/>
                <a:ea typeface="Proxima Nova"/>
                <a:cs typeface="Proxima Nova"/>
                <a:sym typeface="Proxima Nova"/>
              </a:rPr>
              <a:t>Q=NO</a:t>
            </a:r>
            <a:r>
              <a:rPr lang="en">
                <a:solidFill>
                  <a:schemeClr val="dk2"/>
                </a:solidFill>
                <a:latin typeface="Proxima Nova"/>
                <a:ea typeface="Proxima Nova"/>
                <a:cs typeface="Proxima Nova"/>
                <a:sym typeface="Proxima Nova"/>
              </a:rPr>
              <a:t>) * 2   </a:t>
            </a:r>
            <a:r>
              <a:rPr lang="en" sz="1500">
                <a:solidFill>
                  <a:schemeClr val="dk2"/>
                </a:solidFill>
                <a:latin typeface="Proxima Nova"/>
                <a:ea typeface="Proxima Nova"/>
                <a:cs typeface="Proxima Nova"/>
                <a:sym typeface="Proxima Nova"/>
              </a:rPr>
              <a:t>  </a:t>
            </a:r>
            <a:r>
              <a:rPr lang="en" sz="1300">
                <a:solidFill>
                  <a:schemeClr val="dk2"/>
                </a:solidFill>
                <a:latin typeface="Proxima Nova"/>
                <a:ea typeface="Proxima Nova"/>
                <a:cs typeface="Proxima Nova"/>
                <a:sym typeface="Proxima Nova"/>
              </a:rPr>
              <a:t>  </a:t>
            </a:r>
            <a:r>
              <a:rPr lang="en" sz="1300">
                <a:solidFill>
                  <a:schemeClr val="lt1"/>
                </a:solidFill>
                <a:latin typeface="Proxima Nova"/>
                <a:ea typeface="Proxima Nova"/>
                <a:cs typeface="Proxima Nova"/>
                <a:sym typeface="Proxima Nova"/>
              </a:rPr>
              <a:t> .</a:t>
            </a:r>
            <a:endParaRPr/>
          </a:p>
        </p:txBody>
      </p:sp>
      <p:sp>
        <p:nvSpPr>
          <p:cNvPr id="297" name="Google Shape;297;p42"/>
          <p:cNvSpPr txBox="1"/>
          <p:nvPr/>
        </p:nvSpPr>
        <p:spPr>
          <a:xfrm>
            <a:off x="358475" y="3705900"/>
            <a:ext cx="8035500" cy="112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Alfa Slab One"/>
                <a:ea typeface="Alfa Slab One"/>
                <a:cs typeface="Alfa Slab One"/>
                <a:sym typeface="Alfa Slab One"/>
              </a:rPr>
              <a:t>Step3</a:t>
            </a:r>
            <a:r>
              <a:rPr lang="en" sz="1600">
                <a:solidFill>
                  <a:schemeClr val="dk2"/>
                </a:solidFill>
                <a:latin typeface="Proxima Nova"/>
                <a:ea typeface="Proxima Nova"/>
                <a:cs typeface="Proxima Nova"/>
                <a:sym typeface="Proxima Nova"/>
              </a:rPr>
              <a:t>: the step 2 uncertainty that decreases step 1 uncertainty the most is the feature question that splits the data!</a:t>
            </a:r>
            <a:endParaRPr sz="1600">
              <a:solidFill>
                <a:schemeClr val="dk2"/>
              </a:solidFill>
              <a:latin typeface="Proxima Nova"/>
              <a:ea typeface="Proxima Nova"/>
              <a:cs typeface="Proxima Nova"/>
              <a:sym typeface="Proxima Nova"/>
            </a:endParaRPr>
          </a:p>
          <a:p>
            <a:pPr indent="457200" lvl="0" marL="0" rtl="0" algn="ctr">
              <a:spcBef>
                <a:spcPts val="1200"/>
              </a:spcBef>
              <a:spcAft>
                <a:spcPts val="1200"/>
              </a:spcAft>
              <a:buNone/>
            </a:pPr>
            <a:r>
              <a:rPr lang="en" sz="1900">
                <a:solidFill>
                  <a:schemeClr val="dk2"/>
                </a:solidFill>
                <a:latin typeface="Alfa Slab One"/>
                <a:ea typeface="Alfa Slab One"/>
                <a:cs typeface="Alfa Slab One"/>
                <a:sym typeface="Alfa Slab One"/>
              </a:rPr>
              <a:t>max(</a:t>
            </a:r>
            <a:r>
              <a:rPr lang="en" sz="1700">
                <a:solidFill>
                  <a:schemeClr val="dk2"/>
                </a:solidFill>
                <a:latin typeface="Alfa Slab One"/>
                <a:ea typeface="Alfa Slab One"/>
                <a:cs typeface="Alfa Slab One"/>
                <a:sym typeface="Alfa Slab One"/>
              </a:rPr>
              <a:t> Impurity </a:t>
            </a:r>
            <a:r>
              <a:rPr lang="en" sz="1200">
                <a:solidFill>
                  <a:schemeClr val="dk2"/>
                </a:solidFill>
                <a:latin typeface="Alfa Slab One"/>
                <a:ea typeface="Alfa Slab One"/>
                <a:cs typeface="Alfa Slab One"/>
                <a:sym typeface="Alfa Slab One"/>
              </a:rPr>
              <a:t>TOTAL </a:t>
            </a:r>
            <a:r>
              <a:rPr lang="en" sz="1700">
                <a:solidFill>
                  <a:schemeClr val="dk2"/>
                </a:solidFill>
                <a:latin typeface="Alfa Slab One"/>
                <a:ea typeface="Alfa Slab One"/>
                <a:cs typeface="Alfa Slab One"/>
                <a:sym typeface="Alfa Slab One"/>
              </a:rPr>
              <a:t>- Impurity </a:t>
            </a:r>
            <a:r>
              <a:rPr lang="en" sz="1200">
                <a:solidFill>
                  <a:schemeClr val="dk2"/>
                </a:solidFill>
                <a:latin typeface="Alfa Slab One"/>
                <a:ea typeface="Alfa Slab One"/>
                <a:cs typeface="Alfa Slab One"/>
                <a:sym typeface="Alfa Slab One"/>
              </a:rPr>
              <a:t>Q</a:t>
            </a:r>
            <a:r>
              <a:rPr lang="en" sz="1700">
                <a:solidFill>
                  <a:schemeClr val="dk2"/>
                </a:solidFill>
                <a:latin typeface="Alfa Slab One"/>
                <a:ea typeface="Alfa Slab One"/>
                <a:cs typeface="Alfa Slab One"/>
                <a:sym typeface="Alfa Slab One"/>
              </a:rPr>
              <a:t> </a:t>
            </a:r>
            <a:r>
              <a:rPr lang="en" sz="1900">
                <a:solidFill>
                  <a:schemeClr val="dk2"/>
                </a:solidFill>
                <a:latin typeface="Alfa Slab One"/>
                <a:ea typeface="Alfa Slab One"/>
                <a:cs typeface="Alfa Slab One"/>
                <a:sym typeface="Alfa Slab One"/>
              </a:rPr>
              <a:t>)</a:t>
            </a:r>
            <a:endParaRPr/>
          </a:p>
        </p:txBody>
      </p:sp>
      <p:sp>
        <p:nvSpPr>
          <p:cNvPr id="298" name="Google Shape;298;p42"/>
          <p:cNvSpPr txBox="1"/>
          <p:nvPr/>
        </p:nvSpPr>
        <p:spPr>
          <a:xfrm>
            <a:off x="3995225" y="4212775"/>
            <a:ext cx="762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000">
                <a:solidFill>
                  <a:schemeClr val="dk2"/>
                </a:solidFill>
                <a:latin typeface="Alfa Slab One"/>
                <a:ea typeface="Alfa Slab One"/>
                <a:cs typeface="Alfa Slab One"/>
                <a:sym typeface="Alfa Slab One"/>
              </a:rPr>
              <a:t>Step 1</a:t>
            </a:r>
            <a:endParaRPr sz="800"/>
          </a:p>
        </p:txBody>
      </p:sp>
      <p:sp>
        <p:nvSpPr>
          <p:cNvPr id="299" name="Google Shape;299;p42"/>
          <p:cNvSpPr txBox="1"/>
          <p:nvPr/>
        </p:nvSpPr>
        <p:spPr>
          <a:xfrm>
            <a:off x="5408150" y="4212775"/>
            <a:ext cx="762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000">
                <a:solidFill>
                  <a:schemeClr val="dk2"/>
                </a:solidFill>
                <a:latin typeface="Alfa Slab One"/>
                <a:ea typeface="Alfa Slab One"/>
                <a:cs typeface="Alfa Slab One"/>
                <a:sym typeface="Alfa Slab One"/>
              </a:rPr>
              <a:t>Step 2</a:t>
            </a:r>
            <a:endParaRPr sz="800"/>
          </a:p>
        </p:txBody>
      </p:sp>
      <p:sp>
        <p:nvSpPr>
          <p:cNvPr id="300" name="Google Shape;300;p42"/>
          <p:cNvSpPr/>
          <p:nvPr/>
        </p:nvSpPr>
        <p:spPr>
          <a:xfrm>
            <a:off x="6514300" y="4030650"/>
            <a:ext cx="1495950" cy="966525"/>
          </a:xfrm>
          <a:custGeom>
            <a:rect b="b" l="l" r="r" t="t"/>
            <a:pathLst>
              <a:path extrusionOk="0" h="38661" w="59838">
                <a:moveTo>
                  <a:pt x="48102" y="0"/>
                </a:moveTo>
                <a:cubicBezTo>
                  <a:pt x="50034" y="2801"/>
                  <a:pt x="60852" y="11012"/>
                  <a:pt x="59693" y="16807"/>
                </a:cubicBezTo>
                <a:cubicBezTo>
                  <a:pt x="58534" y="22603"/>
                  <a:pt x="49358" y="31199"/>
                  <a:pt x="41148" y="34773"/>
                </a:cubicBezTo>
                <a:cubicBezTo>
                  <a:pt x="32938" y="38347"/>
                  <a:pt x="17290" y="39023"/>
                  <a:pt x="10432" y="38250"/>
                </a:cubicBezTo>
                <a:cubicBezTo>
                  <a:pt x="3574" y="37477"/>
                  <a:pt x="1739" y="31488"/>
                  <a:pt x="0" y="30136"/>
                </a:cubicBezTo>
              </a:path>
            </a:pathLst>
          </a:custGeom>
          <a:noFill/>
          <a:ln cap="flat" cmpd="sng" w="9525">
            <a:solidFill>
              <a:schemeClr val="accent3"/>
            </a:solidFill>
            <a:prstDash val="solid"/>
            <a:round/>
            <a:headEnd len="med" w="med" type="none"/>
            <a:tailEnd len="med" w="med" type="stealth"/>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43"/>
          <p:cNvPicPr preferRelativeResize="0"/>
          <p:nvPr/>
        </p:nvPicPr>
        <p:blipFill rotWithShape="1">
          <a:blip r:embed="rId3">
            <a:alphaModFix/>
          </a:blip>
          <a:srcRect b="92350" l="0" r="0" t="0"/>
          <a:stretch/>
        </p:blipFill>
        <p:spPr>
          <a:xfrm>
            <a:off x="1187475" y="301375"/>
            <a:ext cx="6574249" cy="370149"/>
          </a:xfrm>
          <a:prstGeom prst="rect">
            <a:avLst/>
          </a:prstGeom>
          <a:noFill/>
          <a:ln>
            <a:noFill/>
          </a:ln>
        </p:spPr>
      </p:pic>
      <p:sp>
        <p:nvSpPr>
          <p:cNvPr id="306" name="Google Shape;306;p43"/>
          <p:cNvSpPr txBox="1"/>
          <p:nvPr/>
        </p:nvSpPr>
        <p:spPr>
          <a:xfrm>
            <a:off x="958875" y="652250"/>
            <a:ext cx="6906000" cy="1025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200"/>
              </a:spcAft>
              <a:buNone/>
            </a:pPr>
            <a:r>
              <a:rPr lang="en">
                <a:solidFill>
                  <a:schemeClr val="dk2"/>
                </a:solidFill>
                <a:latin typeface="Proxima Nova"/>
                <a:ea typeface="Proxima Nova"/>
                <a:cs typeface="Proxima Nova"/>
                <a:sym typeface="Proxima Nova"/>
              </a:rPr>
              <a:t>Impurity </a:t>
            </a:r>
            <a:r>
              <a:rPr lang="en" sz="900">
                <a:solidFill>
                  <a:schemeClr val="dk1"/>
                </a:solidFill>
                <a:latin typeface="Proxima Nova"/>
                <a:ea typeface="Proxima Nova"/>
                <a:cs typeface="Proxima Nova"/>
                <a:sym typeface="Proxima Nova"/>
              </a:rPr>
              <a:t>Q=YES</a:t>
            </a:r>
            <a:r>
              <a:rPr lang="en" sz="900">
                <a:solidFill>
                  <a:schemeClr val="dk2"/>
                </a:solidFill>
                <a:latin typeface="Proxima Nova"/>
                <a:ea typeface="Proxima Nova"/>
                <a:cs typeface="Proxima Nova"/>
                <a:sym typeface="Proxima Nova"/>
              </a:rPr>
              <a:t>         </a:t>
            </a:r>
            <a:r>
              <a:rPr lang="en" sz="15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P(</a:t>
            </a:r>
            <a:r>
              <a:rPr lang="en" sz="900">
                <a:solidFill>
                  <a:schemeClr val="accent5"/>
                </a:solidFill>
                <a:latin typeface="Proxima Nova"/>
                <a:ea typeface="Proxima Nova"/>
                <a:cs typeface="Proxima Nova"/>
                <a:sym typeface="Proxima Nova"/>
              </a:rPr>
              <a:t>TARGET=YES</a:t>
            </a:r>
            <a:r>
              <a:rPr lang="en" sz="900">
                <a:solidFill>
                  <a:schemeClr val="dk2"/>
                </a:solidFill>
                <a:latin typeface="Proxima Nova"/>
                <a:ea typeface="Proxima Nova"/>
                <a:cs typeface="Proxima Nova"/>
                <a:sym typeface="Proxima Nova"/>
              </a:rPr>
              <a:t> &amp; </a:t>
            </a:r>
            <a:r>
              <a:rPr lang="en" sz="900">
                <a:solidFill>
                  <a:schemeClr val="dk1"/>
                </a:solidFill>
                <a:latin typeface="Proxima Nova"/>
                <a:ea typeface="Proxima Nova"/>
                <a:cs typeface="Proxima Nova"/>
                <a:sym typeface="Proxima Nova"/>
              </a:rPr>
              <a:t>Q=YES</a:t>
            </a:r>
            <a:r>
              <a:rPr lang="en" sz="9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    * P(</a:t>
            </a:r>
            <a:r>
              <a:rPr lang="en" sz="900">
                <a:solidFill>
                  <a:schemeClr val="accent4"/>
                </a:solidFill>
                <a:latin typeface="Proxima Nova"/>
                <a:ea typeface="Proxima Nova"/>
                <a:cs typeface="Proxima Nova"/>
                <a:sym typeface="Proxima Nova"/>
              </a:rPr>
              <a:t>TARGET=NO</a:t>
            </a:r>
            <a:r>
              <a:rPr lang="en" sz="900">
                <a:solidFill>
                  <a:schemeClr val="dk2"/>
                </a:solidFill>
                <a:latin typeface="Proxima Nova"/>
                <a:ea typeface="Proxima Nova"/>
                <a:cs typeface="Proxima Nova"/>
                <a:sym typeface="Proxima Nova"/>
              </a:rPr>
              <a:t> &amp; </a:t>
            </a:r>
            <a:r>
              <a:rPr lang="en" sz="900">
                <a:solidFill>
                  <a:schemeClr val="dk1"/>
                </a:solidFill>
                <a:latin typeface="Proxima Nova"/>
                <a:ea typeface="Proxima Nova"/>
                <a:cs typeface="Proxima Nova"/>
                <a:sym typeface="Proxima Nova"/>
              </a:rPr>
              <a:t>Q=YES</a:t>
            </a:r>
            <a:r>
              <a:rPr lang="en">
                <a:solidFill>
                  <a:schemeClr val="dk2"/>
                </a:solidFill>
                <a:latin typeface="Proxima Nova"/>
                <a:ea typeface="Proxima Nova"/>
                <a:cs typeface="Proxima Nova"/>
                <a:sym typeface="Proxima Nova"/>
              </a:rPr>
              <a:t>) 	      * 2  </a:t>
            </a:r>
            <a:endParaRPr>
              <a:solidFill>
                <a:schemeClr val="dk2"/>
              </a:solidFill>
              <a:latin typeface="Proxima Nova"/>
              <a:ea typeface="Proxima Nova"/>
              <a:cs typeface="Proxima Nova"/>
              <a:sym typeface="Proxima Nova"/>
            </a:endParaRPr>
          </a:p>
        </p:txBody>
      </p:sp>
      <p:sp>
        <p:nvSpPr>
          <p:cNvPr id="307" name="Google Shape;307;p43"/>
          <p:cNvSpPr txBox="1"/>
          <p:nvPr/>
        </p:nvSpPr>
        <p:spPr>
          <a:xfrm>
            <a:off x="6006400" y="202325"/>
            <a:ext cx="151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a:solidFill>
                  <a:schemeClr val="dk1"/>
                </a:solidFill>
              </a:rPr>
              <a:t>Q: is it raining?</a:t>
            </a:r>
            <a:endParaRPr/>
          </a:p>
        </p:txBody>
      </p:sp>
      <p:sp>
        <p:nvSpPr>
          <p:cNvPr id="308" name="Google Shape;308;p43"/>
          <p:cNvSpPr txBox="1"/>
          <p:nvPr/>
        </p:nvSpPr>
        <p:spPr>
          <a:xfrm>
            <a:off x="958875" y="957050"/>
            <a:ext cx="6906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b="1" lang="en">
                <a:solidFill>
                  <a:schemeClr val="dk2"/>
                </a:solidFill>
                <a:latin typeface="Proxima Nova"/>
                <a:ea typeface="Proxima Nova"/>
                <a:cs typeface="Proxima Nova"/>
                <a:sym typeface="Proxima Nova"/>
              </a:rPr>
              <a:t>Impurity </a:t>
            </a:r>
            <a:r>
              <a:rPr b="1" lang="en" sz="900">
                <a:solidFill>
                  <a:schemeClr val="dk1"/>
                </a:solidFill>
                <a:latin typeface="Proxima Nova"/>
                <a:ea typeface="Proxima Nova"/>
                <a:cs typeface="Proxima Nova"/>
                <a:sym typeface="Proxima Nova"/>
              </a:rPr>
              <a:t>is raining</a:t>
            </a:r>
            <a:r>
              <a:rPr b="1" lang="en" sz="900">
                <a:solidFill>
                  <a:schemeClr val="dk2"/>
                </a:solidFill>
                <a:latin typeface="Proxima Nova"/>
                <a:ea typeface="Proxima Nova"/>
                <a:cs typeface="Proxima Nova"/>
                <a:sym typeface="Proxima Nova"/>
              </a:rPr>
              <a:t> </a:t>
            </a:r>
            <a:r>
              <a:rPr lang="en" sz="900">
                <a:solidFill>
                  <a:schemeClr val="dk2"/>
                </a:solidFill>
                <a:latin typeface="Proxima Nova"/>
                <a:ea typeface="Proxima Nova"/>
                <a:cs typeface="Proxima Nova"/>
                <a:sym typeface="Proxima Nova"/>
              </a:rPr>
              <a:t>     </a:t>
            </a:r>
            <a:r>
              <a:rPr lang="en" sz="15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P(</a:t>
            </a:r>
            <a:r>
              <a:rPr lang="en" sz="900">
                <a:solidFill>
                  <a:schemeClr val="accent5"/>
                </a:solidFill>
                <a:latin typeface="Proxima Nova"/>
                <a:ea typeface="Proxima Nova"/>
                <a:cs typeface="Proxima Nova"/>
                <a:sym typeface="Proxima Nova"/>
              </a:rPr>
              <a:t>game played</a:t>
            </a:r>
            <a:r>
              <a:rPr lang="en" sz="900">
                <a:solidFill>
                  <a:schemeClr val="dk2"/>
                </a:solidFill>
                <a:latin typeface="Proxima Nova"/>
                <a:ea typeface="Proxima Nova"/>
                <a:cs typeface="Proxima Nova"/>
                <a:sym typeface="Proxima Nova"/>
              </a:rPr>
              <a:t> &amp; </a:t>
            </a:r>
            <a:r>
              <a:rPr b="1" lang="en" sz="900">
                <a:solidFill>
                  <a:schemeClr val="dk1"/>
                </a:solidFill>
                <a:latin typeface="Proxima Nova"/>
                <a:ea typeface="Proxima Nova"/>
                <a:cs typeface="Proxima Nova"/>
                <a:sym typeface="Proxima Nova"/>
              </a:rPr>
              <a:t>is raining</a:t>
            </a:r>
            <a:r>
              <a:rPr lang="en" sz="9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  * P(</a:t>
            </a:r>
            <a:r>
              <a:rPr lang="en" sz="900">
                <a:solidFill>
                  <a:schemeClr val="accent4"/>
                </a:solidFill>
                <a:latin typeface="Proxima Nova"/>
                <a:ea typeface="Proxima Nova"/>
                <a:cs typeface="Proxima Nova"/>
                <a:sym typeface="Proxima Nova"/>
              </a:rPr>
              <a:t>no game played</a:t>
            </a:r>
            <a:r>
              <a:rPr lang="en" sz="900">
                <a:solidFill>
                  <a:schemeClr val="dk2"/>
                </a:solidFill>
                <a:latin typeface="Proxima Nova"/>
                <a:ea typeface="Proxima Nova"/>
                <a:cs typeface="Proxima Nova"/>
                <a:sym typeface="Proxima Nova"/>
              </a:rPr>
              <a:t> &amp; </a:t>
            </a:r>
            <a:r>
              <a:rPr b="1" lang="en" sz="900">
                <a:solidFill>
                  <a:schemeClr val="dk1"/>
                </a:solidFill>
                <a:latin typeface="Proxima Nova"/>
                <a:ea typeface="Proxima Nova"/>
                <a:cs typeface="Proxima Nova"/>
                <a:sym typeface="Proxima Nova"/>
              </a:rPr>
              <a:t>is raining</a:t>
            </a:r>
            <a:r>
              <a:rPr lang="en">
                <a:solidFill>
                  <a:schemeClr val="dk2"/>
                </a:solidFill>
                <a:latin typeface="Proxima Nova"/>
                <a:ea typeface="Proxima Nova"/>
                <a:cs typeface="Proxima Nova"/>
                <a:sym typeface="Proxima Nova"/>
              </a:rPr>
              <a:t>)    * 2  </a:t>
            </a:r>
            <a:endParaRPr>
              <a:solidFill>
                <a:schemeClr val="dk2"/>
              </a:solidFill>
              <a:latin typeface="Proxima Nova"/>
              <a:ea typeface="Proxima Nova"/>
              <a:cs typeface="Proxima Nova"/>
              <a:sym typeface="Proxima Nova"/>
            </a:endParaRPr>
          </a:p>
        </p:txBody>
      </p:sp>
      <p:sp>
        <p:nvSpPr>
          <p:cNvPr id="309" name="Google Shape;309;p43"/>
          <p:cNvSpPr txBox="1"/>
          <p:nvPr/>
        </p:nvSpPr>
        <p:spPr>
          <a:xfrm>
            <a:off x="958875" y="1261850"/>
            <a:ext cx="6906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a:solidFill>
                  <a:schemeClr val="dk2"/>
                </a:solidFill>
                <a:latin typeface="Proxima Nova"/>
                <a:ea typeface="Proxima Nova"/>
                <a:cs typeface="Proxima Nova"/>
                <a:sym typeface="Proxima Nova"/>
              </a:rPr>
              <a:t>Impurity </a:t>
            </a:r>
            <a:r>
              <a:rPr lang="en" sz="900">
                <a:solidFill>
                  <a:schemeClr val="dk1"/>
                </a:solidFill>
                <a:latin typeface="Proxima Nova"/>
                <a:ea typeface="Proxima Nova"/>
                <a:cs typeface="Proxima Nova"/>
                <a:sym typeface="Proxima Nova"/>
              </a:rPr>
              <a:t>is raining</a:t>
            </a:r>
            <a:r>
              <a:rPr lang="en" sz="900">
                <a:solidFill>
                  <a:schemeClr val="dk2"/>
                </a:solidFill>
                <a:latin typeface="Proxima Nova"/>
                <a:ea typeface="Proxima Nova"/>
                <a:cs typeface="Proxima Nova"/>
                <a:sym typeface="Proxima Nova"/>
              </a:rPr>
              <a:t>      </a:t>
            </a:r>
            <a:r>
              <a:rPr lang="en" sz="15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2/4</a:t>
            </a:r>
            <a:r>
              <a:rPr lang="en">
                <a:solidFill>
                  <a:schemeClr val="dk2"/>
                </a:solidFill>
                <a:latin typeface="Proxima Nova"/>
                <a:ea typeface="Proxima Nova"/>
                <a:cs typeface="Proxima Nova"/>
                <a:sym typeface="Proxima Nova"/>
              </a:rPr>
              <a:t>                  * 		2/4		      * 2 	→  </a:t>
            </a:r>
            <a:r>
              <a:rPr b="1" lang="en">
                <a:solidFill>
                  <a:schemeClr val="dk2"/>
                </a:solidFill>
                <a:latin typeface="Proxima Nova"/>
                <a:ea typeface="Proxima Nova"/>
                <a:cs typeface="Proxima Nova"/>
                <a:sym typeface="Proxima Nova"/>
              </a:rPr>
              <a:t>1/2</a:t>
            </a:r>
            <a:r>
              <a:rPr lang="en">
                <a:solidFill>
                  <a:schemeClr val="dk2"/>
                </a:solidFill>
                <a:latin typeface="Proxima Nova"/>
                <a:ea typeface="Proxima Nova"/>
                <a:cs typeface="Proxima Nova"/>
                <a:sym typeface="Proxima Nova"/>
              </a:rPr>
              <a:t>  </a:t>
            </a:r>
            <a:endParaRPr>
              <a:solidFill>
                <a:schemeClr val="dk2"/>
              </a:solidFill>
              <a:latin typeface="Proxima Nova"/>
              <a:ea typeface="Proxima Nova"/>
              <a:cs typeface="Proxima Nova"/>
              <a:sym typeface="Proxima Nova"/>
            </a:endParaRPr>
          </a:p>
        </p:txBody>
      </p:sp>
      <p:sp>
        <p:nvSpPr>
          <p:cNvPr id="310" name="Google Shape;310;p43"/>
          <p:cNvSpPr txBox="1"/>
          <p:nvPr/>
        </p:nvSpPr>
        <p:spPr>
          <a:xfrm>
            <a:off x="958875" y="1795250"/>
            <a:ext cx="6906000" cy="1025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200"/>
              </a:spcAft>
              <a:buNone/>
            </a:pPr>
            <a:r>
              <a:rPr lang="en">
                <a:solidFill>
                  <a:schemeClr val="dk2"/>
                </a:solidFill>
                <a:latin typeface="Proxima Nova"/>
                <a:ea typeface="Proxima Nova"/>
                <a:cs typeface="Proxima Nova"/>
                <a:sym typeface="Proxima Nova"/>
              </a:rPr>
              <a:t>Impurity </a:t>
            </a:r>
            <a:r>
              <a:rPr lang="en" sz="900">
                <a:solidFill>
                  <a:schemeClr val="dk1"/>
                </a:solidFill>
                <a:latin typeface="Proxima Nova"/>
                <a:ea typeface="Proxima Nova"/>
                <a:cs typeface="Proxima Nova"/>
                <a:sym typeface="Proxima Nova"/>
              </a:rPr>
              <a:t>Q=NO</a:t>
            </a:r>
            <a:r>
              <a:rPr lang="en" sz="900">
                <a:solidFill>
                  <a:schemeClr val="dk2"/>
                </a:solidFill>
                <a:latin typeface="Proxima Nova"/>
                <a:ea typeface="Proxima Nova"/>
                <a:cs typeface="Proxima Nova"/>
                <a:sym typeface="Proxima Nova"/>
              </a:rPr>
              <a:t> </a:t>
            </a:r>
            <a:r>
              <a:rPr lang="en" sz="900">
                <a:solidFill>
                  <a:schemeClr val="dk2"/>
                </a:solidFill>
                <a:latin typeface="Proxima Nova"/>
                <a:ea typeface="Proxima Nova"/>
                <a:cs typeface="Proxima Nova"/>
                <a:sym typeface="Proxima Nova"/>
              </a:rPr>
              <a:t>          </a:t>
            </a:r>
            <a:r>
              <a:rPr lang="en" sz="15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P(</a:t>
            </a:r>
            <a:r>
              <a:rPr lang="en" sz="900">
                <a:solidFill>
                  <a:schemeClr val="accent5"/>
                </a:solidFill>
                <a:latin typeface="Proxima Nova"/>
                <a:ea typeface="Proxima Nova"/>
                <a:cs typeface="Proxima Nova"/>
                <a:sym typeface="Proxima Nova"/>
              </a:rPr>
              <a:t>TARGET=YES</a:t>
            </a:r>
            <a:r>
              <a:rPr lang="en" sz="900">
                <a:solidFill>
                  <a:schemeClr val="dk2"/>
                </a:solidFill>
                <a:latin typeface="Proxima Nova"/>
                <a:ea typeface="Proxima Nova"/>
                <a:cs typeface="Proxima Nova"/>
                <a:sym typeface="Proxima Nova"/>
              </a:rPr>
              <a:t> &amp; </a:t>
            </a:r>
            <a:r>
              <a:rPr lang="en" sz="900">
                <a:solidFill>
                  <a:schemeClr val="dk1"/>
                </a:solidFill>
                <a:latin typeface="Proxima Nova"/>
                <a:ea typeface="Proxima Nova"/>
                <a:cs typeface="Proxima Nova"/>
                <a:sym typeface="Proxima Nova"/>
              </a:rPr>
              <a:t>Q=NO</a:t>
            </a:r>
            <a:r>
              <a:rPr lang="en" sz="9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     * P(</a:t>
            </a:r>
            <a:r>
              <a:rPr lang="en" sz="900">
                <a:solidFill>
                  <a:schemeClr val="accent4"/>
                </a:solidFill>
                <a:latin typeface="Proxima Nova"/>
                <a:ea typeface="Proxima Nova"/>
                <a:cs typeface="Proxima Nova"/>
                <a:sym typeface="Proxima Nova"/>
              </a:rPr>
              <a:t>TARGET=NO</a:t>
            </a:r>
            <a:r>
              <a:rPr lang="en" sz="900">
                <a:solidFill>
                  <a:schemeClr val="dk2"/>
                </a:solidFill>
                <a:latin typeface="Proxima Nova"/>
                <a:ea typeface="Proxima Nova"/>
                <a:cs typeface="Proxima Nova"/>
                <a:sym typeface="Proxima Nova"/>
              </a:rPr>
              <a:t> &amp; </a:t>
            </a:r>
            <a:r>
              <a:rPr lang="en" sz="900">
                <a:solidFill>
                  <a:schemeClr val="dk1"/>
                </a:solidFill>
                <a:latin typeface="Proxima Nova"/>
                <a:ea typeface="Proxima Nova"/>
                <a:cs typeface="Proxima Nova"/>
                <a:sym typeface="Proxima Nova"/>
              </a:rPr>
              <a:t>Q=NO</a:t>
            </a:r>
            <a:r>
              <a:rPr lang="en">
                <a:solidFill>
                  <a:schemeClr val="dk2"/>
                </a:solidFill>
                <a:latin typeface="Proxima Nova"/>
                <a:ea typeface="Proxima Nova"/>
                <a:cs typeface="Proxima Nova"/>
                <a:sym typeface="Proxima Nova"/>
              </a:rPr>
              <a:t>) 	      * 2  </a:t>
            </a:r>
            <a:endParaRPr>
              <a:solidFill>
                <a:schemeClr val="dk2"/>
              </a:solidFill>
              <a:latin typeface="Proxima Nova"/>
              <a:ea typeface="Proxima Nova"/>
              <a:cs typeface="Proxima Nova"/>
              <a:sym typeface="Proxima Nova"/>
            </a:endParaRPr>
          </a:p>
        </p:txBody>
      </p:sp>
      <p:sp>
        <p:nvSpPr>
          <p:cNvPr id="311" name="Google Shape;311;p43"/>
          <p:cNvSpPr txBox="1"/>
          <p:nvPr/>
        </p:nvSpPr>
        <p:spPr>
          <a:xfrm>
            <a:off x="958875" y="2100050"/>
            <a:ext cx="6906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b="1" lang="en">
                <a:solidFill>
                  <a:schemeClr val="dk2"/>
                </a:solidFill>
                <a:latin typeface="Proxima Nova"/>
                <a:ea typeface="Proxima Nova"/>
                <a:cs typeface="Proxima Nova"/>
                <a:sym typeface="Proxima Nova"/>
              </a:rPr>
              <a:t>Impurity </a:t>
            </a:r>
            <a:r>
              <a:rPr b="1" lang="en" sz="900">
                <a:solidFill>
                  <a:schemeClr val="dk1"/>
                </a:solidFill>
                <a:latin typeface="Proxima Nova"/>
                <a:ea typeface="Proxima Nova"/>
                <a:cs typeface="Proxima Nova"/>
                <a:sym typeface="Proxima Nova"/>
              </a:rPr>
              <a:t>not</a:t>
            </a:r>
            <a:r>
              <a:rPr b="1" lang="en" sz="900">
                <a:solidFill>
                  <a:schemeClr val="dk1"/>
                </a:solidFill>
                <a:latin typeface="Proxima Nova"/>
                <a:ea typeface="Proxima Nova"/>
                <a:cs typeface="Proxima Nova"/>
                <a:sym typeface="Proxima Nova"/>
              </a:rPr>
              <a:t> raining</a:t>
            </a:r>
            <a:r>
              <a:rPr lang="en" sz="900">
                <a:solidFill>
                  <a:schemeClr val="dk2"/>
                </a:solidFill>
                <a:latin typeface="Proxima Nova"/>
                <a:ea typeface="Proxima Nova"/>
                <a:cs typeface="Proxima Nova"/>
                <a:sym typeface="Proxima Nova"/>
              </a:rPr>
              <a:t>    </a:t>
            </a:r>
            <a:r>
              <a:rPr lang="en" sz="15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P(</a:t>
            </a:r>
            <a:r>
              <a:rPr lang="en" sz="900">
                <a:solidFill>
                  <a:schemeClr val="accent5"/>
                </a:solidFill>
                <a:latin typeface="Proxima Nova"/>
                <a:ea typeface="Proxima Nova"/>
                <a:cs typeface="Proxima Nova"/>
                <a:sym typeface="Proxima Nova"/>
              </a:rPr>
              <a:t>game played</a:t>
            </a:r>
            <a:r>
              <a:rPr lang="en" sz="900">
                <a:solidFill>
                  <a:schemeClr val="dk2"/>
                </a:solidFill>
                <a:latin typeface="Proxima Nova"/>
                <a:ea typeface="Proxima Nova"/>
                <a:cs typeface="Proxima Nova"/>
                <a:sym typeface="Proxima Nova"/>
              </a:rPr>
              <a:t> &amp; </a:t>
            </a:r>
            <a:r>
              <a:rPr b="1" lang="en" sz="900">
                <a:solidFill>
                  <a:schemeClr val="dk1"/>
                </a:solidFill>
                <a:latin typeface="Proxima Nova"/>
                <a:ea typeface="Proxima Nova"/>
                <a:cs typeface="Proxima Nova"/>
                <a:sym typeface="Proxima Nova"/>
              </a:rPr>
              <a:t>not raining</a:t>
            </a:r>
            <a:r>
              <a:rPr b="1" lang="en" sz="9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 * P(</a:t>
            </a:r>
            <a:r>
              <a:rPr lang="en" sz="900">
                <a:solidFill>
                  <a:schemeClr val="accent4"/>
                </a:solidFill>
                <a:latin typeface="Proxima Nova"/>
                <a:ea typeface="Proxima Nova"/>
                <a:cs typeface="Proxima Nova"/>
                <a:sym typeface="Proxima Nova"/>
              </a:rPr>
              <a:t>no game played</a:t>
            </a:r>
            <a:r>
              <a:rPr lang="en" sz="900">
                <a:solidFill>
                  <a:schemeClr val="dk2"/>
                </a:solidFill>
                <a:latin typeface="Proxima Nova"/>
                <a:ea typeface="Proxima Nova"/>
                <a:cs typeface="Proxima Nova"/>
                <a:sym typeface="Proxima Nova"/>
              </a:rPr>
              <a:t> &amp; </a:t>
            </a:r>
            <a:r>
              <a:rPr b="1" lang="en" sz="900">
                <a:solidFill>
                  <a:schemeClr val="dk1"/>
                </a:solidFill>
                <a:latin typeface="Proxima Nova"/>
                <a:ea typeface="Proxima Nova"/>
                <a:cs typeface="Proxima Nova"/>
                <a:sym typeface="Proxima Nova"/>
              </a:rPr>
              <a:t>not</a:t>
            </a:r>
            <a:r>
              <a:rPr b="1" lang="en" sz="900">
                <a:solidFill>
                  <a:schemeClr val="dk1"/>
                </a:solidFill>
                <a:latin typeface="Proxima Nova"/>
                <a:ea typeface="Proxima Nova"/>
                <a:cs typeface="Proxima Nova"/>
                <a:sym typeface="Proxima Nova"/>
              </a:rPr>
              <a:t> raining</a:t>
            </a:r>
            <a:r>
              <a:rPr lang="en">
                <a:solidFill>
                  <a:schemeClr val="dk2"/>
                </a:solidFill>
                <a:latin typeface="Proxima Nova"/>
                <a:ea typeface="Proxima Nova"/>
                <a:cs typeface="Proxima Nova"/>
                <a:sym typeface="Proxima Nova"/>
              </a:rPr>
              <a:t>) * 2  </a:t>
            </a:r>
            <a:endParaRPr>
              <a:solidFill>
                <a:schemeClr val="dk2"/>
              </a:solidFill>
              <a:latin typeface="Proxima Nova"/>
              <a:ea typeface="Proxima Nova"/>
              <a:cs typeface="Proxima Nova"/>
              <a:sym typeface="Proxima Nova"/>
            </a:endParaRPr>
          </a:p>
        </p:txBody>
      </p:sp>
      <p:sp>
        <p:nvSpPr>
          <p:cNvPr id="312" name="Google Shape;312;p43"/>
          <p:cNvSpPr txBox="1"/>
          <p:nvPr/>
        </p:nvSpPr>
        <p:spPr>
          <a:xfrm>
            <a:off x="958875" y="2404850"/>
            <a:ext cx="6906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a:solidFill>
                  <a:schemeClr val="dk2"/>
                </a:solidFill>
                <a:latin typeface="Proxima Nova"/>
                <a:ea typeface="Proxima Nova"/>
                <a:cs typeface="Proxima Nova"/>
                <a:sym typeface="Proxima Nova"/>
              </a:rPr>
              <a:t>Impurity </a:t>
            </a:r>
            <a:r>
              <a:rPr lang="en" sz="900">
                <a:solidFill>
                  <a:schemeClr val="dk1"/>
                </a:solidFill>
                <a:latin typeface="Proxima Nova"/>
                <a:ea typeface="Proxima Nova"/>
                <a:cs typeface="Proxima Nova"/>
                <a:sym typeface="Proxima Nova"/>
              </a:rPr>
              <a:t>not</a:t>
            </a:r>
            <a:r>
              <a:rPr lang="en" sz="900">
                <a:solidFill>
                  <a:schemeClr val="dk1"/>
                </a:solidFill>
                <a:latin typeface="Proxima Nova"/>
                <a:ea typeface="Proxima Nova"/>
                <a:cs typeface="Proxima Nova"/>
                <a:sym typeface="Proxima Nova"/>
              </a:rPr>
              <a:t> raining</a:t>
            </a:r>
            <a:r>
              <a:rPr lang="en" sz="900">
                <a:solidFill>
                  <a:schemeClr val="dk2"/>
                </a:solidFill>
                <a:latin typeface="Proxima Nova"/>
                <a:ea typeface="Proxima Nova"/>
                <a:cs typeface="Proxima Nova"/>
                <a:sym typeface="Proxima Nova"/>
              </a:rPr>
              <a:t>    </a:t>
            </a:r>
            <a:r>
              <a:rPr lang="en" sz="15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4</a:t>
            </a:r>
            <a:r>
              <a:rPr lang="en">
                <a:solidFill>
                  <a:schemeClr val="dk2"/>
                </a:solidFill>
                <a:latin typeface="Proxima Nova"/>
                <a:ea typeface="Proxima Nova"/>
                <a:cs typeface="Proxima Nova"/>
                <a:sym typeface="Proxima Nova"/>
              </a:rPr>
              <a:t>/6                  * 		2/6		       * 2 	→  </a:t>
            </a:r>
            <a:r>
              <a:rPr b="1" lang="en">
                <a:solidFill>
                  <a:schemeClr val="dk2"/>
                </a:solidFill>
                <a:latin typeface="Proxima Nova"/>
                <a:ea typeface="Proxima Nova"/>
                <a:cs typeface="Proxima Nova"/>
                <a:sym typeface="Proxima Nova"/>
              </a:rPr>
              <a:t>4/9</a:t>
            </a:r>
            <a:r>
              <a:rPr lang="en">
                <a:solidFill>
                  <a:schemeClr val="dk2"/>
                </a:solidFill>
                <a:latin typeface="Proxima Nova"/>
                <a:ea typeface="Proxima Nova"/>
                <a:cs typeface="Proxima Nova"/>
                <a:sym typeface="Proxima Nova"/>
              </a:rPr>
              <a:t>  </a:t>
            </a:r>
            <a:endParaRPr>
              <a:solidFill>
                <a:schemeClr val="dk2"/>
              </a:solidFill>
              <a:latin typeface="Proxima Nova"/>
              <a:ea typeface="Proxima Nova"/>
              <a:cs typeface="Proxima Nova"/>
              <a:sym typeface="Proxima Nova"/>
            </a:endParaRPr>
          </a:p>
        </p:txBody>
      </p:sp>
      <p:sp>
        <p:nvSpPr>
          <p:cNvPr id="313" name="Google Shape;313;p43"/>
          <p:cNvSpPr txBox="1"/>
          <p:nvPr/>
        </p:nvSpPr>
        <p:spPr>
          <a:xfrm>
            <a:off x="958875" y="2982700"/>
            <a:ext cx="6906000" cy="720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200"/>
              </a:spcAft>
              <a:buNone/>
            </a:pPr>
            <a:r>
              <a:rPr lang="en">
                <a:solidFill>
                  <a:schemeClr val="dk2"/>
                </a:solidFill>
                <a:latin typeface="Proxima Nova"/>
                <a:ea typeface="Proxima Nova"/>
                <a:cs typeface="Proxima Nova"/>
                <a:sym typeface="Proxima Nova"/>
              </a:rPr>
              <a:t>Impurity </a:t>
            </a:r>
            <a:r>
              <a:rPr lang="en" sz="900">
                <a:solidFill>
                  <a:schemeClr val="dk1"/>
                </a:solidFill>
                <a:latin typeface="Proxima Nova"/>
                <a:ea typeface="Proxima Nova"/>
                <a:cs typeface="Proxima Nova"/>
                <a:sym typeface="Proxima Nova"/>
              </a:rPr>
              <a:t>Q</a:t>
            </a:r>
            <a:r>
              <a:rPr lang="en" sz="900">
                <a:solidFill>
                  <a:schemeClr val="dk2"/>
                </a:solidFill>
                <a:latin typeface="Proxima Nova"/>
                <a:ea typeface="Proxima Nova"/>
                <a:cs typeface="Proxima Nova"/>
                <a:sym typeface="Proxima Nova"/>
              </a:rPr>
              <a:t>           </a:t>
            </a:r>
            <a:r>
              <a:rPr lang="en" sz="15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P(</a:t>
            </a:r>
            <a:r>
              <a:rPr lang="en" sz="900">
                <a:solidFill>
                  <a:schemeClr val="dk1"/>
                </a:solidFill>
                <a:latin typeface="Proxima Nova"/>
                <a:ea typeface="Proxima Nova"/>
                <a:cs typeface="Proxima Nova"/>
                <a:sym typeface="Proxima Nova"/>
              </a:rPr>
              <a:t>Q=YES</a:t>
            </a:r>
            <a:r>
              <a:rPr lang="en">
                <a:solidFill>
                  <a:schemeClr val="dk2"/>
                </a:solidFill>
                <a:latin typeface="Proxima Nova"/>
                <a:ea typeface="Proxima Nova"/>
                <a:cs typeface="Proxima Nova"/>
                <a:sym typeface="Proxima Nova"/>
              </a:rPr>
              <a:t>)* Impurity </a:t>
            </a:r>
            <a:r>
              <a:rPr lang="en" sz="900">
                <a:solidFill>
                  <a:schemeClr val="dk1"/>
                </a:solidFill>
                <a:latin typeface="Proxima Nova"/>
                <a:ea typeface="Proxima Nova"/>
                <a:cs typeface="Proxima Nova"/>
                <a:sym typeface="Proxima Nova"/>
              </a:rPr>
              <a:t>Q=YES </a:t>
            </a:r>
            <a:r>
              <a:rPr lang="en">
                <a:solidFill>
                  <a:schemeClr val="dk2"/>
                </a:solidFill>
                <a:latin typeface="Proxima Nova"/>
                <a:ea typeface="Proxima Nova"/>
                <a:cs typeface="Proxima Nova"/>
                <a:sym typeface="Proxima Nova"/>
              </a:rPr>
              <a:t>    + 	P(</a:t>
            </a:r>
            <a:r>
              <a:rPr lang="en" sz="900">
                <a:solidFill>
                  <a:schemeClr val="dk1"/>
                </a:solidFill>
                <a:latin typeface="Proxima Nova"/>
                <a:ea typeface="Proxima Nova"/>
                <a:cs typeface="Proxima Nova"/>
                <a:sym typeface="Proxima Nova"/>
              </a:rPr>
              <a:t>Q=NO</a:t>
            </a:r>
            <a:r>
              <a:rPr lang="en">
                <a:solidFill>
                  <a:schemeClr val="dk2"/>
                </a:solidFill>
                <a:latin typeface="Proxima Nova"/>
                <a:ea typeface="Proxima Nova"/>
                <a:cs typeface="Proxima Nova"/>
                <a:sym typeface="Proxima Nova"/>
              </a:rPr>
              <a:t>)* Impurity </a:t>
            </a:r>
            <a:r>
              <a:rPr lang="en" sz="900">
                <a:solidFill>
                  <a:schemeClr val="dk1"/>
                </a:solidFill>
                <a:latin typeface="Proxima Nova"/>
                <a:ea typeface="Proxima Nova"/>
                <a:cs typeface="Proxima Nova"/>
                <a:sym typeface="Proxima Nova"/>
              </a:rPr>
              <a:t>Q=NO</a:t>
            </a:r>
            <a:r>
              <a:rPr lang="en">
                <a:solidFill>
                  <a:schemeClr val="dk2"/>
                </a:solidFill>
                <a:latin typeface="Proxima Nova"/>
                <a:ea typeface="Proxima Nova"/>
                <a:cs typeface="Proxima Nova"/>
                <a:sym typeface="Proxima Nova"/>
              </a:rPr>
              <a:t> 	       </a:t>
            </a:r>
            <a:endParaRPr>
              <a:solidFill>
                <a:schemeClr val="dk2"/>
              </a:solidFill>
              <a:latin typeface="Proxima Nova"/>
              <a:ea typeface="Proxima Nova"/>
              <a:cs typeface="Proxima Nova"/>
              <a:sym typeface="Proxima Nova"/>
            </a:endParaRPr>
          </a:p>
        </p:txBody>
      </p:sp>
      <p:sp>
        <p:nvSpPr>
          <p:cNvPr id="314" name="Google Shape;314;p43"/>
          <p:cNvSpPr txBox="1"/>
          <p:nvPr/>
        </p:nvSpPr>
        <p:spPr>
          <a:xfrm>
            <a:off x="958875" y="3287500"/>
            <a:ext cx="7199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b="1" lang="en">
                <a:solidFill>
                  <a:schemeClr val="dk2"/>
                </a:solidFill>
                <a:latin typeface="Proxima Nova"/>
                <a:ea typeface="Proxima Nova"/>
                <a:cs typeface="Proxima Nova"/>
                <a:sym typeface="Proxima Nova"/>
              </a:rPr>
              <a:t>Impurity </a:t>
            </a:r>
            <a:r>
              <a:rPr b="1" lang="en" sz="900">
                <a:solidFill>
                  <a:schemeClr val="dk1"/>
                </a:solidFill>
                <a:latin typeface="Proxima Nova"/>
                <a:ea typeface="Proxima Nova"/>
                <a:cs typeface="Proxima Nova"/>
                <a:sym typeface="Proxima Nova"/>
              </a:rPr>
              <a:t>is it raining?</a:t>
            </a:r>
            <a:r>
              <a:rPr b="1" lang="en" sz="900">
                <a:solidFill>
                  <a:schemeClr val="dk2"/>
                </a:solidFill>
                <a:latin typeface="Proxima Nova"/>
                <a:ea typeface="Proxima Nova"/>
                <a:cs typeface="Proxima Nova"/>
                <a:sym typeface="Proxima Nova"/>
              </a:rPr>
              <a:t> </a:t>
            </a:r>
            <a:r>
              <a:rPr lang="en" sz="900">
                <a:solidFill>
                  <a:schemeClr val="dk2"/>
                </a:solidFill>
                <a:latin typeface="Proxima Nova"/>
                <a:ea typeface="Proxima Nova"/>
                <a:cs typeface="Proxima Nova"/>
                <a:sym typeface="Proxima Nova"/>
              </a:rPr>
              <a:t>          </a:t>
            </a:r>
            <a:r>
              <a:rPr lang="en" sz="15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(4/10)   *         (</a:t>
            </a:r>
            <a:r>
              <a:rPr b="1" lang="en">
                <a:solidFill>
                  <a:schemeClr val="dk2"/>
                </a:solidFill>
                <a:latin typeface="Proxima Nova"/>
                <a:ea typeface="Proxima Nova"/>
                <a:cs typeface="Proxima Nova"/>
                <a:sym typeface="Proxima Nova"/>
              </a:rPr>
              <a:t>1/2</a:t>
            </a:r>
            <a:r>
              <a:rPr lang="en">
                <a:solidFill>
                  <a:schemeClr val="dk2"/>
                </a:solidFill>
                <a:latin typeface="Proxima Nova"/>
                <a:ea typeface="Proxima Nova"/>
                <a:cs typeface="Proxima Nova"/>
                <a:sym typeface="Proxima Nova"/>
              </a:rPr>
              <a:t>)            + 	(6/10)   *       (</a:t>
            </a:r>
            <a:r>
              <a:rPr b="1" lang="en">
                <a:solidFill>
                  <a:schemeClr val="dk2"/>
                </a:solidFill>
                <a:latin typeface="Proxima Nova"/>
                <a:ea typeface="Proxima Nova"/>
                <a:cs typeface="Proxima Nova"/>
                <a:sym typeface="Proxima Nova"/>
              </a:rPr>
              <a:t>4/9</a:t>
            </a:r>
            <a:r>
              <a:rPr lang="en">
                <a:solidFill>
                  <a:schemeClr val="dk2"/>
                </a:solidFill>
                <a:latin typeface="Proxima Nova"/>
                <a:ea typeface="Proxima Nova"/>
                <a:cs typeface="Proxima Nova"/>
                <a:sym typeface="Proxima Nova"/>
              </a:rPr>
              <a:t>)	          →   </a:t>
            </a:r>
            <a:r>
              <a:rPr b="1" lang="en">
                <a:solidFill>
                  <a:srgbClr val="A9AA35"/>
                </a:solidFill>
                <a:latin typeface="Proxima Nova"/>
                <a:ea typeface="Proxima Nova"/>
                <a:cs typeface="Proxima Nova"/>
                <a:sym typeface="Proxima Nova"/>
              </a:rPr>
              <a:t>0.4666</a:t>
            </a:r>
            <a:r>
              <a:rPr lang="en">
                <a:solidFill>
                  <a:schemeClr val="dk2"/>
                </a:solidFill>
                <a:latin typeface="Proxima Nova"/>
                <a:ea typeface="Proxima Nova"/>
                <a:cs typeface="Proxima Nova"/>
                <a:sym typeface="Proxima Nova"/>
              </a:rPr>
              <a:t> </a:t>
            </a:r>
            <a:endParaRPr>
              <a:solidFill>
                <a:schemeClr val="dk2"/>
              </a:solidFill>
              <a:latin typeface="Proxima Nova"/>
              <a:ea typeface="Proxima Nova"/>
              <a:cs typeface="Proxima Nova"/>
              <a:sym typeface="Proxima Nova"/>
            </a:endParaRPr>
          </a:p>
        </p:txBody>
      </p:sp>
      <p:sp>
        <p:nvSpPr>
          <p:cNvPr id="315" name="Google Shape;315;p43"/>
          <p:cNvSpPr txBox="1"/>
          <p:nvPr/>
        </p:nvSpPr>
        <p:spPr>
          <a:xfrm>
            <a:off x="958875" y="3820900"/>
            <a:ext cx="6906000" cy="1177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Proxima Nova"/>
                <a:ea typeface="Proxima Nova"/>
                <a:cs typeface="Proxima Nova"/>
                <a:sym typeface="Proxima Nova"/>
              </a:rPr>
              <a:t>Impurity </a:t>
            </a:r>
            <a:r>
              <a:rPr b="1" lang="en" sz="900">
                <a:solidFill>
                  <a:schemeClr val="dk1"/>
                </a:solidFill>
                <a:latin typeface="Proxima Nova"/>
                <a:ea typeface="Proxima Nova"/>
                <a:cs typeface="Proxima Nova"/>
                <a:sym typeface="Proxima Nova"/>
              </a:rPr>
              <a:t>total</a:t>
            </a:r>
            <a:r>
              <a:rPr b="1" lang="en" sz="900">
                <a:solidFill>
                  <a:schemeClr val="dk2"/>
                </a:solidFill>
                <a:latin typeface="Proxima Nova"/>
                <a:ea typeface="Proxima Nova"/>
                <a:cs typeface="Proxima Nova"/>
                <a:sym typeface="Proxima Nova"/>
              </a:rPr>
              <a:t> </a:t>
            </a:r>
            <a:r>
              <a:rPr lang="en" sz="9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a:t>
            </a:r>
            <a:r>
              <a:rPr lang="en">
                <a:solidFill>
                  <a:schemeClr val="dk2"/>
                </a:solidFill>
                <a:latin typeface="Proxima Nova"/>
                <a:ea typeface="Proxima Nova"/>
                <a:cs typeface="Proxima Nova"/>
                <a:sym typeface="Proxima Nova"/>
              </a:rPr>
              <a:t> 	</a:t>
            </a:r>
            <a:r>
              <a:rPr b="1" lang="en">
                <a:solidFill>
                  <a:srgbClr val="A9AA35"/>
                </a:solidFill>
                <a:latin typeface="Proxima Nova"/>
                <a:ea typeface="Proxima Nova"/>
                <a:cs typeface="Proxima Nova"/>
                <a:sym typeface="Proxima Nova"/>
              </a:rPr>
              <a:t>Impurity </a:t>
            </a:r>
            <a:r>
              <a:rPr b="1" lang="en" sz="900">
                <a:solidFill>
                  <a:srgbClr val="A9AA35"/>
                </a:solidFill>
                <a:latin typeface="Proxima Nova"/>
                <a:ea typeface="Proxima Nova"/>
                <a:cs typeface="Proxima Nova"/>
                <a:sym typeface="Proxima Nova"/>
              </a:rPr>
              <a:t>is it raining?</a:t>
            </a:r>
            <a:r>
              <a:rPr b="1" lang="en" sz="900">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	</a:t>
            </a:r>
            <a:r>
              <a:rPr lang="en">
                <a:solidFill>
                  <a:schemeClr val="dk2"/>
                </a:solidFill>
                <a:latin typeface="Proxima Nova"/>
                <a:ea typeface="Proxima Nova"/>
                <a:cs typeface="Proxima Nova"/>
                <a:sym typeface="Proxima Nova"/>
              </a:rPr>
              <a:t> = </a:t>
            </a:r>
            <a:r>
              <a:rPr b="1" lang="en">
                <a:solidFill>
                  <a:schemeClr val="dk2"/>
                </a:solidFill>
                <a:latin typeface="Proxima Nova"/>
                <a:ea typeface="Proxima Nova"/>
                <a:cs typeface="Proxima Nova"/>
                <a:sym typeface="Proxima Nova"/>
              </a:rPr>
              <a:t>0.48</a:t>
            </a:r>
            <a:r>
              <a:rPr lang="en">
                <a:solidFill>
                  <a:schemeClr val="dk2"/>
                </a:solidFill>
                <a:latin typeface="Proxima Nova"/>
                <a:ea typeface="Proxima Nova"/>
                <a:cs typeface="Proxima Nova"/>
                <a:sym typeface="Proxima Nova"/>
              </a:rPr>
              <a:t> - </a:t>
            </a:r>
            <a:r>
              <a:rPr b="1" lang="en">
                <a:solidFill>
                  <a:srgbClr val="A9AA35"/>
                </a:solidFill>
                <a:latin typeface="Proxima Nova"/>
                <a:ea typeface="Proxima Nova"/>
                <a:cs typeface="Proxima Nova"/>
                <a:sym typeface="Proxima Nova"/>
              </a:rPr>
              <a:t>0.4666</a:t>
            </a:r>
            <a:r>
              <a:rPr lang="en">
                <a:solidFill>
                  <a:schemeClr val="dk2"/>
                </a:solidFill>
                <a:latin typeface="Proxima Nova"/>
                <a:ea typeface="Proxima Nova"/>
                <a:cs typeface="Proxima Nova"/>
                <a:sym typeface="Proxima Nova"/>
              </a:rPr>
              <a:t> = </a:t>
            </a:r>
            <a:r>
              <a:rPr b="1" lang="en">
                <a:solidFill>
                  <a:schemeClr val="dk2"/>
                </a:solidFill>
                <a:latin typeface="Proxima Nova"/>
                <a:ea typeface="Proxima Nova"/>
                <a:cs typeface="Proxima Nova"/>
                <a:sym typeface="Proxima Nova"/>
              </a:rPr>
              <a:t>0.0133 </a:t>
            </a:r>
            <a:r>
              <a:rPr lang="en">
                <a:solidFill>
                  <a:schemeClr val="dk2"/>
                </a:solidFill>
                <a:latin typeface="Proxima Nova"/>
                <a:ea typeface="Proxima Nova"/>
                <a:cs typeface="Proxima Nova"/>
                <a:sym typeface="Proxima Nova"/>
              </a:rPr>
              <a:t>    </a:t>
            </a:r>
            <a:endParaRPr>
              <a:solidFill>
                <a:schemeClr val="dk2"/>
              </a:solidFill>
              <a:latin typeface="Proxima Nova"/>
              <a:ea typeface="Proxima Nova"/>
              <a:cs typeface="Proxima Nova"/>
              <a:sym typeface="Proxima Nova"/>
            </a:endParaRPr>
          </a:p>
          <a:p>
            <a:pPr indent="0" lvl="0" marL="0" rtl="0" algn="l">
              <a:spcBef>
                <a:spcPts val="1200"/>
              </a:spcBef>
              <a:spcAft>
                <a:spcPts val="1200"/>
              </a:spcAft>
              <a:buNone/>
            </a:pPr>
            <a:r>
              <a:rPr lang="en">
                <a:solidFill>
                  <a:schemeClr val="dk2"/>
                </a:solidFill>
                <a:latin typeface="Proxima Nova"/>
                <a:ea typeface="Proxima Nova"/>
                <a:cs typeface="Proxima Nova"/>
                <a:sym typeface="Proxima Nova"/>
              </a:rPr>
              <a:t>difference is close to 0 so not a good question, BUT there is a question that will give us all the uncertainty (hint: what question did we first ask when making the decision flowchart)</a:t>
            </a:r>
            <a:endParaRPr>
              <a:solidFill>
                <a:schemeClr val="dk2"/>
              </a:solidFill>
              <a:latin typeface="Proxima Nova"/>
              <a:ea typeface="Proxima Nova"/>
              <a:cs typeface="Proxima Nova"/>
              <a:sym typeface="Proxima Nova"/>
            </a:endParaRPr>
          </a:p>
        </p:txBody>
      </p:sp>
      <p:sp>
        <p:nvSpPr>
          <p:cNvPr id="316" name="Google Shape;316;p43"/>
          <p:cNvSpPr/>
          <p:nvPr/>
        </p:nvSpPr>
        <p:spPr>
          <a:xfrm>
            <a:off x="5228375" y="3924675"/>
            <a:ext cx="597300" cy="231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4"/>
          <p:cNvSpPr txBox="1"/>
          <p:nvPr>
            <p:ph type="title"/>
          </p:nvPr>
        </p:nvSpPr>
        <p:spPr>
          <a:xfrm>
            <a:off x="311700" y="445025"/>
            <a:ext cx="8520600" cy="113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Deciding on a Decision Tree: </a:t>
            </a:r>
            <a:r>
              <a:rPr lang="en" sz="2000">
                <a:solidFill>
                  <a:schemeClr val="dk2"/>
                </a:solidFill>
                <a:latin typeface="Proxima Nova"/>
                <a:ea typeface="Proxima Nova"/>
                <a:cs typeface="Proxima Nova"/>
                <a:sym typeface="Proxima Nova"/>
              </a:rPr>
              <a:t>go through the next two pages in the worksheet to practice computing Gini impurity and entropy. A few helpful hints are below:</a:t>
            </a:r>
            <a:endParaRPr sz="2000">
              <a:solidFill>
                <a:schemeClr val="dk2"/>
              </a:solidFill>
              <a:latin typeface="Proxima Nova"/>
              <a:ea typeface="Proxima Nova"/>
              <a:cs typeface="Proxima Nova"/>
              <a:sym typeface="Proxima Nova"/>
            </a:endParaRPr>
          </a:p>
        </p:txBody>
      </p:sp>
      <p:pic>
        <p:nvPicPr>
          <p:cNvPr id="322" name="Google Shape;322;p44"/>
          <p:cNvPicPr preferRelativeResize="0"/>
          <p:nvPr/>
        </p:nvPicPr>
        <p:blipFill>
          <a:blip r:embed="rId3">
            <a:alphaModFix/>
          </a:blip>
          <a:stretch>
            <a:fillRect/>
          </a:stretch>
        </p:blipFill>
        <p:spPr>
          <a:xfrm>
            <a:off x="311700" y="1581100"/>
            <a:ext cx="3581426" cy="2579575"/>
          </a:xfrm>
          <a:prstGeom prst="rect">
            <a:avLst/>
          </a:prstGeom>
          <a:noFill/>
          <a:ln>
            <a:noFill/>
          </a:ln>
        </p:spPr>
      </p:pic>
      <p:sp>
        <p:nvSpPr>
          <p:cNvPr id="323" name="Google Shape;323;p44"/>
          <p:cNvSpPr txBox="1"/>
          <p:nvPr/>
        </p:nvSpPr>
        <p:spPr>
          <a:xfrm>
            <a:off x="4320550" y="1444000"/>
            <a:ext cx="4409400" cy="36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Proxima Nova"/>
                <a:ea typeface="Proxima Nova"/>
                <a:cs typeface="Proxima Nova"/>
                <a:sym typeface="Proxima Nova"/>
              </a:rPr>
              <a:t>For each probability computation:</a:t>
            </a:r>
            <a:endParaRPr sz="1600">
              <a:solidFill>
                <a:schemeClr val="dk2"/>
              </a:solidFill>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Char char="●"/>
            </a:pPr>
            <a:r>
              <a:rPr lang="en" sz="1600">
                <a:solidFill>
                  <a:schemeClr val="dk2"/>
                </a:solidFill>
                <a:latin typeface="Proxima Nova"/>
                <a:ea typeface="Proxima Nova"/>
                <a:cs typeface="Proxima Nova"/>
                <a:sym typeface="Proxima Nova"/>
              </a:rPr>
              <a:t>write down total </a:t>
            </a:r>
            <a:r>
              <a:rPr b="1" lang="en" sz="1600">
                <a:solidFill>
                  <a:schemeClr val="dk2"/>
                </a:solidFill>
                <a:latin typeface="Proxima Nova"/>
                <a:ea typeface="Proxima Nova"/>
                <a:cs typeface="Proxima Nova"/>
                <a:sym typeface="Proxima Nova"/>
              </a:rPr>
              <a:t>count of that event</a:t>
            </a:r>
            <a:r>
              <a:rPr lang="en" sz="1600">
                <a:solidFill>
                  <a:schemeClr val="dk2"/>
                </a:solidFill>
                <a:latin typeface="Proxima Nova"/>
                <a:ea typeface="Proxima Nova"/>
                <a:cs typeface="Proxima Nova"/>
                <a:sym typeface="Proxima Nova"/>
              </a:rPr>
              <a:t> and the total count of the </a:t>
            </a:r>
            <a:r>
              <a:rPr b="1" lang="en" sz="1600">
                <a:solidFill>
                  <a:schemeClr val="dk2"/>
                </a:solidFill>
                <a:latin typeface="Proxima Nova"/>
                <a:ea typeface="Proxima Nova"/>
                <a:cs typeface="Proxima Nova"/>
                <a:sym typeface="Proxima Nova"/>
              </a:rPr>
              <a:t>number of played games during that event</a:t>
            </a:r>
            <a:endParaRPr sz="1600">
              <a:solidFill>
                <a:schemeClr val="dk2"/>
              </a:solidFill>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Char char="●"/>
            </a:pPr>
            <a:r>
              <a:rPr lang="en" sz="1600">
                <a:solidFill>
                  <a:schemeClr val="dk2"/>
                </a:solidFill>
                <a:latin typeface="Proxima Nova"/>
                <a:ea typeface="Proxima Nova"/>
                <a:cs typeface="Proxima Nova"/>
                <a:sym typeface="Proxima Nova"/>
              </a:rPr>
              <a:t>The probability a game is played given a specific event occurring is then the fraction of those two numbers</a:t>
            </a:r>
            <a:endParaRPr sz="1600">
              <a:solidFill>
                <a:schemeClr val="dk2"/>
              </a:solidFill>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Char char="●"/>
            </a:pPr>
            <a:r>
              <a:rPr lang="en" sz="1600">
                <a:solidFill>
                  <a:schemeClr val="dk2"/>
                </a:solidFill>
                <a:latin typeface="Proxima Nova"/>
                <a:ea typeface="Proxima Nova"/>
                <a:cs typeface="Proxima Nova"/>
                <a:sym typeface="Proxima Nova"/>
              </a:rPr>
              <a:t>reuse probabilities you’ve already calculated</a:t>
            </a:r>
            <a:endParaRPr sz="1600">
              <a:solidFill>
                <a:schemeClr val="dk2"/>
              </a:solidFill>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Char char="●"/>
            </a:pPr>
            <a:r>
              <a:rPr lang="en" sz="1600">
                <a:solidFill>
                  <a:schemeClr val="dk2"/>
                </a:solidFill>
                <a:latin typeface="Proxima Nova"/>
                <a:ea typeface="Proxima Nova"/>
                <a:cs typeface="Proxima Nova"/>
                <a:sym typeface="Proxima Nova"/>
              </a:rPr>
              <a:t>Need log base 2 so consider online calculator like Wolfram Alpha</a:t>
            </a:r>
            <a:endParaRPr sz="1600">
              <a:solidFill>
                <a:schemeClr val="dk2"/>
              </a:solidFill>
              <a:latin typeface="Proxima Nova"/>
              <a:ea typeface="Proxima Nova"/>
              <a:cs typeface="Proxima Nova"/>
              <a:sym typeface="Proxima Nova"/>
            </a:endParaRPr>
          </a:p>
        </p:txBody>
      </p:sp>
      <p:sp>
        <p:nvSpPr>
          <p:cNvPr id="324" name="Google Shape;324;p44"/>
          <p:cNvSpPr txBox="1"/>
          <p:nvPr/>
        </p:nvSpPr>
        <p:spPr>
          <a:xfrm>
            <a:off x="288475" y="4160675"/>
            <a:ext cx="3165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A9AA35"/>
                </a:solidFill>
                <a:latin typeface="Proxima Nova"/>
                <a:ea typeface="Proxima Nova"/>
                <a:cs typeface="Proxima Nova"/>
                <a:sym typeface="Proxima Nova"/>
              </a:rPr>
              <a:t>Solution available on course site to double check your work</a:t>
            </a:r>
            <a:endParaRPr b="1">
              <a:solidFill>
                <a:srgbClr val="A9AA35"/>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8" name="Shape 328"/>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329" name="Google Shape;329;p45"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330" name="Google Shape;330;p45"/>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3622">
                <a:solidFill>
                  <a:schemeClr val="lt1"/>
                </a:solidFill>
                <a:latin typeface="Staatliches"/>
                <a:ea typeface="Staatliches"/>
                <a:cs typeface="Staatliches"/>
                <a:sym typeface="Staatliches"/>
              </a:rPr>
              <a:t>TREE</a:t>
            </a:r>
            <a:r>
              <a:rPr b="1" lang="en" sz="3622">
                <a:solidFill>
                  <a:schemeClr val="lt1"/>
                </a:solidFill>
                <a:latin typeface="Source Code Pro"/>
                <a:ea typeface="Source Code Pro"/>
                <a:cs typeface="Source Code Pro"/>
                <a:sym typeface="Source Code Pro"/>
              </a:rPr>
              <a:t>2</a:t>
            </a:r>
            <a:r>
              <a:rPr lang="en" sz="3622">
                <a:solidFill>
                  <a:schemeClr val="dk1"/>
                </a:solidFill>
                <a:latin typeface="Staatliches"/>
                <a:ea typeface="Staatliches"/>
                <a:cs typeface="Staatliches"/>
                <a:sym typeface="Staatliches"/>
              </a:rPr>
              <a:t>: tree-based algorithms</a:t>
            </a:r>
            <a:r>
              <a:rPr lang="en" sz="2422">
                <a:solidFill>
                  <a:schemeClr val="dk1"/>
                </a:solidFill>
                <a:latin typeface="Staatliches"/>
                <a:ea typeface="Staatliches"/>
                <a:cs typeface="Staatliches"/>
                <a:sym typeface="Staatliches"/>
              </a:rPr>
              <a:t> </a:t>
            </a:r>
            <a:endParaRPr sz="24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impurity (WS), </a:t>
            </a:r>
            <a:endParaRPr>
              <a:solidFill>
                <a:schemeClr val="dk1"/>
              </a:solidFill>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overfitting and underfitting </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6"/>
          <p:cNvSpPr txBox="1"/>
          <p:nvPr/>
        </p:nvSpPr>
        <p:spPr>
          <a:xfrm>
            <a:off x="753450" y="878800"/>
            <a:ext cx="3555600" cy="360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Alfa Slab One"/>
                <a:ea typeface="Alfa Slab One"/>
                <a:cs typeface="Alfa Slab One"/>
                <a:sym typeface="Alfa Slab One"/>
              </a:rPr>
              <a:t>Decision trees have great advantages over other algorithms</a:t>
            </a:r>
            <a:endParaRPr sz="1800">
              <a:solidFill>
                <a:schemeClr val="dk2"/>
              </a:solidFill>
              <a:latin typeface="Alfa Slab One"/>
              <a:ea typeface="Alfa Slab One"/>
              <a:cs typeface="Alfa Slab One"/>
              <a:sym typeface="Alfa Slab One"/>
            </a:endParaRPr>
          </a:p>
          <a:p>
            <a:pPr indent="0" lvl="0" marL="0" rtl="0" algn="l">
              <a:spcBef>
                <a:spcPts val="0"/>
              </a:spcBef>
              <a:spcAft>
                <a:spcPts val="0"/>
              </a:spcAft>
              <a:buNone/>
            </a:pPr>
            <a:r>
              <a:t/>
            </a:r>
            <a:endParaRPr sz="1622">
              <a:solidFill>
                <a:schemeClr val="dk2"/>
              </a:solidFill>
              <a:latin typeface="Alfa Slab One"/>
              <a:ea typeface="Alfa Slab One"/>
              <a:cs typeface="Alfa Slab One"/>
              <a:sym typeface="Alfa Slab One"/>
            </a:endParaRPr>
          </a:p>
          <a:p>
            <a:pPr indent="0" lvl="0" marL="0" rtl="0" algn="l">
              <a:spcBef>
                <a:spcPts val="0"/>
              </a:spcBef>
              <a:spcAft>
                <a:spcPts val="0"/>
              </a:spcAft>
              <a:buNone/>
            </a:pPr>
            <a:r>
              <a:rPr lang="en" sz="1822">
                <a:solidFill>
                  <a:schemeClr val="dk1"/>
                </a:solidFill>
                <a:latin typeface="Alfa Slab One"/>
                <a:ea typeface="Alfa Slab One"/>
                <a:cs typeface="Alfa Slab One"/>
                <a:sym typeface="Alfa Slab One"/>
              </a:rPr>
              <a:t>Interpretability</a:t>
            </a:r>
            <a:r>
              <a:rPr lang="en" sz="1622">
                <a:solidFill>
                  <a:schemeClr val="dk2"/>
                </a:solidFill>
                <a:latin typeface="Proxima Nova"/>
                <a:ea typeface="Proxima Nova"/>
                <a:cs typeface="Proxima Nova"/>
                <a:sym typeface="Proxima Nova"/>
              </a:rPr>
              <a:t>: able to look at decisions the algorithm made tells us about the data</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22">
                <a:solidFill>
                  <a:schemeClr val="dk1"/>
                </a:solidFill>
                <a:latin typeface="Alfa Slab One"/>
                <a:ea typeface="Alfa Slab One"/>
                <a:cs typeface="Alfa Slab One"/>
                <a:sym typeface="Alfa Slab One"/>
              </a:rPr>
              <a:t>Fast</a:t>
            </a:r>
            <a:r>
              <a:rPr lang="en" sz="1622">
                <a:solidFill>
                  <a:schemeClr val="dk2"/>
                </a:solidFill>
                <a:latin typeface="Proxima Nova"/>
                <a:ea typeface="Proxima Nova"/>
                <a:cs typeface="Proxima Nova"/>
                <a:sym typeface="Proxima Nova"/>
              </a:rPr>
              <a:t>: quick to build predictions</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22">
                <a:solidFill>
                  <a:schemeClr val="dk1"/>
                </a:solidFill>
                <a:latin typeface="Alfa Slab One"/>
                <a:ea typeface="Alfa Slab One"/>
                <a:cs typeface="Alfa Slab One"/>
                <a:sym typeface="Alfa Slab One"/>
              </a:rPr>
              <a:t>Low data processing</a:t>
            </a:r>
            <a:r>
              <a:rPr lang="en" sz="1622">
                <a:solidFill>
                  <a:schemeClr val="dk2"/>
                </a:solidFill>
                <a:latin typeface="Proxima Nova"/>
                <a:ea typeface="Proxima Nova"/>
                <a:cs typeface="Proxima Nova"/>
                <a:sym typeface="Proxima Nova"/>
              </a:rPr>
              <a:t>: no rescaling, handle continuous and discrete features</a:t>
            </a:r>
            <a:endParaRPr sz="1622">
              <a:solidFill>
                <a:schemeClr val="dk2"/>
              </a:solidFill>
              <a:latin typeface="Proxima Nova"/>
              <a:ea typeface="Proxima Nova"/>
              <a:cs typeface="Proxima Nova"/>
              <a:sym typeface="Proxima Nova"/>
            </a:endParaRPr>
          </a:p>
        </p:txBody>
      </p:sp>
      <p:sp>
        <p:nvSpPr>
          <p:cNvPr id="336" name="Google Shape;336;p46"/>
          <p:cNvSpPr txBox="1"/>
          <p:nvPr/>
        </p:nvSpPr>
        <p:spPr>
          <a:xfrm>
            <a:off x="4953975" y="878800"/>
            <a:ext cx="3555600" cy="310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Alfa Slab One"/>
                <a:ea typeface="Alfa Slab One"/>
                <a:cs typeface="Alfa Slab One"/>
                <a:sym typeface="Alfa Slab One"/>
              </a:rPr>
              <a:t>However it’s not all good news</a:t>
            </a:r>
            <a:endParaRPr sz="1800">
              <a:solidFill>
                <a:schemeClr val="dk2"/>
              </a:solidFill>
              <a:latin typeface="Alfa Slab One"/>
              <a:ea typeface="Alfa Slab One"/>
              <a:cs typeface="Alfa Slab One"/>
              <a:sym typeface="Alfa Slab One"/>
            </a:endParaRPr>
          </a:p>
          <a:p>
            <a:pPr indent="0" lvl="0" marL="0" rtl="0" algn="l">
              <a:spcBef>
                <a:spcPts val="0"/>
              </a:spcBef>
              <a:spcAft>
                <a:spcPts val="0"/>
              </a:spcAft>
              <a:buNone/>
            </a:pPr>
            <a:r>
              <a:t/>
            </a:r>
            <a:endParaRPr sz="1800">
              <a:solidFill>
                <a:schemeClr val="dk2"/>
              </a:solidFill>
              <a:latin typeface="Alfa Slab One"/>
              <a:ea typeface="Alfa Slab One"/>
              <a:cs typeface="Alfa Slab One"/>
              <a:sym typeface="Alfa Slab One"/>
            </a:endParaRPr>
          </a:p>
          <a:p>
            <a:pPr indent="0" lvl="0" marL="0" rtl="0" algn="l">
              <a:spcBef>
                <a:spcPts val="0"/>
              </a:spcBef>
              <a:spcAft>
                <a:spcPts val="0"/>
              </a:spcAft>
              <a:buNone/>
            </a:pPr>
            <a:r>
              <a:t/>
            </a:r>
            <a:endParaRPr sz="1622">
              <a:solidFill>
                <a:schemeClr val="dk2"/>
              </a:solidFill>
              <a:latin typeface="Alfa Slab One"/>
              <a:ea typeface="Alfa Slab One"/>
              <a:cs typeface="Alfa Slab One"/>
              <a:sym typeface="Alfa Slab One"/>
            </a:endParaRPr>
          </a:p>
          <a:p>
            <a:pPr indent="0" lvl="0" marL="0" rtl="0" algn="l">
              <a:spcBef>
                <a:spcPts val="0"/>
              </a:spcBef>
              <a:spcAft>
                <a:spcPts val="0"/>
              </a:spcAft>
              <a:buNone/>
            </a:pPr>
            <a:r>
              <a:rPr lang="en" sz="1622">
                <a:solidFill>
                  <a:schemeClr val="dk2"/>
                </a:solidFill>
                <a:latin typeface="Proxima Nova"/>
                <a:ea typeface="Proxima Nova"/>
                <a:cs typeface="Proxima Nova"/>
                <a:sym typeface="Proxima Nova"/>
              </a:rPr>
              <a:t>If small and interpretable, not as powerful</a:t>
            </a:r>
            <a:endParaRPr sz="1822">
              <a:solidFill>
                <a:schemeClr val="dk1"/>
              </a:solidFill>
              <a:latin typeface="Alfa Slab One"/>
              <a:ea typeface="Alfa Slab One"/>
              <a:cs typeface="Alfa Slab One"/>
              <a:sym typeface="Alfa Slab One"/>
            </a:endParaRPr>
          </a:p>
          <a:p>
            <a:pPr indent="0" lvl="0" marL="0" rtl="0" algn="l">
              <a:spcBef>
                <a:spcPts val="0"/>
              </a:spcBef>
              <a:spcAft>
                <a:spcPts val="0"/>
              </a:spcAft>
              <a:buNone/>
            </a:pPr>
            <a:r>
              <a:t/>
            </a:r>
            <a:endParaRPr sz="1822">
              <a:solidFill>
                <a:schemeClr val="dk1"/>
              </a:solidFill>
              <a:latin typeface="Alfa Slab One"/>
              <a:ea typeface="Alfa Slab One"/>
              <a:cs typeface="Alfa Slab One"/>
              <a:sym typeface="Alfa Slab One"/>
            </a:endParaRPr>
          </a:p>
          <a:p>
            <a:pPr indent="0" lvl="0" marL="0" rtl="0" algn="l">
              <a:spcBef>
                <a:spcPts val="0"/>
              </a:spcBef>
              <a:spcAft>
                <a:spcPts val="0"/>
              </a:spcAft>
              <a:buNone/>
            </a:pPr>
            <a:r>
              <a:rPr lang="en" sz="1822">
                <a:solidFill>
                  <a:schemeClr val="dk1"/>
                </a:solidFill>
                <a:latin typeface="Alfa Slab One"/>
                <a:ea typeface="Alfa Slab One"/>
                <a:cs typeface="Alfa Slab One"/>
                <a:sym typeface="Alfa Slab One"/>
              </a:rPr>
              <a:t>Decision Boundaries</a:t>
            </a:r>
            <a:r>
              <a:rPr lang="en" sz="1622">
                <a:solidFill>
                  <a:schemeClr val="dk2"/>
                </a:solidFill>
                <a:latin typeface="Proxima Nova"/>
                <a:ea typeface="Proxima Nova"/>
                <a:cs typeface="Proxima Nova"/>
                <a:sym typeface="Proxima Nova"/>
              </a:rPr>
              <a:t>: can be ambiguous </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622">
                <a:solidFill>
                  <a:schemeClr val="dk2"/>
                </a:solidFill>
                <a:latin typeface="Proxima Nova"/>
                <a:ea typeface="Proxima Nova"/>
                <a:cs typeface="Proxima Nova"/>
                <a:sym typeface="Proxima Nova"/>
              </a:rPr>
              <a:t>If large, prone to </a:t>
            </a:r>
            <a:r>
              <a:rPr lang="en" sz="1822">
                <a:solidFill>
                  <a:schemeClr val="accent3"/>
                </a:solidFill>
                <a:latin typeface="Alfa Slab One"/>
                <a:ea typeface="Alfa Slab One"/>
                <a:cs typeface="Alfa Slab One"/>
                <a:sym typeface="Alfa Slab One"/>
              </a:rPr>
              <a:t>overfitting</a:t>
            </a:r>
            <a:endParaRPr sz="1622">
              <a:solidFill>
                <a:schemeClr val="accent3"/>
              </a:solidFill>
              <a:latin typeface="Proxima Nova"/>
              <a:ea typeface="Proxima Nova"/>
              <a:cs typeface="Proxima Nova"/>
              <a:sym typeface="Proxima Nov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7"/>
          <p:cNvSpPr txBox="1"/>
          <p:nvPr>
            <p:ph type="title"/>
          </p:nvPr>
        </p:nvSpPr>
        <p:spPr>
          <a:xfrm>
            <a:off x="515825" y="517950"/>
            <a:ext cx="3078600" cy="429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Decision Trees are prone to overfitting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This is because a decision tree can </a:t>
            </a:r>
            <a:r>
              <a:rPr b="1" lang="en" sz="1800">
                <a:solidFill>
                  <a:schemeClr val="dk2"/>
                </a:solidFill>
                <a:latin typeface="Proxima Nova"/>
                <a:ea typeface="Proxima Nova"/>
                <a:cs typeface="Proxima Nova"/>
                <a:sym typeface="Proxima Nova"/>
              </a:rPr>
              <a:t>add splits until every data point in the training set is correctly identified</a:t>
            </a:r>
            <a:r>
              <a:rPr lang="en" sz="1800">
                <a:solidFill>
                  <a:schemeClr val="dk2"/>
                </a:solidFill>
                <a:latin typeface="Proxima Nova"/>
                <a:ea typeface="Proxima Nova"/>
                <a:cs typeface="Proxima Nova"/>
                <a:sym typeface="Proxima Nova"/>
              </a:rPr>
              <a:t>, but this might not represent real patterns</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The performance on the test set suffers due to this</a:t>
            </a:r>
            <a:endParaRPr sz="1800">
              <a:solidFill>
                <a:schemeClr val="dk2"/>
              </a:solidFill>
              <a:latin typeface="Proxima Nova"/>
              <a:ea typeface="Proxima Nova"/>
              <a:cs typeface="Proxima Nova"/>
              <a:sym typeface="Proxima Nova"/>
            </a:endParaRPr>
          </a:p>
        </p:txBody>
      </p:sp>
      <p:sp>
        <p:nvSpPr>
          <p:cNvPr id="342" name="Google Shape;342;p47"/>
          <p:cNvSpPr txBox="1"/>
          <p:nvPr>
            <p:ph type="title"/>
          </p:nvPr>
        </p:nvSpPr>
        <p:spPr>
          <a:xfrm>
            <a:off x="3747525" y="517950"/>
            <a:ext cx="4949700" cy="429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820">
                <a:solidFill>
                  <a:schemeClr val="dk2"/>
                </a:solidFill>
              </a:rPr>
              <a:t>Overfitting</a:t>
            </a:r>
            <a:r>
              <a:rPr lang="en" sz="1820">
                <a:solidFill>
                  <a:schemeClr val="dk2"/>
                </a:solidFill>
                <a:latin typeface="Proxima Nova"/>
                <a:ea typeface="Proxima Nova"/>
                <a:cs typeface="Proxima Nova"/>
                <a:sym typeface="Proxima Nova"/>
              </a:rPr>
              <a:t>: model too specialised to the training data so it learns noise or outliers and has poor performance on unseen data</a:t>
            </a:r>
            <a:endParaRPr sz="1820">
              <a:solidFill>
                <a:schemeClr val="dk2"/>
              </a:solidFill>
              <a:latin typeface="Proxima Nova"/>
              <a:ea typeface="Proxima Nova"/>
              <a:cs typeface="Proxima Nova"/>
              <a:sym typeface="Proxima Nova"/>
            </a:endParaRPr>
          </a:p>
          <a:p>
            <a:pPr indent="0" lvl="0" marL="0" rtl="0" algn="l">
              <a:spcBef>
                <a:spcPts val="0"/>
              </a:spcBef>
              <a:spcAft>
                <a:spcPts val="0"/>
              </a:spcAft>
              <a:buSzPts val="990"/>
              <a:buNone/>
            </a:pPr>
            <a:r>
              <a:t/>
            </a:r>
            <a:endParaRPr sz="1820">
              <a:solidFill>
                <a:schemeClr val="dk2"/>
              </a:solidFill>
              <a:latin typeface="Proxima Nova"/>
              <a:ea typeface="Proxima Nova"/>
              <a:cs typeface="Proxima Nova"/>
              <a:sym typeface="Proxima Nova"/>
            </a:endParaRPr>
          </a:p>
          <a:p>
            <a:pPr indent="0" lvl="0" marL="0" rtl="0" algn="l">
              <a:spcBef>
                <a:spcPts val="0"/>
              </a:spcBef>
              <a:spcAft>
                <a:spcPts val="0"/>
              </a:spcAft>
              <a:buSzPts val="990"/>
              <a:buNone/>
            </a:pPr>
            <a:r>
              <a:rPr lang="en" sz="1820">
                <a:solidFill>
                  <a:schemeClr val="dk2"/>
                </a:solidFill>
                <a:latin typeface="Proxima Nova"/>
                <a:ea typeface="Proxima Nova"/>
                <a:cs typeface="Proxima Nova"/>
                <a:sym typeface="Proxima Nova"/>
              </a:rPr>
              <a:t>Example: decision tree is classifying too perfectly and is </a:t>
            </a:r>
            <a:r>
              <a:rPr b="1" lang="en" sz="1820">
                <a:solidFill>
                  <a:schemeClr val="dk2"/>
                </a:solidFill>
                <a:latin typeface="Proxima Nova"/>
                <a:ea typeface="Proxima Nova"/>
                <a:cs typeface="Proxima Nova"/>
                <a:sym typeface="Proxima Nova"/>
              </a:rPr>
              <a:t>too deep</a:t>
            </a:r>
            <a:endParaRPr b="1" sz="1820">
              <a:solidFill>
                <a:schemeClr val="dk2"/>
              </a:solidFill>
              <a:latin typeface="Proxima Nova"/>
              <a:ea typeface="Proxima Nova"/>
              <a:cs typeface="Proxima Nova"/>
              <a:sym typeface="Proxima Nova"/>
            </a:endParaRPr>
          </a:p>
          <a:p>
            <a:pPr indent="0" lvl="0" marL="0" rtl="0" algn="l">
              <a:spcBef>
                <a:spcPts val="0"/>
              </a:spcBef>
              <a:spcAft>
                <a:spcPts val="0"/>
              </a:spcAft>
              <a:buSzPts val="990"/>
              <a:buNone/>
            </a:pPr>
            <a:r>
              <a:t/>
            </a:r>
            <a:endParaRPr sz="1820">
              <a:solidFill>
                <a:schemeClr val="dk2"/>
              </a:solidFill>
              <a:latin typeface="Proxima Nova"/>
              <a:ea typeface="Proxima Nova"/>
              <a:cs typeface="Proxima Nova"/>
              <a:sym typeface="Proxima Nova"/>
            </a:endParaRPr>
          </a:p>
          <a:p>
            <a:pPr indent="0" lvl="0" marL="0" rtl="0" algn="l">
              <a:spcBef>
                <a:spcPts val="0"/>
              </a:spcBef>
              <a:spcAft>
                <a:spcPts val="0"/>
              </a:spcAft>
              <a:buSzPts val="990"/>
              <a:buNone/>
            </a:pPr>
            <a:r>
              <a:rPr lang="en" sz="1820">
                <a:solidFill>
                  <a:schemeClr val="dk2"/>
                </a:solidFill>
              </a:rPr>
              <a:t>Underfitting</a:t>
            </a:r>
            <a:r>
              <a:rPr lang="en" sz="1820">
                <a:solidFill>
                  <a:schemeClr val="dk2"/>
                </a:solidFill>
                <a:latin typeface="Proxima Nova"/>
                <a:ea typeface="Proxima Nova"/>
                <a:cs typeface="Proxima Nova"/>
                <a:sym typeface="Proxima Nova"/>
              </a:rPr>
              <a:t>: model isn’t specialised enough to the training data so it has poor performance on both training and unseen data</a:t>
            </a:r>
            <a:endParaRPr sz="1820">
              <a:solidFill>
                <a:schemeClr val="dk2"/>
              </a:solidFill>
              <a:latin typeface="Proxima Nova"/>
              <a:ea typeface="Proxima Nova"/>
              <a:cs typeface="Proxima Nova"/>
              <a:sym typeface="Proxima Nova"/>
            </a:endParaRPr>
          </a:p>
          <a:p>
            <a:pPr indent="0" lvl="0" marL="0" rtl="0" algn="l">
              <a:spcBef>
                <a:spcPts val="0"/>
              </a:spcBef>
              <a:spcAft>
                <a:spcPts val="0"/>
              </a:spcAft>
              <a:buSzPts val="990"/>
              <a:buNone/>
            </a:pPr>
            <a:r>
              <a:t/>
            </a:r>
            <a:endParaRPr sz="1820">
              <a:solidFill>
                <a:schemeClr val="dk2"/>
              </a:solidFill>
              <a:latin typeface="Proxima Nova"/>
              <a:ea typeface="Proxima Nova"/>
              <a:cs typeface="Proxima Nova"/>
              <a:sym typeface="Proxima Nova"/>
            </a:endParaRPr>
          </a:p>
          <a:p>
            <a:pPr indent="0" lvl="0" marL="0" rtl="0" algn="l">
              <a:spcBef>
                <a:spcPts val="0"/>
              </a:spcBef>
              <a:spcAft>
                <a:spcPts val="0"/>
              </a:spcAft>
              <a:buSzPts val="990"/>
              <a:buNone/>
            </a:pPr>
            <a:r>
              <a:rPr lang="en" sz="1820">
                <a:solidFill>
                  <a:schemeClr val="dk2"/>
                </a:solidFill>
                <a:latin typeface="Proxima Nova"/>
                <a:ea typeface="Proxima Nova"/>
                <a:cs typeface="Proxima Nova"/>
                <a:sym typeface="Proxima Nova"/>
              </a:rPr>
              <a:t>Example: decision tree asks too few questions and is </a:t>
            </a:r>
            <a:r>
              <a:rPr b="1" lang="en" sz="1820">
                <a:solidFill>
                  <a:schemeClr val="dk2"/>
                </a:solidFill>
                <a:latin typeface="Proxima Nova"/>
                <a:ea typeface="Proxima Nova"/>
                <a:cs typeface="Proxima Nova"/>
                <a:sym typeface="Proxima Nova"/>
              </a:rPr>
              <a:t>too shallow</a:t>
            </a:r>
            <a:endParaRPr b="1" sz="1820">
              <a:solidFill>
                <a:schemeClr val="dk2"/>
              </a:solidFill>
              <a:latin typeface="Proxima Nova"/>
              <a:ea typeface="Proxima Nova"/>
              <a:cs typeface="Proxima Nova"/>
              <a:sym typeface="Proxima Nova"/>
            </a:endParaRPr>
          </a:p>
          <a:p>
            <a:pPr indent="0" lvl="0" marL="0" rtl="0" algn="l">
              <a:spcBef>
                <a:spcPts val="0"/>
              </a:spcBef>
              <a:spcAft>
                <a:spcPts val="0"/>
              </a:spcAft>
              <a:buSzPts val="990"/>
              <a:buNone/>
            </a:pPr>
            <a:r>
              <a:t/>
            </a:r>
            <a:endParaRPr sz="1820">
              <a:solidFill>
                <a:schemeClr val="dk2"/>
              </a:solidFill>
              <a:latin typeface="Proxima Nova"/>
              <a:ea typeface="Proxima Nova"/>
              <a:cs typeface="Proxima Nova"/>
              <a:sym typeface="Proxima Nova"/>
            </a:endParaRPr>
          </a:p>
          <a:p>
            <a:pPr indent="0" lvl="0" marL="0" rtl="0" algn="l">
              <a:spcBef>
                <a:spcPts val="0"/>
              </a:spcBef>
              <a:spcAft>
                <a:spcPts val="0"/>
              </a:spcAft>
              <a:buSzPts val="990"/>
              <a:buNone/>
            </a:pPr>
            <a:r>
              <a:t/>
            </a:r>
            <a:endParaRPr sz="1820">
              <a:solidFill>
                <a:schemeClr val="dk2"/>
              </a:solidFill>
              <a:latin typeface="Proxima Nova"/>
              <a:ea typeface="Proxima Nova"/>
              <a:cs typeface="Proxima Nova"/>
              <a:sym typeface="Proxima Nov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346" name="Shape 346"/>
        <p:cNvGrpSpPr/>
        <p:nvPr/>
      </p:nvGrpSpPr>
      <p:grpSpPr>
        <a:xfrm>
          <a:off x="0" y="0"/>
          <a:ext cx="0" cy="0"/>
          <a:chOff x="0" y="0"/>
          <a:chExt cx="0" cy="0"/>
        </a:xfrm>
      </p:grpSpPr>
      <p:pic>
        <p:nvPicPr>
          <p:cNvPr id="347" name="Google Shape;347;p48"/>
          <p:cNvPicPr preferRelativeResize="0"/>
          <p:nvPr/>
        </p:nvPicPr>
        <p:blipFill>
          <a:blip r:embed="rId3">
            <a:alphaModFix/>
          </a:blip>
          <a:stretch>
            <a:fillRect/>
          </a:stretch>
        </p:blipFill>
        <p:spPr>
          <a:xfrm>
            <a:off x="4572000" y="682650"/>
            <a:ext cx="4088725" cy="3127000"/>
          </a:xfrm>
          <a:prstGeom prst="rect">
            <a:avLst/>
          </a:prstGeom>
          <a:noFill/>
          <a:ln>
            <a:noFill/>
          </a:ln>
        </p:spPr>
      </p:pic>
      <p:sp>
        <p:nvSpPr>
          <p:cNvPr id="348" name="Google Shape;348;p48"/>
          <p:cNvSpPr txBox="1"/>
          <p:nvPr/>
        </p:nvSpPr>
        <p:spPr>
          <a:xfrm>
            <a:off x="500725" y="492575"/>
            <a:ext cx="3991800" cy="18516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5750">
                <a:solidFill>
                  <a:schemeClr val="lt1"/>
                </a:solidFill>
                <a:latin typeface="Staatliches"/>
                <a:ea typeface="Staatliches"/>
                <a:cs typeface="Staatliches"/>
                <a:sym typeface="Staatliches"/>
              </a:rPr>
              <a:t>Exercise </a:t>
            </a:r>
            <a:endParaRPr b="1" sz="5750">
              <a:solidFill>
                <a:schemeClr val="lt1"/>
              </a:solidFill>
              <a:latin typeface="Staatliches"/>
              <a:ea typeface="Staatliches"/>
              <a:cs typeface="Staatliches"/>
              <a:sym typeface="Staatliches"/>
            </a:endParaRPr>
          </a:p>
          <a:p>
            <a:pPr indent="0" lvl="0" marL="0" rtl="0" algn="l">
              <a:lnSpc>
                <a:spcPct val="80000"/>
              </a:lnSpc>
              <a:spcBef>
                <a:spcPts val="0"/>
              </a:spcBef>
              <a:spcAft>
                <a:spcPts val="0"/>
              </a:spcAft>
              <a:buNone/>
            </a:pPr>
            <a:r>
              <a:rPr lang="en" u="sng">
                <a:solidFill>
                  <a:schemeClr val="lt1"/>
                </a:solidFill>
              </a:rPr>
              <a:t>Goldilocks and the 3 Tree Algorithms</a:t>
            </a:r>
            <a:r>
              <a:rPr lang="en">
                <a:solidFill>
                  <a:schemeClr val="lt1"/>
                </a:solidFill>
              </a:rPr>
              <a:t>: the following plot shows data points with two scores, and the decision of whether or not each student was admitted to a program</a:t>
            </a:r>
            <a:endParaRPr>
              <a:solidFill>
                <a:schemeClr val="lt1"/>
              </a:solidFill>
            </a:endParaRPr>
          </a:p>
          <a:p>
            <a:pPr indent="0" lvl="0" marL="0" rtl="0" algn="l">
              <a:spcBef>
                <a:spcPts val="0"/>
              </a:spcBef>
              <a:spcAft>
                <a:spcPts val="0"/>
              </a:spcAft>
              <a:buNone/>
            </a:pPr>
            <a:r>
              <a:t/>
            </a:r>
            <a:endParaRPr sz="1750">
              <a:solidFill>
                <a:schemeClr val="lt1"/>
              </a:solidFill>
              <a:latin typeface="Proxima Nova"/>
              <a:ea typeface="Proxima Nova"/>
              <a:cs typeface="Proxima Nova"/>
              <a:sym typeface="Proxima Nova"/>
            </a:endParaRPr>
          </a:p>
        </p:txBody>
      </p:sp>
      <p:sp>
        <p:nvSpPr>
          <p:cNvPr id="349" name="Google Shape;349;p48"/>
          <p:cNvSpPr txBox="1"/>
          <p:nvPr/>
        </p:nvSpPr>
        <p:spPr>
          <a:xfrm>
            <a:off x="533525" y="2191100"/>
            <a:ext cx="2815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Draw a </a:t>
            </a:r>
            <a:r>
              <a:rPr b="1" lang="en">
                <a:solidFill>
                  <a:schemeClr val="lt1"/>
                </a:solidFill>
                <a:latin typeface="Proxima Nova"/>
                <a:ea typeface="Proxima Nova"/>
                <a:cs typeface="Proxima Nova"/>
                <a:sym typeface="Proxima Nova"/>
              </a:rPr>
              <a:t>decision boundary</a:t>
            </a:r>
            <a:r>
              <a:rPr lang="en">
                <a:solidFill>
                  <a:schemeClr val="lt1"/>
                </a:solidFill>
                <a:latin typeface="Proxima Nova"/>
                <a:ea typeface="Proxima Nova"/>
                <a:cs typeface="Proxima Nova"/>
                <a:sym typeface="Proxima Nova"/>
              </a:rPr>
              <a:t> between </a:t>
            </a:r>
            <a:r>
              <a:rPr b="1" lang="en">
                <a:solidFill>
                  <a:schemeClr val="lt1"/>
                </a:solidFill>
                <a:latin typeface="Proxima Nova"/>
                <a:ea typeface="Proxima Nova"/>
                <a:cs typeface="Proxima Nova"/>
                <a:sym typeface="Proxima Nova"/>
              </a:rPr>
              <a:t>admitted</a:t>
            </a:r>
            <a:r>
              <a:rPr lang="en">
                <a:solidFill>
                  <a:schemeClr val="lt1"/>
                </a:solidFill>
                <a:latin typeface="Proxima Nova"/>
                <a:ea typeface="Proxima Nova"/>
                <a:cs typeface="Proxima Nova"/>
                <a:sym typeface="Proxima Nova"/>
              </a:rPr>
              <a:t> and </a:t>
            </a:r>
            <a:r>
              <a:rPr b="1" lang="en">
                <a:solidFill>
                  <a:schemeClr val="lt1"/>
                </a:solidFill>
                <a:latin typeface="Proxima Nova"/>
                <a:ea typeface="Proxima Nova"/>
                <a:cs typeface="Proxima Nova"/>
                <a:sym typeface="Proxima Nova"/>
              </a:rPr>
              <a:t>not admitted</a:t>
            </a:r>
            <a:r>
              <a:rPr lang="en">
                <a:solidFill>
                  <a:schemeClr val="lt1"/>
                </a:solidFill>
                <a:latin typeface="Proxima Nova"/>
                <a:ea typeface="Proxima Nova"/>
                <a:cs typeface="Proxima Nova"/>
                <a:sym typeface="Proxima Nova"/>
              </a:rPr>
              <a:t> points, which gives an example of:</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AutoNum type="arabicPeriod"/>
            </a:pPr>
            <a:r>
              <a:rPr lang="en">
                <a:solidFill>
                  <a:schemeClr val="lt1"/>
                </a:solidFill>
                <a:latin typeface="Proxima Nova"/>
                <a:ea typeface="Proxima Nova"/>
                <a:cs typeface="Proxima Nova"/>
                <a:sym typeface="Proxima Nova"/>
              </a:rPr>
              <a:t>Underfitting (too harsh)</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AutoNum type="arabicPeriod"/>
            </a:pPr>
            <a:r>
              <a:rPr lang="en">
                <a:solidFill>
                  <a:schemeClr val="lt1"/>
                </a:solidFill>
                <a:latin typeface="Proxima Nova"/>
                <a:ea typeface="Proxima Nova"/>
                <a:cs typeface="Proxima Nova"/>
                <a:sym typeface="Proxima Nova"/>
              </a:rPr>
              <a:t>Overfitting (too fitted)</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AutoNum type="arabicPeriod"/>
            </a:pPr>
            <a:r>
              <a:rPr lang="en">
                <a:solidFill>
                  <a:schemeClr val="lt1"/>
                </a:solidFill>
                <a:latin typeface="Proxima Nova"/>
                <a:ea typeface="Proxima Nova"/>
                <a:cs typeface="Proxima Nova"/>
                <a:sym typeface="Proxima Nova"/>
              </a:rPr>
              <a:t>Appropriate fit</a:t>
            </a:r>
            <a:endParaRPr>
              <a:solidFill>
                <a:schemeClr val="lt1"/>
              </a:solidFill>
              <a:latin typeface="Proxima Nova"/>
              <a:ea typeface="Proxima Nova"/>
              <a:cs typeface="Proxima Nova"/>
              <a:sym typeface="Proxima Nova"/>
            </a:endParaRPr>
          </a:p>
        </p:txBody>
      </p:sp>
      <p:pic>
        <p:nvPicPr>
          <p:cNvPr descr="2 Minute Timer Relaxing Music Lofi Fish Background&#10;Song- https://www.youtube.com/watch?v=Nh_oj5hsAbs&amp;t=41s&#10;&#10;&#10;TAGS&#10;2 minute&#10;2 minute countdown&#10;2 minute lo-fi hiphop timer&#10;2 minute timer&#10;countdown&#10;lo-fi music&#10;lofi study song&#10;study music&#10;study timer&#10;time&#10;timer&#10;working music&#10;2 minute timer with music&#10;2 minute clock&#10;lofi hiphop&#10;relaxing timers&#10;relaxing music&#10;relaxing lofi timer&#10;nature timer&#10;meditation&#10;meditation music&#10;relaxing sleep music&#10;school timer&#10;sleep timer&#10;chill timer&#10;chill music&#10;lofi timer&#10;lofi hiphop timer&#10;lofi hip hop" id="350" name="Google Shape;350;p48" title="2 Minute Timer Relaxing Music Lofi Fish Background">
            <a:hlinkClick r:id="rId4"/>
          </p:cNvPr>
          <p:cNvPicPr preferRelativeResize="0"/>
          <p:nvPr/>
        </p:nvPicPr>
        <p:blipFill>
          <a:blip r:embed="rId5">
            <a:alphaModFix/>
          </a:blip>
          <a:stretch>
            <a:fillRect/>
          </a:stretch>
        </p:blipFill>
        <p:spPr>
          <a:xfrm>
            <a:off x="7690150" y="4289625"/>
            <a:ext cx="909375" cy="511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id="355" name="Google Shape;355;p49"/>
          <p:cNvPicPr preferRelativeResize="0"/>
          <p:nvPr/>
        </p:nvPicPr>
        <p:blipFill>
          <a:blip r:embed="rId3">
            <a:alphaModFix/>
          </a:blip>
          <a:stretch>
            <a:fillRect/>
          </a:stretch>
        </p:blipFill>
        <p:spPr>
          <a:xfrm>
            <a:off x="577625" y="1275000"/>
            <a:ext cx="4686124" cy="3583900"/>
          </a:xfrm>
          <a:prstGeom prst="rect">
            <a:avLst/>
          </a:prstGeom>
          <a:noFill/>
          <a:ln>
            <a:noFill/>
          </a:ln>
        </p:spPr>
      </p:pic>
      <p:sp>
        <p:nvSpPr>
          <p:cNvPr id="356" name="Google Shape;356;p49"/>
          <p:cNvSpPr txBox="1"/>
          <p:nvPr/>
        </p:nvSpPr>
        <p:spPr>
          <a:xfrm>
            <a:off x="272125" y="340175"/>
            <a:ext cx="8748300" cy="12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Alfa Slab One"/>
                <a:ea typeface="Alfa Slab One"/>
                <a:cs typeface="Alfa Slab One"/>
                <a:sym typeface="Alfa Slab One"/>
              </a:rPr>
              <a:t>Goldilocks and the 3 Tree Algorithms: </a:t>
            </a:r>
            <a:r>
              <a:rPr lang="en" sz="1600">
                <a:highlight>
                  <a:srgbClr val="FFFFFF"/>
                </a:highlight>
                <a:latin typeface="Proxima Nova"/>
                <a:ea typeface="Proxima Nova"/>
                <a:cs typeface="Proxima Nova"/>
                <a:sym typeface="Proxima Nova"/>
              </a:rPr>
              <a:t>the following plot shows data points with two scores, and the decision of whether or not each student was admitted to a program</a:t>
            </a:r>
            <a:endParaRPr sz="1600">
              <a:highlight>
                <a:srgbClr val="FFFFFF"/>
              </a:highlight>
              <a:latin typeface="Proxima Nova"/>
              <a:ea typeface="Proxima Nova"/>
              <a:cs typeface="Proxima Nova"/>
              <a:sym typeface="Proxima Nova"/>
            </a:endParaRPr>
          </a:p>
          <a:p>
            <a:pPr indent="0" lvl="0" marL="0" rtl="0" algn="l">
              <a:spcBef>
                <a:spcPts val="0"/>
              </a:spcBef>
              <a:spcAft>
                <a:spcPts val="0"/>
              </a:spcAft>
              <a:buNone/>
            </a:pPr>
            <a:r>
              <a:t/>
            </a:r>
            <a:endParaRPr sz="1750">
              <a:solidFill>
                <a:schemeClr val="dk2"/>
              </a:solidFill>
              <a:latin typeface="Proxima Nova"/>
              <a:ea typeface="Proxima Nova"/>
              <a:cs typeface="Proxima Nova"/>
              <a:sym typeface="Proxima Nova"/>
            </a:endParaRPr>
          </a:p>
        </p:txBody>
      </p:sp>
      <p:sp>
        <p:nvSpPr>
          <p:cNvPr id="357" name="Google Shape;357;p49"/>
          <p:cNvSpPr txBox="1"/>
          <p:nvPr/>
        </p:nvSpPr>
        <p:spPr>
          <a:xfrm>
            <a:off x="5805725" y="1625375"/>
            <a:ext cx="28152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highlight>
                  <a:srgbClr val="FFFFFF"/>
                </a:highlight>
                <a:latin typeface="Proxima Nova"/>
                <a:ea typeface="Proxima Nova"/>
                <a:cs typeface="Proxima Nova"/>
                <a:sym typeface="Proxima Nova"/>
              </a:rPr>
              <a:t>Draw a </a:t>
            </a:r>
            <a:r>
              <a:rPr b="1" lang="en" sz="1600">
                <a:solidFill>
                  <a:schemeClr val="dk2"/>
                </a:solidFill>
                <a:highlight>
                  <a:srgbClr val="FFFFFF"/>
                </a:highlight>
                <a:latin typeface="Proxima Nova"/>
                <a:ea typeface="Proxima Nova"/>
                <a:cs typeface="Proxima Nova"/>
                <a:sym typeface="Proxima Nova"/>
              </a:rPr>
              <a:t>decision boundary</a:t>
            </a:r>
            <a:r>
              <a:rPr lang="en" sz="1600">
                <a:solidFill>
                  <a:schemeClr val="dk2"/>
                </a:solidFill>
                <a:highlight>
                  <a:srgbClr val="FFFFFF"/>
                </a:highlight>
                <a:latin typeface="Proxima Nova"/>
                <a:ea typeface="Proxima Nova"/>
                <a:cs typeface="Proxima Nova"/>
                <a:sym typeface="Proxima Nova"/>
              </a:rPr>
              <a:t> between </a:t>
            </a:r>
            <a:r>
              <a:rPr b="1" lang="en" sz="1600">
                <a:solidFill>
                  <a:schemeClr val="dk2"/>
                </a:solidFill>
                <a:highlight>
                  <a:srgbClr val="FFFFFF"/>
                </a:highlight>
                <a:latin typeface="Proxima Nova"/>
                <a:ea typeface="Proxima Nova"/>
                <a:cs typeface="Proxima Nova"/>
                <a:sym typeface="Proxima Nova"/>
              </a:rPr>
              <a:t>admitted</a:t>
            </a:r>
            <a:r>
              <a:rPr lang="en" sz="1600">
                <a:solidFill>
                  <a:schemeClr val="dk2"/>
                </a:solidFill>
                <a:highlight>
                  <a:srgbClr val="FFFFFF"/>
                </a:highlight>
                <a:latin typeface="Proxima Nova"/>
                <a:ea typeface="Proxima Nova"/>
                <a:cs typeface="Proxima Nova"/>
                <a:sym typeface="Proxima Nova"/>
              </a:rPr>
              <a:t> and </a:t>
            </a:r>
            <a:r>
              <a:rPr b="1" lang="en" sz="1600">
                <a:solidFill>
                  <a:schemeClr val="dk2"/>
                </a:solidFill>
                <a:highlight>
                  <a:srgbClr val="FFFFFF"/>
                </a:highlight>
                <a:latin typeface="Proxima Nova"/>
                <a:ea typeface="Proxima Nova"/>
                <a:cs typeface="Proxima Nova"/>
                <a:sym typeface="Proxima Nova"/>
              </a:rPr>
              <a:t>not admitted</a:t>
            </a:r>
            <a:r>
              <a:rPr lang="en" sz="1600">
                <a:solidFill>
                  <a:schemeClr val="dk2"/>
                </a:solidFill>
                <a:highlight>
                  <a:srgbClr val="FFFFFF"/>
                </a:highlight>
                <a:latin typeface="Proxima Nova"/>
                <a:ea typeface="Proxima Nova"/>
                <a:cs typeface="Proxima Nova"/>
                <a:sym typeface="Proxima Nova"/>
              </a:rPr>
              <a:t> points, which gives an example of:</a:t>
            </a:r>
            <a:endParaRPr sz="1600">
              <a:solidFill>
                <a:schemeClr val="dk2"/>
              </a:solidFill>
              <a:highlight>
                <a:srgbClr val="FFFFFF"/>
              </a:highlight>
              <a:latin typeface="Proxima Nova"/>
              <a:ea typeface="Proxima Nova"/>
              <a:cs typeface="Proxima Nova"/>
              <a:sym typeface="Proxima Nova"/>
            </a:endParaRPr>
          </a:p>
          <a:p>
            <a:pPr indent="0" lvl="0" marL="0" rtl="0" algn="l">
              <a:spcBef>
                <a:spcPts val="0"/>
              </a:spcBef>
              <a:spcAft>
                <a:spcPts val="0"/>
              </a:spcAft>
              <a:buNone/>
            </a:pPr>
            <a:r>
              <a:t/>
            </a:r>
            <a:endParaRPr sz="1600">
              <a:solidFill>
                <a:schemeClr val="dk2"/>
              </a:solidFill>
              <a:highlight>
                <a:srgbClr val="FFFFFF"/>
              </a:highlight>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AutoNum type="arabicPeriod"/>
            </a:pPr>
            <a:r>
              <a:rPr lang="en" sz="1600">
                <a:solidFill>
                  <a:schemeClr val="accent3"/>
                </a:solidFill>
                <a:highlight>
                  <a:srgbClr val="FFFFFF"/>
                </a:highlight>
                <a:latin typeface="Alfa Slab One"/>
                <a:ea typeface="Alfa Slab One"/>
                <a:cs typeface="Alfa Slab One"/>
                <a:sym typeface="Alfa Slab One"/>
              </a:rPr>
              <a:t>Underfitting </a:t>
            </a:r>
            <a:r>
              <a:rPr lang="en" sz="1600">
                <a:solidFill>
                  <a:schemeClr val="dk2"/>
                </a:solidFill>
                <a:highlight>
                  <a:srgbClr val="FFFFFF"/>
                </a:highlight>
                <a:latin typeface="Proxima Nova"/>
                <a:ea typeface="Proxima Nova"/>
                <a:cs typeface="Proxima Nova"/>
                <a:sym typeface="Proxima Nova"/>
              </a:rPr>
              <a:t>(too harsh)</a:t>
            </a:r>
            <a:endParaRPr sz="1600">
              <a:solidFill>
                <a:schemeClr val="dk2"/>
              </a:solidFill>
              <a:highlight>
                <a:srgbClr val="FFFFFF"/>
              </a:highlight>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AutoNum type="arabicPeriod"/>
            </a:pPr>
            <a:r>
              <a:rPr lang="en" sz="1600">
                <a:solidFill>
                  <a:schemeClr val="dk2"/>
                </a:solidFill>
                <a:highlight>
                  <a:srgbClr val="FFFFFF"/>
                </a:highlight>
                <a:latin typeface="Proxima Nova"/>
                <a:ea typeface="Proxima Nova"/>
                <a:cs typeface="Proxima Nova"/>
                <a:sym typeface="Proxima Nova"/>
              </a:rPr>
              <a:t>Overfitting (too fitted)</a:t>
            </a:r>
            <a:endParaRPr sz="1600">
              <a:solidFill>
                <a:schemeClr val="dk2"/>
              </a:solidFill>
              <a:highlight>
                <a:srgbClr val="FFFFFF"/>
              </a:highlight>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AutoNum type="arabicPeriod"/>
            </a:pPr>
            <a:r>
              <a:rPr lang="en" sz="1600">
                <a:solidFill>
                  <a:schemeClr val="dk2"/>
                </a:solidFill>
                <a:highlight>
                  <a:srgbClr val="FFFFFF"/>
                </a:highlight>
                <a:latin typeface="Proxima Nova"/>
                <a:ea typeface="Proxima Nova"/>
                <a:cs typeface="Proxima Nova"/>
                <a:sym typeface="Proxima Nova"/>
              </a:rPr>
              <a:t>Appropriate fit</a:t>
            </a:r>
            <a:endParaRPr sz="1600">
              <a:solidFill>
                <a:schemeClr val="dk2"/>
              </a:solidFill>
              <a:highlight>
                <a:srgbClr val="FFFFFF"/>
              </a:highlight>
              <a:latin typeface="Proxima Nova"/>
              <a:ea typeface="Proxima Nova"/>
              <a:cs typeface="Proxima Nova"/>
              <a:sym typeface="Proxima Nova"/>
            </a:endParaRPr>
          </a:p>
        </p:txBody>
      </p:sp>
      <p:sp>
        <p:nvSpPr>
          <p:cNvPr id="358" name="Google Shape;358;p49"/>
          <p:cNvSpPr/>
          <p:nvPr/>
        </p:nvSpPr>
        <p:spPr>
          <a:xfrm>
            <a:off x="890125" y="1457100"/>
            <a:ext cx="3503850" cy="3095625"/>
          </a:xfrm>
          <a:custGeom>
            <a:rect b="b" l="l" r="r" t="t"/>
            <a:pathLst>
              <a:path extrusionOk="0" h="123825" w="140154">
                <a:moveTo>
                  <a:pt x="0" y="0"/>
                </a:moveTo>
                <a:cubicBezTo>
                  <a:pt x="23359" y="20638"/>
                  <a:pt x="116795" y="103188"/>
                  <a:pt x="140154" y="123825"/>
                </a:cubicBezTo>
              </a:path>
            </a:pathLst>
          </a:custGeom>
          <a:noFill/>
          <a:ln cap="flat" cmpd="sng" w="28575">
            <a:solidFill>
              <a:schemeClr val="accent3"/>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50"/>
          <p:cNvPicPr preferRelativeResize="0"/>
          <p:nvPr/>
        </p:nvPicPr>
        <p:blipFill>
          <a:blip r:embed="rId3">
            <a:alphaModFix/>
          </a:blip>
          <a:stretch>
            <a:fillRect/>
          </a:stretch>
        </p:blipFill>
        <p:spPr>
          <a:xfrm>
            <a:off x="577625" y="1275000"/>
            <a:ext cx="4686124" cy="3583900"/>
          </a:xfrm>
          <a:prstGeom prst="rect">
            <a:avLst/>
          </a:prstGeom>
          <a:noFill/>
          <a:ln>
            <a:noFill/>
          </a:ln>
        </p:spPr>
      </p:pic>
      <p:sp>
        <p:nvSpPr>
          <p:cNvPr id="364" name="Google Shape;364;p50"/>
          <p:cNvSpPr txBox="1"/>
          <p:nvPr/>
        </p:nvSpPr>
        <p:spPr>
          <a:xfrm>
            <a:off x="272125" y="340175"/>
            <a:ext cx="8748300" cy="12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Alfa Slab One"/>
                <a:ea typeface="Alfa Slab One"/>
                <a:cs typeface="Alfa Slab One"/>
                <a:sym typeface="Alfa Slab One"/>
              </a:rPr>
              <a:t>Goldilocks and the 3 Tree Algorithms: </a:t>
            </a:r>
            <a:r>
              <a:rPr lang="en" sz="1600">
                <a:highlight>
                  <a:srgbClr val="FFFFFF"/>
                </a:highlight>
                <a:latin typeface="Proxima Nova"/>
                <a:ea typeface="Proxima Nova"/>
                <a:cs typeface="Proxima Nova"/>
                <a:sym typeface="Proxima Nova"/>
              </a:rPr>
              <a:t>the following plot shows data points with two scores, and the decision of whether or not each student was admitted to a program</a:t>
            </a:r>
            <a:endParaRPr sz="1600">
              <a:highlight>
                <a:srgbClr val="FFFFFF"/>
              </a:highlight>
              <a:latin typeface="Proxima Nova"/>
              <a:ea typeface="Proxima Nova"/>
              <a:cs typeface="Proxima Nova"/>
              <a:sym typeface="Proxima Nova"/>
            </a:endParaRPr>
          </a:p>
          <a:p>
            <a:pPr indent="0" lvl="0" marL="0" rtl="0" algn="l">
              <a:spcBef>
                <a:spcPts val="0"/>
              </a:spcBef>
              <a:spcAft>
                <a:spcPts val="0"/>
              </a:spcAft>
              <a:buNone/>
            </a:pPr>
            <a:r>
              <a:t/>
            </a:r>
            <a:endParaRPr sz="1750">
              <a:solidFill>
                <a:schemeClr val="dk2"/>
              </a:solidFill>
              <a:latin typeface="Proxima Nova"/>
              <a:ea typeface="Proxima Nova"/>
              <a:cs typeface="Proxima Nova"/>
              <a:sym typeface="Proxima Nova"/>
            </a:endParaRPr>
          </a:p>
        </p:txBody>
      </p:sp>
      <p:sp>
        <p:nvSpPr>
          <p:cNvPr id="365" name="Google Shape;365;p50"/>
          <p:cNvSpPr txBox="1"/>
          <p:nvPr/>
        </p:nvSpPr>
        <p:spPr>
          <a:xfrm>
            <a:off x="5805725" y="1625375"/>
            <a:ext cx="28152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highlight>
                  <a:srgbClr val="FFFFFF"/>
                </a:highlight>
                <a:latin typeface="Proxima Nova"/>
                <a:ea typeface="Proxima Nova"/>
                <a:cs typeface="Proxima Nova"/>
                <a:sym typeface="Proxima Nova"/>
              </a:rPr>
              <a:t>Draw a </a:t>
            </a:r>
            <a:r>
              <a:rPr b="1" lang="en" sz="1600">
                <a:solidFill>
                  <a:schemeClr val="dk2"/>
                </a:solidFill>
                <a:highlight>
                  <a:srgbClr val="FFFFFF"/>
                </a:highlight>
                <a:latin typeface="Proxima Nova"/>
                <a:ea typeface="Proxima Nova"/>
                <a:cs typeface="Proxima Nova"/>
                <a:sym typeface="Proxima Nova"/>
              </a:rPr>
              <a:t>decision boundary</a:t>
            </a:r>
            <a:r>
              <a:rPr lang="en" sz="1600">
                <a:solidFill>
                  <a:schemeClr val="dk2"/>
                </a:solidFill>
                <a:highlight>
                  <a:srgbClr val="FFFFFF"/>
                </a:highlight>
                <a:latin typeface="Proxima Nova"/>
                <a:ea typeface="Proxima Nova"/>
                <a:cs typeface="Proxima Nova"/>
                <a:sym typeface="Proxima Nova"/>
              </a:rPr>
              <a:t> between </a:t>
            </a:r>
            <a:r>
              <a:rPr b="1" lang="en" sz="1600">
                <a:solidFill>
                  <a:schemeClr val="dk2"/>
                </a:solidFill>
                <a:highlight>
                  <a:srgbClr val="FFFFFF"/>
                </a:highlight>
                <a:latin typeface="Proxima Nova"/>
                <a:ea typeface="Proxima Nova"/>
                <a:cs typeface="Proxima Nova"/>
                <a:sym typeface="Proxima Nova"/>
              </a:rPr>
              <a:t>admitted</a:t>
            </a:r>
            <a:r>
              <a:rPr lang="en" sz="1600">
                <a:solidFill>
                  <a:schemeClr val="dk2"/>
                </a:solidFill>
                <a:highlight>
                  <a:srgbClr val="FFFFFF"/>
                </a:highlight>
                <a:latin typeface="Proxima Nova"/>
                <a:ea typeface="Proxima Nova"/>
                <a:cs typeface="Proxima Nova"/>
                <a:sym typeface="Proxima Nova"/>
              </a:rPr>
              <a:t> and </a:t>
            </a:r>
            <a:r>
              <a:rPr b="1" lang="en" sz="1600">
                <a:solidFill>
                  <a:schemeClr val="dk2"/>
                </a:solidFill>
                <a:highlight>
                  <a:srgbClr val="FFFFFF"/>
                </a:highlight>
                <a:latin typeface="Proxima Nova"/>
                <a:ea typeface="Proxima Nova"/>
                <a:cs typeface="Proxima Nova"/>
                <a:sym typeface="Proxima Nova"/>
              </a:rPr>
              <a:t>not admitted</a:t>
            </a:r>
            <a:r>
              <a:rPr lang="en" sz="1600">
                <a:solidFill>
                  <a:schemeClr val="dk2"/>
                </a:solidFill>
                <a:highlight>
                  <a:srgbClr val="FFFFFF"/>
                </a:highlight>
                <a:latin typeface="Proxima Nova"/>
                <a:ea typeface="Proxima Nova"/>
                <a:cs typeface="Proxima Nova"/>
                <a:sym typeface="Proxima Nova"/>
              </a:rPr>
              <a:t> points, which gives an example of:</a:t>
            </a:r>
            <a:endParaRPr sz="1600">
              <a:solidFill>
                <a:schemeClr val="dk2"/>
              </a:solidFill>
              <a:highlight>
                <a:srgbClr val="FFFFFF"/>
              </a:highlight>
              <a:latin typeface="Proxima Nova"/>
              <a:ea typeface="Proxima Nova"/>
              <a:cs typeface="Proxima Nova"/>
              <a:sym typeface="Proxima Nova"/>
            </a:endParaRPr>
          </a:p>
          <a:p>
            <a:pPr indent="0" lvl="0" marL="0" rtl="0" algn="l">
              <a:spcBef>
                <a:spcPts val="0"/>
              </a:spcBef>
              <a:spcAft>
                <a:spcPts val="0"/>
              </a:spcAft>
              <a:buNone/>
            </a:pPr>
            <a:r>
              <a:t/>
            </a:r>
            <a:endParaRPr sz="1600">
              <a:solidFill>
                <a:schemeClr val="dk2"/>
              </a:solidFill>
              <a:highlight>
                <a:srgbClr val="FFFFFF"/>
              </a:highlight>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AutoNum type="arabicPeriod"/>
            </a:pPr>
            <a:r>
              <a:rPr lang="en" sz="1600">
                <a:solidFill>
                  <a:schemeClr val="dk2"/>
                </a:solidFill>
                <a:highlight>
                  <a:srgbClr val="FFFFFF"/>
                </a:highlight>
                <a:latin typeface="Proxima Nova"/>
                <a:ea typeface="Proxima Nova"/>
                <a:cs typeface="Proxima Nova"/>
                <a:sym typeface="Proxima Nova"/>
              </a:rPr>
              <a:t>Underfitting (too harsh)</a:t>
            </a:r>
            <a:endParaRPr sz="1600">
              <a:solidFill>
                <a:schemeClr val="dk2"/>
              </a:solidFill>
              <a:highlight>
                <a:srgbClr val="FFFFFF"/>
              </a:highlight>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AutoNum type="arabicPeriod"/>
            </a:pPr>
            <a:r>
              <a:rPr lang="en" sz="1600">
                <a:solidFill>
                  <a:schemeClr val="accent3"/>
                </a:solidFill>
                <a:highlight>
                  <a:srgbClr val="FFFFFF"/>
                </a:highlight>
                <a:latin typeface="Alfa Slab One"/>
                <a:ea typeface="Alfa Slab One"/>
                <a:cs typeface="Alfa Slab One"/>
                <a:sym typeface="Alfa Slab One"/>
              </a:rPr>
              <a:t>Overfitting </a:t>
            </a:r>
            <a:r>
              <a:rPr lang="en" sz="1600">
                <a:solidFill>
                  <a:schemeClr val="dk2"/>
                </a:solidFill>
                <a:highlight>
                  <a:srgbClr val="FFFFFF"/>
                </a:highlight>
                <a:latin typeface="Proxima Nova"/>
                <a:ea typeface="Proxima Nova"/>
                <a:cs typeface="Proxima Nova"/>
                <a:sym typeface="Proxima Nova"/>
              </a:rPr>
              <a:t>(too fitted)</a:t>
            </a:r>
            <a:endParaRPr sz="1600">
              <a:solidFill>
                <a:schemeClr val="dk2"/>
              </a:solidFill>
              <a:highlight>
                <a:srgbClr val="FFFFFF"/>
              </a:highlight>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AutoNum type="arabicPeriod"/>
            </a:pPr>
            <a:r>
              <a:rPr lang="en" sz="1600">
                <a:solidFill>
                  <a:schemeClr val="dk2"/>
                </a:solidFill>
                <a:highlight>
                  <a:srgbClr val="FFFFFF"/>
                </a:highlight>
                <a:latin typeface="Proxima Nova"/>
                <a:ea typeface="Proxima Nova"/>
                <a:cs typeface="Proxima Nova"/>
                <a:sym typeface="Proxima Nova"/>
              </a:rPr>
              <a:t>Appropriate fit</a:t>
            </a:r>
            <a:endParaRPr sz="1600">
              <a:solidFill>
                <a:schemeClr val="dk2"/>
              </a:solidFill>
              <a:highlight>
                <a:srgbClr val="FFFFFF"/>
              </a:highlight>
              <a:latin typeface="Proxima Nova"/>
              <a:ea typeface="Proxima Nova"/>
              <a:cs typeface="Proxima Nova"/>
              <a:sym typeface="Proxima Nova"/>
            </a:endParaRPr>
          </a:p>
        </p:txBody>
      </p:sp>
      <p:sp>
        <p:nvSpPr>
          <p:cNvPr id="366" name="Google Shape;366;p50"/>
          <p:cNvSpPr/>
          <p:nvPr/>
        </p:nvSpPr>
        <p:spPr>
          <a:xfrm>
            <a:off x="1274225" y="1354675"/>
            <a:ext cx="3644900" cy="2806700"/>
          </a:xfrm>
          <a:custGeom>
            <a:rect b="b" l="l" r="r" t="t"/>
            <a:pathLst>
              <a:path extrusionOk="0" h="112268" w="145796">
                <a:moveTo>
                  <a:pt x="145796" y="112268"/>
                </a:moveTo>
                <a:cubicBezTo>
                  <a:pt x="145119" y="111760"/>
                  <a:pt x="144611" y="110151"/>
                  <a:pt x="141732" y="109220"/>
                </a:cubicBezTo>
                <a:cubicBezTo>
                  <a:pt x="138853" y="108289"/>
                  <a:pt x="133011" y="106426"/>
                  <a:pt x="128524" y="106680"/>
                </a:cubicBezTo>
                <a:cubicBezTo>
                  <a:pt x="124037" y="106934"/>
                  <a:pt x="118025" y="111506"/>
                  <a:pt x="114808" y="110744"/>
                </a:cubicBezTo>
                <a:cubicBezTo>
                  <a:pt x="111591" y="109982"/>
                  <a:pt x="111083" y="103463"/>
                  <a:pt x="109220" y="102108"/>
                </a:cubicBezTo>
                <a:cubicBezTo>
                  <a:pt x="107357" y="100753"/>
                  <a:pt x="105325" y="101600"/>
                  <a:pt x="103632" y="102616"/>
                </a:cubicBezTo>
                <a:cubicBezTo>
                  <a:pt x="101939" y="103632"/>
                  <a:pt x="101346" y="108204"/>
                  <a:pt x="99060" y="108204"/>
                </a:cubicBezTo>
                <a:cubicBezTo>
                  <a:pt x="96774" y="108204"/>
                  <a:pt x="93811" y="105156"/>
                  <a:pt x="89916" y="102616"/>
                </a:cubicBezTo>
                <a:cubicBezTo>
                  <a:pt x="86021" y="100076"/>
                  <a:pt x="80603" y="96520"/>
                  <a:pt x="75692" y="92964"/>
                </a:cubicBezTo>
                <a:cubicBezTo>
                  <a:pt x="70781" y="89408"/>
                  <a:pt x="65701" y="83820"/>
                  <a:pt x="60452" y="81280"/>
                </a:cubicBezTo>
                <a:cubicBezTo>
                  <a:pt x="55203" y="78740"/>
                  <a:pt x="47413" y="79163"/>
                  <a:pt x="44196" y="77724"/>
                </a:cubicBezTo>
                <a:cubicBezTo>
                  <a:pt x="40979" y="76285"/>
                  <a:pt x="41995" y="74930"/>
                  <a:pt x="41148" y="72644"/>
                </a:cubicBezTo>
                <a:cubicBezTo>
                  <a:pt x="40301" y="70358"/>
                  <a:pt x="40809" y="66717"/>
                  <a:pt x="39116" y="64008"/>
                </a:cubicBezTo>
                <a:cubicBezTo>
                  <a:pt x="37423" y="61299"/>
                  <a:pt x="33528" y="58759"/>
                  <a:pt x="30988" y="56388"/>
                </a:cubicBezTo>
                <a:cubicBezTo>
                  <a:pt x="28448" y="54017"/>
                  <a:pt x="25400" y="52747"/>
                  <a:pt x="23876" y="49784"/>
                </a:cubicBezTo>
                <a:cubicBezTo>
                  <a:pt x="22352" y="46821"/>
                  <a:pt x="24807" y="41910"/>
                  <a:pt x="21844" y="38608"/>
                </a:cubicBezTo>
                <a:cubicBezTo>
                  <a:pt x="18881" y="35306"/>
                  <a:pt x="9483" y="33105"/>
                  <a:pt x="6096" y="29972"/>
                </a:cubicBezTo>
                <a:cubicBezTo>
                  <a:pt x="2709" y="26839"/>
                  <a:pt x="2540" y="24807"/>
                  <a:pt x="1524" y="19812"/>
                </a:cubicBezTo>
                <a:cubicBezTo>
                  <a:pt x="508" y="14817"/>
                  <a:pt x="254" y="3302"/>
                  <a:pt x="0" y="0"/>
                </a:cubicBezTo>
              </a:path>
            </a:pathLst>
          </a:custGeom>
          <a:noFill/>
          <a:ln cap="flat" cmpd="sng" w="28575">
            <a:solidFill>
              <a:schemeClr val="accent3"/>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51"/>
          <p:cNvPicPr preferRelativeResize="0"/>
          <p:nvPr/>
        </p:nvPicPr>
        <p:blipFill>
          <a:blip r:embed="rId3">
            <a:alphaModFix/>
          </a:blip>
          <a:stretch>
            <a:fillRect/>
          </a:stretch>
        </p:blipFill>
        <p:spPr>
          <a:xfrm>
            <a:off x="577625" y="1275000"/>
            <a:ext cx="4686124" cy="3583900"/>
          </a:xfrm>
          <a:prstGeom prst="rect">
            <a:avLst/>
          </a:prstGeom>
          <a:noFill/>
          <a:ln>
            <a:noFill/>
          </a:ln>
        </p:spPr>
      </p:pic>
      <p:sp>
        <p:nvSpPr>
          <p:cNvPr id="372" name="Google Shape;372;p51"/>
          <p:cNvSpPr txBox="1"/>
          <p:nvPr/>
        </p:nvSpPr>
        <p:spPr>
          <a:xfrm>
            <a:off x="272125" y="340175"/>
            <a:ext cx="8748300" cy="12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Alfa Slab One"/>
                <a:ea typeface="Alfa Slab One"/>
                <a:cs typeface="Alfa Slab One"/>
                <a:sym typeface="Alfa Slab One"/>
              </a:rPr>
              <a:t>Goldilocks and the 3 Tree Algorithms: </a:t>
            </a:r>
            <a:r>
              <a:rPr lang="en" sz="1600">
                <a:highlight>
                  <a:srgbClr val="FFFFFF"/>
                </a:highlight>
                <a:latin typeface="Proxima Nova"/>
                <a:ea typeface="Proxima Nova"/>
                <a:cs typeface="Proxima Nova"/>
                <a:sym typeface="Proxima Nova"/>
              </a:rPr>
              <a:t>the following plot shows data points with two scores, and the decision of whether or not each student was admitted to a program</a:t>
            </a:r>
            <a:endParaRPr sz="1600">
              <a:highlight>
                <a:srgbClr val="FFFFFF"/>
              </a:highlight>
              <a:latin typeface="Proxima Nova"/>
              <a:ea typeface="Proxima Nova"/>
              <a:cs typeface="Proxima Nova"/>
              <a:sym typeface="Proxima Nova"/>
            </a:endParaRPr>
          </a:p>
          <a:p>
            <a:pPr indent="0" lvl="0" marL="0" rtl="0" algn="l">
              <a:spcBef>
                <a:spcPts val="0"/>
              </a:spcBef>
              <a:spcAft>
                <a:spcPts val="0"/>
              </a:spcAft>
              <a:buNone/>
            </a:pPr>
            <a:r>
              <a:t/>
            </a:r>
            <a:endParaRPr sz="1750">
              <a:solidFill>
                <a:schemeClr val="dk2"/>
              </a:solidFill>
              <a:latin typeface="Proxima Nova"/>
              <a:ea typeface="Proxima Nova"/>
              <a:cs typeface="Proxima Nova"/>
              <a:sym typeface="Proxima Nova"/>
            </a:endParaRPr>
          </a:p>
        </p:txBody>
      </p:sp>
      <p:sp>
        <p:nvSpPr>
          <p:cNvPr id="373" name="Google Shape;373;p51"/>
          <p:cNvSpPr txBox="1"/>
          <p:nvPr/>
        </p:nvSpPr>
        <p:spPr>
          <a:xfrm>
            <a:off x="5805725" y="1625375"/>
            <a:ext cx="28152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highlight>
                  <a:srgbClr val="FFFFFF"/>
                </a:highlight>
                <a:latin typeface="Proxima Nova"/>
                <a:ea typeface="Proxima Nova"/>
                <a:cs typeface="Proxima Nova"/>
                <a:sym typeface="Proxima Nova"/>
              </a:rPr>
              <a:t>Draw a </a:t>
            </a:r>
            <a:r>
              <a:rPr b="1" lang="en" sz="1600">
                <a:solidFill>
                  <a:schemeClr val="dk2"/>
                </a:solidFill>
                <a:highlight>
                  <a:srgbClr val="FFFFFF"/>
                </a:highlight>
                <a:latin typeface="Proxima Nova"/>
                <a:ea typeface="Proxima Nova"/>
                <a:cs typeface="Proxima Nova"/>
                <a:sym typeface="Proxima Nova"/>
              </a:rPr>
              <a:t>decision boundary</a:t>
            </a:r>
            <a:r>
              <a:rPr lang="en" sz="1600">
                <a:solidFill>
                  <a:schemeClr val="dk2"/>
                </a:solidFill>
                <a:highlight>
                  <a:srgbClr val="FFFFFF"/>
                </a:highlight>
                <a:latin typeface="Proxima Nova"/>
                <a:ea typeface="Proxima Nova"/>
                <a:cs typeface="Proxima Nova"/>
                <a:sym typeface="Proxima Nova"/>
              </a:rPr>
              <a:t> between </a:t>
            </a:r>
            <a:r>
              <a:rPr b="1" lang="en" sz="1600">
                <a:solidFill>
                  <a:schemeClr val="dk2"/>
                </a:solidFill>
                <a:highlight>
                  <a:srgbClr val="FFFFFF"/>
                </a:highlight>
                <a:latin typeface="Proxima Nova"/>
                <a:ea typeface="Proxima Nova"/>
                <a:cs typeface="Proxima Nova"/>
                <a:sym typeface="Proxima Nova"/>
              </a:rPr>
              <a:t>admitted</a:t>
            </a:r>
            <a:r>
              <a:rPr lang="en" sz="1600">
                <a:solidFill>
                  <a:schemeClr val="dk2"/>
                </a:solidFill>
                <a:highlight>
                  <a:srgbClr val="FFFFFF"/>
                </a:highlight>
                <a:latin typeface="Proxima Nova"/>
                <a:ea typeface="Proxima Nova"/>
                <a:cs typeface="Proxima Nova"/>
                <a:sym typeface="Proxima Nova"/>
              </a:rPr>
              <a:t> and </a:t>
            </a:r>
            <a:r>
              <a:rPr b="1" lang="en" sz="1600">
                <a:solidFill>
                  <a:schemeClr val="dk2"/>
                </a:solidFill>
                <a:highlight>
                  <a:srgbClr val="FFFFFF"/>
                </a:highlight>
                <a:latin typeface="Proxima Nova"/>
                <a:ea typeface="Proxima Nova"/>
                <a:cs typeface="Proxima Nova"/>
                <a:sym typeface="Proxima Nova"/>
              </a:rPr>
              <a:t>not admitted</a:t>
            </a:r>
            <a:r>
              <a:rPr lang="en" sz="1600">
                <a:solidFill>
                  <a:schemeClr val="dk2"/>
                </a:solidFill>
                <a:highlight>
                  <a:srgbClr val="FFFFFF"/>
                </a:highlight>
                <a:latin typeface="Proxima Nova"/>
                <a:ea typeface="Proxima Nova"/>
                <a:cs typeface="Proxima Nova"/>
                <a:sym typeface="Proxima Nova"/>
              </a:rPr>
              <a:t> points, which gives an example of:</a:t>
            </a:r>
            <a:endParaRPr sz="1600">
              <a:solidFill>
                <a:schemeClr val="dk2"/>
              </a:solidFill>
              <a:highlight>
                <a:srgbClr val="FFFFFF"/>
              </a:highlight>
              <a:latin typeface="Proxima Nova"/>
              <a:ea typeface="Proxima Nova"/>
              <a:cs typeface="Proxima Nova"/>
              <a:sym typeface="Proxima Nova"/>
            </a:endParaRPr>
          </a:p>
          <a:p>
            <a:pPr indent="0" lvl="0" marL="0" rtl="0" algn="l">
              <a:spcBef>
                <a:spcPts val="0"/>
              </a:spcBef>
              <a:spcAft>
                <a:spcPts val="0"/>
              </a:spcAft>
              <a:buNone/>
            </a:pPr>
            <a:r>
              <a:t/>
            </a:r>
            <a:endParaRPr sz="1600">
              <a:solidFill>
                <a:schemeClr val="dk2"/>
              </a:solidFill>
              <a:highlight>
                <a:srgbClr val="FFFFFF"/>
              </a:highlight>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AutoNum type="arabicPeriod"/>
            </a:pPr>
            <a:r>
              <a:rPr lang="en" sz="1600">
                <a:solidFill>
                  <a:schemeClr val="dk2"/>
                </a:solidFill>
                <a:highlight>
                  <a:srgbClr val="FFFFFF"/>
                </a:highlight>
                <a:latin typeface="Proxima Nova"/>
                <a:ea typeface="Proxima Nova"/>
                <a:cs typeface="Proxima Nova"/>
                <a:sym typeface="Proxima Nova"/>
              </a:rPr>
              <a:t>Underfitting (too harsh)</a:t>
            </a:r>
            <a:endParaRPr sz="1600">
              <a:solidFill>
                <a:schemeClr val="dk2"/>
              </a:solidFill>
              <a:highlight>
                <a:srgbClr val="FFFFFF"/>
              </a:highlight>
              <a:latin typeface="Proxima Nova"/>
              <a:ea typeface="Proxima Nova"/>
              <a:cs typeface="Proxima Nova"/>
              <a:sym typeface="Proxima Nova"/>
            </a:endParaRPr>
          </a:p>
          <a:p>
            <a:pPr indent="-330200" lvl="0" marL="457200" rtl="0" algn="l">
              <a:spcBef>
                <a:spcPts val="0"/>
              </a:spcBef>
              <a:spcAft>
                <a:spcPts val="0"/>
              </a:spcAft>
              <a:buClr>
                <a:schemeClr val="dk2"/>
              </a:buClr>
              <a:buSzPts val="1600"/>
              <a:buFont typeface="Proxima Nova"/>
              <a:buAutoNum type="arabicPeriod"/>
            </a:pPr>
            <a:r>
              <a:rPr lang="en" sz="1600">
                <a:solidFill>
                  <a:schemeClr val="dk2"/>
                </a:solidFill>
                <a:highlight>
                  <a:srgbClr val="FFFFFF"/>
                </a:highlight>
                <a:latin typeface="Proxima Nova"/>
                <a:ea typeface="Proxima Nova"/>
                <a:cs typeface="Proxima Nova"/>
                <a:sym typeface="Proxima Nova"/>
              </a:rPr>
              <a:t>Overfitting (too fitted)</a:t>
            </a:r>
            <a:endParaRPr sz="1600">
              <a:solidFill>
                <a:schemeClr val="dk2"/>
              </a:solidFill>
              <a:highlight>
                <a:srgbClr val="FFFFFF"/>
              </a:highlight>
              <a:latin typeface="Proxima Nova"/>
              <a:ea typeface="Proxima Nova"/>
              <a:cs typeface="Proxima Nova"/>
              <a:sym typeface="Proxima Nova"/>
            </a:endParaRPr>
          </a:p>
          <a:p>
            <a:pPr indent="-330200" lvl="0" marL="457200" rtl="0" algn="l">
              <a:spcBef>
                <a:spcPts val="0"/>
              </a:spcBef>
              <a:spcAft>
                <a:spcPts val="0"/>
              </a:spcAft>
              <a:buClr>
                <a:schemeClr val="accent3"/>
              </a:buClr>
              <a:buSzPts val="1600"/>
              <a:buFont typeface="Alfa Slab One"/>
              <a:buAutoNum type="arabicPeriod"/>
            </a:pPr>
            <a:r>
              <a:rPr lang="en" sz="1600">
                <a:solidFill>
                  <a:schemeClr val="accent3"/>
                </a:solidFill>
                <a:highlight>
                  <a:srgbClr val="FFFFFF"/>
                </a:highlight>
                <a:latin typeface="Alfa Slab One"/>
                <a:ea typeface="Alfa Slab One"/>
                <a:cs typeface="Alfa Slab One"/>
                <a:sym typeface="Alfa Slab One"/>
              </a:rPr>
              <a:t>Appropriate fit</a:t>
            </a:r>
            <a:endParaRPr sz="1600">
              <a:solidFill>
                <a:schemeClr val="accent3"/>
              </a:solidFill>
              <a:highlight>
                <a:srgbClr val="FFFFFF"/>
              </a:highlight>
              <a:latin typeface="Alfa Slab One"/>
              <a:ea typeface="Alfa Slab One"/>
              <a:cs typeface="Alfa Slab One"/>
              <a:sym typeface="Alfa Slab One"/>
            </a:endParaRPr>
          </a:p>
        </p:txBody>
      </p:sp>
      <p:sp>
        <p:nvSpPr>
          <p:cNvPr id="374" name="Google Shape;374;p51"/>
          <p:cNvSpPr/>
          <p:nvPr/>
        </p:nvSpPr>
        <p:spPr>
          <a:xfrm>
            <a:off x="1198025" y="1380075"/>
            <a:ext cx="3746500" cy="2717800"/>
          </a:xfrm>
          <a:custGeom>
            <a:rect b="b" l="l" r="r" t="t"/>
            <a:pathLst>
              <a:path extrusionOk="0" h="108712" w="149860">
                <a:moveTo>
                  <a:pt x="0" y="0"/>
                </a:moveTo>
                <a:cubicBezTo>
                  <a:pt x="5503" y="10160"/>
                  <a:pt x="21675" y="45974"/>
                  <a:pt x="33020" y="60960"/>
                </a:cubicBezTo>
                <a:cubicBezTo>
                  <a:pt x="44365" y="75946"/>
                  <a:pt x="53255" y="82042"/>
                  <a:pt x="68072" y="89916"/>
                </a:cubicBezTo>
                <a:cubicBezTo>
                  <a:pt x="82889" y="97790"/>
                  <a:pt x="108289" y="106172"/>
                  <a:pt x="121920" y="108204"/>
                </a:cubicBezTo>
                <a:cubicBezTo>
                  <a:pt x="135551" y="110236"/>
                  <a:pt x="145203" y="103124"/>
                  <a:pt x="149860" y="102108"/>
                </a:cubicBezTo>
              </a:path>
            </a:pathLst>
          </a:custGeom>
          <a:noFill/>
          <a:ln cap="flat" cmpd="sng" w="28575">
            <a:solidFill>
              <a:schemeClr val="accent3"/>
            </a:solidFill>
            <a:prstDash val="solid"/>
            <a:round/>
            <a:headEnd len="med" w="med" type="none"/>
            <a:tailEnd len="med" w="med" type="none"/>
          </a:ln>
        </p:spPr>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378" name="Shape 378"/>
        <p:cNvGrpSpPr/>
        <p:nvPr/>
      </p:nvGrpSpPr>
      <p:grpSpPr>
        <a:xfrm>
          <a:off x="0" y="0"/>
          <a:ext cx="0" cy="0"/>
          <a:chOff x="0" y="0"/>
          <a:chExt cx="0" cy="0"/>
        </a:xfrm>
      </p:grpSpPr>
      <p:sp>
        <p:nvSpPr>
          <p:cNvPr id="379" name="Google Shape;379;p52"/>
          <p:cNvSpPr txBox="1"/>
          <p:nvPr>
            <p:ph type="title"/>
          </p:nvPr>
        </p:nvSpPr>
        <p:spPr>
          <a:xfrm>
            <a:off x="404225" y="260375"/>
            <a:ext cx="4559100" cy="149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lt1"/>
                </a:solidFill>
              </a:rPr>
              <a:t>How to find good fits?</a:t>
            </a:r>
            <a:endParaRPr sz="1400">
              <a:solidFill>
                <a:schemeClr val="lt1"/>
              </a:solidFill>
            </a:endParaRPr>
          </a:p>
          <a:p>
            <a:pPr indent="0" lvl="0" marL="0" rtl="0" algn="l">
              <a:spcBef>
                <a:spcPts val="0"/>
              </a:spcBef>
              <a:spcAft>
                <a:spcPts val="0"/>
              </a:spcAft>
              <a:buNone/>
            </a:pPr>
            <a:r>
              <a:rPr lang="en" sz="1400">
                <a:solidFill>
                  <a:schemeClr val="lt1"/>
                </a:solidFill>
                <a:latin typeface="Proxima Nova"/>
                <a:ea typeface="Proxima Nova"/>
                <a:cs typeface="Proxima Nova"/>
                <a:sym typeface="Proxima Nova"/>
              </a:rPr>
              <a:t>Just like deciding best k for k-means clustering, we will use parameters for the decision tree to get best fit</a:t>
            </a:r>
            <a:endParaRPr sz="14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4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4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4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400">
              <a:solidFill>
                <a:schemeClr val="lt1"/>
              </a:solidFill>
              <a:latin typeface="Proxima Nova"/>
              <a:ea typeface="Proxima Nova"/>
              <a:cs typeface="Proxima Nova"/>
              <a:sym typeface="Proxima Nova"/>
            </a:endParaRPr>
          </a:p>
        </p:txBody>
      </p:sp>
      <p:sp>
        <p:nvSpPr>
          <p:cNvPr id="380" name="Google Shape;380;p52"/>
          <p:cNvSpPr txBox="1"/>
          <p:nvPr>
            <p:ph type="title"/>
          </p:nvPr>
        </p:nvSpPr>
        <p:spPr>
          <a:xfrm>
            <a:off x="447275" y="1147175"/>
            <a:ext cx="4024200" cy="21033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b="1" lang="en" sz="5750">
                <a:solidFill>
                  <a:schemeClr val="lt1"/>
                </a:solidFill>
                <a:latin typeface="Staatliches"/>
                <a:ea typeface="Staatliches"/>
                <a:cs typeface="Staatliches"/>
                <a:sym typeface="Staatliches"/>
              </a:rPr>
              <a:t>EXERCISE</a:t>
            </a:r>
            <a:endParaRPr sz="1400">
              <a:solidFill>
                <a:schemeClr val="lt1"/>
              </a:solidFill>
            </a:endParaRPr>
          </a:p>
          <a:p>
            <a:pPr indent="0" lvl="0" marL="0" rtl="0" algn="l">
              <a:spcBef>
                <a:spcPts val="0"/>
              </a:spcBef>
              <a:spcAft>
                <a:spcPts val="0"/>
              </a:spcAft>
              <a:buNone/>
            </a:pPr>
            <a:r>
              <a:t/>
            </a:r>
            <a:endParaRPr sz="1400">
              <a:solidFill>
                <a:schemeClr val="lt1"/>
              </a:solidFill>
            </a:endParaRPr>
          </a:p>
          <a:p>
            <a:pPr indent="0" lvl="0" marL="0" rtl="0" algn="l">
              <a:spcBef>
                <a:spcPts val="0"/>
              </a:spcBef>
              <a:spcAft>
                <a:spcPts val="0"/>
              </a:spcAft>
              <a:buNone/>
            </a:pPr>
            <a:r>
              <a:rPr lang="en" sz="1400">
                <a:solidFill>
                  <a:schemeClr val="lt1"/>
                </a:solidFill>
                <a:latin typeface="Proxima Nova"/>
                <a:ea typeface="Proxima Nova"/>
                <a:cs typeface="Proxima Nova"/>
                <a:sym typeface="Proxima Nova"/>
              </a:rPr>
              <a:t>The plot shows accuracy of models trained with different values of a parameter </a:t>
            </a:r>
            <a:r>
              <a:rPr lang="en" sz="1400">
                <a:solidFill>
                  <a:schemeClr val="lt1"/>
                </a:solidFill>
              </a:rPr>
              <a:t>p</a:t>
            </a:r>
            <a:r>
              <a:rPr lang="en" sz="1400">
                <a:solidFill>
                  <a:schemeClr val="lt1"/>
                </a:solidFill>
                <a:latin typeface="Proxima Nova"/>
                <a:ea typeface="Proxima Nova"/>
                <a:cs typeface="Proxima Nova"/>
                <a:sym typeface="Proxima Nova"/>
              </a:rPr>
              <a:t>. </a:t>
            </a:r>
            <a:endParaRPr sz="14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b="1" sz="14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400">
                <a:solidFill>
                  <a:schemeClr val="lt1"/>
                </a:solidFill>
                <a:latin typeface="Proxima Nova"/>
                <a:ea typeface="Proxima Nova"/>
                <a:cs typeface="Proxima Nova"/>
                <a:sym typeface="Proxima Nova"/>
              </a:rPr>
              <a:t>What is the </a:t>
            </a:r>
            <a:r>
              <a:rPr b="1" lang="en" sz="1400">
                <a:solidFill>
                  <a:srgbClr val="A9AA35"/>
                </a:solidFill>
                <a:latin typeface="Proxima Nova"/>
                <a:ea typeface="Proxima Nova"/>
                <a:cs typeface="Proxima Nova"/>
                <a:sym typeface="Proxima Nova"/>
              </a:rPr>
              <a:t>best choice</a:t>
            </a:r>
            <a:r>
              <a:rPr lang="en" sz="1400">
                <a:solidFill>
                  <a:schemeClr val="lt1"/>
                </a:solidFill>
                <a:latin typeface="Proxima Nova"/>
                <a:ea typeface="Proxima Nova"/>
                <a:cs typeface="Proxima Nova"/>
                <a:sym typeface="Proxima Nova"/>
              </a:rPr>
              <a:t> for parameter p? Where is </a:t>
            </a:r>
            <a:r>
              <a:rPr b="1" lang="en" sz="1400">
                <a:solidFill>
                  <a:schemeClr val="lt1"/>
                </a:solidFill>
                <a:latin typeface="Proxima Nova"/>
                <a:ea typeface="Proxima Nova"/>
                <a:cs typeface="Proxima Nova"/>
                <a:sym typeface="Proxima Nova"/>
              </a:rPr>
              <a:t>overfitting </a:t>
            </a:r>
            <a:r>
              <a:rPr lang="en" sz="1400">
                <a:solidFill>
                  <a:schemeClr val="lt1"/>
                </a:solidFill>
                <a:latin typeface="Proxima Nova"/>
                <a:ea typeface="Proxima Nova"/>
                <a:cs typeface="Proxima Nova"/>
                <a:sym typeface="Proxima Nova"/>
              </a:rPr>
              <a:t>occurring? Where is </a:t>
            </a:r>
            <a:r>
              <a:rPr b="1" lang="en" sz="1400">
                <a:solidFill>
                  <a:schemeClr val="lt1"/>
                </a:solidFill>
                <a:latin typeface="Proxima Nova"/>
                <a:ea typeface="Proxima Nova"/>
                <a:cs typeface="Proxima Nova"/>
                <a:sym typeface="Proxima Nova"/>
              </a:rPr>
              <a:t>underfitting </a:t>
            </a:r>
            <a:r>
              <a:rPr lang="en" sz="1400">
                <a:solidFill>
                  <a:schemeClr val="lt1"/>
                </a:solidFill>
                <a:latin typeface="Proxima Nova"/>
                <a:ea typeface="Proxima Nova"/>
                <a:cs typeface="Proxima Nova"/>
                <a:sym typeface="Proxima Nova"/>
              </a:rPr>
              <a:t>occurring?</a:t>
            </a:r>
            <a:endParaRPr sz="14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4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4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4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400">
              <a:solidFill>
                <a:schemeClr val="lt1"/>
              </a:solidFill>
              <a:latin typeface="Proxima Nova"/>
              <a:ea typeface="Proxima Nova"/>
              <a:cs typeface="Proxima Nova"/>
              <a:sym typeface="Proxima Nova"/>
            </a:endParaRPr>
          </a:p>
        </p:txBody>
      </p:sp>
      <p:cxnSp>
        <p:nvCxnSpPr>
          <p:cNvPr id="381" name="Google Shape;381;p52"/>
          <p:cNvCxnSpPr/>
          <p:nvPr/>
        </p:nvCxnSpPr>
        <p:spPr>
          <a:xfrm>
            <a:off x="5335441" y="1033393"/>
            <a:ext cx="21600" cy="2103300"/>
          </a:xfrm>
          <a:prstGeom prst="straightConnector1">
            <a:avLst/>
          </a:prstGeom>
          <a:noFill/>
          <a:ln cap="flat" cmpd="sng" w="9525">
            <a:solidFill>
              <a:schemeClr val="lt1"/>
            </a:solidFill>
            <a:prstDash val="solid"/>
            <a:round/>
            <a:headEnd len="med" w="med" type="stealth"/>
            <a:tailEnd len="med" w="med" type="none"/>
          </a:ln>
        </p:spPr>
      </p:cxnSp>
      <p:cxnSp>
        <p:nvCxnSpPr>
          <p:cNvPr id="382" name="Google Shape;382;p52"/>
          <p:cNvCxnSpPr/>
          <p:nvPr/>
        </p:nvCxnSpPr>
        <p:spPr>
          <a:xfrm>
            <a:off x="5378739" y="3136563"/>
            <a:ext cx="3041700" cy="0"/>
          </a:xfrm>
          <a:prstGeom prst="straightConnector1">
            <a:avLst/>
          </a:prstGeom>
          <a:noFill/>
          <a:ln cap="flat" cmpd="sng" w="9525">
            <a:solidFill>
              <a:schemeClr val="lt1"/>
            </a:solidFill>
            <a:prstDash val="solid"/>
            <a:round/>
            <a:headEnd len="med" w="med" type="none"/>
            <a:tailEnd len="med" w="med" type="stealth"/>
          </a:ln>
        </p:spPr>
      </p:cxnSp>
      <p:sp>
        <p:nvSpPr>
          <p:cNvPr id="383" name="Google Shape;383;p52"/>
          <p:cNvSpPr txBox="1"/>
          <p:nvPr/>
        </p:nvSpPr>
        <p:spPr>
          <a:xfrm>
            <a:off x="8377124" y="2935062"/>
            <a:ext cx="313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p</a:t>
            </a:r>
            <a:endParaRPr>
              <a:solidFill>
                <a:schemeClr val="lt1"/>
              </a:solidFill>
              <a:latin typeface="Proxima Nova"/>
              <a:ea typeface="Proxima Nova"/>
              <a:cs typeface="Proxima Nova"/>
              <a:sym typeface="Proxima Nova"/>
            </a:endParaRPr>
          </a:p>
        </p:txBody>
      </p:sp>
      <p:sp>
        <p:nvSpPr>
          <p:cNvPr id="384" name="Google Shape;384;p52"/>
          <p:cNvSpPr txBox="1"/>
          <p:nvPr/>
        </p:nvSpPr>
        <p:spPr>
          <a:xfrm rot="-5400000">
            <a:off x="4649675" y="878969"/>
            <a:ext cx="9414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accuracy</a:t>
            </a:r>
            <a:endParaRPr>
              <a:solidFill>
                <a:schemeClr val="lt1"/>
              </a:solidFill>
              <a:latin typeface="Proxima Nova"/>
              <a:ea typeface="Proxima Nova"/>
              <a:cs typeface="Proxima Nova"/>
              <a:sym typeface="Proxima Nova"/>
            </a:endParaRPr>
          </a:p>
        </p:txBody>
      </p:sp>
      <p:cxnSp>
        <p:nvCxnSpPr>
          <p:cNvPr id="385" name="Google Shape;385;p52"/>
          <p:cNvCxnSpPr/>
          <p:nvPr/>
        </p:nvCxnSpPr>
        <p:spPr>
          <a:xfrm>
            <a:off x="5640999" y="3037350"/>
            <a:ext cx="8100" cy="198300"/>
          </a:xfrm>
          <a:prstGeom prst="straightConnector1">
            <a:avLst/>
          </a:prstGeom>
          <a:noFill/>
          <a:ln cap="flat" cmpd="sng" w="9525">
            <a:solidFill>
              <a:schemeClr val="lt1"/>
            </a:solidFill>
            <a:prstDash val="solid"/>
            <a:round/>
            <a:headEnd len="med" w="med" type="none"/>
            <a:tailEnd len="med" w="med" type="none"/>
          </a:ln>
        </p:spPr>
      </p:cxnSp>
      <p:cxnSp>
        <p:nvCxnSpPr>
          <p:cNvPr id="386" name="Google Shape;386;p52"/>
          <p:cNvCxnSpPr/>
          <p:nvPr/>
        </p:nvCxnSpPr>
        <p:spPr>
          <a:xfrm>
            <a:off x="7950356" y="3037350"/>
            <a:ext cx="8100" cy="198300"/>
          </a:xfrm>
          <a:prstGeom prst="straightConnector1">
            <a:avLst/>
          </a:prstGeom>
          <a:noFill/>
          <a:ln cap="flat" cmpd="sng" w="9525">
            <a:solidFill>
              <a:schemeClr val="lt1"/>
            </a:solidFill>
            <a:prstDash val="solid"/>
            <a:round/>
            <a:headEnd len="med" w="med" type="none"/>
            <a:tailEnd len="med" w="med" type="none"/>
          </a:ln>
        </p:spPr>
      </p:cxnSp>
      <p:cxnSp>
        <p:nvCxnSpPr>
          <p:cNvPr id="387" name="Google Shape;387;p52"/>
          <p:cNvCxnSpPr/>
          <p:nvPr/>
        </p:nvCxnSpPr>
        <p:spPr>
          <a:xfrm>
            <a:off x="5968983" y="3037350"/>
            <a:ext cx="8100" cy="198300"/>
          </a:xfrm>
          <a:prstGeom prst="straightConnector1">
            <a:avLst/>
          </a:prstGeom>
          <a:noFill/>
          <a:ln cap="flat" cmpd="sng" w="9525">
            <a:solidFill>
              <a:schemeClr val="lt1"/>
            </a:solidFill>
            <a:prstDash val="solid"/>
            <a:round/>
            <a:headEnd len="med" w="med" type="none"/>
            <a:tailEnd len="med" w="med" type="none"/>
          </a:ln>
        </p:spPr>
      </p:cxnSp>
      <p:cxnSp>
        <p:nvCxnSpPr>
          <p:cNvPr id="388" name="Google Shape;388;p52"/>
          <p:cNvCxnSpPr/>
          <p:nvPr/>
        </p:nvCxnSpPr>
        <p:spPr>
          <a:xfrm>
            <a:off x="7281986" y="3037350"/>
            <a:ext cx="8100" cy="198300"/>
          </a:xfrm>
          <a:prstGeom prst="straightConnector1">
            <a:avLst/>
          </a:prstGeom>
          <a:noFill/>
          <a:ln cap="flat" cmpd="sng" w="9525">
            <a:solidFill>
              <a:schemeClr val="lt1"/>
            </a:solidFill>
            <a:prstDash val="solid"/>
            <a:round/>
            <a:headEnd len="med" w="med" type="none"/>
            <a:tailEnd len="med" w="med" type="none"/>
          </a:ln>
        </p:spPr>
      </p:cxnSp>
      <p:cxnSp>
        <p:nvCxnSpPr>
          <p:cNvPr id="389" name="Google Shape;389;p52"/>
          <p:cNvCxnSpPr/>
          <p:nvPr/>
        </p:nvCxnSpPr>
        <p:spPr>
          <a:xfrm>
            <a:off x="5277270" y="1618758"/>
            <a:ext cx="138000" cy="600"/>
          </a:xfrm>
          <a:prstGeom prst="straightConnector1">
            <a:avLst/>
          </a:prstGeom>
          <a:noFill/>
          <a:ln cap="flat" cmpd="sng" w="9525">
            <a:solidFill>
              <a:schemeClr val="lt1"/>
            </a:solidFill>
            <a:prstDash val="solid"/>
            <a:round/>
            <a:headEnd len="med" w="med" type="none"/>
            <a:tailEnd len="med" w="med" type="none"/>
          </a:ln>
        </p:spPr>
      </p:cxnSp>
      <p:cxnSp>
        <p:nvCxnSpPr>
          <p:cNvPr id="390" name="Google Shape;390;p52"/>
          <p:cNvCxnSpPr/>
          <p:nvPr/>
        </p:nvCxnSpPr>
        <p:spPr>
          <a:xfrm>
            <a:off x="5277270" y="2355497"/>
            <a:ext cx="138000" cy="600"/>
          </a:xfrm>
          <a:prstGeom prst="straightConnector1">
            <a:avLst/>
          </a:prstGeom>
          <a:noFill/>
          <a:ln cap="flat" cmpd="sng" w="9525">
            <a:solidFill>
              <a:schemeClr val="lt1"/>
            </a:solidFill>
            <a:prstDash val="solid"/>
            <a:round/>
            <a:headEnd len="med" w="med" type="none"/>
            <a:tailEnd len="med" w="med" type="none"/>
          </a:ln>
        </p:spPr>
      </p:cxnSp>
      <p:sp>
        <p:nvSpPr>
          <p:cNvPr id="391" name="Google Shape;391;p52"/>
          <p:cNvSpPr txBox="1"/>
          <p:nvPr/>
        </p:nvSpPr>
        <p:spPr>
          <a:xfrm>
            <a:off x="5064744" y="1429553"/>
            <a:ext cx="313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1</a:t>
            </a:r>
            <a:endParaRPr>
              <a:solidFill>
                <a:schemeClr val="lt1"/>
              </a:solidFill>
              <a:latin typeface="Proxima Nova"/>
              <a:ea typeface="Proxima Nova"/>
              <a:cs typeface="Proxima Nova"/>
              <a:sym typeface="Proxima Nova"/>
            </a:endParaRPr>
          </a:p>
        </p:txBody>
      </p:sp>
      <p:sp>
        <p:nvSpPr>
          <p:cNvPr id="392" name="Google Shape;392;p52"/>
          <p:cNvSpPr txBox="1"/>
          <p:nvPr/>
        </p:nvSpPr>
        <p:spPr>
          <a:xfrm>
            <a:off x="7797446" y="3235775"/>
            <a:ext cx="4266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10</a:t>
            </a:r>
            <a:endParaRPr>
              <a:solidFill>
                <a:schemeClr val="lt1"/>
              </a:solidFill>
              <a:latin typeface="Proxima Nova"/>
              <a:ea typeface="Proxima Nova"/>
              <a:cs typeface="Proxima Nova"/>
              <a:sym typeface="Proxima Nova"/>
            </a:endParaRPr>
          </a:p>
        </p:txBody>
      </p:sp>
      <p:cxnSp>
        <p:nvCxnSpPr>
          <p:cNvPr id="393" name="Google Shape;393;p52"/>
          <p:cNvCxnSpPr/>
          <p:nvPr/>
        </p:nvCxnSpPr>
        <p:spPr>
          <a:xfrm>
            <a:off x="7726280" y="3037350"/>
            <a:ext cx="8100" cy="198300"/>
          </a:xfrm>
          <a:prstGeom prst="straightConnector1">
            <a:avLst/>
          </a:prstGeom>
          <a:noFill/>
          <a:ln cap="flat" cmpd="sng" w="9525">
            <a:solidFill>
              <a:schemeClr val="lt1"/>
            </a:solidFill>
            <a:prstDash val="solid"/>
            <a:round/>
            <a:headEnd len="med" w="med" type="none"/>
            <a:tailEnd len="med" w="med" type="none"/>
          </a:ln>
        </p:spPr>
      </p:cxnSp>
      <p:cxnSp>
        <p:nvCxnSpPr>
          <p:cNvPr id="394" name="Google Shape;394;p52"/>
          <p:cNvCxnSpPr/>
          <p:nvPr/>
        </p:nvCxnSpPr>
        <p:spPr>
          <a:xfrm>
            <a:off x="7523587" y="3037350"/>
            <a:ext cx="8100" cy="198300"/>
          </a:xfrm>
          <a:prstGeom prst="straightConnector1">
            <a:avLst/>
          </a:prstGeom>
          <a:noFill/>
          <a:ln cap="flat" cmpd="sng" w="9525">
            <a:solidFill>
              <a:schemeClr val="lt1"/>
            </a:solidFill>
            <a:prstDash val="solid"/>
            <a:round/>
            <a:headEnd len="med" w="med" type="none"/>
            <a:tailEnd len="med" w="med" type="none"/>
          </a:ln>
        </p:spPr>
      </p:cxnSp>
      <p:cxnSp>
        <p:nvCxnSpPr>
          <p:cNvPr id="395" name="Google Shape;395;p52"/>
          <p:cNvCxnSpPr/>
          <p:nvPr/>
        </p:nvCxnSpPr>
        <p:spPr>
          <a:xfrm>
            <a:off x="6798804" y="3037350"/>
            <a:ext cx="8100" cy="198300"/>
          </a:xfrm>
          <a:prstGeom prst="straightConnector1">
            <a:avLst/>
          </a:prstGeom>
          <a:noFill/>
          <a:ln cap="flat" cmpd="sng" w="9525">
            <a:solidFill>
              <a:schemeClr val="lt1"/>
            </a:solidFill>
            <a:prstDash val="solid"/>
            <a:round/>
            <a:headEnd len="med" w="med" type="none"/>
            <a:tailEnd len="med" w="med" type="none"/>
          </a:ln>
        </p:spPr>
      </p:cxnSp>
      <p:cxnSp>
        <p:nvCxnSpPr>
          <p:cNvPr id="396" name="Google Shape;396;p52"/>
          <p:cNvCxnSpPr/>
          <p:nvPr/>
        </p:nvCxnSpPr>
        <p:spPr>
          <a:xfrm>
            <a:off x="7040406" y="3037350"/>
            <a:ext cx="8100" cy="198300"/>
          </a:xfrm>
          <a:prstGeom prst="straightConnector1">
            <a:avLst/>
          </a:prstGeom>
          <a:noFill/>
          <a:ln cap="flat" cmpd="sng" w="9525">
            <a:solidFill>
              <a:schemeClr val="lt1"/>
            </a:solidFill>
            <a:prstDash val="solid"/>
            <a:round/>
            <a:headEnd len="med" w="med" type="none"/>
            <a:tailEnd len="med" w="med" type="none"/>
          </a:ln>
        </p:spPr>
      </p:cxnSp>
      <p:cxnSp>
        <p:nvCxnSpPr>
          <p:cNvPr id="397" name="Google Shape;397;p52"/>
          <p:cNvCxnSpPr/>
          <p:nvPr/>
        </p:nvCxnSpPr>
        <p:spPr>
          <a:xfrm>
            <a:off x="6249664" y="3037350"/>
            <a:ext cx="8100" cy="198300"/>
          </a:xfrm>
          <a:prstGeom prst="straightConnector1">
            <a:avLst/>
          </a:prstGeom>
          <a:noFill/>
          <a:ln cap="flat" cmpd="sng" w="9525">
            <a:solidFill>
              <a:schemeClr val="lt1"/>
            </a:solidFill>
            <a:prstDash val="solid"/>
            <a:round/>
            <a:headEnd len="med" w="med" type="none"/>
            <a:tailEnd len="med" w="med" type="none"/>
          </a:ln>
        </p:spPr>
      </p:cxnSp>
      <p:cxnSp>
        <p:nvCxnSpPr>
          <p:cNvPr id="398" name="Google Shape;398;p52"/>
          <p:cNvCxnSpPr/>
          <p:nvPr/>
        </p:nvCxnSpPr>
        <p:spPr>
          <a:xfrm>
            <a:off x="6539411" y="3037350"/>
            <a:ext cx="8100" cy="198300"/>
          </a:xfrm>
          <a:prstGeom prst="straightConnector1">
            <a:avLst/>
          </a:prstGeom>
          <a:noFill/>
          <a:ln cap="flat" cmpd="sng" w="9525">
            <a:solidFill>
              <a:schemeClr val="lt1"/>
            </a:solidFill>
            <a:prstDash val="solid"/>
            <a:round/>
            <a:headEnd len="med" w="med" type="none"/>
            <a:tailEnd len="med" w="med" type="none"/>
          </a:ln>
        </p:spPr>
      </p:cxnSp>
      <p:sp>
        <p:nvSpPr>
          <p:cNvPr id="399" name="Google Shape;399;p52"/>
          <p:cNvSpPr/>
          <p:nvPr/>
        </p:nvSpPr>
        <p:spPr>
          <a:xfrm>
            <a:off x="5524025" y="1638829"/>
            <a:ext cx="2714275" cy="824775"/>
          </a:xfrm>
          <a:custGeom>
            <a:rect b="b" l="l" r="r" t="t"/>
            <a:pathLst>
              <a:path extrusionOk="0" h="32991" w="108571">
                <a:moveTo>
                  <a:pt x="108571" y="32991"/>
                </a:moveTo>
                <a:cubicBezTo>
                  <a:pt x="106327" y="32800"/>
                  <a:pt x="99261" y="32991"/>
                  <a:pt x="95107" y="31845"/>
                </a:cubicBezTo>
                <a:cubicBezTo>
                  <a:pt x="90953" y="30699"/>
                  <a:pt x="88041" y="29172"/>
                  <a:pt x="83648" y="26116"/>
                </a:cubicBezTo>
                <a:cubicBezTo>
                  <a:pt x="79256" y="23061"/>
                  <a:pt x="74577" y="17379"/>
                  <a:pt x="68752" y="13512"/>
                </a:cubicBezTo>
                <a:cubicBezTo>
                  <a:pt x="62927" y="9645"/>
                  <a:pt x="55431" y="5061"/>
                  <a:pt x="48699" y="2912"/>
                </a:cubicBezTo>
                <a:cubicBezTo>
                  <a:pt x="41967" y="764"/>
                  <a:pt x="34615" y="1098"/>
                  <a:pt x="28360" y="621"/>
                </a:cubicBezTo>
                <a:cubicBezTo>
                  <a:pt x="22106" y="144"/>
                  <a:pt x="15899" y="96"/>
                  <a:pt x="11172" y="48"/>
                </a:cubicBezTo>
                <a:cubicBezTo>
                  <a:pt x="6445" y="0"/>
                  <a:pt x="1862" y="286"/>
                  <a:pt x="0" y="334"/>
                </a:cubicBezTo>
              </a:path>
            </a:pathLst>
          </a:custGeom>
          <a:noFill/>
          <a:ln cap="flat" cmpd="sng" w="28575">
            <a:solidFill>
              <a:srgbClr val="1B91CA"/>
            </a:solidFill>
            <a:prstDash val="solid"/>
            <a:round/>
            <a:headEnd len="med" w="med" type="none"/>
            <a:tailEnd len="med" w="med" type="none"/>
          </a:ln>
        </p:spPr>
      </p:sp>
      <p:sp>
        <p:nvSpPr>
          <p:cNvPr id="400" name="Google Shape;400;p52"/>
          <p:cNvSpPr txBox="1"/>
          <p:nvPr/>
        </p:nvSpPr>
        <p:spPr>
          <a:xfrm>
            <a:off x="6798800" y="919175"/>
            <a:ext cx="2267100" cy="58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accuracy on </a:t>
            </a:r>
            <a:r>
              <a:rPr b="1" lang="en">
                <a:solidFill>
                  <a:srgbClr val="1B91CA"/>
                </a:solidFill>
                <a:latin typeface="Proxima Nova"/>
                <a:ea typeface="Proxima Nova"/>
                <a:cs typeface="Proxima Nova"/>
                <a:sym typeface="Proxima Nova"/>
              </a:rPr>
              <a:t>training set</a:t>
            </a:r>
            <a:endParaRPr b="1">
              <a:solidFill>
                <a:srgbClr val="1B91CA"/>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lt1"/>
                </a:solidFill>
                <a:latin typeface="Proxima Nova"/>
                <a:ea typeface="Proxima Nova"/>
                <a:cs typeface="Proxima Nova"/>
                <a:sym typeface="Proxima Nova"/>
              </a:rPr>
              <a:t>accuracy on </a:t>
            </a:r>
            <a:r>
              <a:rPr b="1" lang="en">
                <a:solidFill>
                  <a:srgbClr val="9334E6"/>
                </a:solidFill>
                <a:latin typeface="Proxima Nova"/>
                <a:ea typeface="Proxima Nova"/>
                <a:cs typeface="Proxima Nova"/>
                <a:sym typeface="Proxima Nova"/>
              </a:rPr>
              <a:t>testing set</a:t>
            </a:r>
            <a:endParaRPr b="1">
              <a:solidFill>
                <a:srgbClr val="9334E6"/>
              </a:solidFill>
              <a:latin typeface="Proxima Nova"/>
              <a:ea typeface="Proxima Nova"/>
              <a:cs typeface="Proxima Nova"/>
              <a:sym typeface="Proxima Nova"/>
            </a:endParaRPr>
          </a:p>
        </p:txBody>
      </p:sp>
      <p:sp>
        <p:nvSpPr>
          <p:cNvPr id="401" name="Google Shape;401;p52"/>
          <p:cNvSpPr/>
          <p:nvPr/>
        </p:nvSpPr>
        <p:spPr>
          <a:xfrm>
            <a:off x="5473900" y="2045539"/>
            <a:ext cx="2764400" cy="618575"/>
          </a:xfrm>
          <a:custGeom>
            <a:rect b="b" l="l" r="r" t="t"/>
            <a:pathLst>
              <a:path extrusionOk="0" h="24743" w="110576">
                <a:moveTo>
                  <a:pt x="0" y="24743"/>
                </a:moveTo>
                <a:cubicBezTo>
                  <a:pt x="4583" y="23788"/>
                  <a:pt x="19718" y="22070"/>
                  <a:pt x="27500" y="19014"/>
                </a:cubicBezTo>
                <a:cubicBezTo>
                  <a:pt x="35282" y="15959"/>
                  <a:pt x="39723" y="9561"/>
                  <a:pt x="46694" y="6410"/>
                </a:cubicBezTo>
                <a:cubicBezTo>
                  <a:pt x="53665" y="3259"/>
                  <a:pt x="64550" y="537"/>
                  <a:pt x="69324" y="107"/>
                </a:cubicBezTo>
                <a:cubicBezTo>
                  <a:pt x="74098" y="-323"/>
                  <a:pt x="73239" y="2112"/>
                  <a:pt x="75340" y="3831"/>
                </a:cubicBezTo>
                <a:cubicBezTo>
                  <a:pt x="77441" y="5550"/>
                  <a:pt x="79542" y="8463"/>
                  <a:pt x="81929" y="10420"/>
                </a:cubicBezTo>
                <a:cubicBezTo>
                  <a:pt x="84316" y="12378"/>
                  <a:pt x="86322" y="14191"/>
                  <a:pt x="89664" y="15576"/>
                </a:cubicBezTo>
                <a:cubicBezTo>
                  <a:pt x="93006" y="16961"/>
                  <a:pt x="98497" y="18251"/>
                  <a:pt x="101982" y="18728"/>
                </a:cubicBezTo>
                <a:cubicBezTo>
                  <a:pt x="105467" y="19206"/>
                  <a:pt x="109144" y="18489"/>
                  <a:pt x="110576" y="18441"/>
                </a:cubicBezTo>
              </a:path>
            </a:pathLst>
          </a:custGeom>
          <a:noFill/>
          <a:ln cap="flat" cmpd="sng" w="28575">
            <a:solidFill>
              <a:srgbClr val="9334E6"/>
            </a:solidFill>
            <a:prstDash val="solid"/>
            <a:round/>
            <a:headEnd len="med" w="med" type="none"/>
            <a:tailEnd len="med" w="med" type="none"/>
          </a:ln>
        </p:spPr>
      </p:sp>
      <p:sp>
        <p:nvSpPr>
          <p:cNvPr id="402" name="Google Shape;402;p52"/>
          <p:cNvSpPr/>
          <p:nvPr/>
        </p:nvSpPr>
        <p:spPr>
          <a:xfrm>
            <a:off x="7281325" y="1583275"/>
            <a:ext cx="25400" cy="1828800"/>
          </a:xfrm>
          <a:custGeom>
            <a:rect b="b" l="l" r="r" t="t"/>
            <a:pathLst>
              <a:path extrusionOk="0" h="73152" w="1016">
                <a:moveTo>
                  <a:pt x="0" y="0"/>
                </a:moveTo>
                <a:cubicBezTo>
                  <a:pt x="169" y="12192"/>
                  <a:pt x="847" y="60960"/>
                  <a:pt x="1016" y="73152"/>
                </a:cubicBezTo>
              </a:path>
            </a:pathLst>
          </a:custGeom>
          <a:noFill/>
          <a:ln cap="flat" cmpd="sng" w="28575">
            <a:solidFill>
              <a:srgbClr val="A9AA35"/>
            </a:solidFill>
            <a:prstDash val="solid"/>
            <a:round/>
            <a:headEnd len="med" w="med" type="none"/>
            <a:tailEnd len="med" w="med" type="none"/>
          </a:ln>
        </p:spPr>
      </p:sp>
      <p:sp>
        <p:nvSpPr>
          <p:cNvPr id="403" name="Google Shape;403;p52"/>
          <p:cNvSpPr txBox="1"/>
          <p:nvPr/>
        </p:nvSpPr>
        <p:spPr>
          <a:xfrm>
            <a:off x="447275" y="3733800"/>
            <a:ext cx="5943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Best choice</a:t>
            </a:r>
            <a:r>
              <a:rPr lang="en">
                <a:solidFill>
                  <a:schemeClr val="lt1"/>
                </a:solidFill>
                <a:latin typeface="Proxima Nova"/>
                <a:ea typeface="Proxima Nova"/>
                <a:cs typeface="Proxima Nova"/>
                <a:sym typeface="Proxima Nova"/>
              </a:rPr>
              <a:t> is when </a:t>
            </a:r>
            <a:r>
              <a:rPr b="1" lang="en">
                <a:solidFill>
                  <a:srgbClr val="A9AA35"/>
                </a:solidFill>
                <a:latin typeface="Proxima Nova"/>
                <a:ea typeface="Proxima Nova"/>
                <a:cs typeface="Proxima Nova"/>
                <a:sym typeface="Proxima Nova"/>
              </a:rPr>
              <a:t>p=7</a:t>
            </a:r>
            <a:r>
              <a:rPr b="1" lang="en">
                <a:solidFill>
                  <a:schemeClr val="lt1"/>
                </a:solidFill>
                <a:latin typeface="Proxima Nova"/>
                <a:ea typeface="Proxima Nova"/>
                <a:cs typeface="Proxima Nova"/>
                <a:sym typeface="Proxima Nova"/>
              </a:rPr>
              <a:t> </a:t>
            </a:r>
            <a:r>
              <a:rPr lang="en">
                <a:solidFill>
                  <a:schemeClr val="lt1"/>
                </a:solidFill>
                <a:latin typeface="Proxima Nova"/>
                <a:ea typeface="Proxima Nova"/>
                <a:cs typeface="Proxima Nova"/>
                <a:sym typeface="Proxima Nova"/>
              </a:rPr>
              <a:t>since training &amp; testing accuracy good ~70%</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Overfitting</a:t>
            </a:r>
            <a:r>
              <a:rPr lang="en">
                <a:solidFill>
                  <a:schemeClr val="lt1"/>
                </a:solidFill>
                <a:latin typeface="Proxima Nova"/>
                <a:ea typeface="Proxima Nova"/>
                <a:cs typeface="Proxima Nova"/>
                <a:sym typeface="Proxima Nova"/>
              </a:rPr>
              <a:t> when </a:t>
            </a:r>
            <a:r>
              <a:rPr b="1" lang="en">
                <a:solidFill>
                  <a:schemeClr val="lt1"/>
                </a:solidFill>
                <a:latin typeface="Proxima Nova"/>
                <a:ea typeface="Proxima Nova"/>
                <a:cs typeface="Proxima Nova"/>
                <a:sym typeface="Proxima Nova"/>
              </a:rPr>
              <a:t>p=1-2 </a:t>
            </a:r>
            <a:r>
              <a:rPr lang="en">
                <a:solidFill>
                  <a:schemeClr val="lt1"/>
                </a:solidFill>
                <a:latin typeface="Proxima Nova"/>
                <a:ea typeface="Proxima Nova"/>
                <a:cs typeface="Proxima Nova"/>
                <a:sym typeface="Proxima Nova"/>
              </a:rPr>
              <a:t>since training accuracy &gt;&gt; testing accuracy</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Underfitting </a:t>
            </a:r>
            <a:r>
              <a:rPr lang="en">
                <a:solidFill>
                  <a:schemeClr val="lt1"/>
                </a:solidFill>
                <a:latin typeface="Proxima Nova"/>
                <a:ea typeface="Proxima Nova"/>
                <a:cs typeface="Proxima Nova"/>
                <a:sym typeface="Proxima Nova"/>
              </a:rPr>
              <a:t>when </a:t>
            </a:r>
            <a:r>
              <a:rPr b="1" lang="en">
                <a:solidFill>
                  <a:schemeClr val="lt1"/>
                </a:solidFill>
                <a:latin typeface="Proxima Nova"/>
                <a:ea typeface="Proxima Nova"/>
                <a:cs typeface="Proxima Nova"/>
                <a:sym typeface="Proxima Nova"/>
              </a:rPr>
              <a:t>p=8-10</a:t>
            </a:r>
            <a:r>
              <a:rPr lang="en">
                <a:solidFill>
                  <a:schemeClr val="lt1"/>
                </a:solidFill>
                <a:latin typeface="Proxima Nova"/>
                <a:ea typeface="Proxima Nova"/>
                <a:cs typeface="Proxima Nova"/>
                <a:sym typeface="Proxima Nova"/>
              </a:rPr>
              <a:t> since training &amp; testing accuracy low</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p:txBody>
      </p:sp>
      <p:pic>
        <p:nvPicPr>
          <p:cNvPr descr="2 Minute Timer Relaxing Music Lofi Fish Background&#10;Song- https://www.youtube.com/watch?v=Nh_oj5hsAbs&amp;t=41s&#10;&#10;&#10;TAGS&#10;2 minute&#10;2 minute countdown&#10;2 minute lo-fi hiphop timer&#10;2 minute timer&#10;countdown&#10;lo-fi music&#10;lofi study song&#10;study music&#10;study timer&#10;time&#10;timer&#10;working music&#10;2 minute timer with music&#10;2 minute clock&#10;lofi hiphop&#10;relaxing timers&#10;relaxing music&#10;relaxing lofi timer&#10;nature timer&#10;meditation&#10;meditation music&#10;relaxing sleep music&#10;school timer&#10;sleep timer&#10;chill timer&#10;chill music&#10;lofi timer&#10;lofi hiphop timer&#10;lofi hip hop" id="404" name="Google Shape;404;p52" title="2 Minute Timer Relaxing Music Lofi Fish Background">
            <a:hlinkClick r:id="rId3"/>
          </p:cNvPr>
          <p:cNvPicPr preferRelativeResize="0"/>
          <p:nvPr/>
        </p:nvPicPr>
        <p:blipFill>
          <a:blip r:embed="rId4">
            <a:alphaModFix/>
          </a:blip>
          <a:stretch>
            <a:fillRect/>
          </a:stretch>
        </p:blipFill>
        <p:spPr>
          <a:xfrm>
            <a:off x="8003100" y="4268975"/>
            <a:ext cx="909375" cy="511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3"/>
          <p:cNvSpPr txBox="1"/>
          <p:nvPr>
            <p:ph type="title"/>
          </p:nvPr>
        </p:nvSpPr>
        <p:spPr>
          <a:xfrm>
            <a:off x="523475" y="641375"/>
            <a:ext cx="3827400" cy="1496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200">
                <a:solidFill>
                  <a:schemeClr val="dk1"/>
                </a:solidFill>
              </a:rPr>
              <a:t>What is a good accuracy score? </a:t>
            </a:r>
            <a:endParaRPr sz="175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75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2200">
                <a:solidFill>
                  <a:schemeClr val="dk1"/>
                </a:solidFill>
              </a:rPr>
              <a:t>Is 72% accuracy good?</a:t>
            </a:r>
            <a:endParaRPr sz="175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75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822">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6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600">
              <a:solidFill>
                <a:schemeClr val="dk2"/>
              </a:solidFill>
              <a:latin typeface="Proxima Nova"/>
              <a:ea typeface="Proxima Nova"/>
              <a:cs typeface="Proxima Nova"/>
              <a:sym typeface="Proxima Nova"/>
            </a:endParaRPr>
          </a:p>
        </p:txBody>
      </p:sp>
      <p:sp>
        <p:nvSpPr>
          <p:cNvPr id="410" name="Google Shape;410;p53"/>
          <p:cNvSpPr txBox="1"/>
          <p:nvPr/>
        </p:nvSpPr>
        <p:spPr>
          <a:xfrm>
            <a:off x="1114625" y="1582775"/>
            <a:ext cx="3000000" cy="45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50">
                <a:solidFill>
                  <a:schemeClr val="dk2"/>
                </a:solidFill>
                <a:latin typeface="Proxima Nova"/>
                <a:ea typeface="Proxima Nova"/>
                <a:cs typeface="Proxima Nova"/>
                <a:sym typeface="Proxima Nova"/>
              </a:rPr>
              <a:t>Depends on the situation!</a:t>
            </a:r>
            <a:endParaRPr/>
          </a:p>
        </p:txBody>
      </p:sp>
      <p:sp>
        <p:nvSpPr>
          <p:cNvPr id="411" name="Google Shape;411;p53"/>
          <p:cNvSpPr txBox="1"/>
          <p:nvPr/>
        </p:nvSpPr>
        <p:spPr>
          <a:xfrm>
            <a:off x="744600" y="2239100"/>
            <a:ext cx="42957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50">
                <a:solidFill>
                  <a:schemeClr val="dk2"/>
                </a:solidFill>
                <a:latin typeface="Proxima Nova"/>
                <a:ea typeface="Proxima Nova"/>
                <a:cs typeface="Proxima Nova"/>
                <a:sym typeface="Proxima Nova"/>
              </a:rPr>
              <a:t>… if you are training a model to predict whether a tumor is benign or malignant?</a:t>
            </a:r>
            <a:endParaRPr sz="175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75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75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750">
                <a:solidFill>
                  <a:schemeClr val="dk2"/>
                </a:solidFill>
                <a:latin typeface="Proxima Nova"/>
                <a:ea typeface="Proxima Nova"/>
                <a:cs typeface="Proxima Nova"/>
                <a:sym typeface="Proxima Nova"/>
              </a:rPr>
              <a:t>… if you are training a model to predict the winner of a soccer game?</a:t>
            </a:r>
            <a:endParaRPr sz="1750">
              <a:solidFill>
                <a:schemeClr val="dk2"/>
              </a:solidFill>
              <a:latin typeface="Proxima Nova"/>
              <a:ea typeface="Proxima Nova"/>
              <a:cs typeface="Proxima Nova"/>
              <a:sym typeface="Proxima Nova"/>
            </a:endParaRPr>
          </a:p>
        </p:txBody>
      </p:sp>
      <p:sp>
        <p:nvSpPr>
          <p:cNvPr id="412" name="Google Shape;412;p53"/>
          <p:cNvSpPr txBox="1"/>
          <p:nvPr/>
        </p:nvSpPr>
        <p:spPr>
          <a:xfrm>
            <a:off x="2274638" y="2952750"/>
            <a:ext cx="20046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no</a:t>
            </a:r>
            <a:endParaRPr b="1" sz="1800">
              <a:solidFill>
                <a:schemeClr val="dk1"/>
              </a:solidFill>
              <a:latin typeface="Proxima Nova"/>
              <a:ea typeface="Proxima Nova"/>
              <a:cs typeface="Proxima Nova"/>
              <a:sym typeface="Proxima Nova"/>
            </a:endParaRPr>
          </a:p>
        </p:txBody>
      </p:sp>
      <p:sp>
        <p:nvSpPr>
          <p:cNvPr id="413" name="Google Shape;413;p53"/>
          <p:cNvSpPr txBox="1"/>
          <p:nvPr/>
        </p:nvSpPr>
        <p:spPr>
          <a:xfrm>
            <a:off x="2274638" y="4309400"/>
            <a:ext cx="2004600" cy="5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yes → $$$</a:t>
            </a:r>
            <a:endParaRPr b="1" sz="1800">
              <a:solidFill>
                <a:schemeClr val="dk1"/>
              </a:solidFill>
              <a:latin typeface="Proxima Nova"/>
              <a:ea typeface="Proxima Nova"/>
              <a:cs typeface="Proxima Nova"/>
              <a:sym typeface="Proxima Nova"/>
            </a:endParaRPr>
          </a:p>
        </p:txBody>
      </p:sp>
      <p:cxnSp>
        <p:nvCxnSpPr>
          <p:cNvPr id="414" name="Google Shape;414;p53"/>
          <p:cNvCxnSpPr/>
          <p:nvPr/>
        </p:nvCxnSpPr>
        <p:spPr>
          <a:xfrm>
            <a:off x="5335441" y="1033393"/>
            <a:ext cx="21600" cy="2103300"/>
          </a:xfrm>
          <a:prstGeom prst="straightConnector1">
            <a:avLst/>
          </a:prstGeom>
          <a:noFill/>
          <a:ln cap="flat" cmpd="sng" w="9525">
            <a:solidFill>
              <a:schemeClr val="dk1"/>
            </a:solidFill>
            <a:prstDash val="solid"/>
            <a:round/>
            <a:headEnd len="med" w="med" type="stealth"/>
            <a:tailEnd len="med" w="med" type="none"/>
          </a:ln>
        </p:spPr>
      </p:cxnSp>
      <p:cxnSp>
        <p:nvCxnSpPr>
          <p:cNvPr id="415" name="Google Shape;415;p53"/>
          <p:cNvCxnSpPr/>
          <p:nvPr/>
        </p:nvCxnSpPr>
        <p:spPr>
          <a:xfrm>
            <a:off x="5378739" y="3136563"/>
            <a:ext cx="3041700" cy="0"/>
          </a:xfrm>
          <a:prstGeom prst="straightConnector1">
            <a:avLst/>
          </a:prstGeom>
          <a:noFill/>
          <a:ln cap="flat" cmpd="sng" w="9525">
            <a:solidFill>
              <a:schemeClr val="dk1"/>
            </a:solidFill>
            <a:prstDash val="solid"/>
            <a:round/>
            <a:headEnd len="med" w="med" type="none"/>
            <a:tailEnd len="med" w="med" type="stealth"/>
          </a:ln>
        </p:spPr>
      </p:cxnSp>
      <p:sp>
        <p:nvSpPr>
          <p:cNvPr id="416" name="Google Shape;416;p53"/>
          <p:cNvSpPr txBox="1"/>
          <p:nvPr/>
        </p:nvSpPr>
        <p:spPr>
          <a:xfrm>
            <a:off x="8377124" y="2935062"/>
            <a:ext cx="313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p</a:t>
            </a:r>
            <a:endParaRPr>
              <a:solidFill>
                <a:schemeClr val="dk1"/>
              </a:solidFill>
              <a:latin typeface="Proxima Nova"/>
              <a:ea typeface="Proxima Nova"/>
              <a:cs typeface="Proxima Nova"/>
              <a:sym typeface="Proxima Nova"/>
            </a:endParaRPr>
          </a:p>
        </p:txBody>
      </p:sp>
      <p:sp>
        <p:nvSpPr>
          <p:cNvPr id="417" name="Google Shape;417;p53"/>
          <p:cNvSpPr txBox="1"/>
          <p:nvPr/>
        </p:nvSpPr>
        <p:spPr>
          <a:xfrm rot="-5400000">
            <a:off x="4649675" y="878969"/>
            <a:ext cx="9414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accuracy</a:t>
            </a:r>
            <a:endParaRPr>
              <a:solidFill>
                <a:schemeClr val="dk1"/>
              </a:solidFill>
              <a:latin typeface="Proxima Nova"/>
              <a:ea typeface="Proxima Nova"/>
              <a:cs typeface="Proxima Nova"/>
              <a:sym typeface="Proxima Nova"/>
            </a:endParaRPr>
          </a:p>
        </p:txBody>
      </p:sp>
      <p:cxnSp>
        <p:nvCxnSpPr>
          <p:cNvPr id="418" name="Google Shape;418;p53"/>
          <p:cNvCxnSpPr/>
          <p:nvPr/>
        </p:nvCxnSpPr>
        <p:spPr>
          <a:xfrm>
            <a:off x="5640999" y="3037350"/>
            <a:ext cx="8100" cy="198300"/>
          </a:xfrm>
          <a:prstGeom prst="straightConnector1">
            <a:avLst/>
          </a:prstGeom>
          <a:noFill/>
          <a:ln cap="flat" cmpd="sng" w="9525">
            <a:solidFill>
              <a:schemeClr val="dk1"/>
            </a:solidFill>
            <a:prstDash val="solid"/>
            <a:round/>
            <a:headEnd len="med" w="med" type="none"/>
            <a:tailEnd len="med" w="med" type="none"/>
          </a:ln>
        </p:spPr>
      </p:cxnSp>
      <p:cxnSp>
        <p:nvCxnSpPr>
          <p:cNvPr id="419" name="Google Shape;419;p53"/>
          <p:cNvCxnSpPr/>
          <p:nvPr/>
        </p:nvCxnSpPr>
        <p:spPr>
          <a:xfrm>
            <a:off x="7950356" y="3037350"/>
            <a:ext cx="8100" cy="198300"/>
          </a:xfrm>
          <a:prstGeom prst="straightConnector1">
            <a:avLst/>
          </a:prstGeom>
          <a:noFill/>
          <a:ln cap="flat" cmpd="sng" w="9525">
            <a:solidFill>
              <a:schemeClr val="dk1"/>
            </a:solidFill>
            <a:prstDash val="solid"/>
            <a:round/>
            <a:headEnd len="med" w="med" type="none"/>
            <a:tailEnd len="med" w="med" type="none"/>
          </a:ln>
        </p:spPr>
      </p:cxnSp>
      <p:cxnSp>
        <p:nvCxnSpPr>
          <p:cNvPr id="420" name="Google Shape;420;p53"/>
          <p:cNvCxnSpPr/>
          <p:nvPr/>
        </p:nvCxnSpPr>
        <p:spPr>
          <a:xfrm>
            <a:off x="5968983" y="3037350"/>
            <a:ext cx="8100" cy="198300"/>
          </a:xfrm>
          <a:prstGeom prst="straightConnector1">
            <a:avLst/>
          </a:prstGeom>
          <a:noFill/>
          <a:ln cap="flat" cmpd="sng" w="9525">
            <a:solidFill>
              <a:schemeClr val="dk1"/>
            </a:solidFill>
            <a:prstDash val="solid"/>
            <a:round/>
            <a:headEnd len="med" w="med" type="none"/>
            <a:tailEnd len="med" w="med" type="none"/>
          </a:ln>
        </p:spPr>
      </p:cxnSp>
      <p:cxnSp>
        <p:nvCxnSpPr>
          <p:cNvPr id="421" name="Google Shape;421;p53"/>
          <p:cNvCxnSpPr/>
          <p:nvPr/>
        </p:nvCxnSpPr>
        <p:spPr>
          <a:xfrm>
            <a:off x="7281986" y="3037350"/>
            <a:ext cx="8100" cy="198300"/>
          </a:xfrm>
          <a:prstGeom prst="straightConnector1">
            <a:avLst/>
          </a:prstGeom>
          <a:noFill/>
          <a:ln cap="flat" cmpd="sng" w="9525">
            <a:solidFill>
              <a:schemeClr val="dk1"/>
            </a:solidFill>
            <a:prstDash val="solid"/>
            <a:round/>
            <a:headEnd len="med" w="med" type="none"/>
            <a:tailEnd len="med" w="med" type="none"/>
          </a:ln>
        </p:spPr>
      </p:cxnSp>
      <p:cxnSp>
        <p:nvCxnSpPr>
          <p:cNvPr id="422" name="Google Shape;422;p53"/>
          <p:cNvCxnSpPr/>
          <p:nvPr/>
        </p:nvCxnSpPr>
        <p:spPr>
          <a:xfrm>
            <a:off x="5277270" y="1618758"/>
            <a:ext cx="138000" cy="600"/>
          </a:xfrm>
          <a:prstGeom prst="straightConnector1">
            <a:avLst/>
          </a:prstGeom>
          <a:noFill/>
          <a:ln cap="flat" cmpd="sng" w="9525">
            <a:solidFill>
              <a:schemeClr val="dk1"/>
            </a:solidFill>
            <a:prstDash val="solid"/>
            <a:round/>
            <a:headEnd len="med" w="med" type="none"/>
            <a:tailEnd len="med" w="med" type="none"/>
          </a:ln>
        </p:spPr>
      </p:cxnSp>
      <p:cxnSp>
        <p:nvCxnSpPr>
          <p:cNvPr id="423" name="Google Shape;423;p53"/>
          <p:cNvCxnSpPr/>
          <p:nvPr/>
        </p:nvCxnSpPr>
        <p:spPr>
          <a:xfrm>
            <a:off x="5277270" y="2355497"/>
            <a:ext cx="138000" cy="600"/>
          </a:xfrm>
          <a:prstGeom prst="straightConnector1">
            <a:avLst/>
          </a:prstGeom>
          <a:noFill/>
          <a:ln cap="flat" cmpd="sng" w="9525">
            <a:solidFill>
              <a:schemeClr val="dk1"/>
            </a:solidFill>
            <a:prstDash val="solid"/>
            <a:round/>
            <a:headEnd len="med" w="med" type="none"/>
            <a:tailEnd len="med" w="med" type="none"/>
          </a:ln>
        </p:spPr>
      </p:cxnSp>
      <p:sp>
        <p:nvSpPr>
          <p:cNvPr id="424" name="Google Shape;424;p53"/>
          <p:cNvSpPr txBox="1"/>
          <p:nvPr/>
        </p:nvSpPr>
        <p:spPr>
          <a:xfrm>
            <a:off x="5064744" y="1429553"/>
            <a:ext cx="313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1</a:t>
            </a:r>
            <a:endParaRPr>
              <a:solidFill>
                <a:schemeClr val="dk1"/>
              </a:solidFill>
              <a:latin typeface="Proxima Nova"/>
              <a:ea typeface="Proxima Nova"/>
              <a:cs typeface="Proxima Nova"/>
              <a:sym typeface="Proxima Nova"/>
            </a:endParaRPr>
          </a:p>
        </p:txBody>
      </p:sp>
      <p:sp>
        <p:nvSpPr>
          <p:cNvPr id="425" name="Google Shape;425;p53"/>
          <p:cNvSpPr txBox="1"/>
          <p:nvPr/>
        </p:nvSpPr>
        <p:spPr>
          <a:xfrm>
            <a:off x="7797446" y="3235775"/>
            <a:ext cx="4266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10</a:t>
            </a:r>
            <a:endParaRPr>
              <a:solidFill>
                <a:schemeClr val="dk1"/>
              </a:solidFill>
              <a:latin typeface="Proxima Nova"/>
              <a:ea typeface="Proxima Nova"/>
              <a:cs typeface="Proxima Nova"/>
              <a:sym typeface="Proxima Nova"/>
            </a:endParaRPr>
          </a:p>
        </p:txBody>
      </p:sp>
      <p:cxnSp>
        <p:nvCxnSpPr>
          <p:cNvPr id="426" name="Google Shape;426;p53"/>
          <p:cNvCxnSpPr/>
          <p:nvPr/>
        </p:nvCxnSpPr>
        <p:spPr>
          <a:xfrm>
            <a:off x="7726280" y="3037350"/>
            <a:ext cx="8100" cy="198300"/>
          </a:xfrm>
          <a:prstGeom prst="straightConnector1">
            <a:avLst/>
          </a:prstGeom>
          <a:noFill/>
          <a:ln cap="flat" cmpd="sng" w="9525">
            <a:solidFill>
              <a:schemeClr val="dk1"/>
            </a:solidFill>
            <a:prstDash val="solid"/>
            <a:round/>
            <a:headEnd len="med" w="med" type="none"/>
            <a:tailEnd len="med" w="med" type="none"/>
          </a:ln>
        </p:spPr>
      </p:cxnSp>
      <p:cxnSp>
        <p:nvCxnSpPr>
          <p:cNvPr id="427" name="Google Shape;427;p53"/>
          <p:cNvCxnSpPr/>
          <p:nvPr/>
        </p:nvCxnSpPr>
        <p:spPr>
          <a:xfrm>
            <a:off x="7523587" y="3037350"/>
            <a:ext cx="8100" cy="198300"/>
          </a:xfrm>
          <a:prstGeom prst="straightConnector1">
            <a:avLst/>
          </a:prstGeom>
          <a:noFill/>
          <a:ln cap="flat" cmpd="sng" w="9525">
            <a:solidFill>
              <a:schemeClr val="dk1"/>
            </a:solidFill>
            <a:prstDash val="solid"/>
            <a:round/>
            <a:headEnd len="med" w="med" type="none"/>
            <a:tailEnd len="med" w="med" type="none"/>
          </a:ln>
        </p:spPr>
      </p:cxnSp>
      <p:cxnSp>
        <p:nvCxnSpPr>
          <p:cNvPr id="428" name="Google Shape;428;p53"/>
          <p:cNvCxnSpPr/>
          <p:nvPr/>
        </p:nvCxnSpPr>
        <p:spPr>
          <a:xfrm>
            <a:off x="6798804" y="3037350"/>
            <a:ext cx="8100" cy="198300"/>
          </a:xfrm>
          <a:prstGeom prst="straightConnector1">
            <a:avLst/>
          </a:prstGeom>
          <a:noFill/>
          <a:ln cap="flat" cmpd="sng" w="9525">
            <a:solidFill>
              <a:schemeClr val="dk1"/>
            </a:solidFill>
            <a:prstDash val="solid"/>
            <a:round/>
            <a:headEnd len="med" w="med" type="none"/>
            <a:tailEnd len="med" w="med" type="none"/>
          </a:ln>
        </p:spPr>
      </p:cxnSp>
      <p:cxnSp>
        <p:nvCxnSpPr>
          <p:cNvPr id="429" name="Google Shape;429;p53"/>
          <p:cNvCxnSpPr/>
          <p:nvPr/>
        </p:nvCxnSpPr>
        <p:spPr>
          <a:xfrm>
            <a:off x="7040406" y="3037350"/>
            <a:ext cx="8100" cy="198300"/>
          </a:xfrm>
          <a:prstGeom prst="straightConnector1">
            <a:avLst/>
          </a:prstGeom>
          <a:noFill/>
          <a:ln cap="flat" cmpd="sng" w="9525">
            <a:solidFill>
              <a:schemeClr val="dk1"/>
            </a:solidFill>
            <a:prstDash val="solid"/>
            <a:round/>
            <a:headEnd len="med" w="med" type="none"/>
            <a:tailEnd len="med" w="med" type="none"/>
          </a:ln>
        </p:spPr>
      </p:cxnSp>
      <p:cxnSp>
        <p:nvCxnSpPr>
          <p:cNvPr id="430" name="Google Shape;430;p53"/>
          <p:cNvCxnSpPr/>
          <p:nvPr/>
        </p:nvCxnSpPr>
        <p:spPr>
          <a:xfrm>
            <a:off x="6249664" y="3037350"/>
            <a:ext cx="8100" cy="198300"/>
          </a:xfrm>
          <a:prstGeom prst="straightConnector1">
            <a:avLst/>
          </a:prstGeom>
          <a:noFill/>
          <a:ln cap="flat" cmpd="sng" w="9525">
            <a:solidFill>
              <a:schemeClr val="dk1"/>
            </a:solidFill>
            <a:prstDash val="solid"/>
            <a:round/>
            <a:headEnd len="med" w="med" type="none"/>
            <a:tailEnd len="med" w="med" type="none"/>
          </a:ln>
        </p:spPr>
      </p:cxnSp>
      <p:cxnSp>
        <p:nvCxnSpPr>
          <p:cNvPr id="431" name="Google Shape;431;p53"/>
          <p:cNvCxnSpPr/>
          <p:nvPr/>
        </p:nvCxnSpPr>
        <p:spPr>
          <a:xfrm>
            <a:off x="6539411" y="3037350"/>
            <a:ext cx="8100" cy="198300"/>
          </a:xfrm>
          <a:prstGeom prst="straightConnector1">
            <a:avLst/>
          </a:prstGeom>
          <a:noFill/>
          <a:ln cap="flat" cmpd="sng" w="9525">
            <a:solidFill>
              <a:schemeClr val="dk1"/>
            </a:solidFill>
            <a:prstDash val="solid"/>
            <a:round/>
            <a:headEnd len="med" w="med" type="none"/>
            <a:tailEnd len="med" w="med" type="none"/>
          </a:ln>
        </p:spPr>
      </p:cxnSp>
      <p:sp>
        <p:nvSpPr>
          <p:cNvPr id="432" name="Google Shape;432;p53"/>
          <p:cNvSpPr/>
          <p:nvPr/>
        </p:nvSpPr>
        <p:spPr>
          <a:xfrm>
            <a:off x="5524025" y="1638829"/>
            <a:ext cx="2714275" cy="824775"/>
          </a:xfrm>
          <a:custGeom>
            <a:rect b="b" l="l" r="r" t="t"/>
            <a:pathLst>
              <a:path extrusionOk="0" h="32991" w="108571">
                <a:moveTo>
                  <a:pt x="108571" y="32991"/>
                </a:moveTo>
                <a:cubicBezTo>
                  <a:pt x="106327" y="32800"/>
                  <a:pt x="99261" y="32991"/>
                  <a:pt x="95107" y="31845"/>
                </a:cubicBezTo>
                <a:cubicBezTo>
                  <a:pt x="90953" y="30699"/>
                  <a:pt x="88041" y="29172"/>
                  <a:pt x="83648" y="26116"/>
                </a:cubicBezTo>
                <a:cubicBezTo>
                  <a:pt x="79256" y="23061"/>
                  <a:pt x="74577" y="17379"/>
                  <a:pt x="68752" y="13512"/>
                </a:cubicBezTo>
                <a:cubicBezTo>
                  <a:pt x="62927" y="9645"/>
                  <a:pt x="55431" y="5061"/>
                  <a:pt x="48699" y="2912"/>
                </a:cubicBezTo>
                <a:cubicBezTo>
                  <a:pt x="41967" y="764"/>
                  <a:pt x="34615" y="1098"/>
                  <a:pt x="28360" y="621"/>
                </a:cubicBezTo>
                <a:cubicBezTo>
                  <a:pt x="22106" y="144"/>
                  <a:pt x="15899" y="96"/>
                  <a:pt x="11172" y="48"/>
                </a:cubicBezTo>
                <a:cubicBezTo>
                  <a:pt x="6445" y="0"/>
                  <a:pt x="1862" y="286"/>
                  <a:pt x="0" y="334"/>
                </a:cubicBezTo>
              </a:path>
            </a:pathLst>
          </a:custGeom>
          <a:noFill/>
          <a:ln cap="flat" cmpd="sng" w="28575">
            <a:solidFill>
              <a:srgbClr val="1B91CA"/>
            </a:solidFill>
            <a:prstDash val="solid"/>
            <a:round/>
            <a:headEnd len="med" w="med" type="none"/>
            <a:tailEnd len="med" w="med" type="none"/>
          </a:ln>
        </p:spPr>
      </p:sp>
      <p:sp>
        <p:nvSpPr>
          <p:cNvPr id="433" name="Google Shape;433;p53"/>
          <p:cNvSpPr txBox="1"/>
          <p:nvPr/>
        </p:nvSpPr>
        <p:spPr>
          <a:xfrm>
            <a:off x="6798800" y="919175"/>
            <a:ext cx="2267100" cy="58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accuracy on </a:t>
            </a:r>
            <a:r>
              <a:rPr b="1" lang="en">
                <a:solidFill>
                  <a:srgbClr val="1B91CA"/>
                </a:solidFill>
                <a:latin typeface="Proxima Nova"/>
                <a:ea typeface="Proxima Nova"/>
                <a:cs typeface="Proxima Nova"/>
                <a:sym typeface="Proxima Nova"/>
              </a:rPr>
              <a:t>training set</a:t>
            </a:r>
            <a:endParaRPr b="1">
              <a:solidFill>
                <a:srgbClr val="1B91CA"/>
              </a:solidFill>
              <a:latin typeface="Proxima Nova"/>
              <a:ea typeface="Proxima Nova"/>
              <a:cs typeface="Proxima Nova"/>
              <a:sym typeface="Proxima Nova"/>
            </a:endParaRPr>
          </a:p>
          <a:p>
            <a:pPr indent="0" lvl="0" marL="0" rtl="0" algn="l">
              <a:spcBef>
                <a:spcPts val="0"/>
              </a:spcBef>
              <a:spcAft>
                <a:spcPts val="0"/>
              </a:spcAft>
              <a:buNone/>
            </a:pPr>
            <a:r>
              <a:rPr lang="en">
                <a:solidFill>
                  <a:schemeClr val="dk1"/>
                </a:solidFill>
                <a:latin typeface="Proxima Nova"/>
                <a:ea typeface="Proxima Nova"/>
                <a:cs typeface="Proxima Nova"/>
                <a:sym typeface="Proxima Nova"/>
              </a:rPr>
              <a:t>accuracy on </a:t>
            </a:r>
            <a:r>
              <a:rPr b="1" lang="en">
                <a:solidFill>
                  <a:srgbClr val="9334E6"/>
                </a:solidFill>
                <a:latin typeface="Proxima Nova"/>
                <a:ea typeface="Proxima Nova"/>
                <a:cs typeface="Proxima Nova"/>
                <a:sym typeface="Proxima Nova"/>
              </a:rPr>
              <a:t>testing set</a:t>
            </a:r>
            <a:endParaRPr b="1">
              <a:solidFill>
                <a:srgbClr val="9334E6"/>
              </a:solidFill>
              <a:latin typeface="Proxima Nova"/>
              <a:ea typeface="Proxima Nova"/>
              <a:cs typeface="Proxima Nova"/>
              <a:sym typeface="Proxima Nova"/>
            </a:endParaRPr>
          </a:p>
        </p:txBody>
      </p:sp>
      <p:sp>
        <p:nvSpPr>
          <p:cNvPr id="434" name="Google Shape;434;p53"/>
          <p:cNvSpPr/>
          <p:nvPr/>
        </p:nvSpPr>
        <p:spPr>
          <a:xfrm>
            <a:off x="5473900" y="2045539"/>
            <a:ext cx="2764400" cy="618575"/>
          </a:xfrm>
          <a:custGeom>
            <a:rect b="b" l="l" r="r" t="t"/>
            <a:pathLst>
              <a:path extrusionOk="0" h="24743" w="110576">
                <a:moveTo>
                  <a:pt x="0" y="24743"/>
                </a:moveTo>
                <a:cubicBezTo>
                  <a:pt x="4583" y="23788"/>
                  <a:pt x="19718" y="22070"/>
                  <a:pt x="27500" y="19014"/>
                </a:cubicBezTo>
                <a:cubicBezTo>
                  <a:pt x="35282" y="15959"/>
                  <a:pt x="39723" y="9561"/>
                  <a:pt x="46694" y="6410"/>
                </a:cubicBezTo>
                <a:cubicBezTo>
                  <a:pt x="53665" y="3259"/>
                  <a:pt x="64550" y="537"/>
                  <a:pt x="69324" y="107"/>
                </a:cubicBezTo>
                <a:cubicBezTo>
                  <a:pt x="74098" y="-323"/>
                  <a:pt x="73239" y="2112"/>
                  <a:pt x="75340" y="3831"/>
                </a:cubicBezTo>
                <a:cubicBezTo>
                  <a:pt x="77441" y="5550"/>
                  <a:pt x="79542" y="8463"/>
                  <a:pt x="81929" y="10420"/>
                </a:cubicBezTo>
                <a:cubicBezTo>
                  <a:pt x="84316" y="12378"/>
                  <a:pt x="86322" y="14191"/>
                  <a:pt x="89664" y="15576"/>
                </a:cubicBezTo>
                <a:cubicBezTo>
                  <a:pt x="93006" y="16961"/>
                  <a:pt x="98497" y="18251"/>
                  <a:pt x="101982" y="18728"/>
                </a:cubicBezTo>
                <a:cubicBezTo>
                  <a:pt x="105467" y="19206"/>
                  <a:pt x="109144" y="18489"/>
                  <a:pt x="110576" y="18441"/>
                </a:cubicBezTo>
              </a:path>
            </a:pathLst>
          </a:custGeom>
          <a:noFill/>
          <a:ln cap="flat" cmpd="sng" w="28575">
            <a:solidFill>
              <a:srgbClr val="9334E6"/>
            </a:solidFill>
            <a:prstDash val="solid"/>
            <a:round/>
            <a:headEnd len="med" w="med" type="none"/>
            <a:tailEnd len="med" w="med" type="none"/>
          </a:ln>
        </p:spPr>
      </p:sp>
      <p:sp>
        <p:nvSpPr>
          <p:cNvPr id="435" name="Google Shape;435;p53"/>
          <p:cNvSpPr/>
          <p:nvPr/>
        </p:nvSpPr>
        <p:spPr>
          <a:xfrm>
            <a:off x="7281325" y="1583275"/>
            <a:ext cx="25400" cy="1828800"/>
          </a:xfrm>
          <a:custGeom>
            <a:rect b="b" l="l" r="r" t="t"/>
            <a:pathLst>
              <a:path extrusionOk="0" h="73152" w="1016">
                <a:moveTo>
                  <a:pt x="0" y="0"/>
                </a:moveTo>
                <a:cubicBezTo>
                  <a:pt x="169" y="12192"/>
                  <a:pt x="847" y="60960"/>
                  <a:pt x="1016" y="73152"/>
                </a:cubicBezTo>
              </a:path>
            </a:pathLst>
          </a:custGeom>
          <a:noFill/>
          <a:ln cap="flat" cmpd="sng" w="28575">
            <a:solidFill>
              <a:srgbClr val="A9AA35"/>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9" name="Shape 439"/>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440" name="Google Shape;440;p54"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441" name="Google Shape;441;p54"/>
          <p:cNvSpPr/>
          <p:nvPr/>
        </p:nvSpPr>
        <p:spPr>
          <a:xfrm>
            <a:off x="2293625" y="967750"/>
            <a:ext cx="4953000" cy="2689800"/>
          </a:xfrm>
          <a:prstGeom prst="roundRect">
            <a:avLst>
              <a:gd fmla="val 16667" name="adj"/>
            </a:avLst>
          </a:prstGeom>
          <a:solidFill>
            <a:srgbClr val="BE86B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800">
                <a:solidFill>
                  <a:schemeClr val="dk1"/>
                </a:solidFill>
                <a:latin typeface="Staatliches"/>
                <a:ea typeface="Staatliches"/>
                <a:cs typeface="Staatliches"/>
                <a:sym typeface="Staatliches"/>
              </a:rPr>
              <a:t>Work Time</a:t>
            </a:r>
            <a:endParaRPr sz="2800">
              <a:solidFill>
                <a:schemeClr val="dk1"/>
              </a:solidFill>
              <a:latin typeface="Staatliches"/>
              <a:ea typeface="Staatliches"/>
              <a:cs typeface="Staatliches"/>
              <a:sym typeface="Staatliches"/>
            </a:endParaRPr>
          </a:p>
          <a:p>
            <a:pPr indent="0" lvl="0" marL="0" rtl="0" algn="ctr">
              <a:spcBef>
                <a:spcPts val="0"/>
              </a:spcBef>
              <a:spcAft>
                <a:spcPts val="0"/>
              </a:spcAft>
              <a:buNone/>
            </a:pPr>
            <a:r>
              <a:rPr b="1" lang="en" sz="2800">
                <a:solidFill>
                  <a:srgbClr val="7F1E15"/>
                </a:solidFill>
              </a:rPr>
              <a:t>HW5 Q#2-3</a:t>
            </a:r>
            <a:endParaRPr b="1" sz="2800">
              <a:solidFill>
                <a:srgbClr val="7F1E15"/>
              </a:solidFill>
            </a:endParaRPr>
          </a:p>
          <a:p>
            <a:pPr indent="0" lvl="0" marL="0" rtl="0" algn="ctr">
              <a:spcBef>
                <a:spcPts val="0"/>
              </a:spcBef>
              <a:spcAft>
                <a:spcPts val="0"/>
              </a:spcAft>
              <a:buClr>
                <a:schemeClr val="dk1"/>
              </a:buClr>
              <a:buSzPts val="1100"/>
              <a:buFont typeface="Arial"/>
              <a:buNone/>
            </a:pPr>
            <a:r>
              <a:t/>
            </a:r>
            <a:endParaRPr b="1" sz="2800">
              <a:solidFill>
                <a:srgbClr val="7F1E15"/>
              </a:solidFill>
            </a:endParaRPr>
          </a:p>
          <a:p>
            <a:pPr indent="0" lvl="0" marL="0" rtl="0" algn="ctr">
              <a:spcBef>
                <a:spcPts val="0"/>
              </a:spcBef>
              <a:spcAft>
                <a:spcPts val="0"/>
              </a:spcAft>
              <a:buClr>
                <a:schemeClr val="dk1"/>
              </a:buClr>
              <a:buSzPts val="1100"/>
              <a:buFont typeface="Arial"/>
              <a:buNone/>
            </a:pPr>
            <a:r>
              <a:rPr lang="en">
                <a:solidFill>
                  <a:schemeClr val="dk1"/>
                </a:solidFill>
              </a:rPr>
              <a:t>Let’s get a start on some more homework questions. Grab a partner to get started.</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Clr>
                <a:schemeClr val="dk1"/>
              </a:buClr>
              <a:buSzPts val="1100"/>
              <a:buFont typeface="Arial"/>
              <a:buNone/>
            </a:pPr>
            <a:r>
              <a:rPr lang="en" u="sng">
                <a:solidFill>
                  <a:schemeClr val="hlink"/>
                </a:solidFill>
                <a:hlinkClick r:id="rId6"/>
              </a:rPr>
              <a:t>View on our website</a:t>
            </a:r>
            <a:endParaRPr>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5" name="Shape 445"/>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446" name="Google Shape;446;p55"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447" name="Google Shape;447;p55"/>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3622">
                <a:solidFill>
                  <a:schemeClr val="lt1"/>
                </a:solidFill>
                <a:latin typeface="Staatliches"/>
                <a:ea typeface="Staatliches"/>
                <a:cs typeface="Staatliches"/>
                <a:sym typeface="Staatliches"/>
              </a:rPr>
              <a:t>TREE</a:t>
            </a:r>
            <a:r>
              <a:rPr b="1" lang="en" sz="3622">
                <a:solidFill>
                  <a:schemeClr val="lt1"/>
                </a:solidFill>
                <a:latin typeface="Source Code Pro"/>
                <a:ea typeface="Source Code Pro"/>
                <a:cs typeface="Source Code Pro"/>
                <a:sym typeface="Source Code Pro"/>
              </a:rPr>
              <a:t>3</a:t>
            </a:r>
            <a:r>
              <a:rPr lang="en" sz="3622">
                <a:solidFill>
                  <a:schemeClr val="dk1"/>
                </a:solidFill>
                <a:latin typeface="Staatliches"/>
                <a:ea typeface="Staatliches"/>
                <a:cs typeface="Staatliches"/>
                <a:sym typeface="Staatliches"/>
              </a:rPr>
              <a:t>: tree-based algorithms</a:t>
            </a:r>
            <a:r>
              <a:rPr lang="en" sz="2422">
                <a:solidFill>
                  <a:schemeClr val="dk1"/>
                </a:solidFill>
                <a:latin typeface="Staatliches"/>
                <a:ea typeface="Staatliches"/>
                <a:cs typeface="Staatliches"/>
                <a:sym typeface="Staatliches"/>
              </a:rPr>
              <a:t> </a:t>
            </a:r>
            <a:endParaRPr sz="24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random forest, boosting, bagging</a:t>
            </a:r>
            <a:endParaRPr>
              <a:solidFill>
                <a:schemeClr val="dk1"/>
              </a:solidFill>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example workflow</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D9F24"/>
        </a:solidFill>
      </p:bgPr>
    </p:bg>
    <p:spTree>
      <p:nvGrpSpPr>
        <p:cNvPr id="451" name="Shape 451"/>
        <p:cNvGrpSpPr/>
        <p:nvPr/>
      </p:nvGrpSpPr>
      <p:grpSpPr>
        <a:xfrm>
          <a:off x="0" y="0"/>
          <a:ext cx="0" cy="0"/>
          <a:chOff x="0" y="0"/>
          <a:chExt cx="0" cy="0"/>
        </a:xfrm>
      </p:grpSpPr>
      <p:sp>
        <p:nvSpPr>
          <p:cNvPr id="452" name="Google Shape;452;p5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lnSpc>
                <a:spcPct val="80000"/>
              </a:lnSpc>
              <a:spcBef>
                <a:spcPts val="0"/>
              </a:spcBef>
              <a:spcAft>
                <a:spcPts val="0"/>
              </a:spcAft>
              <a:buNone/>
            </a:pPr>
            <a:r>
              <a:rPr b="1" lang="en" sz="6650">
                <a:solidFill>
                  <a:srgbClr val="36174D"/>
                </a:solidFill>
                <a:latin typeface="Staatliches"/>
                <a:ea typeface="Staatliches"/>
                <a:cs typeface="Staatliches"/>
                <a:sym typeface="Staatliches"/>
              </a:rPr>
              <a:t>Colab workbook</a:t>
            </a:r>
            <a:endParaRPr b="1" sz="6650">
              <a:solidFill>
                <a:srgbClr val="36174D"/>
              </a:solidFill>
              <a:latin typeface="Staatliches"/>
              <a:ea typeface="Staatliches"/>
              <a:cs typeface="Staatliches"/>
              <a:sym typeface="Staatliches"/>
            </a:endParaRPr>
          </a:p>
          <a:p>
            <a:pPr indent="0" lvl="0" marL="0" rtl="0" algn="ctr">
              <a:spcBef>
                <a:spcPts val="0"/>
              </a:spcBef>
              <a:spcAft>
                <a:spcPts val="0"/>
              </a:spcAft>
              <a:buNone/>
            </a:pPr>
            <a:r>
              <a:rPr lang="en" sz="1100">
                <a:latin typeface="Manrope"/>
                <a:ea typeface="Manrope"/>
                <a:cs typeface="Manrope"/>
                <a:sym typeface="Manrope"/>
              </a:rPr>
              <a:t>Link: </a:t>
            </a:r>
            <a:r>
              <a:rPr lang="en" sz="1100" u="sng">
                <a:solidFill>
                  <a:schemeClr val="hlink"/>
                </a:solidFill>
                <a:latin typeface="Manrope"/>
                <a:ea typeface="Manrope"/>
                <a:cs typeface="Manrope"/>
                <a:sym typeface="Manrope"/>
                <a:hlinkClick r:id="rId3"/>
              </a:rPr>
              <a:t>click for access</a:t>
            </a:r>
            <a:endParaRPr sz="1100">
              <a:latin typeface="Manrope"/>
              <a:ea typeface="Manrope"/>
              <a:cs typeface="Manrope"/>
              <a:sym typeface="Manrope"/>
            </a:endParaRPr>
          </a:p>
          <a:p>
            <a:pPr indent="0" lvl="0" marL="0" rtl="0" algn="ctr">
              <a:spcBef>
                <a:spcPts val="0"/>
              </a:spcBef>
              <a:spcAft>
                <a:spcPts val="0"/>
              </a:spcAft>
              <a:buNone/>
            </a:pPr>
            <a:r>
              <a:t/>
            </a:r>
            <a:endParaRPr sz="1100">
              <a:latin typeface="Manrope"/>
              <a:ea typeface="Manrope"/>
              <a:cs typeface="Manrope"/>
              <a:sym typeface="Manrop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6" name="Shape 456"/>
        <p:cNvGrpSpPr/>
        <p:nvPr/>
      </p:nvGrpSpPr>
      <p:grpSpPr>
        <a:xfrm>
          <a:off x="0" y="0"/>
          <a:ext cx="0" cy="0"/>
          <a:chOff x="0" y="0"/>
          <a:chExt cx="0" cy="0"/>
        </a:xfrm>
      </p:grpSpPr>
      <p:sp>
        <p:nvSpPr>
          <p:cNvPr id="457" name="Google Shape;457;p57"/>
          <p:cNvSpPr txBox="1"/>
          <p:nvPr/>
        </p:nvSpPr>
        <p:spPr>
          <a:xfrm>
            <a:off x="500725" y="1330775"/>
            <a:ext cx="3033300" cy="24120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5750">
                <a:solidFill>
                  <a:schemeClr val="dk1"/>
                </a:solidFill>
                <a:latin typeface="Staatliches"/>
                <a:ea typeface="Staatliches"/>
                <a:cs typeface="Staatliches"/>
                <a:sym typeface="Staatliches"/>
              </a:rPr>
              <a:t>Exercise </a:t>
            </a:r>
            <a:endParaRPr b="1" sz="5750">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latin typeface="Proxima Nova"/>
                <a:ea typeface="Proxima Nova"/>
                <a:cs typeface="Proxima Nova"/>
                <a:sym typeface="Proxima Nova"/>
              </a:rPr>
              <a:t>The figure to the right has some clear clusters. Draw </a:t>
            </a:r>
            <a:r>
              <a:rPr b="1" lang="en">
                <a:solidFill>
                  <a:schemeClr val="dk1"/>
                </a:solidFill>
                <a:latin typeface="Proxima Nova"/>
                <a:ea typeface="Proxima Nova"/>
                <a:cs typeface="Proxima Nova"/>
                <a:sym typeface="Proxima Nova"/>
              </a:rPr>
              <a:t>decision boundaries</a:t>
            </a:r>
            <a:r>
              <a:rPr lang="en">
                <a:solidFill>
                  <a:schemeClr val="dk1"/>
                </a:solidFill>
                <a:latin typeface="Proxima Nova"/>
                <a:ea typeface="Proxima Nova"/>
                <a:cs typeface="Proxima Nova"/>
                <a:sym typeface="Proxima Nova"/>
              </a:rPr>
              <a:t> between the collection of points. Then color in each region for the class it belongs to.</a:t>
            </a:r>
            <a:endParaRPr>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750">
              <a:solidFill>
                <a:schemeClr val="dk1"/>
              </a:solidFill>
              <a:latin typeface="Proxima Nova"/>
              <a:ea typeface="Proxima Nova"/>
              <a:cs typeface="Proxima Nova"/>
              <a:sym typeface="Proxima Nova"/>
            </a:endParaRPr>
          </a:p>
        </p:txBody>
      </p:sp>
      <p:pic>
        <p:nvPicPr>
          <p:cNvPr descr="2 Minute Timer Relaxing Music Lofi Fish Background&#10;Song- https://www.youtube.com/watch?v=Nh_oj5hsAbs&amp;t=41s&#10;&#10;&#10;TAGS&#10;2 minute&#10;2 minute countdown&#10;2 minute lo-fi hiphop timer&#10;2 minute timer&#10;countdown&#10;lo-fi music&#10;lofi study song&#10;study music&#10;study timer&#10;time&#10;timer&#10;working music&#10;2 minute timer with music&#10;2 minute clock&#10;lofi hiphop&#10;relaxing timers&#10;relaxing music&#10;relaxing lofi timer&#10;nature timer&#10;meditation&#10;meditation music&#10;relaxing sleep music&#10;school timer&#10;sleep timer&#10;chill timer&#10;chill music&#10;lofi timer&#10;lofi hiphop timer&#10;lofi hip hop" id="458" name="Google Shape;458;p57" title="2 Minute Timer Relaxing Music Lofi Fish Background">
            <a:hlinkClick r:id="rId3"/>
          </p:cNvPr>
          <p:cNvPicPr preferRelativeResize="0"/>
          <p:nvPr/>
        </p:nvPicPr>
        <p:blipFill>
          <a:blip r:embed="rId4">
            <a:alphaModFix/>
          </a:blip>
          <a:stretch>
            <a:fillRect/>
          </a:stretch>
        </p:blipFill>
        <p:spPr>
          <a:xfrm>
            <a:off x="587600" y="3644425"/>
            <a:ext cx="909375" cy="511525"/>
          </a:xfrm>
          <a:prstGeom prst="rect">
            <a:avLst/>
          </a:prstGeom>
          <a:noFill/>
          <a:ln>
            <a:noFill/>
          </a:ln>
        </p:spPr>
      </p:pic>
      <p:pic>
        <p:nvPicPr>
          <p:cNvPr id="459" name="Google Shape;459;p57"/>
          <p:cNvPicPr preferRelativeResize="0"/>
          <p:nvPr/>
        </p:nvPicPr>
        <p:blipFill>
          <a:blip r:embed="rId5">
            <a:alphaModFix/>
          </a:blip>
          <a:stretch>
            <a:fillRect/>
          </a:stretch>
        </p:blipFill>
        <p:spPr>
          <a:xfrm>
            <a:off x="3632425" y="990600"/>
            <a:ext cx="5161325" cy="3468400"/>
          </a:xfrm>
          <a:prstGeom prst="rect">
            <a:avLst/>
          </a:prstGeom>
          <a:noFill/>
          <a:ln>
            <a:noFill/>
          </a:ln>
        </p:spPr>
      </p:pic>
      <p:cxnSp>
        <p:nvCxnSpPr>
          <p:cNvPr id="460" name="Google Shape;460;p57"/>
          <p:cNvCxnSpPr/>
          <p:nvPr/>
        </p:nvCxnSpPr>
        <p:spPr>
          <a:xfrm rot="10800000">
            <a:off x="7287925" y="1143400"/>
            <a:ext cx="37800" cy="2986800"/>
          </a:xfrm>
          <a:prstGeom prst="straightConnector1">
            <a:avLst/>
          </a:prstGeom>
          <a:noFill/>
          <a:ln cap="flat" cmpd="sng" w="28575">
            <a:solidFill>
              <a:schemeClr val="dk2"/>
            </a:solidFill>
            <a:prstDash val="solid"/>
            <a:round/>
            <a:headEnd len="med" w="med" type="none"/>
            <a:tailEnd len="med" w="med" type="none"/>
          </a:ln>
        </p:spPr>
      </p:cxnSp>
      <p:cxnSp>
        <p:nvCxnSpPr>
          <p:cNvPr id="461" name="Google Shape;461;p57"/>
          <p:cNvCxnSpPr/>
          <p:nvPr/>
        </p:nvCxnSpPr>
        <p:spPr>
          <a:xfrm>
            <a:off x="7320350" y="2086825"/>
            <a:ext cx="13371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id="466" name="Google Shape;466;p58" title="Screenshot 2025-03-14 at 11.35.01 AM.png"/>
          <p:cNvPicPr preferRelativeResize="0"/>
          <p:nvPr/>
        </p:nvPicPr>
        <p:blipFill>
          <a:blip r:embed="rId3">
            <a:alphaModFix/>
          </a:blip>
          <a:stretch>
            <a:fillRect/>
          </a:stretch>
        </p:blipFill>
        <p:spPr>
          <a:xfrm>
            <a:off x="497000" y="1346575"/>
            <a:ext cx="3632700" cy="3048472"/>
          </a:xfrm>
          <a:prstGeom prst="rect">
            <a:avLst/>
          </a:prstGeom>
          <a:noFill/>
          <a:ln>
            <a:noFill/>
          </a:ln>
        </p:spPr>
      </p:pic>
      <p:sp>
        <p:nvSpPr>
          <p:cNvPr id="467" name="Google Shape;467;p58"/>
          <p:cNvSpPr txBox="1"/>
          <p:nvPr/>
        </p:nvSpPr>
        <p:spPr>
          <a:xfrm>
            <a:off x="4155400" y="3852650"/>
            <a:ext cx="40962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600"/>
              </a:spcAft>
              <a:buNone/>
            </a:pPr>
            <a:r>
              <a:rPr lang="en" sz="1200">
                <a:solidFill>
                  <a:srgbClr val="1F1F1F"/>
                </a:solidFill>
                <a:highlight>
                  <a:srgbClr val="FFFFFF"/>
                </a:highlight>
              </a:rPr>
              <a:t>How well does your graph regions from before match with this?</a:t>
            </a:r>
            <a:endParaRPr sz="1200">
              <a:solidFill>
                <a:srgbClr val="1F1F1F"/>
              </a:solidFill>
              <a:highlight>
                <a:srgbClr val="FFFFFF"/>
              </a:highlight>
            </a:endParaRPr>
          </a:p>
        </p:txBody>
      </p:sp>
      <p:sp>
        <p:nvSpPr>
          <p:cNvPr id="468" name="Google Shape;468;p58"/>
          <p:cNvSpPr txBox="1"/>
          <p:nvPr/>
        </p:nvSpPr>
        <p:spPr>
          <a:xfrm>
            <a:off x="429588" y="640850"/>
            <a:ext cx="349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Let’s take a look at the decision tree for this data:</a:t>
            </a:r>
            <a:endParaRPr/>
          </a:p>
        </p:txBody>
      </p:sp>
      <p:sp>
        <p:nvSpPr>
          <p:cNvPr id="469" name="Google Shape;469;p58"/>
          <p:cNvSpPr txBox="1"/>
          <p:nvPr/>
        </p:nvSpPr>
        <p:spPr>
          <a:xfrm>
            <a:off x="4232350" y="544075"/>
            <a:ext cx="4349700" cy="66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600"/>
              </a:spcAft>
              <a:buNone/>
            </a:pPr>
            <a:r>
              <a:rPr lang="en" sz="1450">
                <a:solidFill>
                  <a:srgbClr val="1F1F1F"/>
                </a:solidFill>
                <a:highlight>
                  <a:srgbClr val="FFFFFF"/>
                </a:highlight>
              </a:rPr>
              <a:t>𝑋[0] </a:t>
            </a:r>
            <a:r>
              <a:rPr lang="en" sz="1200">
                <a:solidFill>
                  <a:srgbClr val="1F1F1F"/>
                </a:solidFill>
                <a:highlight>
                  <a:srgbClr val="FFFFFF"/>
                </a:highlight>
              </a:rPr>
              <a:t>is the </a:t>
            </a:r>
            <a:r>
              <a:rPr lang="en" sz="1450">
                <a:solidFill>
                  <a:srgbClr val="1F1F1F"/>
                </a:solidFill>
                <a:highlight>
                  <a:srgbClr val="FFFFFF"/>
                </a:highlight>
              </a:rPr>
              <a:t>𝑥</a:t>
            </a:r>
            <a:r>
              <a:rPr lang="en" sz="1200">
                <a:solidFill>
                  <a:srgbClr val="1F1F1F"/>
                </a:solidFill>
                <a:highlight>
                  <a:srgbClr val="FFFFFF"/>
                </a:highlight>
              </a:rPr>
              <a:t>-coordinate, </a:t>
            </a:r>
            <a:r>
              <a:rPr lang="en" sz="1450">
                <a:solidFill>
                  <a:srgbClr val="1F1F1F"/>
                </a:solidFill>
                <a:highlight>
                  <a:srgbClr val="FFFFFF"/>
                </a:highlight>
              </a:rPr>
              <a:t>𝑋[1] </a:t>
            </a:r>
            <a:r>
              <a:rPr lang="en" sz="1200">
                <a:solidFill>
                  <a:srgbClr val="1F1F1F"/>
                </a:solidFill>
                <a:highlight>
                  <a:srgbClr val="FFFFFF"/>
                </a:highlight>
              </a:rPr>
              <a:t>is the </a:t>
            </a:r>
            <a:r>
              <a:rPr lang="en" sz="1450">
                <a:solidFill>
                  <a:srgbClr val="1F1F1F"/>
                </a:solidFill>
                <a:highlight>
                  <a:srgbClr val="FFFFFF"/>
                </a:highlight>
              </a:rPr>
              <a:t>𝑦</a:t>
            </a:r>
            <a:r>
              <a:rPr lang="en" sz="1200">
                <a:solidFill>
                  <a:srgbClr val="1F1F1F"/>
                </a:solidFill>
                <a:highlight>
                  <a:srgbClr val="FFFFFF"/>
                </a:highlight>
              </a:rPr>
              <a:t>-coordinate. The first split checks if the </a:t>
            </a:r>
            <a:r>
              <a:rPr lang="en" sz="1450">
                <a:solidFill>
                  <a:srgbClr val="1F1F1F"/>
                </a:solidFill>
                <a:highlight>
                  <a:srgbClr val="FFFFFF"/>
                </a:highlight>
              </a:rPr>
              <a:t>𝑥</a:t>
            </a:r>
            <a:r>
              <a:rPr lang="en" sz="1200">
                <a:solidFill>
                  <a:srgbClr val="1F1F1F"/>
                </a:solidFill>
                <a:highlight>
                  <a:srgbClr val="FFFFFF"/>
                </a:highlight>
              </a:rPr>
              <a:t>-coordinate is less than or equal to </a:t>
            </a:r>
            <a:r>
              <a:rPr lang="en" sz="1450">
                <a:solidFill>
                  <a:srgbClr val="1F1F1F"/>
                </a:solidFill>
                <a:highlight>
                  <a:srgbClr val="FFFFFF"/>
                </a:highlight>
              </a:rPr>
              <a:t>−1</a:t>
            </a:r>
            <a:r>
              <a:rPr lang="en" sz="1200">
                <a:solidFill>
                  <a:srgbClr val="1F1F1F"/>
                </a:solidFill>
                <a:highlight>
                  <a:srgbClr val="FFFFFF"/>
                </a:highlight>
              </a:rPr>
              <a:t>.</a:t>
            </a:r>
            <a:endParaRPr/>
          </a:p>
        </p:txBody>
      </p:sp>
      <p:sp>
        <p:nvSpPr>
          <p:cNvPr id="470" name="Google Shape;470;p58"/>
          <p:cNvSpPr txBox="1"/>
          <p:nvPr/>
        </p:nvSpPr>
        <p:spPr>
          <a:xfrm>
            <a:off x="4162225" y="1330250"/>
            <a:ext cx="43119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600"/>
              </a:spcAft>
              <a:buNone/>
            </a:pPr>
            <a:r>
              <a:rPr lang="en" sz="1200">
                <a:solidFill>
                  <a:srgbClr val="1F1F1F"/>
                </a:solidFill>
                <a:highlight>
                  <a:srgbClr val="FFFFFF"/>
                </a:highlight>
              </a:rPr>
              <a:t>The "gini" listed here is the gini impurity of the node. Notice that once we get to the bottom of the tree, the gini impurity is 0, since there is no uncertainty.</a:t>
            </a:r>
            <a:endParaRPr/>
          </a:p>
        </p:txBody>
      </p:sp>
      <p:sp>
        <p:nvSpPr>
          <p:cNvPr id="471" name="Google Shape;471;p58"/>
          <p:cNvSpPr txBox="1"/>
          <p:nvPr/>
        </p:nvSpPr>
        <p:spPr>
          <a:xfrm>
            <a:off x="4172300" y="2387000"/>
            <a:ext cx="4177200" cy="14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600"/>
              </a:spcAft>
              <a:buNone/>
            </a:pPr>
            <a:r>
              <a:rPr lang="en" sz="1200">
                <a:solidFill>
                  <a:srgbClr val="1F1F1F"/>
                </a:solidFill>
                <a:highlight>
                  <a:srgbClr val="FFFFFF"/>
                </a:highlight>
              </a:rPr>
              <a:t>The "value" here tells us how many samples from each class follow the decision tree to that point. At the top, we have 14 total samples, with four from class 1, five from class 2, and five from class 3. If we follow the tree to the right, we have 10 samples remaining, with five from class 2 and five from class 3.</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id="476" name="Google Shape;476;p59" title="Screenshot 2025-03-14 at 11.35.01 AM.png"/>
          <p:cNvPicPr preferRelativeResize="0"/>
          <p:nvPr/>
        </p:nvPicPr>
        <p:blipFill>
          <a:blip r:embed="rId3">
            <a:alphaModFix/>
          </a:blip>
          <a:stretch>
            <a:fillRect/>
          </a:stretch>
        </p:blipFill>
        <p:spPr>
          <a:xfrm>
            <a:off x="497000" y="1346575"/>
            <a:ext cx="3632700" cy="3048472"/>
          </a:xfrm>
          <a:prstGeom prst="rect">
            <a:avLst/>
          </a:prstGeom>
          <a:noFill/>
          <a:ln>
            <a:noFill/>
          </a:ln>
        </p:spPr>
      </p:pic>
      <p:sp>
        <p:nvSpPr>
          <p:cNvPr id="477" name="Google Shape;477;p59"/>
          <p:cNvSpPr txBox="1"/>
          <p:nvPr/>
        </p:nvSpPr>
        <p:spPr>
          <a:xfrm>
            <a:off x="429588" y="640850"/>
            <a:ext cx="349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Let’s take a look at the decision tree for this data:</a:t>
            </a:r>
            <a:endParaRPr/>
          </a:p>
        </p:txBody>
      </p:sp>
      <p:pic>
        <p:nvPicPr>
          <p:cNvPr id="478" name="Google Shape;478;p59"/>
          <p:cNvPicPr preferRelativeResize="0"/>
          <p:nvPr/>
        </p:nvPicPr>
        <p:blipFill>
          <a:blip r:embed="rId4">
            <a:alphaModFix/>
          </a:blip>
          <a:stretch>
            <a:fillRect/>
          </a:stretch>
        </p:blipFill>
        <p:spPr>
          <a:xfrm>
            <a:off x="4264425" y="882775"/>
            <a:ext cx="4271625" cy="3258225"/>
          </a:xfrm>
          <a:prstGeom prst="rect">
            <a:avLst/>
          </a:prstGeom>
          <a:noFill/>
          <a:ln>
            <a:noFill/>
          </a:ln>
        </p:spPr>
      </p:pic>
      <p:sp>
        <p:nvSpPr>
          <p:cNvPr id="479" name="Google Shape;479;p59"/>
          <p:cNvSpPr/>
          <p:nvPr/>
        </p:nvSpPr>
        <p:spPr>
          <a:xfrm>
            <a:off x="4612564" y="1021173"/>
            <a:ext cx="2538900" cy="2805900"/>
          </a:xfrm>
          <a:prstGeom prst="rect">
            <a:avLst/>
          </a:prstGeom>
          <a:solidFill>
            <a:srgbClr val="9334E6">
              <a:alpha val="306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59"/>
          <p:cNvSpPr/>
          <p:nvPr/>
        </p:nvSpPr>
        <p:spPr>
          <a:xfrm>
            <a:off x="7151542" y="1021173"/>
            <a:ext cx="1255200" cy="911700"/>
          </a:xfrm>
          <a:prstGeom prst="rect">
            <a:avLst/>
          </a:prstGeom>
          <a:solidFill>
            <a:srgbClr val="0097A7">
              <a:alpha val="35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59"/>
          <p:cNvSpPr/>
          <p:nvPr/>
        </p:nvSpPr>
        <p:spPr>
          <a:xfrm>
            <a:off x="7151542" y="1932863"/>
            <a:ext cx="1255200" cy="1894200"/>
          </a:xfrm>
          <a:prstGeom prst="rect">
            <a:avLst/>
          </a:prstGeom>
          <a:solidFill>
            <a:srgbClr val="A9AA35">
              <a:alpha val="331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0"/>
          <p:cNvSpPr txBox="1"/>
          <p:nvPr/>
        </p:nvSpPr>
        <p:spPr>
          <a:xfrm>
            <a:off x="753450" y="878800"/>
            <a:ext cx="3555600" cy="360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Alfa Slab One"/>
                <a:ea typeface="Alfa Slab One"/>
                <a:cs typeface="Alfa Slab One"/>
                <a:sym typeface="Alfa Slab One"/>
              </a:rPr>
              <a:t>Decision trees have great advantages over other algorithms</a:t>
            </a:r>
            <a:endParaRPr sz="1800">
              <a:solidFill>
                <a:schemeClr val="dk2"/>
              </a:solidFill>
              <a:latin typeface="Alfa Slab One"/>
              <a:ea typeface="Alfa Slab One"/>
              <a:cs typeface="Alfa Slab One"/>
              <a:sym typeface="Alfa Slab One"/>
            </a:endParaRPr>
          </a:p>
          <a:p>
            <a:pPr indent="0" lvl="0" marL="0" rtl="0" algn="l">
              <a:spcBef>
                <a:spcPts val="0"/>
              </a:spcBef>
              <a:spcAft>
                <a:spcPts val="0"/>
              </a:spcAft>
              <a:buNone/>
            </a:pPr>
            <a:r>
              <a:t/>
            </a:r>
            <a:endParaRPr sz="1622">
              <a:solidFill>
                <a:schemeClr val="dk2"/>
              </a:solidFill>
              <a:latin typeface="Alfa Slab One"/>
              <a:ea typeface="Alfa Slab One"/>
              <a:cs typeface="Alfa Slab One"/>
              <a:sym typeface="Alfa Slab One"/>
            </a:endParaRPr>
          </a:p>
          <a:p>
            <a:pPr indent="0" lvl="0" marL="0" rtl="0" algn="l">
              <a:spcBef>
                <a:spcPts val="0"/>
              </a:spcBef>
              <a:spcAft>
                <a:spcPts val="0"/>
              </a:spcAft>
              <a:buNone/>
            </a:pPr>
            <a:r>
              <a:rPr lang="en" sz="1822">
                <a:solidFill>
                  <a:schemeClr val="dk1"/>
                </a:solidFill>
                <a:latin typeface="Alfa Slab One"/>
                <a:ea typeface="Alfa Slab One"/>
                <a:cs typeface="Alfa Slab One"/>
                <a:sym typeface="Alfa Slab One"/>
              </a:rPr>
              <a:t>Interpretability</a:t>
            </a:r>
            <a:r>
              <a:rPr lang="en" sz="1622">
                <a:solidFill>
                  <a:schemeClr val="dk2"/>
                </a:solidFill>
                <a:latin typeface="Proxima Nova"/>
                <a:ea typeface="Proxima Nova"/>
                <a:cs typeface="Proxima Nova"/>
                <a:sym typeface="Proxima Nova"/>
              </a:rPr>
              <a:t>: able to look at decisions the algorithm made tells us about the data</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22">
                <a:solidFill>
                  <a:schemeClr val="dk1"/>
                </a:solidFill>
                <a:latin typeface="Alfa Slab One"/>
                <a:ea typeface="Alfa Slab One"/>
                <a:cs typeface="Alfa Slab One"/>
                <a:sym typeface="Alfa Slab One"/>
              </a:rPr>
              <a:t>Fast</a:t>
            </a:r>
            <a:r>
              <a:rPr lang="en" sz="1622">
                <a:solidFill>
                  <a:schemeClr val="dk2"/>
                </a:solidFill>
                <a:latin typeface="Proxima Nova"/>
                <a:ea typeface="Proxima Nova"/>
                <a:cs typeface="Proxima Nova"/>
                <a:sym typeface="Proxima Nova"/>
              </a:rPr>
              <a:t>: quick to build predictions</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22">
                <a:solidFill>
                  <a:schemeClr val="dk1"/>
                </a:solidFill>
                <a:latin typeface="Alfa Slab One"/>
                <a:ea typeface="Alfa Slab One"/>
                <a:cs typeface="Alfa Slab One"/>
                <a:sym typeface="Alfa Slab One"/>
              </a:rPr>
              <a:t>Low data processing</a:t>
            </a:r>
            <a:r>
              <a:rPr lang="en" sz="1622">
                <a:solidFill>
                  <a:schemeClr val="dk2"/>
                </a:solidFill>
                <a:latin typeface="Proxima Nova"/>
                <a:ea typeface="Proxima Nova"/>
                <a:cs typeface="Proxima Nova"/>
                <a:sym typeface="Proxima Nova"/>
              </a:rPr>
              <a:t>: no rescaling, handle continuous and discrete features</a:t>
            </a:r>
            <a:endParaRPr sz="1622">
              <a:solidFill>
                <a:schemeClr val="dk2"/>
              </a:solidFill>
              <a:latin typeface="Proxima Nova"/>
              <a:ea typeface="Proxima Nova"/>
              <a:cs typeface="Proxima Nova"/>
              <a:sym typeface="Proxima Nova"/>
            </a:endParaRPr>
          </a:p>
        </p:txBody>
      </p:sp>
      <p:sp>
        <p:nvSpPr>
          <p:cNvPr id="487" name="Google Shape;487;p60"/>
          <p:cNvSpPr txBox="1"/>
          <p:nvPr/>
        </p:nvSpPr>
        <p:spPr>
          <a:xfrm>
            <a:off x="4953975" y="878800"/>
            <a:ext cx="3555600" cy="310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Alfa Slab One"/>
                <a:ea typeface="Alfa Slab One"/>
                <a:cs typeface="Alfa Slab One"/>
                <a:sym typeface="Alfa Slab One"/>
              </a:rPr>
              <a:t>However it’s not all good news</a:t>
            </a:r>
            <a:endParaRPr sz="1800">
              <a:solidFill>
                <a:schemeClr val="dk2"/>
              </a:solidFill>
              <a:latin typeface="Alfa Slab One"/>
              <a:ea typeface="Alfa Slab One"/>
              <a:cs typeface="Alfa Slab One"/>
              <a:sym typeface="Alfa Slab One"/>
            </a:endParaRPr>
          </a:p>
          <a:p>
            <a:pPr indent="0" lvl="0" marL="0" rtl="0" algn="l">
              <a:spcBef>
                <a:spcPts val="0"/>
              </a:spcBef>
              <a:spcAft>
                <a:spcPts val="0"/>
              </a:spcAft>
              <a:buNone/>
            </a:pPr>
            <a:r>
              <a:t/>
            </a:r>
            <a:endParaRPr sz="1800">
              <a:solidFill>
                <a:schemeClr val="dk2"/>
              </a:solidFill>
              <a:latin typeface="Alfa Slab One"/>
              <a:ea typeface="Alfa Slab One"/>
              <a:cs typeface="Alfa Slab One"/>
              <a:sym typeface="Alfa Slab One"/>
            </a:endParaRPr>
          </a:p>
          <a:p>
            <a:pPr indent="0" lvl="0" marL="0" rtl="0" algn="l">
              <a:spcBef>
                <a:spcPts val="0"/>
              </a:spcBef>
              <a:spcAft>
                <a:spcPts val="0"/>
              </a:spcAft>
              <a:buNone/>
            </a:pPr>
            <a:r>
              <a:t/>
            </a:r>
            <a:endParaRPr sz="1622">
              <a:solidFill>
                <a:schemeClr val="dk2"/>
              </a:solidFill>
              <a:latin typeface="Alfa Slab One"/>
              <a:ea typeface="Alfa Slab One"/>
              <a:cs typeface="Alfa Slab One"/>
              <a:sym typeface="Alfa Slab One"/>
            </a:endParaRPr>
          </a:p>
          <a:p>
            <a:pPr indent="0" lvl="0" marL="0" rtl="0" algn="l">
              <a:spcBef>
                <a:spcPts val="0"/>
              </a:spcBef>
              <a:spcAft>
                <a:spcPts val="0"/>
              </a:spcAft>
              <a:buNone/>
            </a:pPr>
            <a:r>
              <a:rPr lang="en" sz="1622">
                <a:solidFill>
                  <a:schemeClr val="dk2"/>
                </a:solidFill>
                <a:latin typeface="Proxima Nova"/>
                <a:ea typeface="Proxima Nova"/>
                <a:cs typeface="Proxima Nova"/>
                <a:sym typeface="Proxima Nova"/>
              </a:rPr>
              <a:t>If small and interpretable, not as powerful</a:t>
            </a:r>
            <a:endParaRPr sz="1822">
              <a:solidFill>
                <a:schemeClr val="dk1"/>
              </a:solidFill>
              <a:latin typeface="Alfa Slab One"/>
              <a:ea typeface="Alfa Slab One"/>
              <a:cs typeface="Alfa Slab One"/>
              <a:sym typeface="Alfa Slab One"/>
            </a:endParaRPr>
          </a:p>
          <a:p>
            <a:pPr indent="0" lvl="0" marL="0" rtl="0" algn="l">
              <a:spcBef>
                <a:spcPts val="0"/>
              </a:spcBef>
              <a:spcAft>
                <a:spcPts val="0"/>
              </a:spcAft>
              <a:buNone/>
            </a:pPr>
            <a:r>
              <a:t/>
            </a:r>
            <a:endParaRPr sz="1822">
              <a:solidFill>
                <a:schemeClr val="dk1"/>
              </a:solidFill>
              <a:latin typeface="Alfa Slab One"/>
              <a:ea typeface="Alfa Slab One"/>
              <a:cs typeface="Alfa Slab One"/>
              <a:sym typeface="Alfa Slab One"/>
            </a:endParaRPr>
          </a:p>
          <a:p>
            <a:pPr indent="0" lvl="0" marL="0" rtl="0" algn="l">
              <a:spcBef>
                <a:spcPts val="0"/>
              </a:spcBef>
              <a:spcAft>
                <a:spcPts val="0"/>
              </a:spcAft>
              <a:buNone/>
            </a:pPr>
            <a:r>
              <a:rPr lang="en" sz="1822">
                <a:solidFill>
                  <a:schemeClr val="dk1"/>
                </a:solidFill>
                <a:latin typeface="Alfa Slab One"/>
                <a:ea typeface="Alfa Slab One"/>
                <a:cs typeface="Alfa Slab One"/>
                <a:sym typeface="Alfa Slab One"/>
              </a:rPr>
              <a:t>Decision Boundaries</a:t>
            </a:r>
            <a:r>
              <a:rPr lang="en" sz="1622">
                <a:solidFill>
                  <a:schemeClr val="dk2"/>
                </a:solidFill>
                <a:latin typeface="Proxima Nova"/>
                <a:ea typeface="Proxima Nova"/>
                <a:cs typeface="Proxima Nova"/>
                <a:sym typeface="Proxima Nova"/>
              </a:rPr>
              <a:t>: can be ambiguous </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622">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622">
                <a:solidFill>
                  <a:schemeClr val="dk2"/>
                </a:solidFill>
                <a:latin typeface="Proxima Nova"/>
                <a:ea typeface="Proxima Nova"/>
                <a:cs typeface="Proxima Nova"/>
                <a:sym typeface="Proxima Nova"/>
              </a:rPr>
              <a:t>If large, prone to </a:t>
            </a:r>
            <a:r>
              <a:rPr lang="en" sz="1822">
                <a:solidFill>
                  <a:schemeClr val="accent3"/>
                </a:solidFill>
                <a:latin typeface="Alfa Slab One"/>
                <a:ea typeface="Alfa Slab One"/>
                <a:cs typeface="Alfa Slab One"/>
                <a:sym typeface="Alfa Slab One"/>
              </a:rPr>
              <a:t>overfitting</a:t>
            </a:r>
            <a:endParaRPr sz="1622">
              <a:solidFill>
                <a:schemeClr val="accent3"/>
              </a:solidFill>
              <a:latin typeface="Proxima Nova"/>
              <a:ea typeface="Proxima Nova"/>
              <a:cs typeface="Proxima Nova"/>
              <a:sym typeface="Proxima Nov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1"/>
          <p:cNvSpPr txBox="1"/>
          <p:nvPr>
            <p:ph type="title"/>
          </p:nvPr>
        </p:nvSpPr>
        <p:spPr>
          <a:xfrm>
            <a:off x="311700" y="445025"/>
            <a:ext cx="8520600" cy="1007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the bias-variance tradeoff and its relation to over- and under- fitting</a:t>
            </a:r>
            <a:endParaRPr/>
          </a:p>
        </p:txBody>
      </p:sp>
      <p:sp>
        <p:nvSpPr>
          <p:cNvPr id="493" name="Google Shape;493;p61"/>
          <p:cNvSpPr txBox="1"/>
          <p:nvPr>
            <p:ph idx="1" type="body"/>
          </p:nvPr>
        </p:nvSpPr>
        <p:spPr>
          <a:xfrm>
            <a:off x="311700" y="1554475"/>
            <a:ext cx="3999900" cy="301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Situation 1: A model with high variance learns the training data very well at the cost of generalization. </a:t>
            </a:r>
            <a:endParaRPr/>
          </a:p>
          <a:p>
            <a:pPr indent="0" lvl="0" marL="0" rtl="0" algn="l">
              <a:spcBef>
                <a:spcPts val="1200"/>
              </a:spcBef>
              <a:spcAft>
                <a:spcPts val="0"/>
              </a:spcAft>
              <a:buNone/>
            </a:pPr>
            <a:r>
              <a:rPr lang="en"/>
              <a:t>Situation 2: A model with high bias doesn’t learn the training very well.</a:t>
            </a:r>
            <a:endParaRPr/>
          </a:p>
          <a:p>
            <a:pPr indent="0" lvl="0" marL="0" rtl="0" algn="l">
              <a:spcBef>
                <a:spcPts val="1200"/>
              </a:spcBef>
              <a:spcAft>
                <a:spcPts val="1200"/>
              </a:spcAft>
              <a:buNone/>
            </a:pPr>
            <a:r>
              <a:rPr lang="en"/>
              <a:t>Ideally, we’d have a model with no variance or bias, but this is not realistic. You typically have to strike a balance between the two.</a:t>
            </a:r>
            <a:endParaRPr/>
          </a:p>
        </p:txBody>
      </p:sp>
      <p:sp>
        <p:nvSpPr>
          <p:cNvPr id="494" name="Google Shape;494;p61"/>
          <p:cNvSpPr txBox="1"/>
          <p:nvPr>
            <p:ph idx="1" type="body"/>
          </p:nvPr>
        </p:nvSpPr>
        <p:spPr>
          <a:xfrm>
            <a:off x="4572000" y="1643375"/>
            <a:ext cx="3999900" cy="301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Alfa Slab One"/>
                <a:ea typeface="Alfa Slab One"/>
                <a:cs typeface="Alfa Slab One"/>
                <a:sym typeface="Alfa Slab One"/>
              </a:rPr>
              <a:t>Warm-up</a:t>
            </a:r>
            <a:endParaRPr>
              <a:latin typeface="Alfa Slab One"/>
              <a:ea typeface="Alfa Slab One"/>
              <a:cs typeface="Alfa Slab One"/>
              <a:sym typeface="Alfa Slab One"/>
            </a:endParaRPr>
          </a:p>
          <a:p>
            <a:pPr indent="0" lvl="0" marL="0" rtl="0" algn="l">
              <a:spcBef>
                <a:spcPts val="1200"/>
              </a:spcBef>
              <a:spcAft>
                <a:spcPts val="0"/>
              </a:spcAft>
              <a:buNone/>
            </a:pPr>
            <a:r>
              <a:rPr lang="en"/>
              <a:t>Situation 1 is an example of _______-fitting</a:t>
            </a:r>
            <a:endParaRPr/>
          </a:p>
          <a:p>
            <a:pPr indent="0" lvl="0" marL="0" rtl="0" algn="l">
              <a:spcBef>
                <a:spcPts val="1200"/>
              </a:spcBef>
              <a:spcAft>
                <a:spcPts val="0"/>
              </a:spcAft>
              <a:buNone/>
            </a:pPr>
            <a:r>
              <a:rPr lang="en"/>
              <a:t>Situation 2 is an example of _______-fitting</a:t>
            </a:r>
            <a:endParaRPr/>
          </a:p>
          <a:p>
            <a:pPr indent="0" lvl="0" marL="0" rtl="0" algn="l">
              <a:spcBef>
                <a:spcPts val="1200"/>
              </a:spcBef>
              <a:spcAft>
                <a:spcPts val="0"/>
              </a:spcAft>
              <a:buNone/>
            </a:pPr>
            <a:r>
              <a:rPr lang="en"/>
              <a:t>Asking too many questions in a decision tree is an example of Situation __</a:t>
            </a:r>
            <a:endParaRPr/>
          </a:p>
          <a:p>
            <a:pPr indent="0" lvl="0" marL="0" rtl="0" algn="l">
              <a:spcBef>
                <a:spcPts val="1200"/>
              </a:spcBef>
              <a:spcAft>
                <a:spcPts val="1200"/>
              </a:spcAft>
              <a:buNone/>
            </a:pPr>
            <a:r>
              <a:rPr lang="en"/>
              <a:t>Asking too few questions in a decision tree is an example of Situation __</a:t>
            </a:r>
            <a:endParaRPr/>
          </a:p>
        </p:txBody>
      </p:sp>
      <p:sp>
        <p:nvSpPr>
          <p:cNvPr id="495" name="Google Shape;495;p61"/>
          <p:cNvSpPr txBox="1"/>
          <p:nvPr/>
        </p:nvSpPr>
        <p:spPr>
          <a:xfrm>
            <a:off x="6822450" y="2011675"/>
            <a:ext cx="7239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Alfa Slab One"/>
                <a:ea typeface="Alfa Slab One"/>
                <a:cs typeface="Alfa Slab One"/>
                <a:sym typeface="Alfa Slab One"/>
              </a:rPr>
              <a:t>over</a:t>
            </a:r>
            <a:endParaRPr sz="1500">
              <a:solidFill>
                <a:schemeClr val="dk2"/>
              </a:solidFill>
              <a:latin typeface="Alfa Slab One"/>
              <a:ea typeface="Alfa Slab One"/>
              <a:cs typeface="Alfa Slab One"/>
              <a:sym typeface="Alfa Slab One"/>
            </a:endParaRPr>
          </a:p>
        </p:txBody>
      </p:sp>
      <p:sp>
        <p:nvSpPr>
          <p:cNvPr id="496" name="Google Shape;496;p61"/>
          <p:cNvSpPr txBox="1"/>
          <p:nvPr/>
        </p:nvSpPr>
        <p:spPr>
          <a:xfrm>
            <a:off x="6796725" y="2425650"/>
            <a:ext cx="8508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Alfa Slab One"/>
                <a:ea typeface="Alfa Slab One"/>
                <a:cs typeface="Alfa Slab One"/>
                <a:sym typeface="Alfa Slab One"/>
              </a:rPr>
              <a:t>under</a:t>
            </a:r>
            <a:endParaRPr sz="1500">
              <a:solidFill>
                <a:schemeClr val="dk2"/>
              </a:solidFill>
              <a:latin typeface="Alfa Slab One"/>
              <a:ea typeface="Alfa Slab One"/>
              <a:cs typeface="Alfa Slab One"/>
              <a:sym typeface="Alfa Slab One"/>
            </a:endParaRPr>
          </a:p>
        </p:txBody>
      </p:sp>
      <p:sp>
        <p:nvSpPr>
          <p:cNvPr id="497" name="Google Shape;497;p61"/>
          <p:cNvSpPr txBox="1"/>
          <p:nvPr/>
        </p:nvSpPr>
        <p:spPr>
          <a:xfrm>
            <a:off x="6476750" y="3073350"/>
            <a:ext cx="4218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Alfa Slab One"/>
                <a:ea typeface="Alfa Slab One"/>
                <a:cs typeface="Alfa Slab One"/>
                <a:sym typeface="Alfa Slab One"/>
              </a:rPr>
              <a:t>1</a:t>
            </a:r>
            <a:endParaRPr sz="1500">
              <a:solidFill>
                <a:schemeClr val="dk2"/>
              </a:solidFill>
              <a:latin typeface="Alfa Slab One"/>
              <a:ea typeface="Alfa Slab One"/>
              <a:cs typeface="Alfa Slab One"/>
              <a:sym typeface="Alfa Slab One"/>
            </a:endParaRPr>
          </a:p>
        </p:txBody>
      </p:sp>
      <p:sp>
        <p:nvSpPr>
          <p:cNvPr id="498" name="Google Shape;498;p61"/>
          <p:cNvSpPr txBox="1"/>
          <p:nvPr/>
        </p:nvSpPr>
        <p:spPr>
          <a:xfrm>
            <a:off x="6474850" y="3752325"/>
            <a:ext cx="4218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Alfa Slab One"/>
                <a:ea typeface="Alfa Slab One"/>
                <a:cs typeface="Alfa Slab One"/>
                <a:sym typeface="Alfa Slab One"/>
              </a:rPr>
              <a:t>2</a:t>
            </a:r>
            <a:endParaRPr sz="1500">
              <a:solidFill>
                <a:schemeClr val="dk2"/>
              </a:solidFill>
              <a:latin typeface="Alfa Slab One"/>
              <a:ea typeface="Alfa Slab One"/>
              <a:cs typeface="Alfa Slab One"/>
              <a:sym typeface="Alfa Slab One"/>
            </a:endParaRPr>
          </a:p>
        </p:txBody>
      </p:sp>
      <p:sp>
        <p:nvSpPr>
          <p:cNvPr id="499" name="Google Shape;499;p61">
            <a:hlinkClick r:id="rId3"/>
          </p:cNvPr>
          <p:cNvSpPr/>
          <p:nvPr/>
        </p:nvSpPr>
        <p:spPr>
          <a:xfrm>
            <a:off x="0" y="5207000"/>
            <a:ext cx="12600" cy="1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 trees are prone to overfitting</a:t>
            </a:r>
            <a:endParaRPr/>
          </a:p>
        </p:txBody>
      </p:sp>
      <p:sp>
        <p:nvSpPr>
          <p:cNvPr id="505" name="Google Shape;505;p62"/>
          <p:cNvSpPr txBox="1"/>
          <p:nvPr>
            <p:ph idx="1" type="body"/>
          </p:nvPr>
        </p:nvSpPr>
        <p:spPr>
          <a:xfrm>
            <a:off x="311700" y="1152475"/>
            <a:ext cx="77808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500"/>
              <a:t>This can be mitigated by using a random forest classifier instead.</a:t>
            </a:r>
            <a:endParaRPr sz="1500"/>
          </a:p>
          <a:p>
            <a:pPr indent="0" lvl="0" marL="0" rtl="0" algn="l">
              <a:lnSpc>
                <a:spcPct val="95000"/>
              </a:lnSpc>
              <a:spcBef>
                <a:spcPts val="1200"/>
              </a:spcBef>
              <a:spcAft>
                <a:spcPts val="0"/>
              </a:spcAft>
              <a:buNone/>
            </a:pPr>
            <a:r>
              <a:rPr lang="en" sz="1500"/>
              <a:t>A </a:t>
            </a:r>
            <a:r>
              <a:rPr lang="en" sz="1500">
                <a:latin typeface="Alfa Slab One"/>
                <a:ea typeface="Alfa Slab One"/>
                <a:cs typeface="Alfa Slab One"/>
                <a:sym typeface="Alfa Slab One"/>
              </a:rPr>
              <a:t>random forest </a:t>
            </a:r>
            <a:r>
              <a:rPr lang="en" sz="1500"/>
              <a:t>classifier:</a:t>
            </a:r>
            <a:endParaRPr sz="1500"/>
          </a:p>
          <a:p>
            <a:pPr indent="-323850" lvl="0" marL="457200" rtl="0" algn="l">
              <a:lnSpc>
                <a:spcPct val="95000"/>
              </a:lnSpc>
              <a:spcBef>
                <a:spcPts val="1200"/>
              </a:spcBef>
              <a:spcAft>
                <a:spcPts val="0"/>
              </a:spcAft>
              <a:buSzPts val="1500"/>
              <a:buChar char="●"/>
            </a:pPr>
            <a:r>
              <a:rPr lang="en" sz="1500"/>
              <a:t>builds many decision trees using </a:t>
            </a:r>
            <a:r>
              <a:rPr b="1" lang="en" sz="1500"/>
              <a:t>random sampling</a:t>
            </a:r>
            <a:r>
              <a:rPr lang="en" sz="1500"/>
              <a:t> from training data points and features</a:t>
            </a:r>
            <a:endParaRPr sz="1500"/>
          </a:p>
          <a:p>
            <a:pPr indent="-323850" lvl="0" marL="457200" rtl="0" algn="l">
              <a:lnSpc>
                <a:spcPct val="95000"/>
              </a:lnSpc>
              <a:spcBef>
                <a:spcPts val="0"/>
              </a:spcBef>
              <a:spcAft>
                <a:spcPts val="0"/>
              </a:spcAft>
              <a:buSzPts val="1500"/>
              <a:buChar char="●"/>
            </a:pPr>
            <a:r>
              <a:rPr b="1" lang="en" sz="1500"/>
              <a:t>classifies </a:t>
            </a:r>
            <a:r>
              <a:rPr lang="en" sz="1500"/>
              <a:t>data points by finding predicted classification from all decision trees, and taking the </a:t>
            </a:r>
            <a:r>
              <a:rPr b="1" lang="en" sz="1500"/>
              <a:t>most common</a:t>
            </a:r>
            <a:endParaRPr b="1" sz="1500"/>
          </a:p>
          <a:p>
            <a:pPr indent="0" lvl="0" marL="0" rtl="0" algn="l">
              <a:lnSpc>
                <a:spcPct val="95000"/>
              </a:lnSpc>
              <a:spcBef>
                <a:spcPts val="1200"/>
              </a:spcBef>
              <a:spcAft>
                <a:spcPts val="0"/>
              </a:spcAft>
              <a:buNone/>
            </a:pPr>
            <a:r>
              <a:t/>
            </a:r>
            <a:endParaRPr sz="1500"/>
          </a:p>
          <a:p>
            <a:pPr indent="0" lvl="0" marL="0" rtl="0" algn="l">
              <a:lnSpc>
                <a:spcPct val="95000"/>
              </a:lnSpc>
              <a:spcBef>
                <a:spcPts val="1200"/>
              </a:spcBef>
              <a:spcAft>
                <a:spcPts val="1200"/>
              </a:spcAft>
              <a:buNone/>
            </a:pPr>
            <a:r>
              <a:rPr lang="en" sz="1500"/>
              <a:t>Note: some good things about tree-based methods are that </a:t>
            </a:r>
            <a:r>
              <a:rPr b="1" lang="en" sz="1500"/>
              <a:t>minimal data pre-processsing</a:t>
            </a:r>
            <a:r>
              <a:rPr lang="en" sz="1500"/>
              <a:t> is needed as it can handle various distributions feature may take on and most correlated features</a:t>
            </a:r>
            <a:endParaRPr sz="15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Beyond Singular Decision Trees</a:t>
            </a:r>
            <a:endParaRPr/>
          </a:p>
        </p:txBody>
      </p:sp>
      <p:sp>
        <p:nvSpPr>
          <p:cNvPr id="511" name="Google Shape;511;p6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latin typeface="Alfa Slab One"/>
                <a:ea typeface="Alfa Slab One"/>
                <a:cs typeface="Alfa Slab One"/>
                <a:sym typeface="Alfa Slab One"/>
              </a:rPr>
              <a:t>Ensemble models</a:t>
            </a:r>
            <a:r>
              <a:rPr lang="en" sz="1600"/>
              <a:t>: combines many simple models to obtain singular and potentially powerful model</a:t>
            </a:r>
            <a:endParaRPr sz="1600"/>
          </a:p>
          <a:p>
            <a:pPr indent="0" lvl="0" marL="0" rtl="0" algn="l">
              <a:spcBef>
                <a:spcPts val="1200"/>
              </a:spcBef>
              <a:spcAft>
                <a:spcPts val="1200"/>
              </a:spcAft>
              <a:buNone/>
            </a:pPr>
            <a:r>
              <a:rPr lang="en" sz="1600"/>
              <a:t>Simple models are called </a:t>
            </a:r>
            <a:r>
              <a:rPr b="1" lang="en" sz="1600"/>
              <a:t>weak learners</a:t>
            </a:r>
            <a:r>
              <a:rPr lang="en" sz="1600"/>
              <a:t> since individual  predictive power may be limited</a:t>
            </a:r>
            <a:endParaRPr sz="1600"/>
          </a:p>
        </p:txBody>
      </p:sp>
      <p:sp>
        <p:nvSpPr>
          <p:cNvPr id="512" name="Google Shape;512;p63"/>
          <p:cNvSpPr txBox="1"/>
          <p:nvPr>
            <p:ph idx="2" type="body"/>
          </p:nvPr>
        </p:nvSpPr>
        <p:spPr>
          <a:xfrm>
            <a:off x="4832400" y="1152475"/>
            <a:ext cx="3999900" cy="116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latin typeface="Alfa Slab One"/>
                <a:ea typeface="Alfa Slab One"/>
                <a:cs typeface="Alfa Slab One"/>
                <a:sym typeface="Alfa Slab One"/>
              </a:rPr>
              <a:t>Bagging</a:t>
            </a:r>
            <a:r>
              <a:rPr lang="en" sz="1600"/>
              <a:t>: reduces variance by randomly sampling dataset to create multiple training sets</a:t>
            </a:r>
            <a:endParaRPr sz="1600"/>
          </a:p>
        </p:txBody>
      </p:sp>
      <p:sp>
        <p:nvSpPr>
          <p:cNvPr id="513" name="Google Shape;513;p63"/>
          <p:cNvSpPr txBox="1"/>
          <p:nvPr>
            <p:ph idx="2" type="body"/>
          </p:nvPr>
        </p:nvSpPr>
        <p:spPr>
          <a:xfrm>
            <a:off x="4832400" y="245122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latin typeface="Alfa Slab One"/>
                <a:ea typeface="Alfa Slab One"/>
                <a:cs typeface="Alfa Slab One"/>
                <a:sym typeface="Alfa Slab One"/>
              </a:rPr>
              <a:t>Why use in decision trees</a:t>
            </a:r>
            <a:r>
              <a:rPr lang="en" sz="1600"/>
              <a:t>: helpful when decision trees produced high variance (and low bias) models. </a:t>
            </a:r>
            <a:endParaRPr sz="1600"/>
          </a:p>
          <a:p>
            <a:pPr indent="0" lvl="0" marL="0" rtl="0" algn="l">
              <a:spcBef>
                <a:spcPts val="1200"/>
              </a:spcBef>
              <a:spcAft>
                <a:spcPts val="1200"/>
              </a:spcAft>
              <a:buNone/>
            </a:pPr>
            <a:r>
              <a:rPr lang="en" sz="1600">
                <a:latin typeface="Alfa Slab One"/>
                <a:ea typeface="Alfa Slab One"/>
                <a:cs typeface="Alfa Slab One"/>
                <a:sym typeface="Alfa Slab One"/>
              </a:rPr>
              <a:t>Solution</a:t>
            </a:r>
            <a:r>
              <a:rPr lang="en" sz="1600"/>
              <a:t>: averaging observations over multiple models will reduce variance</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Random Forest</a:t>
            </a:r>
            <a:endParaRPr/>
          </a:p>
        </p:txBody>
      </p:sp>
      <p:pic>
        <p:nvPicPr>
          <p:cNvPr id="519" name="Google Shape;519;p64"/>
          <p:cNvPicPr preferRelativeResize="0"/>
          <p:nvPr/>
        </p:nvPicPr>
        <p:blipFill>
          <a:blip r:embed="rId3">
            <a:alphaModFix/>
          </a:blip>
          <a:stretch>
            <a:fillRect/>
          </a:stretch>
        </p:blipFill>
        <p:spPr>
          <a:xfrm>
            <a:off x="501700" y="1170125"/>
            <a:ext cx="5651500" cy="3793775"/>
          </a:xfrm>
          <a:prstGeom prst="rect">
            <a:avLst/>
          </a:prstGeom>
          <a:noFill/>
          <a:ln>
            <a:noFill/>
          </a:ln>
        </p:spPr>
      </p:pic>
      <p:sp>
        <p:nvSpPr>
          <p:cNvPr id="520" name="Google Shape;520;p64"/>
          <p:cNvSpPr txBox="1"/>
          <p:nvPr>
            <p:ph idx="2" type="body"/>
          </p:nvPr>
        </p:nvSpPr>
        <p:spPr>
          <a:xfrm>
            <a:off x="6073150" y="1905450"/>
            <a:ext cx="2857500" cy="1637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None/>
            </a:pPr>
            <a:r>
              <a:rPr lang="en" sz="1600">
                <a:latin typeface="Alfa Slab One"/>
                <a:ea typeface="Alfa Slab One"/>
                <a:cs typeface="Alfa Slab One"/>
                <a:sym typeface="Alfa Slab One"/>
              </a:rPr>
              <a:t>Bagging</a:t>
            </a:r>
            <a:r>
              <a:rPr lang="en" sz="1600"/>
              <a:t>: reduces variance by randomly sampling dataset to create multiple training sets</a:t>
            </a:r>
            <a:endParaRPr sz="1600"/>
          </a:p>
        </p:txBody>
      </p:sp>
      <p:sp>
        <p:nvSpPr>
          <p:cNvPr id="521" name="Google Shape;521;p64"/>
          <p:cNvSpPr txBox="1"/>
          <p:nvPr/>
        </p:nvSpPr>
        <p:spPr>
          <a:xfrm>
            <a:off x="6212450" y="3953425"/>
            <a:ext cx="2348100" cy="689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sz="1600">
                <a:solidFill>
                  <a:schemeClr val="dk2"/>
                </a:solidFill>
              </a:rPr>
              <a:t>Let’s take a look at the code in our workbook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Boosted Trees</a:t>
            </a:r>
            <a:endParaRPr/>
          </a:p>
        </p:txBody>
      </p:sp>
      <p:sp>
        <p:nvSpPr>
          <p:cNvPr id="527" name="Google Shape;527;p65"/>
          <p:cNvSpPr txBox="1"/>
          <p:nvPr>
            <p:ph idx="2" type="body"/>
          </p:nvPr>
        </p:nvSpPr>
        <p:spPr>
          <a:xfrm>
            <a:off x="402525" y="1152475"/>
            <a:ext cx="8429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Each new tree that is added now knows information from the tree that was built before it. It can correct errors of this previous trees using technique called </a:t>
            </a:r>
            <a:r>
              <a:rPr b="1" lang="en" sz="1600"/>
              <a:t>gradient boosting</a:t>
            </a:r>
            <a:endParaRPr b="1" sz="1600"/>
          </a:p>
          <a:p>
            <a:pPr indent="0" lvl="0" marL="0" rtl="0" algn="l">
              <a:spcBef>
                <a:spcPts val="1200"/>
              </a:spcBef>
              <a:spcAft>
                <a:spcPts val="0"/>
              </a:spcAft>
              <a:buNone/>
            </a:pPr>
            <a:r>
              <a:rPr lang="en" sz="1600"/>
              <a:t>This process is similar to what is done in gradient descent in neural networks. </a:t>
            </a:r>
            <a:endParaRPr sz="1600"/>
          </a:p>
          <a:p>
            <a:pPr indent="0" lvl="0" marL="0" rtl="0" algn="l">
              <a:spcBef>
                <a:spcPts val="1200"/>
              </a:spcBef>
              <a:spcAft>
                <a:spcPts val="0"/>
              </a:spcAft>
              <a:buNone/>
            </a:pPr>
            <a:r>
              <a:rPr lang="en" sz="1600"/>
              <a:t>Thing to note: unlike regular RF, </a:t>
            </a:r>
            <a:r>
              <a:rPr b="1" lang="en" sz="1600"/>
              <a:t>boosted trees CAN overfit</a:t>
            </a:r>
            <a:r>
              <a:rPr lang="en" sz="1600"/>
              <a:t>. We can overcome this by </a:t>
            </a:r>
            <a:r>
              <a:rPr b="1" lang="en" sz="1600"/>
              <a:t>regularization</a:t>
            </a:r>
            <a:r>
              <a:rPr lang="en" sz="1600"/>
              <a:t>! A few parameters that you can tune are: max depth of tree, shrinkage rate, attribute ration, and the L1 and L2 loss coefficients.</a:t>
            </a:r>
            <a:endParaRPr sz="1600"/>
          </a:p>
          <a:p>
            <a:pPr indent="0" lvl="0" marL="0" rtl="0" algn="l">
              <a:spcBef>
                <a:spcPts val="1200"/>
              </a:spcBef>
              <a:spcAft>
                <a:spcPts val="1200"/>
              </a:spcAft>
              <a:buNone/>
            </a:pPr>
            <a:r>
              <a:rPr lang="en" sz="1600" u="sng">
                <a:solidFill>
                  <a:schemeClr val="hlink"/>
                </a:solidFill>
                <a:hlinkClick r:id="rId3"/>
              </a:rPr>
              <a:t>sk-learn doc here</a:t>
            </a:r>
            <a:endParaRPr sz="1600"/>
          </a:p>
        </p:txBody>
      </p:sp>
      <p:sp>
        <p:nvSpPr>
          <p:cNvPr id="528" name="Google Shape;528;p65"/>
          <p:cNvSpPr txBox="1"/>
          <p:nvPr/>
        </p:nvSpPr>
        <p:spPr>
          <a:xfrm>
            <a:off x="6250075" y="3289250"/>
            <a:ext cx="20508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a:solidFill>
                  <a:srgbClr val="333333"/>
                </a:solidFill>
                <a:highlight>
                  <a:schemeClr val="lt1"/>
                </a:highlight>
              </a:rPr>
              <a:t>You’ll see how to tune some of these in PA5</a:t>
            </a:r>
            <a:endParaRPr/>
          </a:p>
        </p:txBody>
      </p:sp>
      <p:sp>
        <p:nvSpPr>
          <p:cNvPr id="529" name="Google Shape;529;p65"/>
          <p:cNvSpPr/>
          <p:nvPr/>
        </p:nvSpPr>
        <p:spPr>
          <a:xfrm>
            <a:off x="5541625" y="3069725"/>
            <a:ext cx="749750" cy="512075"/>
          </a:xfrm>
          <a:custGeom>
            <a:rect b="b" l="l" r="r" t="t"/>
            <a:pathLst>
              <a:path extrusionOk="0" h="20483" w="29990">
                <a:moveTo>
                  <a:pt x="29990" y="18058"/>
                </a:moveTo>
                <a:cubicBezTo>
                  <a:pt x="27410" y="18273"/>
                  <a:pt x="19509" y="22358"/>
                  <a:pt x="14511" y="19348"/>
                </a:cubicBezTo>
                <a:cubicBezTo>
                  <a:pt x="9513" y="16338"/>
                  <a:pt x="2419" y="3225"/>
                  <a:pt x="0"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Tree-based algorithms</a:t>
            </a:r>
            <a:endParaRPr/>
          </a:p>
        </p:txBody>
      </p:sp>
      <p:sp>
        <p:nvSpPr>
          <p:cNvPr id="535" name="Google Shape;535;p66"/>
          <p:cNvSpPr txBox="1"/>
          <p:nvPr/>
        </p:nvSpPr>
        <p:spPr>
          <a:xfrm>
            <a:off x="154025" y="1231775"/>
            <a:ext cx="3000000" cy="356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latin typeface="Alfa Slab One"/>
                <a:ea typeface="Alfa Slab One"/>
                <a:cs typeface="Alfa Slab One"/>
                <a:sym typeface="Alfa Slab One"/>
              </a:rPr>
              <a:t>Decision Trees</a:t>
            </a:r>
            <a:r>
              <a:rPr lang="en">
                <a:solidFill>
                  <a:schemeClr val="dk2"/>
                </a:solidFill>
              </a:rPr>
              <a:t>: make </a:t>
            </a:r>
            <a:r>
              <a:rPr b="1" lang="en">
                <a:solidFill>
                  <a:schemeClr val="dk2"/>
                </a:solidFill>
              </a:rPr>
              <a:t>decision rules on feature</a:t>
            </a:r>
            <a:r>
              <a:rPr lang="en">
                <a:solidFill>
                  <a:schemeClr val="dk2"/>
                </a:solidFill>
              </a:rPr>
              <a:t> to make classification (categorical) or regression (numerical) predictions.</a:t>
            </a:r>
            <a:endParaRPr>
              <a:solidFill>
                <a:schemeClr val="dk2"/>
              </a:solidFill>
            </a:endParaRPr>
          </a:p>
          <a:p>
            <a:pPr indent="0" lvl="0" marL="0" rtl="0" algn="l">
              <a:lnSpc>
                <a:spcPct val="115000"/>
              </a:lnSpc>
              <a:spcBef>
                <a:spcPts val="1200"/>
              </a:spcBef>
              <a:spcAft>
                <a:spcPts val="0"/>
              </a:spcAft>
              <a:buNone/>
            </a:pPr>
            <a:r>
              <a:rPr lang="en" sz="1800">
                <a:solidFill>
                  <a:schemeClr val="dk2"/>
                </a:solidFill>
              </a:rPr>
              <a:t> </a:t>
            </a:r>
            <a:endParaRPr sz="2100">
              <a:solidFill>
                <a:schemeClr val="dk2"/>
              </a:solidFill>
            </a:endParaRPr>
          </a:p>
          <a:p>
            <a:pPr indent="0" lvl="0" marL="0" rtl="0" algn="l">
              <a:lnSpc>
                <a:spcPct val="115000"/>
              </a:lnSpc>
              <a:spcBef>
                <a:spcPts val="1200"/>
              </a:spcBef>
              <a:spcAft>
                <a:spcPts val="0"/>
              </a:spcAft>
              <a:buNone/>
            </a:pPr>
            <a:r>
              <a:rPr lang="en" u="sng">
                <a:solidFill>
                  <a:schemeClr val="dk2"/>
                </a:solidFill>
              </a:rPr>
              <a:t>Pros</a:t>
            </a:r>
            <a:r>
              <a:rPr lang="en">
                <a:solidFill>
                  <a:schemeClr val="dk2"/>
                </a:solidFill>
              </a:rPr>
              <a:t>: explainability, interpretability, missing data. </a:t>
            </a:r>
            <a:r>
              <a:rPr lang="en" u="sng">
                <a:solidFill>
                  <a:schemeClr val="dk2"/>
                </a:solidFill>
              </a:rPr>
              <a:t>Cons</a:t>
            </a:r>
            <a:r>
              <a:rPr lang="en">
                <a:solidFill>
                  <a:schemeClr val="dk2"/>
                </a:solidFill>
              </a:rPr>
              <a:t>: </a:t>
            </a:r>
            <a:r>
              <a:rPr b="1" lang="en">
                <a:solidFill>
                  <a:schemeClr val="dk2"/>
                </a:solidFill>
              </a:rPr>
              <a:t>overfitting</a:t>
            </a:r>
            <a:r>
              <a:rPr lang="en">
                <a:solidFill>
                  <a:schemeClr val="dk2"/>
                </a:solidFill>
              </a:rPr>
              <a:t>, outliers. </a:t>
            </a:r>
            <a:endParaRPr>
              <a:solidFill>
                <a:schemeClr val="dk2"/>
              </a:solidFill>
            </a:endParaRPr>
          </a:p>
          <a:p>
            <a:pPr indent="0" lvl="0" marL="0" rtl="0" algn="l">
              <a:lnSpc>
                <a:spcPct val="115000"/>
              </a:lnSpc>
              <a:spcBef>
                <a:spcPts val="1200"/>
              </a:spcBef>
              <a:spcAft>
                <a:spcPts val="0"/>
              </a:spcAft>
              <a:buNone/>
            </a:pPr>
            <a:r>
              <a:t/>
            </a:r>
            <a:endParaRPr>
              <a:solidFill>
                <a:schemeClr val="dk2"/>
              </a:solidFill>
            </a:endParaRPr>
          </a:p>
          <a:p>
            <a:pPr indent="0" lvl="0" marL="0" rtl="0" algn="l">
              <a:lnSpc>
                <a:spcPct val="115000"/>
              </a:lnSpc>
              <a:spcBef>
                <a:spcPts val="1200"/>
              </a:spcBef>
              <a:spcAft>
                <a:spcPts val="1200"/>
              </a:spcAft>
              <a:buNone/>
            </a:pPr>
            <a:r>
              <a:rPr lang="en" u="sng">
                <a:solidFill>
                  <a:schemeClr val="dk2"/>
                </a:solidFill>
              </a:rPr>
              <a:t>Use cases</a:t>
            </a:r>
            <a:r>
              <a:rPr lang="en">
                <a:solidFill>
                  <a:schemeClr val="dk2"/>
                </a:solidFill>
              </a:rPr>
              <a:t>: churn, disease prediction, credit modeling</a:t>
            </a:r>
            <a:endParaRPr/>
          </a:p>
        </p:txBody>
      </p:sp>
      <p:sp>
        <p:nvSpPr>
          <p:cNvPr id="536" name="Google Shape;536;p66"/>
          <p:cNvSpPr txBox="1"/>
          <p:nvPr/>
        </p:nvSpPr>
        <p:spPr>
          <a:xfrm>
            <a:off x="3154025" y="1231775"/>
            <a:ext cx="3000000" cy="357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latin typeface="Alfa Slab One"/>
                <a:ea typeface="Alfa Slab One"/>
                <a:cs typeface="Alfa Slab One"/>
                <a:sym typeface="Alfa Slab One"/>
              </a:rPr>
              <a:t>Random Forest</a:t>
            </a:r>
            <a:r>
              <a:rPr lang="en">
                <a:solidFill>
                  <a:schemeClr val="dk2"/>
                </a:solidFill>
              </a:rPr>
              <a:t>: ensemble method to </a:t>
            </a:r>
            <a:r>
              <a:rPr b="1" lang="en">
                <a:solidFill>
                  <a:schemeClr val="dk2"/>
                </a:solidFill>
              </a:rPr>
              <a:t>combine multiple decision trees</a:t>
            </a:r>
            <a:r>
              <a:rPr lang="en">
                <a:solidFill>
                  <a:schemeClr val="dk2"/>
                </a:solidFill>
              </a:rPr>
              <a:t>. </a:t>
            </a:r>
            <a:endParaRPr>
              <a:solidFill>
                <a:schemeClr val="dk2"/>
              </a:solidFill>
            </a:endParaRPr>
          </a:p>
          <a:p>
            <a:pPr indent="0" lvl="0" marL="0" rtl="0" algn="l">
              <a:lnSpc>
                <a:spcPct val="115000"/>
              </a:lnSpc>
              <a:spcBef>
                <a:spcPts val="1200"/>
              </a:spcBef>
              <a:spcAft>
                <a:spcPts val="0"/>
              </a:spcAft>
              <a:buNone/>
            </a:pPr>
            <a:r>
              <a:t/>
            </a:r>
            <a:endParaRPr sz="800">
              <a:solidFill>
                <a:schemeClr val="dk2"/>
              </a:solidFill>
            </a:endParaRPr>
          </a:p>
          <a:p>
            <a:pPr indent="0" lvl="0" marL="0" rtl="0" algn="l">
              <a:lnSpc>
                <a:spcPct val="115000"/>
              </a:lnSpc>
              <a:spcBef>
                <a:spcPts val="1200"/>
              </a:spcBef>
              <a:spcAft>
                <a:spcPts val="0"/>
              </a:spcAft>
              <a:buNone/>
            </a:pPr>
            <a:r>
              <a:t/>
            </a:r>
            <a:endParaRPr>
              <a:solidFill>
                <a:schemeClr val="dk2"/>
              </a:solidFill>
            </a:endParaRPr>
          </a:p>
          <a:p>
            <a:pPr indent="0" lvl="0" marL="0" rtl="0" algn="l">
              <a:lnSpc>
                <a:spcPct val="115000"/>
              </a:lnSpc>
              <a:spcBef>
                <a:spcPts val="1200"/>
              </a:spcBef>
              <a:spcAft>
                <a:spcPts val="0"/>
              </a:spcAft>
              <a:buNone/>
            </a:pPr>
            <a:r>
              <a:rPr lang="en" u="sng">
                <a:solidFill>
                  <a:schemeClr val="dk2"/>
                </a:solidFill>
              </a:rPr>
              <a:t>Pros</a:t>
            </a:r>
            <a:r>
              <a:rPr lang="en">
                <a:solidFill>
                  <a:schemeClr val="dk2"/>
                </a:solidFill>
              </a:rPr>
              <a:t>: overfitting. </a:t>
            </a:r>
            <a:r>
              <a:rPr lang="en" u="sng">
                <a:solidFill>
                  <a:schemeClr val="dk2"/>
                </a:solidFill>
              </a:rPr>
              <a:t>Cons</a:t>
            </a:r>
            <a:r>
              <a:rPr lang="en">
                <a:solidFill>
                  <a:schemeClr val="dk2"/>
                </a:solidFill>
              </a:rPr>
              <a:t>: training complexity, </a:t>
            </a:r>
            <a:r>
              <a:rPr b="1" lang="en">
                <a:solidFill>
                  <a:schemeClr val="dk2"/>
                </a:solidFill>
              </a:rPr>
              <a:t>interpretability</a:t>
            </a:r>
            <a:r>
              <a:rPr lang="en">
                <a:solidFill>
                  <a:schemeClr val="dk2"/>
                </a:solidFill>
              </a:rPr>
              <a:t>. </a:t>
            </a:r>
            <a:endParaRPr>
              <a:solidFill>
                <a:schemeClr val="dk2"/>
              </a:solidFill>
            </a:endParaRPr>
          </a:p>
          <a:p>
            <a:pPr indent="0" lvl="0" marL="0" rtl="0" algn="l">
              <a:lnSpc>
                <a:spcPct val="115000"/>
              </a:lnSpc>
              <a:spcBef>
                <a:spcPts val="1200"/>
              </a:spcBef>
              <a:spcAft>
                <a:spcPts val="0"/>
              </a:spcAft>
              <a:buNone/>
            </a:pPr>
            <a:r>
              <a:t/>
            </a:r>
            <a:endParaRPr>
              <a:solidFill>
                <a:schemeClr val="dk2"/>
              </a:solidFill>
            </a:endParaRPr>
          </a:p>
          <a:p>
            <a:pPr indent="0" lvl="0" marL="0" rtl="0" algn="l">
              <a:lnSpc>
                <a:spcPct val="115000"/>
              </a:lnSpc>
              <a:spcBef>
                <a:spcPts val="1200"/>
              </a:spcBef>
              <a:spcAft>
                <a:spcPts val="0"/>
              </a:spcAft>
              <a:buNone/>
            </a:pPr>
            <a:r>
              <a:t/>
            </a:r>
            <a:endParaRPr sz="700">
              <a:solidFill>
                <a:schemeClr val="dk2"/>
              </a:solidFill>
            </a:endParaRPr>
          </a:p>
          <a:p>
            <a:pPr indent="0" lvl="0" marL="0" rtl="0" algn="l">
              <a:lnSpc>
                <a:spcPct val="115000"/>
              </a:lnSpc>
              <a:spcBef>
                <a:spcPts val="1200"/>
              </a:spcBef>
              <a:spcAft>
                <a:spcPts val="1200"/>
              </a:spcAft>
              <a:buNone/>
            </a:pPr>
            <a:r>
              <a:rPr lang="en" u="sng">
                <a:solidFill>
                  <a:schemeClr val="dk2"/>
                </a:solidFill>
              </a:rPr>
              <a:t>Use cases</a:t>
            </a:r>
            <a:r>
              <a:rPr lang="en">
                <a:solidFill>
                  <a:schemeClr val="dk2"/>
                </a:solidFill>
              </a:rPr>
              <a:t>: credit modeling, housing price predictions</a:t>
            </a:r>
            <a:endParaRPr/>
          </a:p>
        </p:txBody>
      </p:sp>
      <p:sp>
        <p:nvSpPr>
          <p:cNvPr id="537" name="Google Shape;537;p66"/>
          <p:cNvSpPr txBox="1"/>
          <p:nvPr/>
        </p:nvSpPr>
        <p:spPr>
          <a:xfrm>
            <a:off x="5999425" y="1231775"/>
            <a:ext cx="3084000" cy="35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latin typeface="Alfa Slab One"/>
                <a:ea typeface="Alfa Slab One"/>
                <a:cs typeface="Alfa Slab One"/>
                <a:sym typeface="Alfa Slab One"/>
              </a:rPr>
              <a:t>XGBoost</a:t>
            </a:r>
            <a:r>
              <a:rPr lang="en">
                <a:solidFill>
                  <a:schemeClr val="dk2"/>
                </a:solidFill>
              </a:rPr>
              <a:t>: gradient </a:t>
            </a:r>
            <a:r>
              <a:rPr b="1" lang="en">
                <a:solidFill>
                  <a:schemeClr val="dk2"/>
                </a:solidFill>
              </a:rPr>
              <a:t>boosting on feature</a:t>
            </a:r>
            <a:r>
              <a:rPr lang="en">
                <a:solidFill>
                  <a:schemeClr val="dk2"/>
                </a:solidFill>
              </a:rPr>
              <a:t> to make classification (categorical) or regression (numerical) predictions which outperforms most other algorithms.</a:t>
            </a:r>
            <a:endParaRPr>
              <a:solidFill>
                <a:schemeClr val="dk2"/>
              </a:solidFill>
            </a:endParaRPr>
          </a:p>
          <a:p>
            <a:pPr indent="0" lvl="0" marL="0" rtl="0" algn="l">
              <a:lnSpc>
                <a:spcPct val="115000"/>
              </a:lnSpc>
              <a:spcBef>
                <a:spcPts val="1200"/>
              </a:spcBef>
              <a:spcAft>
                <a:spcPts val="0"/>
              </a:spcAft>
              <a:buNone/>
            </a:pPr>
            <a:r>
              <a:rPr lang="en" sz="200">
                <a:solidFill>
                  <a:schemeClr val="dk2"/>
                </a:solidFill>
              </a:rPr>
              <a:t> </a:t>
            </a:r>
            <a:endParaRPr sz="200">
              <a:solidFill>
                <a:schemeClr val="dk2"/>
              </a:solidFill>
            </a:endParaRPr>
          </a:p>
          <a:p>
            <a:pPr indent="0" lvl="0" marL="0" rtl="0" algn="l">
              <a:lnSpc>
                <a:spcPct val="115000"/>
              </a:lnSpc>
              <a:spcBef>
                <a:spcPts val="1200"/>
              </a:spcBef>
              <a:spcAft>
                <a:spcPts val="0"/>
              </a:spcAft>
              <a:buNone/>
            </a:pPr>
            <a:r>
              <a:rPr lang="en" u="sng">
                <a:solidFill>
                  <a:schemeClr val="dk2"/>
                </a:solidFill>
              </a:rPr>
              <a:t>Pros</a:t>
            </a:r>
            <a:r>
              <a:rPr lang="en">
                <a:solidFill>
                  <a:schemeClr val="dk2"/>
                </a:solidFill>
              </a:rPr>
              <a:t>: accurate results, non-linear relationships. </a:t>
            </a:r>
            <a:r>
              <a:rPr lang="en" u="sng">
                <a:solidFill>
                  <a:schemeClr val="dk2"/>
                </a:solidFill>
              </a:rPr>
              <a:t>Cons</a:t>
            </a:r>
            <a:r>
              <a:rPr lang="en">
                <a:solidFill>
                  <a:schemeClr val="dk2"/>
                </a:solidFill>
              </a:rPr>
              <a:t>: </a:t>
            </a:r>
            <a:r>
              <a:rPr b="1" lang="en">
                <a:solidFill>
                  <a:schemeClr val="dk2"/>
                </a:solidFill>
              </a:rPr>
              <a:t>complex hyperparameter tuning</a:t>
            </a:r>
            <a:r>
              <a:rPr lang="en">
                <a:solidFill>
                  <a:schemeClr val="dk2"/>
                </a:solidFill>
              </a:rPr>
              <a:t>, sparse data.</a:t>
            </a:r>
            <a:endParaRPr>
              <a:solidFill>
                <a:schemeClr val="dk2"/>
              </a:solidFill>
            </a:endParaRPr>
          </a:p>
          <a:p>
            <a:pPr indent="0" lvl="0" marL="0" rtl="0" algn="l">
              <a:lnSpc>
                <a:spcPct val="115000"/>
              </a:lnSpc>
              <a:spcBef>
                <a:spcPts val="1200"/>
              </a:spcBef>
              <a:spcAft>
                <a:spcPts val="0"/>
              </a:spcAft>
              <a:buNone/>
            </a:pPr>
            <a:r>
              <a:t/>
            </a:r>
            <a:endParaRPr sz="100">
              <a:solidFill>
                <a:schemeClr val="dk2"/>
              </a:solidFill>
            </a:endParaRPr>
          </a:p>
          <a:p>
            <a:pPr indent="0" lvl="0" marL="0" rtl="0" algn="l">
              <a:lnSpc>
                <a:spcPct val="115000"/>
              </a:lnSpc>
              <a:spcBef>
                <a:spcPts val="1200"/>
              </a:spcBef>
              <a:spcAft>
                <a:spcPts val="1200"/>
              </a:spcAft>
              <a:buNone/>
            </a:pPr>
            <a:r>
              <a:rPr lang="en" u="sng">
                <a:solidFill>
                  <a:schemeClr val="dk2"/>
                </a:solidFill>
              </a:rPr>
              <a:t>Use cases</a:t>
            </a:r>
            <a:r>
              <a:rPr lang="en">
                <a:solidFill>
                  <a:schemeClr val="dk2"/>
                </a:solidFill>
              </a:rPr>
              <a:t>: churn, insurance claims processing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Interpreting RF (or any ML algs)</a:t>
            </a:r>
            <a:endParaRPr/>
          </a:p>
        </p:txBody>
      </p:sp>
      <p:sp>
        <p:nvSpPr>
          <p:cNvPr id="543" name="Google Shape;543;p67"/>
          <p:cNvSpPr txBox="1"/>
          <p:nvPr>
            <p:ph idx="1" type="body"/>
          </p:nvPr>
        </p:nvSpPr>
        <p:spPr>
          <a:xfrm>
            <a:off x="311700" y="1152475"/>
            <a:ext cx="2408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Alfa Slab One"/>
                <a:ea typeface="Alfa Slab One"/>
                <a:cs typeface="Alfa Slab One"/>
                <a:sym typeface="Alfa Slab One"/>
              </a:rPr>
              <a:t>Out-of-bag (OOB) error</a:t>
            </a:r>
            <a:r>
              <a:rPr lang="en"/>
              <a:t>: Leave out one record and see what predictions the trees make on this left out record. </a:t>
            </a:r>
            <a:endParaRPr/>
          </a:p>
          <a:p>
            <a:pPr indent="0" lvl="0" marL="0" rtl="0" algn="l">
              <a:spcBef>
                <a:spcPts val="1200"/>
              </a:spcBef>
              <a:spcAft>
                <a:spcPts val="0"/>
              </a:spcAft>
              <a:buNone/>
            </a:pPr>
            <a:r>
              <a:rPr lang="en"/>
              <a:t>If OOB error close enough to testing error then good approximation</a:t>
            </a:r>
            <a:endParaRPr/>
          </a:p>
          <a:p>
            <a:pPr indent="0" lvl="0" marL="0" rtl="0" algn="l">
              <a:spcBef>
                <a:spcPts val="1200"/>
              </a:spcBef>
              <a:spcAft>
                <a:spcPts val="1200"/>
              </a:spcAft>
              <a:buNone/>
            </a:pPr>
            <a:r>
              <a:t/>
            </a:r>
            <a:endParaRPr/>
          </a:p>
        </p:txBody>
      </p:sp>
      <p:sp>
        <p:nvSpPr>
          <p:cNvPr id="544" name="Google Shape;544;p67"/>
          <p:cNvSpPr txBox="1"/>
          <p:nvPr>
            <p:ph idx="1" type="body"/>
          </p:nvPr>
        </p:nvSpPr>
        <p:spPr>
          <a:xfrm>
            <a:off x="3156500" y="1152475"/>
            <a:ext cx="24087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latin typeface="Alfa Slab One"/>
                <a:ea typeface="Alfa Slab One"/>
                <a:cs typeface="Alfa Slab One"/>
                <a:sym typeface="Alfa Slab One"/>
              </a:rPr>
              <a:t>Feature Importance</a:t>
            </a:r>
            <a:r>
              <a:rPr lang="en"/>
              <a:t>: see which features explain the most disorder in the data. This is just another way to see the decision tree in a tabular format.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sz="600"/>
          </a:p>
          <a:p>
            <a:pPr indent="0" lvl="0" marL="0" rtl="0" algn="l">
              <a:spcBef>
                <a:spcPts val="1200"/>
              </a:spcBef>
              <a:spcAft>
                <a:spcPts val="1200"/>
              </a:spcAft>
              <a:buNone/>
            </a:pPr>
            <a:r>
              <a:rPr lang="en" u="sng">
                <a:solidFill>
                  <a:schemeClr val="hlink"/>
                </a:solidFill>
                <a:hlinkClick r:id="rId3"/>
              </a:rPr>
              <a:t>sk-learn doc here</a:t>
            </a:r>
            <a:endParaRPr/>
          </a:p>
        </p:txBody>
      </p:sp>
      <p:sp>
        <p:nvSpPr>
          <p:cNvPr id="545" name="Google Shape;545;p67"/>
          <p:cNvSpPr txBox="1"/>
          <p:nvPr>
            <p:ph idx="1" type="body"/>
          </p:nvPr>
        </p:nvSpPr>
        <p:spPr>
          <a:xfrm>
            <a:off x="6001300" y="1152475"/>
            <a:ext cx="2553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Alfa Slab One"/>
                <a:ea typeface="Alfa Slab One"/>
                <a:cs typeface="Alfa Slab One"/>
                <a:sym typeface="Alfa Slab One"/>
              </a:rPr>
              <a:t>Partial Dependencies</a:t>
            </a:r>
            <a:r>
              <a:rPr lang="en"/>
              <a:t>: see which feature contribute the most to your target variable. Can show relationship (linear vs non-linear) and interactions (what we call dependencies). Can also use ICE plots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u="sng">
                <a:solidFill>
                  <a:schemeClr val="hlink"/>
                </a:solidFill>
                <a:hlinkClick r:id="rId4"/>
              </a:rPr>
              <a:t>sk-learn doc here</a:t>
            </a:r>
            <a:endParaRPr/>
          </a:p>
          <a:p>
            <a:pPr indent="0" lvl="0" marL="0" rtl="0" algn="l">
              <a:spcBef>
                <a:spcPts val="120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8"/>
          <p:cNvSpPr txBox="1"/>
          <p:nvPr>
            <p:ph idx="1" type="body"/>
          </p:nvPr>
        </p:nvSpPr>
        <p:spPr>
          <a:xfrm>
            <a:off x="311700" y="238075"/>
            <a:ext cx="8454600" cy="141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solidFill>
                  <a:schemeClr val="dk1"/>
                </a:solidFill>
              </a:rPr>
              <a:t>Interpreting model outputs using </a:t>
            </a:r>
            <a:r>
              <a:rPr lang="en" sz="2800" u="sng">
                <a:solidFill>
                  <a:schemeClr val="hlink"/>
                </a:solidFill>
                <a:hlinkClick r:id="rId3"/>
              </a:rPr>
              <a:t>SHAP</a:t>
            </a:r>
            <a:endParaRPr sz="2800">
              <a:solidFill>
                <a:schemeClr val="dk1"/>
              </a:solidFill>
            </a:endParaRPr>
          </a:p>
          <a:p>
            <a:pPr indent="0" lvl="0" marL="0" rtl="0" algn="l">
              <a:spcBef>
                <a:spcPts val="0"/>
              </a:spcBef>
              <a:spcAft>
                <a:spcPts val="1200"/>
              </a:spcAft>
              <a:buNone/>
            </a:pPr>
            <a:r>
              <a:rPr lang="en">
                <a:solidFill>
                  <a:srgbClr val="333333"/>
                </a:solidFill>
                <a:highlight>
                  <a:srgbClr val="FFFFFF"/>
                </a:highlight>
              </a:rPr>
              <a:t>Shapley values provide an estimate of </a:t>
            </a:r>
            <a:r>
              <a:rPr b="1" lang="en">
                <a:solidFill>
                  <a:srgbClr val="333333"/>
                </a:solidFill>
                <a:highlight>
                  <a:srgbClr val="FFFFFF"/>
                </a:highlight>
              </a:rPr>
              <a:t>how much any particular feature influences the model decision</a:t>
            </a:r>
            <a:r>
              <a:rPr lang="en">
                <a:solidFill>
                  <a:srgbClr val="333333"/>
                </a:solidFill>
                <a:highlight>
                  <a:srgbClr val="FFFFFF"/>
                </a:highlight>
              </a:rPr>
              <a:t>. When Shapley values are averaged they provide a measure of the overall influence of a feature</a:t>
            </a:r>
            <a:endParaRPr>
              <a:solidFill>
                <a:srgbClr val="333333"/>
              </a:solidFill>
              <a:highlight>
                <a:srgbClr val="FFFFFF"/>
              </a:highlight>
            </a:endParaRPr>
          </a:p>
        </p:txBody>
      </p:sp>
      <p:pic>
        <p:nvPicPr>
          <p:cNvPr id="551" name="Google Shape;551;p68"/>
          <p:cNvPicPr preferRelativeResize="0"/>
          <p:nvPr/>
        </p:nvPicPr>
        <p:blipFill>
          <a:blip r:embed="rId4">
            <a:alphaModFix/>
          </a:blip>
          <a:stretch>
            <a:fillRect/>
          </a:stretch>
        </p:blipFill>
        <p:spPr>
          <a:xfrm>
            <a:off x="311700" y="1885975"/>
            <a:ext cx="4668601" cy="2673151"/>
          </a:xfrm>
          <a:prstGeom prst="rect">
            <a:avLst/>
          </a:prstGeom>
          <a:noFill/>
          <a:ln>
            <a:noFill/>
          </a:ln>
        </p:spPr>
      </p:pic>
      <p:sp>
        <p:nvSpPr>
          <p:cNvPr id="552" name="Google Shape;552;p68"/>
          <p:cNvSpPr txBox="1"/>
          <p:nvPr/>
        </p:nvSpPr>
        <p:spPr>
          <a:xfrm>
            <a:off x="5227775" y="1861800"/>
            <a:ext cx="3624000" cy="253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333333"/>
                </a:solidFill>
                <a:highlight>
                  <a:schemeClr val="lt1"/>
                </a:highlight>
              </a:rPr>
              <a:t>How to read:</a:t>
            </a:r>
            <a:endParaRPr>
              <a:solidFill>
                <a:srgbClr val="333333"/>
              </a:solidFill>
              <a:highlight>
                <a:schemeClr val="lt1"/>
              </a:highlight>
            </a:endParaRPr>
          </a:p>
          <a:p>
            <a:pPr indent="-317500" lvl="0" marL="457200" rtl="0" algn="l">
              <a:lnSpc>
                <a:spcPct val="115000"/>
              </a:lnSpc>
              <a:spcBef>
                <a:spcPts val="1200"/>
              </a:spcBef>
              <a:spcAft>
                <a:spcPts val="0"/>
              </a:spcAft>
              <a:buClr>
                <a:srgbClr val="333333"/>
              </a:buClr>
              <a:buSzPts val="1400"/>
              <a:buChar char="●"/>
            </a:pPr>
            <a:r>
              <a:rPr lang="en">
                <a:solidFill>
                  <a:srgbClr val="333333"/>
                </a:solidFill>
                <a:highlight>
                  <a:schemeClr val="lt1"/>
                </a:highlight>
              </a:rPr>
              <a:t>order of features → importance</a:t>
            </a:r>
            <a:endParaRPr>
              <a:solidFill>
                <a:srgbClr val="333333"/>
              </a:solidFill>
              <a:highlight>
                <a:schemeClr val="lt1"/>
              </a:highlight>
            </a:endParaRPr>
          </a:p>
          <a:p>
            <a:pPr indent="-317500" lvl="0" marL="457200" rtl="0" algn="l">
              <a:lnSpc>
                <a:spcPct val="115000"/>
              </a:lnSpc>
              <a:spcBef>
                <a:spcPts val="0"/>
              </a:spcBef>
              <a:spcAft>
                <a:spcPts val="0"/>
              </a:spcAft>
              <a:buClr>
                <a:srgbClr val="333333"/>
              </a:buClr>
              <a:buSzPts val="1400"/>
              <a:buChar char="●"/>
            </a:pPr>
            <a:r>
              <a:rPr lang="en">
                <a:solidFill>
                  <a:srgbClr val="333333"/>
                </a:solidFill>
                <a:highlight>
                  <a:schemeClr val="lt1"/>
                </a:highlight>
              </a:rPr>
              <a:t>color → magnitude of feature values (range of that feature)</a:t>
            </a:r>
            <a:endParaRPr>
              <a:solidFill>
                <a:srgbClr val="333333"/>
              </a:solidFill>
              <a:highlight>
                <a:schemeClr val="lt1"/>
              </a:highlight>
            </a:endParaRPr>
          </a:p>
          <a:p>
            <a:pPr indent="-317500" lvl="0" marL="457200" rtl="0" algn="l">
              <a:lnSpc>
                <a:spcPct val="115000"/>
              </a:lnSpc>
              <a:spcBef>
                <a:spcPts val="0"/>
              </a:spcBef>
              <a:spcAft>
                <a:spcPts val="0"/>
              </a:spcAft>
              <a:buClr>
                <a:srgbClr val="333333"/>
              </a:buClr>
              <a:buSzPts val="1400"/>
              <a:buChar char="●"/>
            </a:pPr>
            <a:r>
              <a:rPr lang="en">
                <a:solidFill>
                  <a:srgbClr val="333333"/>
                </a:solidFill>
                <a:highlight>
                  <a:schemeClr val="lt1"/>
                </a:highlight>
              </a:rPr>
              <a:t>piles → lots of similar records</a:t>
            </a:r>
            <a:endParaRPr>
              <a:solidFill>
                <a:srgbClr val="333333"/>
              </a:solidFill>
              <a:highlight>
                <a:schemeClr val="lt1"/>
              </a:highlight>
            </a:endParaRPr>
          </a:p>
          <a:p>
            <a:pPr indent="-317500" lvl="0" marL="457200" rtl="0" algn="l">
              <a:lnSpc>
                <a:spcPct val="115000"/>
              </a:lnSpc>
              <a:spcBef>
                <a:spcPts val="0"/>
              </a:spcBef>
              <a:spcAft>
                <a:spcPts val="0"/>
              </a:spcAft>
              <a:buClr>
                <a:srgbClr val="A9AA35"/>
              </a:buClr>
              <a:buSzPts val="1400"/>
              <a:buChar char="●"/>
            </a:pPr>
            <a:r>
              <a:rPr lang="en">
                <a:solidFill>
                  <a:srgbClr val="A9AA35"/>
                </a:solidFill>
                <a:highlight>
                  <a:schemeClr val="lt1"/>
                </a:highlight>
              </a:rPr>
              <a:t>right of line → increase probability of predicting target == 0</a:t>
            </a:r>
            <a:endParaRPr>
              <a:solidFill>
                <a:srgbClr val="A9AA35"/>
              </a:solidFill>
              <a:highlight>
                <a:schemeClr val="lt1"/>
              </a:highlight>
            </a:endParaRPr>
          </a:p>
          <a:p>
            <a:pPr indent="-317500" lvl="0" marL="457200" rtl="0" algn="l">
              <a:lnSpc>
                <a:spcPct val="115000"/>
              </a:lnSpc>
              <a:spcBef>
                <a:spcPts val="0"/>
              </a:spcBef>
              <a:spcAft>
                <a:spcPts val="0"/>
              </a:spcAft>
              <a:buClr>
                <a:srgbClr val="A9AA35"/>
              </a:buClr>
              <a:buSzPts val="1400"/>
              <a:buChar char="●"/>
            </a:pPr>
            <a:r>
              <a:rPr lang="en">
                <a:solidFill>
                  <a:srgbClr val="A9AA35"/>
                </a:solidFill>
                <a:highlight>
                  <a:schemeClr val="lt1"/>
                </a:highlight>
              </a:rPr>
              <a:t>left of line → decrease probability of predicting target == 0</a:t>
            </a:r>
            <a:endParaRPr>
              <a:solidFill>
                <a:schemeClr val="dk1"/>
              </a:solidFill>
              <a:highlight>
                <a:schemeClr val="lt1"/>
              </a:highlight>
            </a:endParaRPr>
          </a:p>
        </p:txBody>
      </p:sp>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553" name="Google Shape;553;p68" title="synthwave radio 🌌 - beats to chill/game to">
            <a:hlinkClick r:id="rId5"/>
          </p:cNvPr>
          <p:cNvPicPr preferRelativeResize="0"/>
          <p:nvPr/>
        </p:nvPicPr>
        <p:blipFill>
          <a:blip r:embed="rId6">
            <a:alphaModFix/>
          </a:blip>
          <a:stretch>
            <a:fillRect/>
          </a:stretch>
        </p:blipFill>
        <p:spPr>
          <a:xfrm>
            <a:off x="135850" y="4657597"/>
            <a:ext cx="561450" cy="315811"/>
          </a:xfrm>
          <a:prstGeom prst="rect">
            <a:avLst/>
          </a:prstGeom>
          <a:noFill/>
          <a:ln>
            <a:noFill/>
          </a:ln>
        </p:spPr>
      </p:pic>
      <p:grpSp>
        <p:nvGrpSpPr>
          <p:cNvPr id="554" name="Google Shape;554;p68"/>
          <p:cNvGrpSpPr/>
          <p:nvPr/>
        </p:nvGrpSpPr>
        <p:grpSpPr>
          <a:xfrm>
            <a:off x="1312850" y="4530975"/>
            <a:ext cx="3410225" cy="354000"/>
            <a:chOff x="1312850" y="4530975"/>
            <a:chExt cx="3410225" cy="354000"/>
          </a:xfrm>
        </p:grpSpPr>
        <p:sp>
          <p:nvSpPr>
            <p:cNvPr id="555" name="Google Shape;555;p68"/>
            <p:cNvSpPr txBox="1"/>
            <p:nvPr/>
          </p:nvSpPr>
          <p:spPr>
            <a:xfrm>
              <a:off x="2932075" y="4530975"/>
              <a:ext cx="1791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100">
                  <a:solidFill>
                    <a:srgbClr val="333333"/>
                  </a:solidFill>
                  <a:highlight>
                    <a:schemeClr val="lt1"/>
                  </a:highlight>
                </a:rPr>
                <a:t>predicting Malignant </a:t>
              </a:r>
              <a:endParaRPr sz="1100"/>
            </a:p>
          </p:txBody>
        </p:sp>
        <p:sp>
          <p:nvSpPr>
            <p:cNvPr id="556" name="Google Shape;556;p68"/>
            <p:cNvSpPr txBox="1"/>
            <p:nvPr/>
          </p:nvSpPr>
          <p:spPr>
            <a:xfrm>
              <a:off x="1312850" y="4530975"/>
              <a:ext cx="15057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100">
                  <a:solidFill>
                    <a:srgbClr val="333333"/>
                  </a:solidFill>
                  <a:highlight>
                    <a:schemeClr val="lt1"/>
                  </a:highlight>
                </a:rPr>
                <a:t>predicting Benign</a:t>
              </a:r>
              <a:r>
                <a:rPr lang="en" sz="1100">
                  <a:solidFill>
                    <a:srgbClr val="333333"/>
                  </a:solidFill>
                  <a:highlight>
                    <a:schemeClr val="lt1"/>
                  </a:highlight>
                </a:rPr>
                <a:t> </a:t>
              </a:r>
              <a:endParaRPr sz="1100"/>
            </a:p>
          </p:txBody>
        </p:sp>
        <p:cxnSp>
          <p:nvCxnSpPr>
            <p:cNvPr id="557" name="Google Shape;557;p68"/>
            <p:cNvCxnSpPr/>
            <p:nvPr/>
          </p:nvCxnSpPr>
          <p:spPr>
            <a:xfrm flipH="1" rot="10800000">
              <a:off x="2954100" y="4602925"/>
              <a:ext cx="1336800" cy="6300"/>
            </a:xfrm>
            <a:prstGeom prst="straightConnector1">
              <a:avLst/>
            </a:prstGeom>
            <a:noFill/>
            <a:ln cap="flat" cmpd="sng" w="9525">
              <a:solidFill>
                <a:srgbClr val="A9AA35"/>
              </a:solidFill>
              <a:prstDash val="solid"/>
              <a:round/>
              <a:headEnd len="med" w="med" type="none"/>
              <a:tailEnd len="med" w="med" type="triangle"/>
            </a:ln>
          </p:spPr>
        </p:cxnSp>
        <p:cxnSp>
          <p:nvCxnSpPr>
            <p:cNvPr id="558" name="Google Shape;558;p68"/>
            <p:cNvCxnSpPr/>
            <p:nvPr/>
          </p:nvCxnSpPr>
          <p:spPr>
            <a:xfrm rot="10800000">
              <a:off x="1358750" y="4590400"/>
              <a:ext cx="1309500" cy="6300"/>
            </a:xfrm>
            <a:prstGeom prst="straightConnector1">
              <a:avLst/>
            </a:prstGeom>
            <a:noFill/>
            <a:ln cap="flat" cmpd="sng" w="9525">
              <a:solidFill>
                <a:srgbClr val="A9AA35"/>
              </a:solidFill>
              <a:prstDash val="solid"/>
              <a:round/>
              <a:headEnd len="med" w="med" type="none"/>
              <a:tailEnd len="med" w="med" type="triangle"/>
            </a:ln>
          </p:spPr>
        </p:cxnSp>
      </p:grpSp>
      <p:sp>
        <p:nvSpPr>
          <p:cNvPr id="559" name="Google Shape;559;p68"/>
          <p:cNvSpPr txBox="1"/>
          <p:nvPr/>
        </p:nvSpPr>
        <p:spPr>
          <a:xfrm>
            <a:off x="1632025" y="1677225"/>
            <a:ext cx="27288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000">
                <a:solidFill>
                  <a:srgbClr val="333333"/>
                </a:solidFill>
                <a:highlight>
                  <a:schemeClr val="lt1"/>
                </a:highlight>
              </a:rPr>
              <a:t>SHAP plot for target being 0 (malignant)</a:t>
            </a:r>
            <a:endParaRPr sz="10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49AF8"/>
        </a:solidFill>
      </p:bgPr>
    </p:bg>
    <p:spTree>
      <p:nvGrpSpPr>
        <p:cNvPr id="563" name="Shape 563"/>
        <p:cNvGrpSpPr/>
        <p:nvPr/>
      </p:nvGrpSpPr>
      <p:grpSpPr>
        <a:xfrm>
          <a:off x="0" y="0"/>
          <a:ext cx="0" cy="0"/>
          <a:chOff x="0" y="0"/>
          <a:chExt cx="0" cy="0"/>
        </a:xfrm>
      </p:grpSpPr>
      <p:sp>
        <p:nvSpPr>
          <p:cNvPr id="564" name="Google Shape;564;p69"/>
          <p:cNvSpPr txBox="1"/>
          <p:nvPr>
            <p:ph type="title"/>
          </p:nvPr>
        </p:nvSpPr>
        <p:spPr>
          <a:xfrm>
            <a:off x="311700" y="1130825"/>
            <a:ext cx="2349600" cy="369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Workbook</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400"/>
              <a:t>Walk through the modeling done with the breast cancer dataset in the workbook.</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Answer the questions related to accuracy and SHAP plots.</a:t>
            </a:r>
            <a:endParaRPr sz="1400"/>
          </a:p>
        </p:txBody>
      </p:sp>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565" name="Google Shape;565;p69" title="synthwave radio 🌌 - beats to chill/game to">
            <a:hlinkClick r:id="rId3"/>
          </p:cNvPr>
          <p:cNvPicPr preferRelativeResize="0"/>
          <p:nvPr/>
        </p:nvPicPr>
        <p:blipFill>
          <a:blip r:embed="rId4">
            <a:alphaModFix/>
          </a:blip>
          <a:stretch>
            <a:fillRect/>
          </a:stretch>
        </p:blipFill>
        <p:spPr>
          <a:xfrm>
            <a:off x="135850" y="4657597"/>
            <a:ext cx="561450" cy="315811"/>
          </a:xfrm>
          <a:prstGeom prst="rect">
            <a:avLst/>
          </a:prstGeom>
          <a:noFill/>
          <a:ln>
            <a:noFill/>
          </a:ln>
        </p:spPr>
      </p:pic>
      <p:pic>
        <p:nvPicPr>
          <p:cNvPr id="566" name="Google Shape;566;p69" title="Screenshot 2025-03-14 at 11.45.46 AM.png"/>
          <p:cNvPicPr preferRelativeResize="0"/>
          <p:nvPr/>
        </p:nvPicPr>
        <p:blipFill>
          <a:blip r:embed="rId5">
            <a:alphaModFix/>
          </a:blip>
          <a:stretch>
            <a:fillRect/>
          </a:stretch>
        </p:blipFill>
        <p:spPr>
          <a:xfrm>
            <a:off x="2727450" y="1053850"/>
            <a:ext cx="6177899" cy="325323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