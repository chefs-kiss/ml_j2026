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y="5143500" cx="9144000"/>
  <p:notesSz cx="6858000" cy="9144000"/>
  <p:embeddedFontLst>
    <p:embeddedFont>
      <p:font typeface="Staatliches"/>
      <p:regular r:id="rId43"/>
    </p:embeddedFont>
    <p:embeddedFont>
      <p:font typeface="Proxima Nova"/>
      <p:regular r:id="rId44"/>
      <p:bold r:id="rId45"/>
      <p:italic r:id="rId46"/>
      <p:boldItalic r:id="rId47"/>
    </p:embeddedFont>
    <p:embeddedFont>
      <p:font typeface="Source Code Pro"/>
      <p:regular r:id="rId48"/>
      <p:bold r:id="rId49"/>
      <p:italic r:id="rId50"/>
      <p:boldItalic r:id="rId51"/>
    </p:embeddedFont>
    <p:embeddedFont>
      <p:font typeface="Manrope"/>
      <p:regular r:id="rId52"/>
      <p:bold r:id="rId53"/>
    </p:embeddedFont>
    <p:embeddedFont>
      <p:font typeface="Alfa Slab One"/>
      <p:regular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D49CD7-B160-456E-872A-AC2D771D5809}">
  <a:tblStyle styleId="{57D49CD7-B160-456E-872A-AC2D771D580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font" Target="fonts/ProximaNova-regular.fntdata"/><Relationship Id="rId43" Type="http://schemas.openxmlformats.org/officeDocument/2006/relationships/font" Target="fonts/Staatliches-regular.fntdata"/><Relationship Id="rId46" Type="http://schemas.openxmlformats.org/officeDocument/2006/relationships/font" Target="fonts/ProximaNova-italic.fntdata"/><Relationship Id="rId45"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SourceCodePro-regular.fntdata"/><Relationship Id="rId47" Type="http://schemas.openxmlformats.org/officeDocument/2006/relationships/font" Target="fonts/ProximaNova-boldItalic.fntdata"/><Relationship Id="rId49" Type="http://schemas.openxmlformats.org/officeDocument/2006/relationships/font" Target="fonts/SourceCodePr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SourceCodePro-boldItalic.fntdata"/><Relationship Id="rId50" Type="http://schemas.openxmlformats.org/officeDocument/2006/relationships/font" Target="fonts/SourceCodePro-italic.fntdata"/><Relationship Id="rId53" Type="http://schemas.openxmlformats.org/officeDocument/2006/relationships/font" Target="fonts/Manrope-bold.fntdata"/><Relationship Id="rId52" Type="http://schemas.openxmlformats.org/officeDocument/2006/relationships/font" Target="fonts/Manrope-regular.fntdata"/><Relationship Id="rId11" Type="http://schemas.openxmlformats.org/officeDocument/2006/relationships/slide" Target="slides/slide4.xml"/><Relationship Id="rId10" Type="http://schemas.openxmlformats.org/officeDocument/2006/relationships/slide" Target="slides/slide3.xml"/><Relationship Id="rId54" Type="http://schemas.openxmlformats.org/officeDocument/2006/relationships/font" Target="fonts/AlfaSlabOne-regular.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b194b7a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b194b7a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aee5c135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aee5c135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aee5c135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aee5c135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aee5c1353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aee5c1353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aee5c135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aee5c135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aee5c135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aee5c135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aee5c135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aee5c135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aee5c1353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aee5c1353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aee5c1353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aee5c135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aee5c135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aee5c135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aee5c135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4aee5c135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4aee5c1353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4aee5c1353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aee5c1353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aee5c1353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b194b7a2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b194b7a2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39e4b9204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39e4b9204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405d5d6d97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405d5d6d97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4aee5c1353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4aee5c1353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4aee5c1353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4aee5c1353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aee5c1353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4aee5c1353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4aee5c1353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4aee5c1353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4aee5c1353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4aee5c1353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4aee5c1353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4aee5c1353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bb194b7a2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bb194b7a2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bb194b7a2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bb194b7a2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b249c1001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bb249c1001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Layout objects pulled from: https://slidesgo.com/</a:t>
            </a:r>
            <a:endParaRPr/>
          </a:p>
          <a:p>
            <a:pPr indent="0" lvl="0" marL="0" rtl="0" algn="l">
              <a:spcBef>
                <a:spcPts val="0"/>
              </a:spcBef>
              <a:spcAft>
                <a:spcPts val="0"/>
              </a:spcAft>
              <a:buNone/>
            </a:pPr>
            <a:r>
              <a:rPr lang="en"/>
              <a:t>All icons are from: https://thenounproject.com/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bb249c1001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bb249c1001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b249c100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b249c100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bb249c100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bb249c100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bb249c100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bb249c100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e224f4da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be224f4da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bb249c1001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bb249c1001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b249c1001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bb249c1001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bb249c1001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bb249c1001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be224f4da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be224f4da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be224f4da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be224f4da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C6B8EB"/>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colab.research.google.com/drive/1I0K7FjuDMuoDsQmXBbqBw3u_oXdIpqPx?usp=sharing" TargetMode="External"/><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scikit-learn.org/stable/api/sklearn.ensemble.html" TargetMode="External"/><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hyperlink" Target="https://scikit-learn.org/stable/modules/generated/sklearn.ensemble.BaggingClassifier.html#sklearn.ensemble.BaggingClassifi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https://scikit-learn.org/stable/modules/generated/sklearn.ensemble.AdaBoostClassifier.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hyperlink" Target="https://scikit-learn.org/stable/modules/generated/sklearn.ensemble.VotingClassifier.html#sklearn.ensemble.VotingClassifier"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14.png"/><Relationship Id="rId7" Type="http://schemas.openxmlformats.org/officeDocument/2006/relationships/image" Target="../media/image9.png"/><Relationship Id="rId8" Type="http://schemas.openxmlformats.org/officeDocument/2006/relationships/hyperlink" Target="https://scikit-learn.org/stable/modules/generated/sklearn.ensemble.StackingClassifier.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hyperlink" Target="http://www.youtube.com/watch?v=Tio8r3Zf70M" TargetMode="Externa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hyperlink" Target="https://scikit-learn.org/stable/api/sklearn.preprocessing.html" TargetMode="External"/><Relationship Id="rId5" Type="http://schemas.openxmlformats.org/officeDocument/2006/relationships/hyperlink" Target="https://scikit-learn.org/stable/modules/generated/sklearn.pipeline.Pipeline.html#sklearn.pipeline.Pipeli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hyperlink" Target="http://www.youtube.com/watch?v=odzGsDTJKz4" TargetMode="External"/><Relationship Id="rId5"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colab.research.google.com/drive/1aDd1SwHJkB0wVXNsWE80AYqLFiEb6Jgg?usp=shar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www.youtube.com/watch?v=odzGsDTJKz4" TargetMode="Externa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www.youtube.com/watch?v=aXYNcwmjK4g" TargetMode="External"/><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8.jpg"/><Relationship Id="rId4" Type="http://schemas.openxmlformats.org/officeDocument/2006/relationships/hyperlink" Target="http://www.youtube.com/watch?v=4xDzrJKXOOY" TargetMode="External"/><Relationship Id="rId5" Type="http://schemas.openxmlformats.org/officeDocument/2006/relationships/image" Target="../media/image6.jpg"/><Relationship Id="rId6" Type="http://schemas.openxmlformats.org/officeDocument/2006/relationships/hyperlink" Target="https://chefs-kiss.github.io/ML_J2026/homework.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8.jpg"/><Relationship Id="rId4" Type="http://schemas.openxmlformats.org/officeDocument/2006/relationships/hyperlink" Target="https://chefs-kiss.github.io/ML_J2026/labs.html" TargetMode="External"/><Relationship Id="rId5" Type="http://schemas.openxmlformats.org/officeDocument/2006/relationships/hyperlink" Target="http://www.youtube.com/watch?v=4xDzrJKXOOY" TargetMode="External"/><Relationship Id="rId6"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hyperlink" Target="http://www.youtube.com/watch?v=4xDzrJKXOOY" TargetMode="External"/><Relationship Id="rId4" Type="http://schemas.openxmlformats.org/officeDocument/2006/relationships/image" Target="../media/image6.jpg"/><Relationship Id="rId5"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colab.research.google.com/drive/1MNcCBYHRPozWdxpRBU74XPRUw1vT8g26#scrollTo=gUioduPjkeF9" TargetMode="External"/><Relationship Id="rId4" Type="http://schemas.openxmlformats.org/officeDocument/2006/relationships/hyperlink" Target="http://www.youtube.com/watch?v=4xDzrJKXOOY" TargetMode="External"/><Relationship Id="rId5"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8" name="Shape 98"/>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99" name="Google Shape;99;p25"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100" name="Google Shape;100;p25"/>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ESB</a:t>
            </a:r>
            <a:r>
              <a:rPr b="1" lang="en" sz="3622">
                <a:solidFill>
                  <a:schemeClr val="lt1"/>
                </a:solidFill>
                <a:latin typeface="Source Code Pro"/>
                <a:ea typeface="Source Code Pro"/>
                <a:cs typeface="Source Code Pro"/>
                <a:sym typeface="Source Code Pro"/>
              </a:rPr>
              <a:t>1</a:t>
            </a:r>
            <a:r>
              <a:rPr lang="en" sz="3622">
                <a:solidFill>
                  <a:schemeClr val="dk1"/>
                </a:solidFill>
                <a:latin typeface="Staatliches"/>
                <a:ea typeface="Staatliches"/>
                <a:cs typeface="Staatliches"/>
                <a:sym typeface="Staatliches"/>
              </a:rPr>
              <a:t>: ensemble MODELS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Boosting, Bagging, Voting</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106" name="Google Shape;106;p26"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7"/>
          <p:cNvSpPr txBox="1"/>
          <p:nvPr/>
        </p:nvSpPr>
        <p:spPr>
          <a:xfrm>
            <a:off x="1404975" y="634925"/>
            <a:ext cx="37500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Ensemble models</a:t>
            </a: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combine the strengths of different models to improve accuracy, reduce mistakes, and create more reliable results (</a:t>
            </a:r>
            <a:r>
              <a:rPr lang="en" u="sng">
                <a:solidFill>
                  <a:schemeClr val="hlink"/>
                </a:solidFill>
                <a:hlinkClick r:id="rId3"/>
              </a:rPr>
              <a:t>doc here</a:t>
            </a:r>
            <a:r>
              <a:rPr lang="en">
                <a:solidFill>
                  <a:schemeClr val="dk1"/>
                </a:solidFill>
              </a:rPr>
              <a:t>)</a:t>
            </a:r>
            <a:endParaRPr/>
          </a:p>
        </p:txBody>
      </p:sp>
      <p:sp>
        <p:nvSpPr>
          <p:cNvPr id="112" name="Google Shape;112;p27"/>
          <p:cNvSpPr txBox="1"/>
          <p:nvPr/>
        </p:nvSpPr>
        <p:spPr>
          <a:xfrm>
            <a:off x="5658350" y="1746200"/>
            <a:ext cx="188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bagging</a:t>
            </a:r>
            <a:endParaRPr/>
          </a:p>
        </p:txBody>
      </p:sp>
      <p:sp>
        <p:nvSpPr>
          <p:cNvPr id="113" name="Google Shape;113;p27"/>
          <p:cNvSpPr txBox="1"/>
          <p:nvPr/>
        </p:nvSpPr>
        <p:spPr>
          <a:xfrm>
            <a:off x="6767975" y="3035050"/>
            <a:ext cx="188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boosting</a:t>
            </a:r>
            <a:endParaRPr/>
          </a:p>
        </p:txBody>
      </p:sp>
      <p:sp>
        <p:nvSpPr>
          <p:cNvPr id="114" name="Google Shape;114;p27"/>
          <p:cNvSpPr txBox="1"/>
          <p:nvPr/>
        </p:nvSpPr>
        <p:spPr>
          <a:xfrm>
            <a:off x="3629175" y="3113825"/>
            <a:ext cx="188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voting</a:t>
            </a:r>
            <a:endParaRPr/>
          </a:p>
        </p:txBody>
      </p:sp>
      <p:sp>
        <p:nvSpPr>
          <p:cNvPr id="115" name="Google Shape;115;p27"/>
          <p:cNvSpPr txBox="1"/>
          <p:nvPr/>
        </p:nvSpPr>
        <p:spPr>
          <a:xfrm>
            <a:off x="509200" y="3374850"/>
            <a:ext cx="188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solidFill>
                  <a:schemeClr val="dk1"/>
                </a:solidFill>
                <a:latin typeface="Staatliches"/>
                <a:ea typeface="Staatliches"/>
                <a:cs typeface="Staatliches"/>
                <a:sym typeface="Staatliches"/>
              </a:rPr>
              <a:t>stacking</a:t>
            </a:r>
            <a:endParaRPr/>
          </a:p>
        </p:txBody>
      </p:sp>
      <p:pic>
        <p:nvPicPr>
          <p:cNvPr id="116" name="Google Shape;116;p27"/>
          <p:cNvPicPr preferRelativeResize="0"/>
          <p:nvPr/>
        </p:nvPicPr>
        <p:blipFill rotWithShape="1">
          <a:blip r:embed="rId4">
            <a:alphaModFix/>
          </a:blip>
          <a:srcRect b="19113" l="0" r="0" t="0"/>
          <a:stretch/>
        </p:blipFill>
        <p:spPr>
          <a:xfrm>
            <a:off x="6450075" y="529500"/>
            <a:ext cx="2571749" cy="2080225"/>
          </a:xfrm>
          <a:prstGeom prst="rect">
            <a:avLst/>
          </a:prstGeom>
          <a:noFill/>
          <a:ln>
            <a:noFill/>
          </a:ln>
        </p:spPr>
      </p:pic>
      <p:pic>
        <p:nvPicPr>
          <p:cNvPr id="117" name="Google Shape;117;p27"/>
          <p:cNvPicPr preferRelativeResize="0"/>
          <p:nvPr/>
        </p:nvPicPr>
        <p:blipFill rotWithShape="1">
          <a:blip r:embed="rId5">
            <a:alphaModFix/>
          </a:blip>
          <a:srcRect b="56689" l="0" r="49652" t="0"/>
          <a:stretch/>
        </p:blipFill>
        <p:spPr>
          <a:xfrm>
            <a:off x="3497775" y="2506207"/>
            <a:ext cx="822925" cy="707868"/>
          </a:xfrm>
          <a:prstGeom prst="rect">
            <a:avLst/>
          </a:prstGeom>
          <a:noFill/>
          <a:ln>
            <a:noFill/>
          </a:ln>
        </p:spPr>
      </p:pic>
      <p:pic>
        <p:nvPicPr>
          <p:cNvPr id="118" name="Google Shape;118;p27"/>
          <p:cNvPicPr preferRelativeResize="0"/>
          <p:nvPr/>
        </p:nvPicPr>
        <p:blipFill rotWithShape="1">
          <a:blip r:embed="rId5">
            <a:alphaModFix/>
          </a:blip>
          <a:srcRect b="15382" l="0" r="49738" t="43288"/>
          <a:stretch/>
        </p:blipFill>
        <p:spPr>
          <a:xfrm>
            <a:off x="3660036" y="3707025"/>
            <a:ext cx="738040" cy="606875"/>
          </a:xfrm>
          <a:prstGeom prst="rect">
            <a:avLst/>
          </a:prstGeom>
          <a:noFill/>
          <a:ln>
            <a:noFill/>
          </a:ln>
        </p:spPr>
      </p:pic>
      <p:pic>
        <p:nvPicPr>
          <p:cNvPr id="119" name="Google Shape;119;p27"/>
          <p:cNvPicPr preferRelativeResize="0"/>
          <p:nvPr/>
        </p:nvPicPr>
        <p:blipFill rotWithShape="1">
          <a:blip r:embed="rId5">
            <a:alphaModFix/>
          </a:blip>
          <a:srcRect b="56689" l="50504" r="0" t="0"/>
          <a:stretch/>
        </p:blipFill>
        <p:spPr>
          <a:xfrm>
            <a:off x="4579450" y="3186725"/>
            <a:ext cx="1522376" cy="1332076"/>
          </a:xfrm>
          <a:prstGeom prst="rect">
            <a:avLst/>
          </a:prstGeom>
          <a:noFill/>
          <a:ln>
            <a:noFill/>
          </a:ln>
        </p:spPr>
      </p:pic>
      <p:pic>
        <p:nvPicPr>
          <p:cNvPr id="120" name="Google Shape;120;p27"/>
          <p:cNvPicPr preferRelativeResize="0"/>
          <p:nvPr/>
        </p:nvPicPr>
        <p:blipFill rotWithShape="1">
          <a:blip r:embed="rId5">
            <a:alphaModFix/>
          </a:blip>
          <a:srcRect b="15382" l="0" r="0" t="43288"/>
          <a:stretch/>
        </p:blipFill>
        <p:spPr>
          <a:xfrm>
            <a:off x="509200" y="2698175"/>
            <a:ext cx="1637300" cy="676674"/>
          </a:xfrm>
          <a:prstGeom prst="rect">
            <a:avLst/>
          </a:prstGeom>
          <a:noFill/>
          <a:ln>
            <a:noFill/>
          </a:ln>
        </p:spPr>
      </p:pic>
      <p:pic>
        <p:nvPicPr>
          <p:cNvPr id="121" name="Google Shape;121;p27"/>
          <p:cNvPicPr preferRelativeResize="0"/>
          <p:nvPr/>
        </p:nvPicPr>
        <p:blipFill rotWithShape="1">
          <a:blip r:embed="rId5">
            <a:alphaModFix/>
          </a:blip>
          <a:srcRect b="56689" l="50504" r="0" t="0"/>
          <a:stretch/>
        </p:blipFill>
        <p:spPr>
          <a:xfrm>
            <a:off x="1992174" y="2518050"/>
            <a:ext cx="979225" cy="856800"/>
          </a:xfrm>
          <a:prstGeom prst="rect">
            <a:avLst/>
          </a:prstGeom>
          <a:noFill/>
          <a:ln>
            <a:noFill/>
          </a:ln>
        </p:spPr>
      </p:pic>
      <p:pic>
        <p:nvPicPr>
          <p:cNvPr id="122" name="Google Shape;122;p27"/>
          <p:cNvPicPr preferRelativeResize="0"/>
          <p:nvPr/>
        </p:nvPicPr>
        <p:blipFill rotWithShape="1">
          <a:blip r:embed="rId5">
            <a:alphaModFix/>
          </a:blip>
          <a:srcRect b="56689" l="0" r="49652" t="0"/>
          <a:stretch/>
        </p:blipFill>
        <p:spPr>
          <a:xfrm>
            <a:off x="6283200" y="3606044"/>
            <a:ext cx="822925" cy="707868"/>
          </a:xfrm>
          <a:prstGeom prst="rect">
            <a:avLst/>
          </a:prstGeom>
          <a:noFill/>
          <a:ln>
            <a:noFill/>
          </a:ln>
        </p:spPr>
      </p:pic>
      <p:pic>
        <p:nvPicPr>
          <p:cNvPr id="123" name="Google Shape;123;p27"/>
          <p:cNvPicPr preferRelativeResize="0"/>
          <p:nvPr/>
        </p:nvPicPr>
        <p:blipFill rotWithShape="1">
          <a:blip r:embed="rId5">
            <a:alphaModFix/>
          </a:blip>
          <a:srcRect b="56689" l="0" r="49652" t="0"/>
          <a:stretch/>
        </p:blipFill>
        <p:spPr>
          <a:xfrm>
            <a:off x="7236525" y="3606044"/>
            <a:ext cx="822925" cy="707868"/>
          </a:xfrm>
          <a:prstGeom prst="rect">
            <a:avLst/>
          </a:prstGeom>
          <a:noFill/>
          <a:ln>
            <a:noFill/>
          </a:ln>
        </p:spPr>
      </p:pic>
      <p:pic>
        <p:nvPicPr>
          <p:cNvPr id="124" name="Google Shape;124;p27"/>
          <p:cNvPicPr preferRelativeResize="0"/>
          <p:nvPr/>
        </p:nvPicPr>
        <p:blipFill rotWithShape="1">
          <a:blip r:embed="rId5">
            <a:alphaModFix/>
          </a:blip>
          <a:srcRect b="56689" l="0" r="49652" t="0"/>
          <a:stretch/>
        </p:blipFill>
        <p:spPr>
          <a:xfrm>
            <a:off x="8061425" y="3606044"/>
            <a:ext cx="822925" cy="707868"/>
          </a:xfrm>
          <a:prstGeom prst="rect">
            <a:avLst/>
          </a:prstGeom>
          <a:noFill/>
          <a:ln>
            <a:noFill/>
          </a:ln>
        </p:spPr>
      </p:pic>
      <p:cxnSp>
        <p:nvCxnSpPr>
          <p:cNvPr id="125" name="Google Shape;125;p27"/>
          <p:cNvCxnSpPr>
            <a:stCxn id="122" idx="3"/>
          </p:cNvCxnSpPr>
          <p:nvPr/>
        </p:nvCxnSpPr>
        <p:spPr>
          <a:xfrm>
            <a:off x="7106125" y="3959978"/>
            <a:ext cx="309000" cy="3300"/>
          </a:xfrm>
          <a:prstGeom prst="straightConnector1">
            <a:avLst/>
          </a:prstGeom>
          <a:noFill/>
          <a:ln cap="flat" cmpd="sng" w="9525">
            <a:solidFill>
              <a:schemeClr val="dk2"/>
            </a:solidFill>
            <a:prstDash val="solid"/>
            <a:round/>
            <a:headEnd len="med" w="med" type="none"/>
            <a:tailEnd len="med" w="med" type="stealth"/>
          </a:ln>
        </p:spPr>
      </p:cxnSp>
      <p:cxnSp>
        <p:nvCxnSpPr>
          <p:cNvPr id="126" name="Google Shape;126;p27"/>
          <p:cNvCxnSpPr/>
          <p:nvPr/>
        </p:nvCxnSpPr>
        <p:spPr>
          <a:xfrm>
            <a:off x="7944325" y="3959978"/>
            <a:ext cx="309000" cy="3300"/>
          </a:xfrm>
          <a:prstGeom prst="straightConnector1">
            <a:avLst/>
          </a:prstGeom>
          <a:noFill/>
          <a:ln cap="flat" cmpd="sng" w="9525">
            <a:solidFill>
              <a:schemeClr val="dk2"/>
            </a:solidFill>
            <a:prstDash val="solid"/>
            <a:round/>
            <a:headEnd len="med" w="med" type="none"/>
            <a:tailEnd len="med" w="med" type="stealth"/>
          </a:ln>
        </p:spPr>
      </p:cxnSp>
      <p:sp>
        <p:nvSpPr>
          <p:cNvPr id="127" name="Google Shape;127;p27"/>
          <p:cNvSpPr/>
          <p:nvPr/>
        </p:nvSpPr>
        <p:spPr>
          <a:xfrm>
            <a:off x="505300" y="2514300"/>
            <a:ext cx="2397000" cy="905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8" name="Google Shape;128;p27"/>
          <p:cNvPicPr preferRelativeResize="0"/>
          <p:nvPr/>
        </p:nvPicPr>
        <p:blipFill rotWithShape="1">
          <a:blip r:embed="rId6">
            <a:alphaModFix/>
          </a:blip>
          <a:srcRect b="21334" l="0" r="0" t="0"/>
          <a:stretch/>
        </p:blipFill>
        <p:spPr>
          <a:xfrm rot="-1868152">
            <a:off x="1560552" y="3609375"/>
            <a:ext cx="1761097" cy="1385400"/>
          </a:xfrm>
          <a:prstGeom prst="rect">
            <a:avLst/>
          </a:prstGeom>
          <a:noFill/>
          <a:ln>
            <a:noFill/>
          </a:ln>
        </p:spPr>
      </p:pic>
      <p:cxnSp>
        <p:nvCxnSpPr>
          <p:cNvPr id="129" name="Google Shape;129;p27"/>
          <p:cNvCxnSpPr/>
          <p:nvPr/>
        </p:nvCxnSpPr>
        <p:spPr>
          <a:xfrm>
            <a:off x="2464950" y="3439475"/>
            <a:ext cx="15600" cy="405900"/>
          </a:xfrm>
          <a:prstGeom prst="straightConnector1">
            <a:avLst/>
          </a:prstGeom>
          <a:noFill/>
          <a:ln cap="flat" cmpd="sng" w="9525">
            <a:solidFill>
              <a:schemeClr val="dk2"/>
            </a:solidFill>
            <a:prstDash val="solid"/>
            <a:round/>
            <a:headEnd len="med" w="med" type="none"/>
            <a:tailEnd len="med" w="med" type="stealth"/>
          </a:ln>
        </p:spPr>
      </p:cxnSp>
      <p:sp>
        <p:nvSpPr>
          <p:cNvPr id="130" name="Google Shape;130;p27"/>
          <p:cNvSpPr txBox="1"/>
          <p:nvPr/>
        </p:nvSpPr>
        <p:spPr>
          <a:xfrm>
            <a:off x="2146500" y="4153525"/>
            <a:ext cx="61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meta</a:t>
            </a:r>
            <a:endParaRPr/>
          </a:p>
        </p:txBody>
      </p:sp>
      <p:sp>
        <p:nvSpPr>
          <p:cNvPr id="131" name="Google Shape;131;p27"/>
          <p:cNvSpPr txBox="1"/>
          <p:nvPr/>
        </p:nvSpPr>
        <p:spPr>
          <a:xfrm>
            <a:off x="846725" y="2219250"/>
            <a:ext cx="161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base models</a:t>
            </a:r>
            <a:endParaRPr/>
          </a:p>
        </p:txBody>
      </p:sp>
      <p:sp>
        <p:nvSpPr>
          <p:cNvPr id="132" name="Google Shape;132;p27"/>
          <p:cNvSpPr txBox="1"/>
          <p:nvPr/>
        </p:nvSpPr>
        <p:spPr>
          <a:xfrm>
            <a:off x="4320700" y="2736225"/>
            <a:ext cx="161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base models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8" title="Screenshot 2025-04-06 at 10.16.05 PM.png"/>
          <p:cNvPicPr preferRelativeResize="0"/>
          <p:nvPr/>
        </p:nvPicPr>
        <p:blipFill rotWithShape="1">
          <a:blip r:embed="rId3">
            <a:alphaModFix/>
          </a:blip>
          <a:srcRect b="38929" l="7856" r="5043" t="12439"/>
          <a:stretch/>
        </p:blipFill>
        <p:spPr>
          <a:xfrm>
            <a:off x="1598975" y="2625500"/>
            <a:ext cx="5698051" cy="1759726"/>
          </a:xfrm>
          <a:prstGeom prst="rect">
            <a:avLst/>
          </a:prstGeom>
          <a:noFill/>
          <a:ln>
            <a:noFill/>
          </a:ln>
        </p:spPr>
      </p:pic>
      <p:sp>
        <p:nvSpPr>
          <p:cNvPr id="138" name="Google Shape;138;p28"/>
          <p:cNvSpPr txBox="1"/>
          <p:nvPr/>
        </p:nvSpPr>
        <p:spPr>
          <a:xfrm>
            <a:off x="1598975" y="793875"/>
            <a:ext cx="5901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300">
                <a:solidFill>
                  <a:schemeClr val="dk1"/>
                </a:solidFill>
                <a:latin typeface="Staatliches"/>
                <a:ea typeface="Staatliches"/>
                <a:cs typeface="Staatliches"/>
                <a:sym typeface="Staatliches"/>
              </a:rPr>
              <a:t>Breast cancer dataset</a:t>
            </a:r>
            <a:endParaRPr sz="3300">
              <a:solidFill>
                <a:schemeClr val="dk1"/>
              </a:solidFill>
              <a:latin typeface="Staatliches"/>
              <a:ea typeface="Staatliches"/>
              <a:cs typeface="Staatliches"/>
              <a:sym typeface="Staatliches"/>
            </a:endParaRPr>
          </a:p>
          <a:p>
            <a:pPr indent="-298450" lvl="0" marL="457200" rtl="0" algn="l">
              <a:spcBef>
                <a:spcPts val="0"/>
              </a:spcBef>
              <a:spcAft>
                <a:spcPts val="0"/>
              </a:spcAft>
              <a:buClr>
                <a:schemeClr val="dk1"/>
              </a:buClr>
              <a:buSzPts val="1100"/>
              <a:buChar char="●"/>
            </a:pPr>
            <a:r>
              <a:rPr lang="en" sz="1100">
                <a:solidFill>
                  <a:schemeClr val="dk1"/>
                </a:solidFill>
              </a:rPr>
              <a:t>binary classification (malignant vs benign)</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569 samples and 30 numeric features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no missing values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some correlated features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small enough to train models quickly, but complex enough to benefit from tuning</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nvSpPr>
        <p:spPr>
          <a:xfrm>
            <a:off x="480375" y="275675"/>
            <a:ext cx="8395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basic models</a:t>
            </a:r>
            <a:r>
              <a:rPr lang="en" sz="1100">
                <a:solidFill>
                  <a:schemeClr val="dk1"/>
                </a:solidFill>
              </a:rPr>
              <a:t> </a:t>
            </a:r>
            <a:endParaRPr/>
          </a:p>
        </p:txBody>
      </p:sp>
      <p:pic>
        <p:nvPicPr>
          <p:cNvPr id="144" name="Google Shape;144;p29" title="Screenshot 2025-04-07 at 9.19.28 AM.png"/>
          <p:cNvPicPr preferRelativeResize="0"/>
          <p:nvPr/>
        </p:nvPicPr>
        <p:blipFill rotWithShape="1">
          <a:blip r:embed="rId3">
            <a:alphaModFix/>
          </a:blip>
          <a:srcRect b="0" l="704" r="0" t="0"/>
          <a:stretch/>
        </p:blipFill>
        <p:spPr>
          <a:xfrm>
            <a:off x="5107462" y="1261738"/>
            <a:ext cx="3289075" cy="1371575"/>
          </a:xfrm>
          <a:prstGeom prst="rect">
            <a:avLst/>
          </a:prstGeom>
          <a:noFill/>
          <a:ln>
            <a:noFill/>
          </a:ln>
        </p:spPr>
      </p:pic>
      <p:pic>
        <p:nvPicPr>
          <p:cNvPr id="145" name="Google Shape;145;p29" title="Screenshot 2025-04-07 at 9.19.40 AM.png"/>
          <p:cNvPicPr preferRelativeResize="0"/>
          <p:nvPr/>
        </p:nvPicPr>
        <p:blipFill rotWithShape="1">
          <a:blip r:embed="rId4">
            <a:alphaModFix/>
          </a:blip>
          <a:srcRect b="0" l="568" r="1479" t="0"/>
          <a:stretch/>
        </p:blipFill>
        <p:spPr>
          <a:xfrm>
            <a:off x="671475" y="3104600"/>
            <a:ext cx="4211126" cy="1419350"/>
          </a:xfrm>
          <a:prstGeom prst="rect">
            <a:avLst/>
          </a:prstGeom>
          <a:noFill/>
          <a:ln>
            <a:noFill/>
          </a:ln>
        </p:spPr>
      </p:pic>
      <p:pic>
        <p:nvPicPr>
          <p:cNvPr id="146" name="Google Shape;146;p29" title="Screenshot 2025-04-07 at 9.21.08 AM.png"/>
          <p:cNvPicPr preferRelativeResize="0"/>
          <p:nvPr/>
        </p:nvPicPr>
        <p:blipFill rotWithShape="1">
          <a:blip r:embed="rId5">
            <a:alphaModFix/>
          </a:blip>
          <a:srcRect b="0" l="675" r="0" t="0"/>
          <a:stretch/>
        </p:blipFill>
        <p:spPr>
          <a:xfrm>
            <a:off x="671475" y="1261750"/>
            <a:ext cx="3737875" cy="1424075"/>
          </a:xfrm>
          <a:prstGeom prst="rect">
            <a:avLst/>
          </a:prstGeom>
          <a:noFill/>
          <a:ln>
            <a:noFill/>
          </a:ln>
        </p:spPr>
      </p:pic>
      <p:pic>
        <p:nvPicPr>
          <p:cNvPr id="147" name="Google Shape;147;p29" title="Screenshot 2025-04-07 at 9.25.41 AM.png"/>
          <p:cNvPicPr preferRelativeResize="0"/>
          <p:nvPr/>
        </p:nvPicPr>
        <p:blipFill rotWithShape="1">
          <a:blip r:embed="rId6">
            <a:alphaModFix/>
          </a:blip>
          <a:srcRect b="0" l="239" r="0" t="0"/>
          <a:stretch/>
        </p:blipFill>
        <p:spPr>
          <a:xfrm>
            <a:off x="5063238" y="3099862"/>
            <a:ext cx="3377511" cy="1424075"/>
          </a:xfrm>
          <a:prstGeom prst="rect">
            <a:avLst/>
          </a:prstGeom>
          <a:noFill/>
          <a:ln>
            <a:noFill/>
          </a:ln>
        </p:spPr>
      </p:pic>
      <p:grpSp>
        <p:nvGrpSpPr>
          <p:cNvPr id="148" name="Google Shape;148;p29"/>
          <p:cNvGrpSpPr/>
          <p:nvPr/>
        </p:nvGrpSpPr>
        <p:grpSpPr>
          <a:xfrm>
            <a:off x="562925" y="886675"/>
            <a:ext cx="7995900" cy="1851875"/>
            <a:chOff x="562925" y="886675"/>
            <a:chExt cx="7995900" cy="1851875"/>
          </a:xfrm>
        </p:grpSpPr>
        <p:sp>
          <p:nvSpPr>
            <p:cNvPr id="149" name="Google Shape;149;p29"/>
            <p:cNvSpPr/>
            <p:nvPr/>
          </p:nvSpPr>
          <p:spPr>
            <a:xfrm>
              <a:off x="562925" y="1167750"/>
              <a:ext cx="7995900" cy="157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29"/>
            <p:cNvSpPr txBox="1"/>
            <p:nvPr/>
          </p:nvSpPr>
          <p:spPr>
            <a:xfrm>
              <a:off x="4236800" y="886675"/>
              <a:ext cx="77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okay</a:t>
              </a:r>
              <a:endParaRPr/>
            </a:p>
          </p:txBody>
        </p:sp>
      </p:grpSp>
      <p:grpSp>
        <p:nvGrpSpPr>
          <p:cNvPr id="151" name="Google Shape;151;p29"/>
          <p:cNvGrpSpPr/>
          <p:nvPr/>
        </p:nvGrpSpPr>
        <p:grpSpPr>
          <a:xfrm>
            <a:off x="562925" y="2715475"/>
            <a:ext cx="7995900" cy="1851875"/>
            <a:chOff x="562925" y="2715475"/>
            <a:chExt cx="7995900" cy="1851875"/>
          </a:xfrm>
        </p:grpSpPr>
        <p:sp>
          <p:nvSpPr>
            <p:cNvPr id="152" name="Google Shape;152;p29"/>
            <p:cNvSpPr/>
            <p:nvPr/>
          </p:nvSpPr>
          <p:spPr>
            <a:xfrm>
              <a:off x="562925" y="2996550"/>
              <a:ext cx="7995900" cy="157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9"/>
            <p:cNvSpPr txBox="1"/>
            <p:nvPr/>
          </p:nvSpPr>
          <p:spPr>
            <a:xfrm>
              <a:off x="4236800" y="2715475"/>
              <a:ext cx="77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ideal</a:t>
              </a:r>
              <a:endParaRPr/>
            </a:p>
          </p:txBody>
        </p:sp>
      </p:grpSp>
      <p:grpSp>
        <p:nvGrpSpPr>
          <p:cNvPr id="154" name="Google Shape;154;p29"/>
          <p:cNvGrpSpPr/>
          <p:nvPr/>
        </p:nvGrpSpPr>
        <p:grpSpPr>
          <a:xfrm>
            <a:off x="613075" y="1158400"/>
            <a:ext cx="3885300" cy="1500300"/>
            <a:chOff x="613075" y="1158400"/>
            <a:chExt cx="3885300" cy="1500300"/>
          </a:xfrm>
        </p:grpSpPr>
        <p:sp>
          <p:nvSpPr>
            <p:cNvPr id="155" name="Google Shape;155;p29"/>
            <p:cNvSpPr/>
            <p:nvPr/>
          </p:nvSpPr>
          <p:spPr>
            <a:xfrm>
              <a:off x="613075" y="1234600"/>
              <a:ext cx="3885300" cy="1424100"/>
            </a:xfrm>
            <a:prstGeom prst="rect">
              <a:avLst/>
            </a:prstGeom>
            <a:noFill/>
            <a:ln cap="flat" cmpd="sng" w="19050">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29"/>
            <p:cNvSpPr txBox="1"/>
            <p:nvPr/>
          </p:nvSpPr>
          <p:spPr>
            <a:xfrm>
              <a:off x="2873200" y="1158400"/>
              <a:ext cx="15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CBD21"/>
                  </a:solidFill>
                </a:rPr>
                <a:t>let’s improve this</a:t>
              </a:r>
              <a:endParaRPr>
                <a:solidFill>
                  <a:srgbClr val="BCBD21"/>
                </a:solidFill>
              </a:endParaRPr>
            </a:p>
          </p:txBody>
        </p:sp>
      </p:grpSp>
      <p:grpSp>
        <p:nvGrpSpPr>
          <p:cNvPr id="157" name="Google Shape;157;p29"/>
          <p:cNvGrpSpPr/>
          <p:nvPr/>
        </p:nvGrpSpPr>
        <p:grpSpPr>
          <a:xfrm>
            <a:off x="4623400" y="1158388"/>
            <a:ext cx="4508925" cy="1500300"/>
            <a:chOff x="613075" y="1158400"/>
            <a:chExt cx="4508925" cy="1500300"/>
          </a:xfrm>
        </p:grpSpPr>
        <p:sp>
          <p:nvSpPr>
            <p:cNvPr id="158" name="Google Shape;158;p29"/>
            <p:cNvSpPr/>
            <p:nvPr/>
          </p:nvSpPr>
          <p:spPr>
            <a:xfrm>
              <a:off x="613075" y="1234600"/>
              <a:ext cx="3885300" cy="1424100"/>
            </a:xfrm>
            <a:prstGeom prst="rect">
              <a:avLst/>
            </a:prstGeom>
            <a:noFill/>
            <a:ln cap="flat" cmpd="sng" w="19050">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9"/>
            <p:cNvSpPr txBox="1"/>
            <p:nvPr/>
          </p:nvSpPr>
          <p:spPr>
            <a:xfrm>
              <a:off x="3559000" y="1158400"/>
              <a:ext cx="15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CBD21"/>
                  </a:solidFill>
                </a:rPr>
                <a:t>and this</a:t>
              </a:r>
              <a:endParaRPr>
                <a:solidFill>
                  <a:srgbClr val="BCBD2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nvSpPr>
        <p:spPr>
          <a:xfrm>
            <a:off x="497475" y="313525"/>
            <a:ext cx="80178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Bagging</a:t>
            </a:r>
            <a:r>
              <a:rPr lang="en" sz="1100">
                <a:solidFill>
                  <a:schemeClr val="dk1"/>
                </a:solidFill>
              </a:rPr>
              <a:t> reduces variance and overfitting by creating multiple subsets of data through bootstrap sampling. Each model is trained independently on a different subset, and predictions are made by averaging (regression) or voting (classification) the outputs. </a:t>
            </a:r>
            <a:endParaRPr/>
          </a:p>
        </p:txBody>
      </p:sp>
      <p:pic>
        <p:nvPicPr>
          <p:cNvPr id="165" name="Google Shape;165;p30" title="Screenshot 2025-04-06 at 10.16.35 PM.png"/>
          <p:cNvPicPr preferRelativeResize="0"/>
          <p:nvPr/>
        </p:nvPicPr>
        <p:blipFill rotWithShape="1">
          <a:blip r:embed="rId3">
            <a:alphaModFix/>
          </a:blip>
          <a:srcRect b="0" l="7270" r="0" t="0"/>
          <a:stretch/>
        </p:blipFill>
        <p:spPr>
          <a:xfrm>
            <a:off x="4149900" y="1759288"/>
            <a:ext cx="4546476" cy="1738775"/>
          </a:xfrm>
          <a:prstGeom prst="rect">
            <a:avLst/>
          </a:prstGeom>
          <a:noFill/>
          <a:ln>
            <a:noFill/>
          </a:ln>
        </p:spPr>
      </p:pic>
      <p:graphicFrame>
        <p:nvGraphicFramePr>
          <p:cNvPr id="166" name="Google Shape;166;p30"/>
          <p:cNvGraphicFramePr/>
          <p:nvPr/>
        </p:nvGraphicFramePr>
        <p:xfrm>
          <a:off x="773588" y="3826775"/>
          <a:ext cx="3000000" cy="3000000"/>
        </p:xfrm>
        <a:graphic>
          <a:graphicData uri="http://schemas.openxmlformats.org/drawingml/2006/table">
            <a:tbl>
              <a:tblPr>
                <a:noFill/>
                <a:tableStyleId>{57D49CD7-B160-456E-872A-AC2D771D5809}</a:tableStyleId>
              </a:tblPr>
              <a:tblGrid>
                <a:gridCol w="1276350"/>
                <a:gridCol w="1276350"/>
                <a:gridCol w="942975"/>
                <a:gridCol w="1031375"/>
                <a:gridCol w="878675"/>
                <a:gridCol w="991200"/>
                <a:gridCol w="870650"/>
              </a:tblGrid>
              <a:tr h="389025">
                <a:tc>
                  <a:txBody>
                    <a:bodyPr/>
                    <a:lstStyle/>
                    <a:p>
                      <a:pPr indent="0" lvl="0" marL="0" rtl="0" algn="ctr">
                        <a:lnSpc>
                          <a:spcPct val="115000"/>
                        </a:lnSpc>
                        <a:spcBef>
                          <a:spcPts val="0"/>
                        </a:spcBef>
                        <a:spcAft>
                          <a:spcPts val="0"/>
                        </a:spcAft>
                        <a:buNone/>
                      </a:pPr>
                      <a:r>
                        <a:rPr b="1" lang="en" sz="1000"/>
                        <a:t>Best For</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When Not to Use</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Reduces</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Model Training</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Data Needed</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Interpretability</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Tuning Effort</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1000"/>
                        <a:t>High variance,</a:t>
                      </a:r>
                      <a:endParaRPr sz="1000"/>
                    </a:p>
                    <a:p>
                      <a:pPr indent="0" lvl="0" marL="0" rtl="0" algn="l">
                        <a:lnSpc>
                          <a:spcPct val="115000"/>
                        </a:lnSpc>
                        <a:spcBef>
                          <a:spcPts val="0"/>
                        </a:spcBef>
                        <a:spcAft>
                          <a:spcPts val="0"/>
                        </a:spcAft>
                        <a:buNone/>
                      </a:pPr>
                      <a:r>
                        <a:rPr lang="en" sz="1000"/>
                        <a:t>overfitting</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 variance,</a:t>
                      </a:r>
                      <a:endParaRPr sz="1000"/>
                    </a:p>
                    <a:p>
                      <a:pPr indent="0" lvl="0" marL="0" rtl="0" algn="l">
                        <a:lnSpc>
                          <a:spcPct val="115000"/>
                        </a:lnSpc>
                        <a:spcBef>
                          <a:spcPts val="0"/>
                        </a:spcBef>
                        <a:spcAft>
                          <a:spcPts val="0"/>
                        </a:spcAft>
                        <a:buNone/>
                      </a:pPr>
                      <a:r>
                        <a:rPr lang="en" sz="1000"/>
                        <a:t>limited dataset</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Variance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Parallel</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bl>
          </a:graphicData>
        </a:graphic>
      </p:graphicFrame>
      <p:pic>
        <p:nvPicPr>
          <p:cNvPr id="167" name="Google Shape;167;p30" title="Screenshot 2025-04-07 at 9.29.31 AM.png"/>
          <p:cNvPicPr preferRelativeResize="0"/>
          <p:nvPr/>
        </p:nvPicPr>
        <p:blipFill>
          <a:blip r:embed="rId4">
            <a:alphaModFix/>
          </a:blip>
          <a:stretch>
            <a:fillRect/>
          </a:stretch>
        </p:blipFill>
        <p:spPr>
          <a:xfrm>
            <a:off x="441000" y="1931100"/>
            <a:ext cx="3675474" cy="1395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nvSpPr>
        <p:spPr>
          <a:xfrm>
            <a:off x="497475" y="313525"/>
            <a:ext cx="80178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Bagging</a:t>
            </a:r>
            <a:r>
              <a:rPr lang="en" sz="1100">
                <a:solidFill>
                  <a:schemeClr val="dk1"/>
                </a:solidFill>
              </a:rPr>
              <a:t> reduces variance and overfitting by creating multiple subsets of data through bootstrap sampling. Each model is trained independently on a different subset, and predictions are made by averaging (regression) or voting (classification) the outputs. </a:t>
            </a:r>
            <a:endParaRPr/>
          </a:p>
        </p:txBody>
      </p:sp>
      <p:graphicFrame>
        <p:nvGraphicFramePr>
          <p:cNvPr id="173" name="Google Shape;173;p31"/>
          <p:cNvGraphicFramePr/>
          <p:nvPr/>
        </p:nvGraphicFramePr>
        <p:xfrm>
          <a:off x="773588" y="3826775"/>
          <a:ext cx="3000000" cy="3000000"/>
        </p:xfrm>
        <a:graphic>
          <a:graphicData uri="http://schemas.openxmlformats.org/drawingml/2006/table">
            <a:tbl>
              <a:tblPr>
                <a:noFill/>
                <a:tableStyleId>{57D49CD7-B160-456E-872A-AC2D771D5809}</a:tableStyleId>
              </a:tblPr>
              <a:tblGrid>
                <a:gridCol w="1276350"/>
                <a:gridCol w="1276350"/>
                <a:gridCol w="942975"/>
                <a:gridCol w="1031375"/>
                <a:gridCol w="878675"/>
                <a:gridCol w="991200"/>
                <a:gridCol w="870650"/>
              </a:tblGrid>
              <a:tr h="389025">
                <a:tc>
                  <a:txBody>
                    <a:bodyPr/>
                    <a:lstStyle/>
                    <a:p>
                      <a:pPr indent="0" lvl="0" marL="0" rtl="0" algn="ctr">
                        <a:lnSpc>
                          <a:spcPct val="115000"/>
                        </a:lnSpc>
                        <a:spcBef>
                          <a:spcPts val="0"/>
                        </a:spcBef>
                        <a:spcAft>
                          <a:spcPts val="0"/>
                        </a:spcAft>
                        <a:buNone/>
                      </a:pPr>
                      <a:r>
                        <a:rPr b="1" lang="en" sz="1000"/>
                        <a:t>Best For</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When Not to Use</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Reduces</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Model Training</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Data Needed</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Interpretability</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Tuning Effort</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1000"/>
                        <a:t>High variance,</a:t>
                      </a:r>
                      <a:endParaRPr sz="1000"/>
                    </a:p>
                    <a:p>
                      <a:pPr indent="0" lvl="0" marL="0" rtl="0" algn="l">
                        <a:lnSpc>
                          <a:spcPct val="115000"/>
                        </a:lnSpc>
                        <a:spcBef>
                          <a:spcPts val="0"/>
                        </a:spcBef>
                        <a:spcAft>
                          <a:spcPts val="0"/>
                        </a:spcAft>
                        <a:buNone/>
                      </a:pPr>
                      <a:r>
                        <a:rPr lang="en" sz="1000"/>
                        <a:t>overfitting</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 variance,</a:t>
                      </a:r>
                      <a:endParaRPr sz="1000"/>
                    </a:p>
                    <a:p>
                      <a:pPr indent="0" lvl="0" marL="0" rtl="0" algn="l">
                        <a:lnSpc>
                          <a:spcPct val="115000"/>
                        </a:lnSpc>
                        <a:spcBef>
                          <a:spcPts val="0"/>
                        </a:spcBef>
                        <a:spcAft>
                          <a:spcPts val="0"/>
                        </a:spcAft>
                        <a:buNone/>
                      </a:pPr>
                      <a:r>
                        <a:rPr lang="en" sz="1000"/>
                        <a:t>limited dataset</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Variance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Parallel</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bl>
          </a:graphicData>
        </a:graphic>
      </p:graphicFrame>
      <p:grpSp>
        <p:nvGrpSpPr>
          <p:cNvPr id="174" name="Google Shape;174;p31"/>
          <p:cNvGrpSpPr/>
          <p:nvPr/>
        </p:nvGrpSpPr>
        <p:grpSpPr>
          <a:xfrm>
            <a:off x="738400" y="1872600"/>
            <a:ext cx="3413700" cy="1512125"/>
            <a:chOff x="4982875" y="1121188"/>
            <a:chExt cx="3413700" cy="1512125"/>
          </a:xfrm>
        </p:grpSpPr>
        <p:pic>
          <p:nvPicPr>
            <p:cNvPr id="175" name="Google Shape;175;p31" title="Screenshot 2025-04-07 at 9.19.28 AM.png"/>
            <p:cNvPicPr preferRelativeResize="0"/>
            <p:nvPr/>
          </p:nvPicPr>
          <p:blipFill rotWithShape="1">
            <a:blip r:embed="rId3">
              <a:alphaModFix/>
            </a:blip>
            <a:srcRect b="0" l="704" r="0" t="0"/>
            <a:stretch/>
          </p:blipFill>
          <p:spPr>
            <a:xfrm>
              <a:off x="5107462" y="1261738"/>
              <a:ext cx="3289075" cy="1371575"/>
            </a:xfrm>
            <a:prstGeom prst="rect">
              <a:avLst/>
            </a:prstGeom>
            <a:noFill/>
            <a:ln>
              <a:noFill/>
            </a:ln>
          </p:spPr>
        </p:pic>
        <p:grpSp>
          <p:nvGrpSpPr>
            <p:cNvPr id="176" name="Google Shape;176;p31"/>
            <p:cNvGrpSpPr/>
            <p:nvPr/>
          </p:nvGrpSpPr>
          <p:grpSpPr>
            <a:xfrm>
              <a:off x="4982875" y="1121188"/>
              <a:ext cx="3413700" cy="1500300"/>
              <a:chOff x="794875" y="1158400"/>
              <a:chExt cx="3413700" cy="1500300"/>
            </a:xfrm>
          </p:grpSpPr>
          <p:sp>
            <p:nvSpPr>
              <p:cNvPr id="177" name="Google Shape;177;p31"/>
              <p:cNvSpPr/>
              <p:nvPr/>
            </p:nvSpPr>
            <p:spPr>
              <a:xfrm>
                <a:off x="794875" y="1234600"/>
                <a:ext cx="3413700" cy="1424100"/>
              </a:xfrm>
              <a:prstGeom prst="rect">
                <a:avLst/>
              </a:prstGeom>
              <a:noFill/>
              <a:ln cap="flat" cmpd="sng" w="19050">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31"/>
              <p:cNvSpPr txBox="1"/>
              <p:nvPr/>
            </p:nvSpPr>
            <p:spPr>
              <a:xfrm>
                <a:off x="2644600" y="1158400"/>
                <a:ext cx="156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BCBD21"/>
                    </a:solidFill>
                  </a:rPr>
                  <a:t>let’s improve this</a:t>
                </a:r>
                <a:endParaRPr>
                  <a:solidFill>
                    <a:srgbClr val="BCBD21"/>
                  </a:solidFill>
                </a:endParaRPr>
              </a:p>
            </p:txBody>
          </p:sp>
        </p:grpSp>
      </p:grpSp>
      <p:pic>
        <p:nvPicPr>
          <p:cNvPr id="179" name="Google Shape;179;p31" title="Screenshot 2025-04-07 at 9.40.23 AM.png"/>
          <p:cNvPicPr preferRelativeResize="0"/>
          <p:nvPr/>
        </p:nvPicPr>
        <p:blipFill rotWithShape="1">
          <a:blip r:embed="rId4">
            <a:alphaModFix/>
          </a:blip>
          <a:srcRect b="8" l="0" r="0" t="13042"/>
          <a:stretch/>
        </p:blipFill>
        <p:spPr>
          <a:xfrm>
            <a:off x="4269275" y="1496314"/>
            <a:ext cx="4453250" cy="2205612"/>
          </a:xfrm>
          <a:prstGeom prst="rect">
            <a:avLst/>
          </a:prstGeom>
          <a:noFill/>
          <a:ln>
            <a:noFill/>
          </a:ln>
        </p:spPr>
      </p:pic>
      <p:sp>
        <p:nvSpPr>
          <p:cNvPr id="180" name="Google Shape;180;p31"/>
          <p:cNvSpPr txBox="1"/>
          <p:nvPr/>
        </p:nvSpPr>
        <p:spPr>
          <a:xfrm>
            <a:off x="7125675" y="1289600"/>
            <a:ext cx="171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5"/>
              </a:rPr>
              <a:t>BaggingClassifier doc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nvSpPr>
        <p:spPr>
          <a:xfrm>
            <a:off x="497475" y="313525"/>
            <a:ext cx="80178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boosting</a:t>
            </a:r>
            <a:r>
              <a:rPr lang="en" sz="1100">
                <a:solidFill>
                  <a:schemeClr val="dk1"/>
                </a:solidFill>
              </a:rPr>
              <a:t> builds models sequentially, with each new model attempting to correct the errors made by the previous one. It assigns higher weights to misclassified instances, forcing the model to focus on difficult cases. Each new tree is built on the residuals (errors) of the previous tree. The final model is a weighted sum of all the trees, with each tree addressing the mistakes of the prior one.</a:t>
            </a:r>
            <a:endParaRPr/>
          </a:p>
        </p:txBody>
      </p:sp>
      <p:pic>
        <p:nvPicPr>
          <p:cNvPr id="186" name="Google Shape;186;p32" title="Screenshot 2025-04-07 at 9.29.31 AM.png"/>
          <p:cNvPicPr preferRelativeResize="0"/>
          <p:nvPr/>
        </p:nvPicPr>
        <p:blipFill>
          <a:blip r:embed="rId3">
            <a:alphaModFix/>
          </a:blip>
          <a:stretch>
            <a:fillRect/>
          </a:stretch>
        </p:blipFill>
        <p:spPr>
          <a:xfrm>
            <a:off x="441000" y="1931100"/>
            <a:ext cx="3675474" cy="1395150"/>
          </a:xfrm>
          <a:prstGeom prst="rect">
            <a:avLst/>
          </a:prstGeom>
          <a:noFill/>
          <a:ln>
            <a:noFill/>
          </a:ln>
        </p:spPr>
      </p:pic>
      <p:graphicFrame>
        <p:nvGraphicFramePr>
          <p:cNvPr id="187" name="Google Shape;187;p32"/>
          <p:cNvGraphicFramePr/>
          <p:nvPr/>
        </p:nvGraphicFramePr>
        <p:xfrm>
          <a:off x="541900" y="3924500"/>
          <a:ext cx="3000000" cy="3000000"/>
        </p:xfrm>
        <a:graphic>
          <a:graphicData uri="http://schemas.openxmlformats.org/drawingml/2006/table">
            <a:tbl>
              <a:tblPr>
                <a:noFill/>
                <a:tableStyleId>{57D49CD7-B160-456E-872A-AC2D771D5809}</a:tableStyleId>
              </a:tblPr>
              <a:tblGrid>
                <a:gridCol w="1345325"/>
                <a:gridCol w="1345325"/>
                <a:gridCol w="993925"/>
                <a:gridCol w="993925"/>
                <a:gridCol w="993925"/>
                <a:gridCol w="993925"/>
                <a:gridCol w="993925"/>
              </a:tblGrid>
              <a:tr h="342900">
                <a:tc>
                  <a:txBody>
                    <a:bodyPr/>
                    <a:lstStyle/>
                    <a:p>
                      <a:pPr indent="0" lvl="0" marL="0" rtl="0" algn="ctr">
                        <a:lnSpc>
                          <a:spcPct val="115000"/>
                        </a:lnSpc>
                        <a:spcBef>
                          <a:spcPts val="0"/>
                        </a:spcBef>
                        <a:spcAft>
                          <a:spcPts val="0"/>
                        </a:spcAft>
                        <a:buNone/>
                      </a:pPr>
                      <a:r>
                        <a:rPr b="1" lang="en" sz="1000"/>
                        <a:t>Best For</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When Not to Use</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Reduces</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Model Training</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Data Needed</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Interpretability</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Tuning Effort</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1000"/>
                        <a:t>High bias, complex/noisy data, weak learners</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Need fast training, model already complex</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Bias + Variance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Sequential</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Moderate–High</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High</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bl>
          </a:graphicData>
        </a:graphic>
      </p:graphicFrame>
      <p:pic>
        <p:nvPicPr>
          <p:cNvPr id="188" name="Google Shape;188;p32" title="Screenshot 2025-04-07 at 9.47.40 AM.png"/>
          <p:cNvPicPr preferRelativeResize="0"/>
          <p:nvPr/>
        </p:nvPicPr>
        <p:blipFill>
          <a:blip r:embed="rId4">
            <a:alphaModFix/>
          </a:blip>
          <a:stretch>
            <a:fillRect/>
          </a:stretch>
        </p:blipFill>
        <p:spPr>
          <a:xfrm>
            <a:off x="4435974" y="1390813"/>
            <a:ext cx="3677291" cy="2228875"/>
          </a:xfrm>
          <a:prstGeom prst="rect">
            <a:avLst/>
          </a:prstGeom>
          <a:noFill/>
          <a:ln>
            <a:noFill/>
          </a:ln>
        </p:spPr>
      </p:pic>
      <p:sp>
        <p:nvSpPr>
          <p:cNvPr id="189" name="Google Shape;189;p32"/>
          <p:cNvSpPr txBox="1"/>
          <p:nvPr/>
        </p:nvSpPr>
        <p:spPr>
          <a:xfrm>
            <a:off x="6843800" y="1390825"/>
            <a:ext cx="171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5"/>
              </a:rPr>
              <a:t>AdaBoostClassifier doc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33" title="Screenshot 2025-04-07 at 9.57.34 AM.png"/>
          <p:cNvPicPr preferRelativeResize="0"/>
          <p:nvPr/>
        </p:nvPicPr>
        <p:blipFill rotWithShape="1">
          <a:blip r:embed="rId3">
            <a:alphaModFix/>
          </a:blip>
          <a:srcRect b="0" l="901" r="0" t="0"/>
          <a:stretch/>
        </p:blipFill>
        <p:spPr>
          <a:xfrm>
            <a:off x="4431450" y="304800"/>
            <a:ext cx="4560150" cy="3505275"/>
          </a:xfrm>
          <a:prstGeom prst="rect">
            <a:avLst/>
          </a:prstGeom>
          <a:noFill/>
          <a:ln>
            <a:noFill/>
          </a:ln>
        </p:spPr>
      </p:pic>
      <p:sp>
        <p:nvSpPr>
          <p:cNvPr id="195" name="Google Shape;195;p33"/>
          <p:cNvSpPr txBox="1"/>
          <p:nvPr/>
        </p:nvSpPr>
        <p:spPr>
          <a:xfrm>
            <a:off x="330375" y="564175"/>
            <a:ext cx="4009200" cy="124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voting</a:t>
            </a:r>
            <a:r>
              <a:rPr lang="en" sz="1100">
                <a:solidFill>
                  <a:schemeClr val="dk1"/>
                </a:solidFill>
              </a:rPr>
              <a:t> combines the predictions of several models to improve accuracy and stability by reducing the likelihood of errors caused by any single model. The voting can be hard (majority) or soft (probability-based)</a:t>
            </a:r>
            <a:endParaRPr/>
          </a:p>
        </p:txBody>
      </p:sp>
      <p:graphicFrame>
        <p:nvGraphicFramePr>
          <p:cNvPr id="196" name="Google Shape;196;p33"/>
          <p:cNvGraphicFramePr/>
          <p:nvPr/>
        </p:nvGraphicFramePr>
        <p:xfrm>
          <a:off x="390525" y="4028100"/>
          <a:ext cx="3000000" cy="3000000"/>
        </p:xfrm>
        <a:graphic>
          <a:graphicData uri="http://schemas.openxmlformats.org/drawingml/2006/table">
            <a:tbl>
              <a:tblPr>
                <a:noFill/>
                <a:tableStyleId>{57D49CD7-B160-456E-872A-AC2D771D5809}</a:tableStyleId>
              </a:tblPr>
              <a:tblGrid>
                <a:gridCol w="1412825"/>
                <a:gridCol w="1412825"/>
                <a:gridCol w="1043800"/>
                <a:gridCol w="1043800"/>
                <a:gridCol w="1043800"/>
                <a:gridCol w="1043800"/>
                <a:gridCol w="1043800"/>
              </a:tblGrid>
              <a:tr h="342900">
                <a:tc>
                  <a:txBody>
                    <a:bodyPr/>
                    <a:lstStyle/>
                    <a:p>
                      <a:pPr indent="0" lvl="0" marL="0" rtl="0" algn="ctr">
                        <a:lnSpc>
                          <a:spcPct val="115000"/>
                        </a:lnSpc>
                        <a:spcBef>
                          <a:spcPts val="0"/>
                        </a:spcBef>
                        <a:spcAft>
                          <a:spcPts val="0"/>
                        </a:spcAft>
                        <a:buNone/>
                      </a:pPr>
                      <a:r>
                        <a:rPr b="1" lang="en" sz="1000"/>
                        <a:t>Best For</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When Not to Use</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Reduces</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Model Training</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Data Needed</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Interpretability</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Tuning Effort</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1000"/>
                        <a:t>Simple ensemble of strong models</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Base models too weak or too similar</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Variance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Parallel</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High</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Low–Moderate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bl>
          </a:graphicData>
        </a:graphic>
      </p:graphicFrame>
      <p:grpSp>
        <p:nvGrpSpPr>
          <p:cNvPr id="197" name="Google Shape;197;p33"/>
          <p:cNvGrpSpPr/>
          <p:nvPr/>
        </p:nvGrpSpPr>
        <p:grpSpPr>
          <a:xfrm>
            <a:off x="390525" y="2033275"/>
            <a:ext cx="3614875" cy="1751525"/>
            <a:chOff x="390525" y="2033275"/>
            <a:chExt cx="3614875" cy="1751525"/>
          </a:xfrm>
        </p:grpSpPr>
        <p:pic>
          <p:nvPicPr>
            <p:cNvPr id="198" name="Google Shape;198;p33" title="Screenshot 2025-04-07 at 9.19.28 AM.png"/>
            <p:cNvPicPr preferRelativeResize="0"/>
            <p:nvPr/>
          </p:nvPicPr>
          <p:blipFill rotWithShape="1">
            <a:blip r:embed="rId4">
              <a:alphaModFix/>
            </a:blip>
            <a:srcRect b="0" l="704" r="0" t="0"/>
            <a:stretch/>
          </p:blipFill>
          <p:spPr>
            <a:xfrm>
              <a:off x="527846" y="2083582"/>
              <a:ext cx="1576959" cy="691086"/>
            </a:xfrm>
            <a:prstGeom prst="rect">
              <a:avLst/>
            </a:prstGeom>
            <a:noFill/>
            <a:ln>
              <a:noFill/>
            </a:ln>
          </p:spPr>
        </p:pic>
        <p:pic>
          <p:nvPicPr>
            <p:cNvPr id="199" name="Google Shape;199;p33" title="Screenshot 2025-04-07 at 9.25.41 AM.png"/>
            <p:cNvPicPr preferRelativeResize="0"/>
            <p:nvPr/>
          </p:nvPicPr>
          <p:blipFill rotWithShape="1">
            <a:blip r:embed="rId5">
              <a:alphaModFix/>
            </a:blip>
            <a:srcRect b="0" l="239" r="0" t="0"/>
            <a:stretch/>
          </p:blipFill>
          <p:spPr>
            <a:xfrm>
              <a:off x="2329317" y="2085321"/>
              <a:ext cx="1619359" cy="717539"/>
            </a:xfrm>
            <a:prstGeom prst="rect">
              <a:avLst/>
            </a:prstGeom>
            <a:noFill/>
            <a:ln>
              <a:noFill/>
            </a:ln>
          </p:spPr>
        </p:pic>
        <p:sp>
          <p:nvSpPr>
            <p:cNvPr id="200" name="Google Shape;200;p33"/>
            <p:cNvSpPr/>
            <p:nvPr/>
          </p:nvSpPr>
          <p:spPr>
            <a:xfrm>
              <a:off x="390525" y="2036225"/>
              <a:ext cx="1792200" cy="79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33"/>
            <p:cNvSpPr/>
            <p:nvPr/>
          </p:nvSpPr>
          <p:spPr>
            <a:xfrm>
              <a:off x="2284000" y="2033275"/>
              <a:ext cx="1721400" cy="791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2" name="Google Shape;202;p33" title="Screenshot 2025-04-06 at 10.16.35 PM.png"/>
            <p:cNvPicPr preferRelativeResize="0"/>
            <p:nvPr/>
          </p:nvPicPr>
          <p:blipFill rotWithShape="1">
            <a:blip r:embed="rId6">
              <a:alphaModFix/>
            </a:blip>
            <a:srcRect b="0" l="7265" r="4876" t="0"/>
            <a:stretch/>
          </p:blipFill>
          <p:spPr>
            <a:xfrm>
              <a:off x="1076325" y="2888965"/>
              <a:ext cx="2219326" cy="895835"/>
            </a:xfrm>
            <a:prstGeom prst="rect">
              <a:avLst/>
            </a:prstGeom>
            <a:noFill/>
            <a:ln>
              <a:noFill/>
            </a:ln>
          </p:spPr>
        </p:pic>
        <p:sp>
          <p:nvSpPr>
            <p:cNvPr id="203" name="Google Shape;203;p33"/>
            <p:cNvSpPr/>
            <p:nvPr/>
          </p:nvSpPr>
          <p:spPr>
            <a:xfrm>
              <a:off x="1047038" y="2888988"/>
              <a:ext cx="2277900" cy="895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04" name="Google Shape;204;p33"/>
          <p:cNvSpPr/>
          <p:nvPr/>
        </p:nvSpPr>
        <p:spPr>
          <a:xfrm>
            <a:off x="4982875" y="2571750"/>
            <a:ext cx="1086300" cy="175500"/>
          </a:xfrm>
          <a:prstGeom prst="rect">
            <a:avLst/>
          </a:prstGeom>
          <a:noFill/>
          <a:ln cap="flat" cmpd="sng" w="19050">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33"/>
          <p:cNvSpPr txBox="1"/>
          <p:nvPr/>
        </p:nvSpPr>
        <p:spPr>
          <a:xfrm>
            <a:off x="7349200" y="409150"/>
            <a:ext cx="171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7"/>
              </a:rPr>
              <a:t>VotingClassifier doc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nvSpPr>
        <p:spPr>
          <a:xfrm>
            <a:off x="330375" y="564175"/>
            <a:ext cx="40092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Staatliches"/>
                <a:ea typeface="Staatliches"/>
                <a:cs typeface="Staatliches"/>
                <a:sym typeface="Staatliches"/>
              </a:rPr>
              <a:t>stacking</a:t>
            </a:r>
            <a:r>
              <a:rPr lang="en" sz="1100">
                <a:solidFill>
                  <a:schemeClr val="dk1"/>
                </a:solidFill>
              </a:rPr>
              <a:t> combines the predictions of several models to use as input to a </a:t>
            </a:r>
            <a:r>
              <a:rPr b="1" lang="en" sz="1100">
                <a:solidFill>
                  <a:schemeClr val="dk1"/>
                </a:solidFill>
              </a:rPr>
              <a:t>meta-model</a:t>
            </a:r>
            <a:r>
              <a:rPr lang="en" sz="1100">
                <a:solidFill>
                  <a:schemeClr val="dk1"/>
                </a:solidFill>
              </a:rPr>
              <a:t> which makes the final prediction. Leverages the strengths of various base models to make more accurate predictions, combining models that may capture different aspects of the data</a:t>
            </a:r>
            <a:endParaRPr/>
          </a:p>
        </p:txBody>
      </p:sp>
      <p:pic>
        <p:nvPicPr>
          <p:cNvPr id="211" name="Google Shape;211;p34" title="Screenshot 2025-04-07 at 10.03.33 AM.png"/>
          <p:cNvPicPr preferRelativeResize="0"/>
          <p:nvPr/>
        </p:nvPicPr>
        <p:blipFill>
          <a:blip r:embed="rId3">
            <a:alphaModFix/>
          </a:blip>
          <a:stretch>
            <a:fillRect/>
          </a:stretch>
        </p:blipFill>
        <p:spPr>
          <a:xfrm>
            <a:off x="4339575" y="879300"/>
            <a:ext cx="4499626" cy="2822346"/>
          </a:xfrm>
          <a:prstGeom prst="rect">
            <a:avLst/>
          </a:prstGeom>
          <a:noFill/>
          <a:ln>
            <a:noFill/>
          </a:ln>
        </p:spPr>
      </p:pic>
      <p:grpSp>
        <p:nvGrpSpPr>
          <p:cNvPr id="212" name="Google Shape;212;p34"/>
          <p:cNvGrpSpPr/>
          <p:nvPr/>
        </p:nvGrpSpPr>
        <p:grpSpPr>
          <a:xfrm>
            <a:off x="542880" y="2005322"/>
            <a:ext cx="3538899" cy="1673215"/>
            <a:chOff x="904425" y="1235100"/>
            <a:chExt cx="6532950" cy="2744325"/>
          </a:xfrm>
        </p:grpSpPr>
        <p:pic>
          <p:nvPicPr>
            <p:cNvPr id="213" name="Google Shape;213;p34" title="Screenshot 2025-04-07 at 9.19.28 AM.png"/>
            <p:cNvPicPr preferRelativeResize="0"/>
            <p:nvPr/>
          </p:nvPicPr>
          <p:blipFill rotWithShape="1">
            <a:blip r:embed="rId4">
              <a:alphaModFix/>
            </a:blip>
            <a:srcRect b="0" l="704" r="0" t="0"/>
            <a:stretch/>
          </p:blipFill>
          <p:spPr>
            <a:xfrm>
              <a:off x="1010626" y="2740089"/>
              <a:ext cx="2521854" cy="1131467"/>
            </a:xfrm>
            <a:prstGeom prst="rect">
              <a:avLst/>
            </a:prstGeom>
            <a:noFill/>
            <a:ln>
              <a:noFill/>
            </a:ln>
          </p:spPr>
        </p:pic>
        <p:pic>
          <p:nvPicPr>
            <p:cNvPr id="214" name="Google Shape;214;p34" title="Screenshot 2025-04-07 at 9.25.41 AM.png"/>
            <p:cNvPicPr preferRelativeResize="0"/>
            <p:nvPr/>
          </p:nvPicPr>
          <p:blipFill rotWithShape="1">
            <a:blip r:embed="rId5">
              <a:alphaModFix/>
            </a:blip>
            <a:srcRect b="0" l="239" r="0" t="0"/>
            <a:stretch/>
          </p:blipFill>
          <p:spPr>
            <a:xfrm>
              <a:off x="996394" y="1336511"/>
              <a:ext cx="2589660" cy="1174777"/>
            </a:xfrm>
            <a:prstGeom prst="rect">
              <a:avLst/>
            </a:prstGeom>
            <a:noFill/>
            <a:ln>
              <a:noFill/>
            </a:ln>
          </p:spPr>
        </p:pic>
        <p:sp>
          <p:nvSpPr>
            <p:cNvPr id="215" name="Google Shape;215;p34"/>
            <p:cNvSpPr/>
            <p:nvPr/>
          </p:nvSpPr>
          <p:spPr>
            <a:xfrm>
              <a:off x="904425" y="2662550"/>
              <a:ext cx="2752800" cy="129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34"/>
            <p:cNvSpPr/>
            <p:nvPr/>
          </p:nvSpPr>
          <p:spPr>
            <a:xfrm>
              <a:off x="923925" y="1290550"/>
              <a:ext cx="2794500" cy="1257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7" name="Google Shape;217;p34" title="Screenshot 2025-04-06 at 10.16.35 PM.png"/>
            <p:cNvPicPr preferRelativeResize="0"/>
            <p:nvPr/>
          </p:nvPicPr>
          <p:blipFill rotWithShape="1">
            <a:blip r:embed="rId6">
              <a:alphaModFix/>
            </a:blip>
            <a:srcRect b="0" l="7265" r="4876" t="0"/>
            <a:stretch/>
          </p:blipFill>
          <p:spPr>
            <a:xfrm>
              <a:off x="3827850" y="1235100"/>
              <a:ext cx="3443375" cy="1406700"/>
            </a:xfrm>
            <a:prstGeom prst="rect">
              <a:avLst/>
            </a:prstGeom>
            <a:noFill/>
            <a:ln>
              <a:noFill/>
            </a:ln>
          </p:spPr>
        </p:pic>
        <p:sp>
          <p:nvSpPr>
            <p:cNvPr id="218" name="Google Shape;218;p34"/>
            <p:cNvSpPr/>
            <p:nvPr/>
          </p:nvSpPr>
          <p:spPr>
            <a:xfrm>
              <a:off x="3757275" y="1290000"/>
              <a:ext cx="3598500" cy="12963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9" name="Google Shape;219;p34" title="Screenshot 2025-04-07 at 9.19.40 AM.png"/>
            <p:cNvPicPr preferRelativeResize="0"/>
            <p:nvPr/>
          </p:nvPicPr>
          <p:blipFill rotWithShape="1">
            <a:blip r:embed="rId7">
              <a:alphaModFix/>
            </a:blip>
            <a:srcRect b="0" l="568" r="1479" t="0"/>
            <a:stretch/>
          </p:blipFill>
          <p:spPr>
            <a:xfrm>
              <a:off x="3794475" y="2687906"/>
              <a:ext cx="3642900" cy="1257044"/>
            </a:xfrm>
            <a:prstGeom prst="rect">
              <a:avLst/>
            </a:prstGeom>
            <a:noFill/>
            <a:ln>
              <a:noFill/>
            </a:ln>
          </p:spPr>
        </p:pic>
        <p:sp>
          <p:nvSpPr>
            <p:cNvPr id="220" name="Google Shape;220;p34"/>
            <p:cNvSpPr/>
            <p:nvPr/>
          </p:nvSpPr>
          <p:spPr>
            <a:xfrm>
              <a:off x="3718275" y="2653425"/>
              <a:ext cx="3719100" cy="1326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21" name="Google Shape;221;p34"/>
          <p:cNvSpPr/>
          <p:nvPr/>
        </p:nvSpPr>
        <p:spPr>
          <a:xfrm>
            <a:off x="4481550" y="2571750"/>
            <a:ext cx="2063700" cy="175500"/>
          </a:xfrm>
          <a:prstGeom prst="rect">
            <a:avLst/>
          </a:prstGeom>
          <a:noFill/>
          <a:ln cap="flat" cmpd="sng" w="19050">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222" name="Google Shape;222;p34"/>
          <p:cNvGraphicFramePr/>
          <p:nvPr/>
        </p:nvGraphicFramePr>
        <p:xfrm>
          <a:off x="477425" y="4036475"/>
          <a:ext cx="3000000" cy="3000000"/>
        </p:xfrm>
        <a:graphic>
          <a:graphicData uri="http://schemas.openxmlformats.org/drawingml/2006/table">
            <a:tbl>
              <a:tblPr>
                <a:noFill/>
                <a:tableStyleId>{57D49CD7-B160-456E-872A-AC2D771D5809}</a:tableStyleId>
              </a:tblPr>
              <a:tblGrid>
                <a:gridCol w="1458300"/>
                <a:gridCol w="1458300"/>
                <a:gridCol w="1077400"/>
                <a:gridCol w="1077400"/>
                <a:gridCol w="1077400"/>
                <a:gridCol w="1077400"/>
                <a:gridCol w="1077400"/>
              </a:tblGrid>
              <a:tr h="342900">
                <a:tc>
                  <a:txBody>
                    <a:bodyPr/>
                    <a:lstStyle/>
                    <a:p>
                      <a:pPr indent="0" lvl="0" marL="0" rtl="0" algn="ctr">
                        <a:lnSpc>
                          <a:spcPct val="115000"/>
                        </a:lnSpc>
                        <a:spcBef>
                          <a:spcPts val="0"/>
                        </a:spcBef>
                        <a:spcAft>
                          <a:spcPts val="0"/>
                        </a:spcAft>
                        <a:buNone/>
                      </a:pPr>
                      <a:r>
                        <a:rPr b="1" lang="en" sz="1000"/>
                        <a:t>Best For</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When Not to Use</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Reduces</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Model Training</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Data Needed</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Interpretability</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000"/>
                        <a:t>Tuning Effort</a:t>
                      </a:r>
                      <a:endParaRPr b="1"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lang="en" sz="1000"/>
                        <a:t>Combining diverse models</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Limited data,</a:t>
                      </a:r>
                      <a:endParaRPr sz="1000"/>
                    </a:p>
                    <a:p>
                      <a:pPr indent="0" lvl="0" marL="0" rtl="0" algn="l">
                        <a:lnSpc>
                          <a:spcPct val="115000"/>
                        </a:lnSpc>
                        <a:spcBef>
                          <a:spcPts val="0"/>
                        </a:spcBef>
                        <a:spcAft>
                          <a:spcPts val="0"/>
                        </a:spcAft>
                        <a:buNone/>
                      </a:pPr>
                      <a:r>
                        <a:rPr lang="en" sz="1000"/>
                        <a:t>need interpretability</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Bias + Variance</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Layered (meta)</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High</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Low</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t>High</a:t>
                      </a:r>
                      <a:endParaRPr sz="1000"/>
                    </a:p>
                  </a:txBody>
                  <a:tcPr marT="19050" marB="19050" marR="28575" marL="28575" anchor="b">
                    <a:lnL cap="flat" cmpd="sng" w="5950">
                      <a:solidFill>
                        <a:srgbClr val="CCCCCC"/>
                      </a:solidFill>
                      <a:prstDash val="solid"/>
                      <a:round/>
                      <a:headEnd len="sm" w="sm" type="none"/>
                      <a:tailEnd len="sm" w="sm" type="none"/>
                    </a:lnL>
                    <a:lnR cap="flat" cmpd="sng" w="5950">
                      <a:solidFill>
                        <a:srgbClr val="CCCCCC"/>
                      </a:solidFill>
                      <a:prstDash val="solid"/>
                      <a:round/>
                      <a:headEnd len="sm" w="sm" type="none"/>
                      <a:tailEnd len="sm" w="sm" type="none"/>
                    </a:lnR>
                    <a:lnT cap="flat" cmpd="sng" w="5950">
                      <a:solidFill>
                        <a:srgbClr val="CCCCCC"/>
                      </a:solidFill>
                      <a:prstDash val="solid"/>
                      <a:round/>
                      <a:headEnd len="sm" w="sm" type="none"/>
                      <a:tailEnd len="sm" w="sm" type="none"/>
                    </a:lnT>
                    <a:lnB cap="flat" cmpd="sng" w="5950">
                      <a:solidFill>
                        <a:srgbClr val="CCCCCC"/>
                      </a:solidFill>
                      <a:prstDash val="solid"/>
                      <a:round/>
                      <a:headEnd len="sm" w="sm" type="none"/>
                      <a:tailEnd len="sm" w="sm" type="none"/>
                    </a:lnB>
                  </a:tcPr>
                </a:tc>
              </a:tr>
            </a:tbl>
          </a:graphicData>
        </a:graphic>
      </p:graphicFrame>
      <p:sp>
        <p:nvSpPr>
          <p:cNvPr id="223" name="Google Shape;223;p34"/>
          <p:cNvSpPr txBox="1"/>
          <p:nvPr/>
        </p:nvSpPr>
        <p:spPr>
          <a:xfrm>
            <a:off x="7222850" y="564175"/>
            <a:ext cx="1713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8"/>
              </a:rPr>
              <a:t>StackingClassifier doc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27" name="Shape 227"/>
        <p:cNvGrpSpPr/>
        <p:nvPr/>
      </p:nvGrpSpPr>
      <p:grpSpPr>
        <a:xfrm>
          <a:off x="0" y="0"/>
          <a:ext cx="0" cy="0"/>
          <a:chOff x="0" y="0"/>
          <a:chExt cx="0" cy="0"/>
        </a:xfrm>
      </p:grpSpPr>
      <p:sp>
        <p:nvSpPr>
          <p:cNvPr id="228" name="Google Shape;228;p35"/>
          <p:cNvSpPr txBox="1"/>
          <p:nvPr/>
        </p:nvSpPr>
        <p:spPr>
          <a:xfrm>
            <a:off x="1372650" y="1764825"/>
            <a:ext cx="6196200" cy="15822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a:solidFill>
                <a:schemeClr val="lt1"/>
              </a:solidFill>
            </a:endParaRPr>
          </a:p>
          <a:p>
            <a:pPr indent="0" lvl="0" marL="0" rtl="0" algn="l">
              <a:lnSpc>
                <a:spcPct val="80000"/>
              </a:lnSpc>
              <a:spcBef>
                <a:spcPts val="0"/>
              </a:spcBef>
              <a:spcAft>
                <a:spcPts val="0"/>
              </a:spcAft>
              <a:buNone/>
            </a:pPr>
            <a:r>
              <a:rPr lang="en">
                <a:solidFill>
                  <a:schemeClr val="lt1"/>
                </a:solidFill>
              </a:rPr>
              <a:t>Which of the ensemble models that we’ve seen so far has done the best? Why do you think that is? </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Is there anything else we should consider when picking the best model?</a:t>
            </a:r>
            <a:endParaRPr>
              <a:solidFill>
                <a:schemeClr val="lt1"/>
              </a:solidFill>
            </a:endParaRPr>
          </a:p>
        </p:txBody>
      </p:sp>
      <p:pic>
        <p:nvPicPr>
          <p:cNvPr descr="3 Minute Timer Relaxing Music Lofi Fish Background&#10;Song- https://www.youtube.com/watch?v=Nh_oj5hsAbs&amp;t=41s&#10;&#10;&#10;&#10;TAGS&#10;3 minute&#10;3 minute countdown&#10;3 minute lo-fi hiphop timer&#10;3 minute timer&#10;countdown&#10;lo-fi music&#10;lofi study song&#10;study music&#10;study timer&#10;time&#10;timer&#10;working music&#10;3 minute timer with music&#10;3 minute clock&#10;lofi hiphop&#10;relaxing timers&#10;relaxing music&#10;relaxing lofi timer&#10;nature timer&#10;meditation&#10;meditation music&#10;relaxing sleep music&#10;school timer&#10;sleep timer&#10;chill timer&#10;chill music&#10;lofi timer&#10;lofi hiphop timer&#10;lofi hip hop" id="229" name="Google Shape;229;p35" title="3 Minute Timer Relaxing Music Lofi Fish Background">
            <a:hlinkClick r:id="rId3"/>
          </p:cNvPr>
          <p:cNvPicPr preferRelativeResize="0"/>
          <p:nvPr/>
        </p:nvPicPr>
        <p:blipFill>
          <a:blip r:embed="rId4">
            <a:alphaModFix/>
          </a:blip>
          <a:stretch>
            <a:fillRect/>
          </a:stretch>
        </p:blipFill>
        <p:spPr>
          <a:xfrm>
            <a:off x="7871700" y="4479425"/>
            <a:ext cx="981600" cy="55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6" title="Screenshot 2025-04-07 at 10.15.38 AM.png"/>
          <p:cNvPicPr preferRelativeResize="0"/>
          <p:nvPr/>
        </p:nvPicPr>
        <p:blipFill>
          <a:blip r:embed="rId3">
            <a:alphaModFix/>
          </a:blip>
          <a:stretch>
            <a:fillRect/>
          </a:stretch>
        </p:blipFill>
        <p:spPr>
          <a:xfrm>
            <a:off x="1490400" y="1374575"/>
            <a:ext cx="6298049" cy="2532099"/>
          </a:xfrm>
          <a:prstGeom prst="rect">
            <a:avLst/>
          </a:prstGeom>
          <a:noFill/>
          <a:ln>
            <a:noFill/>
          </a:ln>
        </p:spPr>
      </p:pic>
      <p:sp>
        <p:nvSpPr>
          <p:cNvPr id="235" name="Google Shape;235;p36"/>
          <p:cNvSpPr txBox="1"/>
          <p:nvPr/>
        </p:nvSpPr>
        <p:spPr>
          <a:xfrm>
            <a:off x="1490400" y="758975"/>
            <a:ext cx="337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pre-processing steps </a:t>
            </a:r>
            <a:r>
              <a:rPr lang="en" u="sng">
                <a:solidFill>
                  <a:schemeClr val="hlink"/>
                </a:solidFill>
                <a:hlinkClick r:id="rId4"/>
              </a:rPr>
              <a:t>here</a:t>
            </a:r>
            <a:endParaRPr/>
          </a:p>
          <a:p>
            <a:pPr indent="0" lvl="0" marL="0" rtl="0" algn="l">
              <a:spcBef>
                <a:spcPts val="0"/>
              </a:spcBef>
              <a:spcAft>
                <a:spcPts val="0"/>
              </a:spcAft>
              <a:buNone/>
            </a:pPr>
            <a:r>
              <a:rPr lang="en"/>
              <a:t>pipeline information </a:t>
            </a:r>
            <a:r>
              <a:rPr lang="en" u="sng">
                <a:solidFill>
                  <a:schemeClr val="hlink"/>
                </a:solidFill>
                <a:hlinkClick r:id="rId5"/>
              </a:rPr>
              <a:t>here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39" name="Shape 239"/>
        <p:cNvGrpSpPr/>
        <p:nvPr/>
      </p:nvGrpSpPr>
      <p:grpSpPr>
        <a:xfrm>
          <a:off x="0" y="0"/>
          <a:ext cx="0" cy="0"/>
          <a:chOff x="0" y="0"/>
          <a:chExt cx="0" cy="0"/>
        </a:xfrm>
      </p:grpSpPr>
      <p:sp>
        <p:nvSpPr>
          <p:cNvPr id="240" name="Google Shape;240;p37"/>
          <p:cNvSpPr txBox="1"/>
          <p:nvPr/>
        </p:nvSpPr>
        <p:spPr>
          <a:xfrm>
            <a:off x="1172125" y="824675"/>
            <a:ext cx="6196200" cy="24444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750">
                <a:solidFill>
                  <a:schemeClr val="lt1"/>
                </a:solidFill>
                <a:latin typeface="Staatliches"/>
                <a:ea typeface="Staatliches"/>
                <a:cs typeface="Staatliches"/>
                <a:sym typeface="Staatliches"/>
              </a:rPr>
              <a:t>Exercise</a:t>
            </a:r>
            <a:endParaRPr>
              <a:solidFill>
                <a:schemeClr val="lt1"/>
              </a:solidFill>
            </a:endParaRPr>
          </a:p>
          <a:p>
            <a:pPr indent="-317500" lvl="0" marL="457200" rtl="0" algn="l">
              <a:lnSpc>
                <a:spcPct val="80000"/>
              </a:lnSpc>
              <a:spcBef>
                <a:spcPts val="0"/>
              </a:spcBef>
              <a:spcAft>
                <a:spcPts val="0"/>
              </a:spcAft>
              <a:buClr>
                <a:schemeClr val="lt1"/>
              </a:buClr>
              <a:buSzPts val="1400"/>
              <a:buChar char="●"/>
            </a:pPr>
            <a:r>
              <a:rPr lang="en">
                <a:solidFill>
                  <a:schemeClr val="lt1"/>
                </a:solidFill>
              </a:rPr>
              <a:t>What model is being used? </a:t>
            </a:r>
            <a:endParaRPr>
              <a:solidFill>
                <a:schemeClr val="lt1"/>
              </a:solidFill>
            </a:endParaRPr>
          </a:p>
          <a:p>
            <a:pPr indent="-317500" lvl="0" marL="457200" rtl="0" algn="l">
              <a:lnSpc>
                <a:spcPct val="80000"/>
              </a:lnSpc>
              <a:spcBef>
                <a:spcPts val="0"/>
              </a:spcBef>
              <a:spcAft>
                <a:spcPts val="0"/>
              </a:spcAft>
              <a:buClr>
                <a:schemeClr val="lt1"/>
              </a:buClr>
              <a:buSzPts val="1400"/>
              <a:buChar char="●"/>
            </a:pPr>
            <a:r>
              <a:rPr lang="en">
                <a:solidFill>
                  <a:schemeClr val="lt1"/>
                </a:solidFill>
              </a:rPr>
              <a:t>What's the accuracy of only having the model in the pipeline?</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0" lvl="0" marL="0" rtl="0" algn="l">
              <a:lnSpc>
                <a:spcPct val="80000"/>
              </a:lnSpc>
              <a:spcBef>
                <a:spcPts val="0"/>
              </a:spcBef>
              <a:spcAft>
                <a:spcPts val="0"/>
              </a:spcAft>
              <a:buNone/>
            </a:pPr>
            <a:r>
              <a:rPr lang="en">
                <a:solidFill>
                  <a:schemeClr val="lt1"/>
                </a:solidFill>
              </a:rPr>
              <a:t>For each of the following combinations of steps in the pipeline, write down the accuracy of the pipeline. Did the accuracy improve? Explain.</a:t>
            </a:r>
            <a:endParaRPr>
              <a:solidFill>
                <a:schemeClr val="lt1"/>
              </a:solidFill>
            </a:endParaRPr>
          </a:p>
          <a:p>
            <a:pPr indent="0" lvl="0" marL="0" rtl="0" algn="l">
              <a:lnSpc>
                <a:spcPct val="80000"/>
              </a:lnSpc>
              <a:spcBef>
                <a:spcPts val="0"/>
              </a:spcBef>
              <a:spcAft>
                <a:spcPts val="0"/>
              </a:spcAft>
              <a:buNone/>
            </a:pPr>
            <a:r>
              <a:t/>
            </a:r>
            <a:endParaRPr>
              <a:solidFill>
                <a:schemeClr val="lt1"/>
              </a:solidFill>
            </a:endParaRPr>
          </a:p>
          <a:p>
            <a:pPr indent="-317500" lvl="0" marL="457200" rtl="0" algn="l">
              <a:lnSpc>
                <a:spcPct val="80000"/>
              </a:lnSpc>
              <a:spcBef>
                <a:spcPts val="0"/>
              </a:spcBef>
              <a:spcAft>
                <a:spcPts val="0"/>
              </a:spcAft>
              <a:buClr>
                <a:schemeClr val="lt1"/>
              </a:buClr>
              <a:buSzPts val="1400"/>
              <a:buChar char="●"/>
            </a:pPr>
            <a:r>
              <a:rPr lang="en">
                <a:solidFill>
                  <a:schemeClr val="lt1"/>
                </a:solidFill>
              </a:rPr>
              <a:t>Add scaling step into the pipeline </a:t>
            </a:r>
            <a:endParaRPr>
              <a:solidFill>
                <a:schemeClr val="lt1"/>
              </a:solidFill>
            </a:endParaRPr>
          </a:p>
          <a:p>
            <a:pPr indent="-317500" lvl="0" marL="457200" rtl="0" algn="l">
              <a:lnSpc>
                <a:spcPct val="80000"/>
              </a:lnSpc>
              <a:spcBef>
                <a:spcPts val="0"/>
              </a:spcBef>
              <a:spcAft>
                <a:spcPts val="0"/>
              </a:spcAft>
              <a:buClr>
                <a:schemeClr val="lt1"/>
              </a:buClr>
              <a:buSzPts val="1400"/>
              <a:buChar char="●"/>
            </a:pPr>
            <a:r>
              <a:rPr lang="en">
                <a:solidFill>
                  <a:schemeClr val="lt1"/>
                </a:solidFill>
              </a:rPr>
              <a:t>Add PCA step into the pipeline </a:t>
            </a:r>
            <a:endParaRPr>
              <a:solidFill>
                <a:schemeClr val="lt1"/>
              </a:solidFill>
            </a:endParaRPr>
          </a:p>
          <a:p>
            <a:pPr indent="-317500" lvl="0" marL="457200" rtl="0" algn="l">
              <a:lnSpc>
                <a:spcPct val="80000"/>
              </a:lnSpc>
              <a:spcBef>
                <a:spcPts val="0"/>
              </a:spcBef>
              <a:spcAft>
                <a:spcPts val="0"/>
              </a:spcAft>
              <a:buClr>
                <a:schemeClr val="lt1"/>
              </a:buClr>
              <a:buSzPts val="1400"/>
              <a:buChar char="●"/>
            </a:pPr>
            <a:r>
              <a:rPr lang="en">
                <a:solidFill>
                  <a:schemeClr val="lt1"/>
                </a:solidFill>
              </a:rPr>
              <a:t>Keep PCA step, remove scaler step</a:t>
            </a:r>
            <a:endParaRPr>
              <a:solidFill>
                <a:schemeClr val="lt1"/>
              </a:solidFill>
            </a:endParaRPr>
          </a:p>
        </p:txBody>
      </p:sp>
      <p:pic>
        <p:nvPicPr>
          <p:cNvPr id="241" name="Google Shape;241;p37" title="Screenshot 2025-04-07 at 10.14.06 AM.png"/>
          <p:cNvPicPr preferRelativeResize="0"/>
          <p:nvPr/>
        </p:nvPicPr>
        <p:blipFill rotWithShape="1">
          <a:blip r:embed="rId3">
            <a:alphaModFix/>
          </a:blip>
          <a:srcRect b="38893" l="0" r="0" t="23381"/>
          <a:stretch/>
        </p:blipFill>
        <p:spPr>
          <a:xfrm>
            <a:off x="1110400" y="3487100"/>
            <a:ext cx="6340325" cy="973675"/>
          </a:xfrm>
          <a:prstGeom prst="rect">
            <a:avLst/>
          </a:prstGeom>
          <a:noFill/>
          <a:ln>
            <a:noFill/>
          </a:ln>
        </p:spPr>
      </p:pic>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242" name="Google Shape;242;p37" title="5 Minute Timer Relaxing Music Lofi Fish Background">
            <a:hlinkClick r:id="rId4"/>
          </p:cNvPr>
          <p:cNvPicPr preferRelativeResize="0"/>
          <p:nvPr/>
        </p:nvPicPr>
        <p:blipFill>
          <a:blip r:embed="rId5">
            <a:alphaModFix/>
          </a:blip>
          <a:stretch>
            <a:fillRect/>
          </a:stretch>
        </p:blipFill>
        <p:spPr>
          <a:xfrm>
            <a:off x="8183000" y="4419475"/>
            <a:ext cx="723650" cy="40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6" name="Shape 246"/>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247" name="Google Shape;247;p38"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248" name="Google Shape;248;p38"/>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ESB</a:t>
            </a:r>
            <a:r>
              <a:rPr b="1" lang="en" sz="3622">
                <a:solidFill>
                  <a:schemeClr val="lt1"/>
                </a:solidFill>
                <a:latin typeface="Source Code Pro"/>
                <a:ea typeface="Source Code Pro"/>
                <a:cs typeface="Source Code Pro"/>
                <a:sym typeface="Source Code Pro"/>
              </a:rPr>
              <a:t>2</a:t>
            </a:r>
            <a:r>
              <a:rPr lang="en" sz="3622">
                <a:solidFill>
                  <a:schemeClr val="dk1"/>
                </a:solidFill>
                <a:latin typeface="Staatliches"/>
                <a:ea typeface="Staatliches"/>
                <a:cs typeface="Staatliches"/>
                <a:sym typeface="Staatliches"/>
              </a:rPr>
              <a:t>: ensemble MODELS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Hyperparameter Tuning Grids</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252" name="Shape 252"/>
        <p:cNvGrpSpPr/>
        <p:nvPr/>
      </p:nvGrpSpPr>
      <p:grpSpPr>
        <a:xfrm>
          <a:off x="0" y="0"/>
          <a:ext cx="0" cy="0"/>
          <a:chOff x="0" y="0"/>
          <a:chExt cx="0" cy="0"/>
        </a:xfrm>
      </p:grpSpPr>
      <p:sp>
        <p:nvSpPr>
          <p:cNvPr id="253" name="Google Shape;253;p3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Colab workbook</a:t>
            </a:r>
            <a:endParaRPr b="1" sz="665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40" title="Screenshot 2025-04-11 at 3.06.16 AM.png"/>
          <p:cNvPicPr preferRelativeResize="0"/>
          <p:nvPr/>
        </p:nvPicPr>
        <p:blipFill rotWithShape="1">
          <a:blip r:embed="rId3">
            <a:alphaModFix/>
          </a:blip>
          <a:srcRect b="0" l="635" r="0" t="0"/>
          <a:stretch/>
        </p:blipFill>
        <p:spPr>
          <a:xfrm>
            <a:off x="2971075" y="1671575"/>
            <a:ext cx="5097374" cy="1846050"/>
          </a:xfrm>
          <a:prstGeom prst="rect">
            <a:avLst/>
          </a:prstGeom>
          <a:noFill/>
          <a:ln>
            <a:noFill/>
          </a:ln>
        </p:spPr>
      </p:pic>
      <p:sp>
        <p:nvSpPr>
          <p:cNvPr id="259" name="Google Shape;259;p40"/>
          <p:cNvSpPr txBox="1"/>
          <p:nvPr/>
        </p:nvSpPr>
        <p:spPr>
          <a:xfrm>
            <a:off x="441992" y="1771975"/>
            <a:ext cx="2001900" cy="8619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max_depth</a:t>
            </a:r>
            <a:r>
              <a:rPr lang="en" sz="1100">
                <a:solidFill>
                  <a:schemeClr val="dk1"/>
                </a:solidFill>
              </a:rPr>
              <a:t>: Limits how deep the tree can grow. Prevents overfitting by capping complexity. Try values: [None, 5, 10, 15, 20]</a:t>
            </a:r>
            <a:endParaRPr sz="1200">
              <a:solidFill>
                <a:schemeClr val="dk1"/>
              </a:solidFill>
            </a:endParaRPr>
          </a:p>
        </p:txBody>
      </p:sp>
      <p:sp>
        <p:nvSpPr>
          <p:cNvPr id="260" name="Google Shape;260;p40"/>
          <p:cNvSpPr txBox="1"/>
          <p:nvPr/>
        </p:nvSpPr>
        <p:spPr>
          <a:xfrm>
            <a:off x="369910" y="35785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min_samples_split</a:t>
            </a:r>
            <a:r>
              <a:rPr lang="en" sz="1100">
                <a:solidFill>
                  <a:schemeClr val="dk1"/>
                </a:solidFill>
              </a:rPr>
              <a:t>: Minimum number of samples required to split an internal node. Higher values reduce overfitting. Try values: [2, 5, 10, 20]</a:t>
            </a:r>
            <a:endParaRPr sz="1200">
              <a:solidFill>
                <a:schemeClr val="dk1"/>
              </a:solidFill>
            </a:endParaRPr>
          </a:p>
        </p:txBody>
      </p:sp>
      <p:sp>
        <p:nvSpPr>
          <p:cNvPr id="261" name="Google Shape;261;p40"/>
          <p:cNvSpPr txBox="1"/>
          <p:nvPr/>
        </p:nvSpPr>
        <p:spPr>
          <a:xfrm>
            <a:off x="3505763" y="39264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min_samples_leaf</a:t>
            </a:r>
            <a:r>
              <a:rPr lang="en" sz="1100">
                <a:solidFill>
                  <a:schemeClr val="dk1"/>
                </a:solidFill>
              </a:rPr>
              <a:t>: Minimum number of samples required to be at a leaf node.Ensures leaves aren't too specific. Try values: [1, 2, 4, 10]</a:t>
            </a:r>
            <a:endParaRPr sz="1200">
              <a:solidFill>
                <a:schemeClr val="dk1"/>
              </a:solidFill>
            </a:endParaRPr>
          </a:p>
        </p:txBody>
      </p:sp>
      <p:sp>
        <p:nvSpPr>
          <p:cNvPr id="262" name="Google Shape;262;p40"/>
          <p:cNvSpPr txBox="1"/>
          <p:nvPr/>
        </p:nvSpPr>
        <p:spPr>
          <a:xfrm>
            <a:off x="2936544" y="2652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max_features</a:t>
            </a:r>
            <a:r>
              <a:rPr lang="en" sz="1100">
                <a:solidFill>
                  <a:schemeClr val="dk1"/>
                </a:solidFill>
              </a:rPr>
              <a:t>: The number of features to consider when looking for the best split. Adds randomness to help generalize better. Try values: [None, 'sqrt', 'log2']</a:t>
            </a:r>
            <a:endParaRPr sz="1200">
              <a:solidFill>
                <a:schemeClr val="dk1"/>
              </a:solidFill>
            </a:endParaRPr>
          </a:p>
        </p:txBody>
      </p:sp>
      <p:sp>
        <p:nvSpPr>
          <p:cNvPr id="263" name="Google Shape;263;p40"/>
          <p:cNvSpPr txBox="1"/>
          <p:nvPr/>
        </p:nvSpPr>
        <p:spPr>
          <a:xfrm>
            <a:off x="6641658" y="3819150"/>
            <a:ext cx="2001900" cy="8619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criterion</a:t>
            </a:r>
            <a:r>
              <a:rPr lang="en" sz="1100">
                <a:solidFill>
                  <a:schemeClr val="dk1"/>
                </a:solidFill>
              </a:rPr>
              <a:t>: The function used to measure the quality of a split. Gini is faster; entropy can be more precise. Try values: ['gini', 'entropy']</a:t>
            </a:r>
            <a:endParaRPr sz="1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267" name="Shape 267"/>
        <p:cNvGrpSpPr/>
        <p:nvPr/>
      </p:nvGrpSpPr>
      <p:grpSpPr>
        <a:xfrm>
          <a:off x="0" y="0"/>
          <a:ext cx="0" cy="0"/>
          <a:chOff x="0" y="0"/>
          <a:chExt cx="0" cy="0"/>
        </a:xfrm>
      </p:grpSpPr>
      <p:sp>
        <p:nvSpPr>
          <p:cNvPr id="268" name="Google Shape;268;p41"/>
          <p:cNvSpPr txBox="1"/>
          <p:nvPr/>
        </p:nvSpPr>
        <p:spPr>
          <a:xfrm>
            <a:off x="719100" y="551000"/>
            <a:ext cx="4132200" cy="3909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650">
                <a:solidFill>
                  <a:schemeClr val="lt1"/>
                </a:solidFill>
                <a:latin typeface="Staatliches"/>
                <a:ea typeface="Staatliches"/>
                <a:cs typeface="Staatliches"/>
                <a:sym typeface="Staatliches"/>
              </a:rPr>
              <a:t>Exercise</a:t>
            </a:r>
            <a:endParaRPr sz="1300">
              <a:solidFill>
                <a:schemeClr val="lt1"/>
              </a:solidFill>
            </a:endParaRPr>
          </a:p>
          <a:p>
            <a:pPr indent="0" lvl="0" marL="0" rtl="0" algn="l">
              <a:lnSpc>
                <a:spcPct val="80000"/>
              </a:lnSpc>
              <a:spcBef>
                <a:spcPts val="0"/>
              </a:spcBef>
              <a:spcAft>
                <a:spcPts val="0"/>
              </a:spcAft>
              <a:buNone/>
            </a:pPr>
            <a:r>
              <a:rPr lang="en" sz="1300">
                <a:solidFill>
                  <a:schemeClr val="lt1"/>
                </a:solidFill>
              </a:rPr>
              <a:t>The following are additional arguments you can pass into DecisionTreeClassifier to help tune and improve the model’s performance. Each parameter controls a different aspect of how the tree is built.</a:t>
            </a:r>
            <a:endParaRPr sz="1300">
              <a:solidFill>
                <a:schemeClr val="lt1"/>
              </a:solidFill>
            </a:endParaRPr>
          </a:p>
          <a:p>
            <a:pPr indent="0" lvl="0" marL="0" rtl="0" algn="l">
              <a:lnSpc>
                <a:spcPct val="80000"/>
              </a:lnSpc>
              <a:spcBef>
                <a:spcPts val="0"/>
              </a:spcBef>
              <a:spcAft>
                <a:spcPts val="0"/>
              </a:spcAft>
              <a:buNone/>
            </a:pPr>
            <a:r>
              <a:t/>
            </a:r>
            <a:endParaRPr sz="1300">
              <a:solidFill>
                <a:schemeClr val="lt1"/>
              </a:solidFill>
            </a:endParaRPr>
          </a:p>
          <a:p>
            <a:pPr indent="0" lvl="0" marL="0" rtl="0" algn="l">
              <a:lnSpc>
                <a:spcPct val="80000"/>
              </a:lnSpc>
              <a:spcBef>
                <a:spcPts val="0"/>
              </a:spcBef>
              <a:spcAft>
                <a:spcPts val="0"/>
              </a:spcAft>
              <a:buClr>
                <a:schemeClr val="dk1"/>
              </a:buClr>
              <a:buSzPts val="1100"/>
              <a:buFont typeface="Arial"/>
              <a:buNone/>
            </a:pPr>
            <a:r>
              <a:rPr lang="en">
                <a:solidFill>
                  <a:schemeClr val="lt1"/>
                </a:solidFill>
              </a:rPr>
              <a:t>1. Pick one of the parameters and update the DT model to test different values from the list. Keep updating the value until you reach the best possible accuracy on your validation/test data.</a:t>
            </a:r>
            <a:endParaRPr>
              <a:solidFill>
                <a:schemeClr val="lt1"/>
              </a:solidFill>
            </a:endParaRPr>
          </a:p>
          <a:p>
            <a:pPr indent="0" lvl="0" marL="0" rtl="0" algn="l">
              <a:lnSpc>
                <a:spcPct val="80000"/>
              </a:lnSpc>
              <a:spcBef>
                <a:spcPts val="0"/>
              </a:spcBef>
              <a:spcAft>
                <a:spcPts val="0"/>
              </a:spcAft>
              <a:buClr>
                <a:schemeClr val="dk1"/>
              </a:buClr>
              <a:buSzPts val="1100"/>
              <a:buFont typeface="Arial"/>
              <a:buNone/>
            </a:pPr>
            <a:r>
              <a:t/>
            </a:r>
            <a:endParaRPr>
              <a:solidFill>
                <a:schemeClr val="lt1"/>
              </a:solidFill>
            </a:endParaRPr>
          </a:p>
          <a:p>
            <a:pPr indent="0" lvl="0" marL="0" rtl="0" algn="l">
              <a:lnSpc>
                <a:spcPct val="80000"/>
              </a:lnSpc>
              <a:spcBef>
                <a:spcPts val="0"/>
              </a:spcBef>
              <a:spcAft>
                <a:spcPts val="0"/>
              </a:spcAft>
              <a:buClr>
                <a:schemeClr val="dk1"/>
              </a:buClr>
              <a:buSzPts val="1100"/>
              <a:buFont typeface="Arial"/>
              <a:buNone/>
            </a:pPr>
            <a:r>
              <a:rPr lang="en">
                <a:solidFill>
                  <a:schemeClr val="lt1"/>
                </a:solidFill>
              </a:rPr>
              <a:t>2. Pick a second parameter and repeat the process — updating the DT model until you find the best setting.</a:t>
            </a:r>
            <a:endParaRPr>
              <a:solidFill>
                <a:schemeClr val="lt1"/>
              </a:solidFill>
            </a:endParaRPr>
          </a:p>
          <a:p>
            <a:pPr indent="0" lvl="0" marL="0" rtl="0" algn="l">
              <a:lnSpc>
                <a:spcPct val="80000"/>
              </a:lnSpc>
              <a:spcBef>
                <a:spcPts val="0"/>
              </a:spcBef>
              <a:spcAft>
                <a:spcPts val="0"/>
              </a:spcAft>
              <a:buClr>
                <a:schemeClr val="dk1"/>
              </a:buClr>
              <a:buSzPts val="1100"/>
              <a:buFont typeface="Arial"/>
              <a:buNone/>
            </a:pPr>
            <a:r>
              <a:t/>
            </a:r>
            <a:endParaRPr>
              <a:solidFill>
                <a:schemeClr val="lt1"/>
              </a:solidFill>
            </a:endParaRPr>
          </a:p>
          <a:p>
            <a:pPr indent="0" lvl="0" marL="0" rtl="0" algn="l">
              <a:lnSpc>
                <a:spcPct val="80000"/>
              </a:lnSpc>
              <a:spcBef>
                <a:spcPts val="0"/>
              </a:spcBef>
              <a:spcAft>
                <a:spcPts val="0"/>
              </a:spcAft>
              <a:buClr>
                <a:schemeClr val="dk1"/>
              </a:buClr>
              <a:buSzPts val="1100"/>
              <a:buFont typeface="Arial"/>
              <a:buNone/>
            </a:pPr>
            <a:r>
              <a:rPr lang="en">
                <a:solidFill>
                  <a:schemeClr val="lt1"/>
                </a:solidFill>
              </a:rPr>
              <a:t>3. Which parameter had the biggest impact on model accuracy? Why do you think that was the case?</a:t>
            </a:r>
            <a:endParaRPr>
              <a:solidFill>
                <a:schemeClr val="lt1"/>
              </a:solidFill>
            </a:endParaRPr>
          </a:p>
          <a:p>
            <a:pPr indent="0" lvl="0" marL="0" rtl="0" algn="l">
              <a:lnSpc>
                <a:spcPct val="80000"/>
              </a:lnSpc>
              <a:spcBef>
                <a:spcPts val="0"/>
              </a:spcBef>
              <a:spcAft>
                <a:spcPts val="0"/>
              </a:spcAft>
              <a:buNone/>
            </a:pPr>
            <a:r>
              <a:t/>
            </a:r>
            <a:endParaRPr sz="1300">
              <a:solidFill>
                <a:schemeClr val="lt1"/>
              </a:solidFill>
            </a:endParaRPr>
          </a:p>
        </p:txBody>
      </p:sp>
      <p:sp>
        <p:nvSpPr>
          <p:cNvPr id="269" name="Google Shape;269;p41"/>
          <p:cNvSpPr txBox="1"/>
          <p:nvPr/>
        </p:nvSpPr>
        <p:spPr>
          <a:xfrm>
            <a:off x="5064250" y="971850"/>
            <a:ext cx="3000000" cy="31647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lt1"/>
                </a:solidFill>
              </a:rPr>
              <a:t>max_depth</a:t>
            </a:r>
            <a:r>
              <a:rPr lang="en" sz="1100">
                <a:solidFill>
                  <a:schemeClr val="lt1"/>
                </a:solidFill>
              </a:rPr>
              <a:t>: Limits how deep the tree can grow. Prevents overfitting by capping complexity. Try values: [None, 5, 10, 15, 20]</a:t>
            </a:r>
            <a:endParaRPr sz="1100">
              <a:solidFill>
                <a:schemeClr val="lt1"/>
              </a:solidFill>
            </a:endParaRPr>
          </a:p>
          <a:p>
            <a:pPr indent="0" lvl="0" marL="0" rtl="0" algn="l">
              <a:lnSpc>
                <a:spcPct val="80000"/>
              </a:lnSpc>
              <a:spcBef>
                <a:spcPts val="0"/>
              </a:spcBef>
              <a:spcAft>
                <a:spcPts val="0"/>
              </a:spcAft>
              <a:buNone/>
            </a:pPr>
            <a:r>
              <a:t/>
            </a:r>
            <a:endParaRPr sz="1100">
              <a:solidFill>
                <a:schemeClr val="lt1"/>
              </a:solidFill>
            </a:endParaRPr>
          </a:p>
          <a:p>
            <a:pPr indent="0" lvl="0" marL="0" rtl="0" algn="l">
              <a:lnSpc>
                <a:spcPct val="80000"/>
              </a:lnSpc>
              <a:spcBef>
                <a:spcPts val="0"/>
              </a:spcBef>
              <a:spcAft>
                <a:spcPts val="0"/>
              </a:spcAft>
              <a:buNone/>
            </a:pPr>
            <a:r>
              <a:rPr b="1" lang="en" sz="1100">
                <a:solidFill>
                  <a:schemeClr val="lt1"/>
                </a:solidFill>
              </a:rPr>
              <a:t>min_samples_split</a:t>
            </a:r>
            <a:r>
              <a:rPr lang="en" sz="1100">
                <a:solidFill>
                  <a:schemeClr val="lt1"/>
                </a:solidFill>
              </a:rPr>
              <a:t>: Minimum number of samples required to split an internal node. Higher values reduce overfitting. Try values: [2, 5, 10, 20]</a:t>
            </a:r>
            <a:endParaRPr sz="1100">
              <a:solidFill>
                <a:schemeClr val="lt1"/>
              </a:solidFill>
            </a:endParaRPr>
          </a:p>
          <a:p>
            <a:pPr indent="0" lvl="0" marL="0" rtl="0" algn="l">
              <a:lnSpc>
                <a:spcPct val="80000"/>
              </a:lnSpc>
              <a:spcBef>
                <a:spcPts val="0"/>
              </a:spcBef>
              <a:spcAft>
                <a:spcPts val="0"/>
              </a:spcAft>
              <a:buNone/>
            </a:pPr>
            <a:r>
              <a:t/>
            </a:r>
            <a:endParaRPr sz="1100">
              <a:solidFill>
                <a:schemeClr val="lt1"/>
              </a:solidFill>
            </a:endParaRPr>
          </a:p>
          <a:p>
            <a:pPr indent="0" lvl="0" marL="0" rtl="0" algn="l">
              <a:lnSpc>
                <a:spcPct val="80000"/>
              </a:lnSpc>
              <a:spcBef>
                <a:spcPts val="0"/>
              </a:spcBef>
              <a:spcAft>
                <a:spcPts val="0"/>
              </a:spcAft>
              <a:buNone/>
            </a:pPr>
            <a:r>
              <a:rPr b="1" lang="en" sz="1100">
                <a:solidFill>
                  <a:schemeClr val="lt1"/>
                </a:solidFill>
              </a:rPr>
              <a:t>min_samples_leaf</a:t>
            </a:r>
            <a:r>
              <a:rPr lang="en" sz="1100">
                <a:solidFill>
                  <a:schemeClr val="lt1"/>
                </a:solidFill>
              </a:rPr>
              <a:t>: Minimum number of samples required to be at a leaf node.Ensures leaves aren't too specific. Try values: [1, 2, 4, 10]</a:t>
            </a:r>
            <a:endParaRPr sz="1100">
              <a:solidFill>
                <a:schemeClr val="lt1"/>
              </a:solidFill>
            </a:endParaRPr>
          </a:p>
          <a:p>
            <a:pPr indent="0" lvl="0" marL="0" rtl="0" algn="l">
              <a:lnSpc>
                <a:spcPct val="80000"/>
              </a:lnSpc>
              <a:spcBef>
                <a:spcPts val="0"/>
              </a:spcBef>
              <a:spcAft>
                <a:spcPts val="0"/>
              </a:spcAft>
              <a:buNone/>
            </a:pPr>
            <a:r>
              <a:t/>
            </a:r>
            <a:endParaRPr sz="1100">
              <a:solidFill>
                <a:schemeClr val="lt1"/>
              </a:solidFill>
            </a:endParaRPr>
          </a:p>
          <a:p>
            <a:pPr indent="0" lvl="0" marL="0" rtl="0" algn="l">
              <a:lnSpc>
                <a:spcPct val="80000"/>
              </a:lnSpc>
              <a:spcBef>
                <a:spcPts val="0"/>
              </a:spcBef>
              <a:spcAft>
                <a:spcPts val="0"/>
              </a:spcAft>
              <a:buNone/>
            </a:pPr>
            <a:r>
              <a:rPr b="1" lang="en" sz="1100">
                <a:solidFill>
                  <a:schemeClr val="lt1"/>
                </a:solidFill>
              </a:rPr>
              <a:t>max_features</a:t>
            </a:r>
            <a:r>
              <a:rPr lang="en" sz="1100">
                <a:solidFill>
                  <a:schemeClr val="lt1"/>
                </a:solidFill>
              </a:rPr>
              <a:t>: The number of features to consider when looking for the best split. Adds randomness to help generalize better. Try values: [None, 'sqrt', 'log2']</a:t>
            </a:r>
            <a:endParaRPr sz="1100">
              <a:solidFill>
                <a:schemeClr val="lt1"/>
              </a:solidFill>
            </a:endParaRPr>
          </a:p>
          <a:p>
            <a:pPr indent="0" lvl="0" marL="0" rtl="0" algn="l">
              <a:lnSpc>
                <a:spcPct val="80000"/>
              </a:lnSpc>
              <a:spcBef>
                <a:spcPts val="0"/>
              </a:spcBef>
              <a:spcAft>
                <a:spcPts val="0"/>
              </a:spcAft>
              <a:buNone/>
            </a:pPr>
            <a:r>
              <a:t/>
            </a:r>
            <a:endParaRPr sz="1100">
              <a:solidFill>
                <a:schemeClr val="lt1"/>
              </a:solidFill>
            </a:endParaRPr>
          </a:p>
          <a:p>
            <a:pPr indent="0" lvl="0" marL="0" rtl="0" algn="l">
              <a:lnSpc>
                <a:spcPct val="80000"/>
              </a:lnSpc>
              <a:spcBef>
                <a:spcPts val="0"/>
              </a:spcBef>
              <a:spcAft>
                <a:spcPts val="0"/>
              </a:spcAft>
              <a:buNone/>
            </a:pPr>
            <a:r>
              <a:rPr b="1" lang="en" sz="1100">
                <a:solidFill>
                  <a:schemeClr val="lt1"/>
                </a:solidFill>
              </a:rPr>
              <a:t>criterion</a:t>
            </a:r>
            <a:r>
              <a:rPr lang="en" sz="1100">
                <a:solidFill>
                  <a:schemeClr val="lt1"/>
                </a:solidFill>
              </a:rPr>
              <a:t>: The function used to measure the quality of a split. Gini is faster; entropy can be more precise. Try values: ['gini', 'entropy']</a:t>
            </a:r>
            <a:endParaRPr sz="1200"/>
          </a:p>
        </p:txBody>
      </p:sp>
      <p:pic>
        <p:nvPicPr>
          <p:cNvPr descr="5 Minute Timer Relaxing Music Lofi Fish Background&#10;&#10;&#10;&#10;&#10;&#10;&#10;TAGS&#10;5 minute&#10;5 minute countdown&#10;5 minute lo-fi hiphop timer&#10;5 minute timer&#10;countdown&#10;lo-fi music&#10;lofi study song&#10;study music&#10;study timer&#10;time&#10;timer&#10;working music&#10;5 minute timer with music&#10;5 minute clock&#10;lofi hiphop&#10;relaxing timers&#10;relaxing music&#10;relaxing lofi timer&#10;nature timer&#10;meditation&#10;meditation music&#10;relaxing sleep music&#10;school timer&#10;sleep timer&#10;chill timer&#10;chill music&#10;lofi timer&#10;lofi hiphop timer&#10;lofi hip hop" id="270" name="Google Shape;270;p41" title="5 Minute Timer Relaxing Music Lofi Fish Background">
            <a:hlinkClick r:id="rId3"/>
          </p:cNvPr>
          <p:cNvPicPr preferRelativeResize="0"/>
          <p:nvPr/>
        </p:nvPicPr>
        <p:blipFill>
          <a:blip r:embed="rId4">
            <a:alphaModFix/>
          </a:blip>
          <a:stretch>
            <a:fillRect/>
          </a:stretch>
        </p:blipFill>
        <p:spPr>
          <a:xfrm>
            <a:off x="7847025" y="4288525"/>
            <a:ext cx="1063700" cy="598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2" title="Screenshot 2025-04-11 at 3.09.29 AM.png"/>
          <p:cNvPicPr preferRelativeResize="0"/>
          <p:nvPr/>
        </p:nvPicPr>
        <p:blipFill rotWithShape="1">
          <a:blip r:embed="rId3">
            <a:alphaModFix/>
          </a:blip>
          <a:srcRect b="0" l="527" r="0" t="17450"/>
          <a:stretch/>
        </p:blipFill>
        <p:spPr>
          <a:xfrm>
            <a:off x="2573950" y="1358800"/>
            <a:ext cx="4998925" cy="2540875"/>
          </a:xfrm>
          <a:prstGeom prst="rect">
            <a:avLst/>
          </a:prstGeom>
          <a:noFill/>
          <a:ln>
            <a:noFill/>
          </a:ln>
        </p:spPr>
      </p:pic>
      <p:sp>
        <p:nvSpPr>
          <p:cNvPr id="276" name="Google Shape;276;p42"/>
          <p:cNvSpPr txBox="1"/>
          <p:nvPr/>
        </p:nvSpPr>
        <p:spPr>
          <a:xfrm>
            <a:off x="7577625" y="2388925"/>
            <a:ext cx="1528800" cy="726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1100">
                <a:solidFill>
                  <a:schemeClr val="dk1"/>
                </a:solidFill>
              </a:rPr>
              <a:t>add in some hyperparameter selections to this model. </a:t>
            </a:r>
            <a:endParaRPr/>
          </a:p>
        </p:txBody>
      </p:sp>
      <p:sp>
        <p:nvSpPr>
          <p:cNvPr id="277" name="Google Shape;277;p42"/>
          <p:cNvSpPr txBox="1"/>
          <p:nvPr/>
        </p:nvSpPr>
        <p:spPr>
          <a:xfrm>
            <a:off x="441992" y="1771975"/>
            <a:ext cx="2001900" cy="8619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max_depth</a:t>
            </a:r>
            <a:r>
              <a:rPr lang="en" sz="1100">
                <a:solidFill>
                  <a:schemeClr val="dk1"/>
                </a:solidFill>
              </a:rPr>
              <a:t>: Limits how deep the tree can grow. Prevents overfitting by capping complexity. Try values: [None, 5, 10, 15, 20]</a:t>
            </a:r>
            <a:endParaRPr sz="1200">
              <a:solidFill>
                <a:schemeClr val="dk1"/>
              </a:solidFill>
            </a:endParaRPr>
          </a:p>
        </p:txBody>
      </p:sp>
      <p:sp>
        <p:nvSpPr>
          <p:cNvPr id="278" name="Google Shape;278;p42"/>
          <p:cNvSpPr txBox="1"/>
          <p:nvPr/>
        </p:nvSpPr>
        <p:spPr>
          <a:xfrm>
            <a:off x="369910" y="35785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min_samples_split</a:t>
            </a:r>
            <a:r>
              <a:rPr lang="en" sz="1100">
                <a:solidFill>
                  <a:schemeClr val="dk1"/>
                </a:solidFill>
              </a:rPr>
              <a:t>: Minimum number of samples required to split an internal node. Higher values reduce overfitting. Try values: [2, 5, 10, 20]</a:t>
            </a:r>
            <a:endParaRPr sz="1200">
              <a:solidFill>
                <a:schemeClr val="dk1"/>
              </a:solidFill>
            </a:endParaRPr>
          </a:p>
        </p:txBody>
      </p:sp>
      <p:sp>
        <p:nvSpPr>
          <p:cNvPr id="279" name="Google Shape;279;p42"/>
          <p:cNvSpPr txBox="1"/>
          <p:nvPr/>
        </p:nvSpPr>
        <p:spPr>
          <a:xfrm>
            <a:off x="3505763" y="39264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min_samples_leaf</a:t>
            </a:r>
            <a:r>
              <a:rPr lang="en" sz="1100">
                <a:solidFill>
                  <a:schemeClr val="dk1"/>
                </a:solidFill>
              </a:rPr>
              <a:t>: Minimum number of samples required to be at a leaf node.Ensures leaves aren't too specific. Try values: [1, 2, 4, 10]</a:t>
            </a:r>
            <a:endParaRPr sz="1200">
              <a:solidFill>
                <a:schemeClr val="dk1"/>
              </a:solidFill>
            </a:endParaRPr>
          </a:p>
        </p:txBody>
      </p:sp>
      <p:sp>
        <p:nvSpPr>
          <p:cNvPr id="280" name="Google Shape;280;p42"/>
          <p:cNvSpPr txBox="1"/>
          <p:nvPr/>
        </p:nvSpPr>
        <p:spPr>
          <a:xfrm>
            <a:off x="2936544" y="265250"/>
            <a:ext cx="2001900" cy="9975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max_features</a:t>
            </a:r>
            <a:r>
              <a:rPr lang="en" sz="1100">
                <a:solidFill>
                  <a:schemeClr val="dk1"/>
                </a:solidFill>
              </a:rPr>
              <a:t>: The number of features to consider when looking for the best split. Adds randomness to help generalize better. Try values: [None, 'sqrt', 'log2']</a:t>
            </a:r>
            <a:endParaRPr sz="1200">
              <a:solidFill>
                <a:schemeClr val="dk1"/>
              </a:solidFill>
            </a:endParaRPr>
          </a:p>
        </p:txBody>
      </p:sp>
      <p:sp>
        <p:nvSpPr>
          <p:cNvPr id="281" name="Google Shape;281;p42"/>
          <p:cNvSpPr txBox="1"/>
          <p:nvPr/>
        </p:nvSpPr>
        <p:spPr>
          <a:xfrm>
            <a:off x="6641658" y="3819150"/>
            <a:ext cx="2001900" cy="861900"/>
          </a:xfrm>
          <a:prstGeom prst="rect">
            <a:avLst/>
          </a:prstGeom>
          <a:noFill/>
          <a:ln cap="flat" cmpd="sng" w="9525">
            <a:solidFill>
              <a:srgbClr val="1B91CA"/>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100">
                <a:solidFill>
                  <a:schemeClr val="dk1"/>
                </a:solidFill>
              </a:rPr>
              <a:t>criterion</a:t>
            </a:r>
            <a:r>
              <a:rPr lang="en" sz="1100">
                <a:solidFill>
                  <a:schemeClr val="dk1"/>
                </a:solidFill>
              </a:rPr>
              <a:t>: The function used to measure the quality of a split. Gini is faster; entropy can be more precise. Try values: ['gini', 'entropy']</a:t>
            </a:r>
            <a:endParaRPr sz="1200">
              <a:solidFill>
                <a:schemeClr val="dk1"/>
              </a:solidFill>
            </a:endParaRPr>
          </a:p>
        </p:txBody>
      </p:sp>
      <p:sp>
        <p:nvSpPr>
          <p:cNvPr id="282" name="Google Shape;282;p42"/>
          <p:cNvSpPr/>
          <p:nvPr/>
        </p:nvSpPr>
        <p:spPr>
          <a:xfrm>
            <a:off x="7134920" y="1992853"/>
            <a:ext cx="730675" cy="465450"/>
          </a:xfrm>
          <a:custGeom>
            <a:rect b="b" l="l" r="r" t="t"/>
            <a:pathLst>
              <a:path extrusionOk="0" h="18618" w="29227">
                <a:moveTo>
                  <a:pt x="26938" y="18619"/>
                </a:moveTo>
                <a:cubicBezTo>
                  <a:pt x="27022" y="15674"/>
                  <a:pt x="31481" y="3346"/>
                  <a:pt x="27442" y="948"/>
                </a:cubicBezTo>
                <a:cubicBezTo>
                  <a:pt x="23403" y="-1450"/>
                  <a:pt x="7205" y="1285"/>
                  <a:pt x="2703" y="4230"/>
                </a:cubicBezTo>
                <a:cubicBezTo>
                  <a:pt x="-1799" y="7175"/>
                  <a:pt x="810" y="16221"/>
                  <a:pt x="431" y="18619"/>
                </a:cubicBezTo>
              </a:path>
            </a:pathLst>
          </a:custGeom>
          <a:noFill/>
          <a:ln cap="flat" cmpd="sng" w="9525">
            <a:solidFill>
              <a:schemeClr val="dk2"/>
            </a:solidFill>
            <a:prstDash val="solid"/>
            <a:round/>
            <a:headEnd len="med" w="med" type="none"/>
            <a:tailEnd len="med" w="med" type="stealth"/>
          </a:ln>
        </p:spPr>
      </p:sp>
      <p:sp>
        <p:nvSpPr>
          <p:cNvPr id="283" name="Google Shape;283;p42"/>
          <p:cNvSpPr txBox="1"/>
          <p:nvPr/>
        </p:nvSpPr>
        <p:spPr>
          <a:xfrm>
            <a:off x="5641675" y="343425"/>
            <a:ext cx="2790600" cy="591000"/>
          </a:xfrm>
          <a:prstGeom prst="rect">
            <a:avLst/>
          </a:prstGeom>
          <a:noFill/>
          <a:ln cap="flat" cmpd="sng" w="28575">
            <a:solidFill>
              <a:srgbClr val="BCBD2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1100">
                <a:solidFill>
                  <a:schemeClr val="dk1"/>
                </a:solidFill>
              </a:rPr>
              <a:t>In order to make this more efficient, let’s take a look at how to use tuning grids to find the best parameters!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3"/>
          <p:cNvSpPr/>
          <p:nvPr/>
        </p:nvSpPr>
        <p:spPr>
          <a:xfrm>
            <a:off x="369075" y="390275"/>
            <a:ext cx="8514600" cy="1106100"/>
          </a:xfrm>
          <a:prstGeom prst="rect">
            <a:avLst/>
          </a:prstGeom>
          <a:solidFill>
            <a:srgbClr val="36174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89" name="Google Shape;289;p43"/>
          <p:cNvSpPr/>
          <p:nvPr/>
        </p:nvSpPr>
        <p:spPr>
          <a:xfrm>
            <a:off x="369075" y="3362075"/>
            <a:ext cx="8514600" cy="1659600"/>
          </a:xfrm>
          <a:prstGeom prst="rect">
            <a:avLst/>
          </a:prstGeom>
          <a:solidFill>
            <a:schemeClr val="lt2"/>
          </a:solidFill>
          <a:ln cap="flat" cmpd="sng" w="9525">
            <a:solidFill>
              <a:srgbClr val="FF57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43"/>
          <p:cNvSpPr/>
          <p:nvPr/>
        </p:nvSpPr>
        <p:spPr>
          <a:xfrm>
            <a:off x="369075" y="1609475"/>
            <a:ext cx="8514600" cy="1659600"/>
          </a:xfrm>
          <a:prstGeom prst="rect">
            <a:avLst/>
          </a:prstGeom>
          <a:solidFill>
            <a:schemeClr val="lt2"/>
          </a:solidFill>
          <a:ln cap="flat" cmpd="sng" w="9525">
            <a:solidFill>
              <a:srgbClr val="BCB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43"/>
          <p:cNvSpPr txBox="1"/>
          <p:nvPr/>
        </p:nvSpPr>
        <p:spPr>
          <a:xfrm>
            <a:off x="410725" y="378350"/>
            <a:ext cx="3187500" cy="118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2100">
                <a:solidFill>
                  <a:schemeClr val="lt1"/>
                </a:solidFill>
                <a:latin typeface="Staatliches"/>
                <a:ea typeface="Staatliches"/>
                <a:cs typeface="Staatliches"/>
                <a:sym typeface="Staatliches"/>
              </a:rPr>
              <a:t>GridSearchCV</a:t>
            </a:r>
            <a:r>
              <a:rPr lang="en" sz="1100">
                <a:solidFill>
                  <a:schemeClr val="lt1"/>
                </a:solidFill>
              </a:rPr>
              <a:t> performs an exhaustive search over a specified parameter grid. It evaluates every possible combination of hyperparameters in the defined search space to find the best performing set.</a:t>
            </a:r>
            <a:endParaRPr sz="1100">
              <a:solidFill>
                <a:schemeClr val="lt1"/>
              </a:solidFill>
            </a:endParaRPr>
          </a:p>
        </p:txBody>
      </p:sp>
      <p:sp>
        <p:nvSpPr>
          <p:cNvPr id="292" name="Google Shape;292;p43"/>
          <p:cNvSpPr txBox="1"/>
          <p:nvPr/>
        </p:nvSpPr>
        <p:spPr>
          <a:xfrm>
            <a:off x="5465950" y="378350"/>
            <a:ext cx="3187500" cy="1185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2100">
                <a:solidFill>
                  <a:schemeClr val="lt1"/>
                </a:solidFill>
                <a:latin typeface="Staatliches"/>
                <a:ea typeface="Staatliches"/>
                <a:cs typeface="Staatliches"/>
                <a:sym typeface="Staatliches"/>
              </a:rPr>
              <a:t>RandomizedSearchCV</a:t>
            </a:r>
            <a:r>
              <a:rPr lang="en" sz="1100">
                <a:solidFill>
                  <a:schemeClr val="lt1"/>
                </a:solidFill>
              </a:rPr>
              <a:t> randomly samples hyperparameters from a predefined search space for a set number of iterations. It doesn't try every possible combination but rather samples a random subset.</a:t>
            </a:r>
            <a:endParaRPr sz="1100">
              <a:solidFill>
                <a:schemeClr val="lt1"/>
              </a:solidFill>
            </a:endParaRPr>
          </a:p>
        </p:txBody>
      </p:sp>
      <p:sp>
        <p:nvSpPr>
          <p:cNvPr id="293" name="Google Shape;293;p43"/>
          <p:cNvSpPr txBox="1"/>
          <p:nvPr/>
        </p:nvSpPr>
        <p:spPr>
          <a:xfrm>
            <a:off x="410725" y="1533625"/>
            <a:ext cx="3187500" cy="1369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b="1" lang="en" sz="1100">
                <a:solidFill>
                  <a:schemeClr val="dk1"/>
                </a:solidFill>
              </a:rPr>
              <a:t>Exhaustive Search:</a:t>
            </a:r>
            <a:r>
              <a:rPr lang="en" sz="1100">
                <a:solidFill>
                  <a:schemeClr val="dk1"/>
                </a:solidFill>
              </a:rPr>
              <a:t> Tests all possible combinations, ensuring that the best set of hyperparameters is found (if the search space is well defined).</a:t>
            </a:r>
            <a:br>
              <a:rPr lang="en" sz="1100">
                <a:solidFill>
                  <a:schemeClr val="dk1"/>
                </a:solidFill>
              </a:rPr>
            </a:br>
            <a:endParaRPr sz="1100">
              <a:solidFill>
                <a:schemeClr val="dk1"/>
              </a:solidFill>
            </a:endParaRPr>
          </a:p>
          <a:p>
            <a:pPr indent="0" lvl="0" marL="0" rtl="0" algn="just">
              <a:spcBef>
                <a:spcPts val="0"/>
              </a:spcBef>
              <a:spcAft>
                <a:spcPts val="0"/>
              </a:spcAft>
              <a:buNone/>
            </a:pPr>
            <a:r>
              <a:rPr b="1" lang="en" sz="1100">
                <a:solidFill>
                  <a:schemeClr val="dk1"/>
                </a:solidFill>
              </a:rPr>
              <a:t>Simple to Understand and Implement:</a:t>
            </a:r>
            <a:r>
              <a:rPr lang="en" sz="1100">
                <a:solidFill>
                  <a:schemeClr val="dk1"/>
                </a:solidFill>
              </a:rPr>
              <a:t> Straightforward, with no randomness involved.</a:t>
            </a:r>
            <a:endParaRPr/>
          </a:p>
        </p:txBody>
      </p:sp>
      <p:sp>
        <p:nvSpPr>
          <p:cNvPr id="294" name="Google Shape;294;p43"/>
          <p:cNvSpPr txBox="1"/>
          <p:nvPr/>
        </p:nvSpPr>
        <p:spPr>
          <a:xfrm>
            <a:off x="410735" y="3272725"/>
            <a:ext cx="3187500" cy="1877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100">
                <a:solidFill>
                  <a:schemeClr val="dk1"/>
                </a:solidFill>
              </a:rPr>
              <a:t>Computationally Expensive:</a:t>
            </a:r>
            <a:r>
              <a:rPr lang="en" sz="1100">
                <a:solidFill>
                  <a:schemeClr val="dk1"/>
                </a:solidFill>
              </a:rPr>
              <a:t> The number of combinations grows exponentially as the number of hyperparameters and their possible values increase, leading to long search times.</a:t>
            </a:r>
            <a:br>
              <a:rPr lang="en" sz="1100">
                <a:solidFill>
                  <a:schemeClr val="dk1"/>
                </a:solidFill>
              </a:rPr>
            </a:br>
            <a:endParaRPr sz="1100">
              <a:solidFill>
                <a:schemeClr val="dk1"/>
              </a:solidFill>
            </a:endParaRPr>
          </a:p>
          <a:p>
            <a:pPr indent="0" lvl="0" marL="0" rtl="0" algn="just">
              <a:spcBef>
                <a:spcPts val="0"/>
              </a:spcBef>
              <a:spcAft>
                <a:spcPts val="0"/>
              </a:spcAft>
              <a:buNone/>
            </a:pPr>
            <a:r>
              <a:rPr b="1" lang="en" sz="1100">
                <a:solidFill>
                  <a:schemeClr val="dk1"/>
                </a:solidFill>
              </a:rPr>
              <a:t>Inefficient with Large Search Spaces:</a:t>
            </a:r>
            <a:r>
              <a:rPr lang="en" sz="1100">
                <a:solidFill>
                  <a:schemeClr val="dk1"/>
                </a:solidFill>
              </a:rPr>
              <a:t> If the grid of hyperparameters is very large, GridSearchCV can be very slow and resource-intensive, even when you only need a rough estimate of optimal values.</a:t>
            </a:r>
            <a:endParaRPr sz="1100">
              <a:solidFill>
                <a:schemeClr val="dk1"/>
              </a:solidFill>
            </a:endParaRPr>
          </a:p>
        </p:txBody>
      </p:sp>
      <p:sp>
        <p:nvSpPr>
          <p:cNvPr id="295" name="Google Shape;295;p43"/>
          <p:cNvSpPr txBox="1"/>
          <p:nvPr/>
        </p:nvSpPr>
        <p:spPr>
          <a:xfrm>
            <a:off x="5465950" y="1572700"/>
            <a:ext cx="3187500" cy="1708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100">
                <a:solidFill>
                  <a:schemeClr val="dk1"/>
                </a:solidFill>
              </a:rPr>
              <a:t>Faster Than GridSearchCV:</a:t>
            </a:r>
            <a:r>
              <a:rPr lang="en" sz="1100">
                <a:solidFill>
                  <a:schemeClr val="dk1"/>
                </a:solidFill>
              </a:rPr>
              <a:t> Since it samples a random subset of the search space, it is usually much faster, especially for large parameter grids.</a:t>
            </a:r>
            <a:br>
              <a:rPr lang="en" sz="1100">
                <a:solidFill>
                  <a:schemeClr val="dk1"/>
                </a:solidFill>
              </a:rPr>
            </a:br>
            <a:endParaRPr sz="1100">
              <a:solidFill>
                <a:schemeClr val="dk1"/>
              </a:solidFill>
            </a:endParaRPr>
          </a:p>
          <a:p>
            <a:pPr indent="0" lvl="0" marL="0" rtl="0" algn="just">
              <a:spcBef>
                <a:spcPts val="0"/>
              </a:spcBef>
              <a:spcAft>
                <a:spcPts val="0"/>
              </a:spcAft>
              <a:buNone/>
            </a:pPr>
            <a:r>
              <a:rPr b="1" lang="en" sz="1100">
                <a:solidFill>
                  <a:schemeClr val="dk1"/>
                </a:solidFill>
              </a:rPr>
              <a:t>Can Explore a Larger Search Space:</a:t>
            </a:r>
            <a:r>
              <a:rPr lang="en" sz="1100">
                <a:solidFill>
                  <a:schemeClr val="dk1"/>
                </a:solidFill>
              </a:rPr>
              <a:t> By sampling randomly, it can cover a wider range of possible hyperparameter combinations with fewer computations.</a:t>
            </a:r>
            <a:endParaRPr sz="1100">
              <a:solidFill>
                <a:schemeClr val="dk1"/>
              </a:solidFill>
            </a:endParaRPr>
          </a:p>
        </p:txBody>
      </p:sp>
      <p:sp>
        <p:nvSpPr>
          <p:cNvPr id="296" name="Google Shape;296;p43"/>
          <p:cNvSpPr txBox="1"/>
          <p:nvPr/>
        </p:nvSpPr>
        <p:spPr>
          <a:xfrm>
            <a:off x="5465950" y="3345200"/>
            <a:ext cx="3187500" cy="1708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100">
                <a:solidFill>
                  <a:schemeClr val="dk1"/>
                </a:solidFill>
              </a:rPr>
              <a:t>May Miss the Optimal Hyperparameters:</a:t>
            </a:r>
            <a:r>
              <a:rPr lang="en" sz="1100">
                <a:solidFill>
                  <a:schemeClr val="dk1"/>
                </a:solidFill>
              </a:rPr>
              <a:t> Since the search is random, it might not find the exact best combination, especially if the number of iterations is low.</a:t>
            </a:r>
            <a:br>
              <a:rPr lang="en" sz="1100">
                <a:solidFill>
                  <a:schemeClr val="dk1"/>
                </a:solidFill>
              </a:rPr>
            </a:br>
            <a:endParaRPr sz="1100">
              <a:solidFill>
                <a:schemeClr val="dk1"/>
              </a:solidFill>
            </a:endParaRPr>
          </a:p>
          <a:p>
            <a:pPr indent="0" lvl="0" marL="0" rtl="0" algn="just">
              <a:spcBef>
                <a:spcPts val="0"/>
              </a:spcBef>
              <a:spcAft>
                <a:spcPts val="0"/>
              </a:spcAft>
              <a:buNone/>
            </a:pPr>
            <a:r>
              <a:rPr b="1" lang="en" sz="1100">
                <a:solidFill>
                  <a:schemeClr val="dk1"/>
                </a:solidFill>
              </a:rPr>
              <a:t>Less Deterministic:</a:t>
            </a:r>
            <a:r>
              <a:rPr lang="en" sz="1100">
                <a:solidFill>
                  <a:schemeClr val="dk1"/>
                </a:solidFill>
              </a:rPr>
              <a:t> The results can vary from run to run depending on the random seed, leading to less consistency in the results compared to GridSearchCV.</a:t>
            </a:r>
            <a:endParaRPr sz="1100">
              <a:solidFill>
                <a:schemeClr val="dk1"/>
              </a:solidFill>
            </a:endParaRPr>
          </a:p>
        </p:txBody>
      </p:sp>
      <p:sp>
        <p:nvSpPr>
          <p:cNvPr id="297" name="Google Shape;297;p43"/>
          <p:cNvSpPr txBox="1"/>
          <p:nvPr/>
        </p:nvSpPr>
        <p:spPr>
          <a:xfrm>
            <a:off x="3782875" y="502750"/>
            <a:ext cx="1611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lt1"/>
                </a:solidFill>
                <a:latin typeface="Staatliches"/>
                <a:ea typeface="Staatliches"/>
                <a:cs typeface="Staatliches"/>
                <a:sym typeface="Staatliches"/>
              </a:rPr>
              <a:t>Method</a:t>
            </a:r>
            <a:endParaRPr sz="3600">
              <a:solidFill>
                <a:schemeClr val="lt1"/>
              </a:solidFill>
              <a:latin typeface="Staatliches"/>
              <a:ea typeface="Staatliches"/>
              <a:cs typeface="Staatliches"/>
              <a:sym typeface="Staatliches"/>
            </a:endParaRPr>
          </a:p>
        </p:txBody>
      </p:sp>
      <p:sp>
        <p:nvSpPr>
          <p:cNvPr id="298" name="Google Shape;298;p43"/>
          <p:cNvSpPr txBox="1"/>
          <p:nvPr/>
        </p:nvSpPr>
        <p:spPr>
          <a:xfrm>
            <a:off x="3794125" y="1993075"/>
            <a:ext cx="144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BCBD21"/>
                </a:solidFill>
                <a:latin typeface="Staatliches"/>
                <a:ea typeface="Staatliches"/>
                <a:cs typeface="Staatliches"/>
                <a:sym typeface="Staatliches"/>
              </a:rPr>
              <a:t>pros</a:t>
            </a:r>
            <a:endParaRPr sz="3600">
              <a:solidFill>
                <a:srgbClr val="BCBD21"/>
              </a:solidFill>
              <a:latin typeface="Staatliches"/>
              <a:ea typeface="Staatliches"/>
              <a:cs typeface="Staatliches"/>
              <a:sym typeface="Staatliches"/>
            </a:endParaRPr>
          </a:p>
        </p:txBody>
      </p:sp>
      <p:sp>
        <p:nvSpPr>
          <p:cNvPr id="299" name="Google Shape;299;p43"/>
          <p:cNvSpPr txBox="1"/>
          <p:nvPr/>
        </p:nvSpPr>
        <p:spPr>
          <a:xfrm>
            <a:off x="3850350" y="3802400"/>
            <a:ext cx="14433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rgbClr val="FF5722"/>
                </a:solidFill>
                <a:latin typeface="Staatliches"/>
                <a:ea typeface="Staatliches"/>
                <a:cs typeface="Staatliches"/>
                <a:sym typeface="Staatliches"/>
              </a:rPr>
              <a:t>cons</a:t>
            </a:r>
            <a:endParaRPr sz="3600">
              <a:solidFill>
                <a:srgbClr val="FF5722"/>
              </a:solidFill>
              <a:latin typeface="Staatliches"/>
              <a:ea typeface="Staatliches"/>
              <a:cs typeface="Staatliches"/>
              <a:sym typeface="Staatlich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44" title="Screenshot 2025-04-11 at 3.19.00 AM.png"/>
          <p:cNvPicPr preferRelativeResize="0"/>
          <p:nvPr/>
        </p:nvPicPr>
        <p:blipFill>
          <a:blip r:embed="rId3">
            <a:alphaModFix/>
          </a:blip>
          <a:stretch>
            <a:fillRect/>
          </a:stretch>
        </p:blipFill>
        <p:spPr>
          <a:xfrm>
            <a:off x="1881625" y="152400"/>
            <a:ext cx="5560403" cy="48386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45" title="Screenshot 2025-04-11 at 1.40.41 PM.png"/>
          <p:cNvPicPr preferRelativeResize="0"/>
          <p:nvPr/>
        </p:nvPicPr>
        <p:blipFill>
          <a:blip r:embed="rId3">
            <a:alphaModFix/>
          </a:blip>
          <a:stretch>
            <a:fillRect/>
          </a:stretch>
        </p:blipFill>
        <p:spPr>
          <a:xfrm>
            <a:off x="1625500" y="152400"/>
            <a:ext cx="7112202" cy="4838700"/>
          </a:xfrm>
          <a:prstGeom prst="rect">
            <a:avLst/>
          </a:prstGeom>
          <a:noFill/>
          <a:ln>
            <a:noFill/>
          </a:ln>
        </p:spPr>
      </p:pic>
      <p:sp>
        <p:nvSpPr>
          <p:cNvPr id="310" name="Google Shape;310;p45"/>
          <p:cNvSpPr/>
          <p:nvPr/>
        </p:nvSpPr>
        <p:spPr>
          <a:xfrm>
            <a:off x="4040275" y="1182925"/>
            <a:ext cx="870000" cy="154800"/>
          </a:xfrm>
          <a:prstGeom prst="rect">
            <a:avLst/>
          </a:prstGeom>
          <a:solidFill>
            <a:srgbClr val="BCBD21">
              <a:alpha val="3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p45"/>
          <p:cNvSpPr/>
          <p:nvPr/>
        </p:nvSpPr>
        <p:spPr>
          <a:xfrm>
            <a:off x="5584925" y="1182925"/>
            <a:ext cx="870000" cy="154800"/>
          </a:xfrm>
          <a:prstGeom prst="rect">
            <a:avLst/>
          </a:prstGeom>
          <a:solidFill>
            <a:srgbClr val="BCBD21">
              <a:alpha val="3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p45"/>
          <p:cNvSpPr/>
          <p:nvPr/>
        </p:nvSpPr>
        <p:spPr>
          <a:xfrm>
            <a:off x="7535625" y="1182925"/>
            <a:ext cx="870000" cy="154800"/>
          </a:xfrm>
          <a:prstGeom prst="rect">
            <a:avLst/>
          </a:prstGeom>
          <a:solidFill>
            <a:srgbClr val="BCBD21">
              <a:alpha val="3899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45"/>
          <p:cNvSpPr txBox="1"/>
          <p:nvPr/>
        </p:nvSpPr>
        <p:spPr>
          <a:xfrm>
            <a:off x="6062925" y="1797575"/>
            <a:ext cx="2289900" cy="1031400"/>
          </a:xfrm>
          <a:prstGeom prst="rect">
            <a:avLst/>
          </a:prstGeom>
          <a:solidFill>
            <a:srgbClr val="36174D"/>
          </a:solid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solidFill>
                  <a:schemeClr val="lt1"/>
                </a:solidFill>
              </a:rPr>
              <a:t>using the keyword </a:t>
            </a:r>
            <a:r>
              <a:rPr b="1" lang="en" sz="1100">
                <a:solidFill>
                  <a:srgbClr val="BCBD21"/>
                </a:solidFill>
                <a:latin typeface="Source Code Pro"/>
                <a:ea typeface="Source Code Pro"/>
                <a:cs typeface="Source Code Pro"/>
                <a:sym typeface="Source Code Pro"/>
              </a:rPr>
              <a:t>passthrough</a:t>
            </a:r>
            <a:r>
              <a:rPr lang="en" sz="1100">
                <a:solidFill>
                  <a:schemeClr val="lt1"/>
                </a:solidFill>
              </a:rPr>
              <a:t> essentially makes certain steps optional, and allows us the ability to create a more </a:t>
            </a:r>
            <a:r>
              <a:rPr lang="en" sz="1100">
                <a:solidFill>
                  <a:schemeClr val="lt1"/>
                </a:solidFill>
              </a:rPr>
              <a:t>versatile</a:t>
            </a:r>
            <a:r>
              <a:rPr lang="en" sz="1100">
                <a:solidFill>
                  <a:schemeClr val="lt1"/>
                </a:solidFill>
              </a:rPr>
              <a:t> </a:t>
            </a:r>
            <a:r>
              <a:rPr b="1" lang="en" sz="1100">
                <a:solidFill>
                  <a:schemeClr val="lt1"/>
                </a:solidFill>
                <a:latin typeface="Source Code Pro"/>
                <a:ea typeface="Source Code Pro"/>
                <a:cs typeface="Source Code Pro"/>
                <a:sym typeface="Source Code Pro"/>
              </a:rPr>
              <a:t>param_grid</a:t>
            </a:r>
            <a:endParaRPr b="1">
              <a:solidFill>
                <a:schemeClr val="lt1"/>
              </a:solidFill>
              <a:latin typeface="Source Code Pro"/>
              <a:ea typeface="Source Code Pro"/>
              <a:cs typeface="Source Code Pro"/>
              <a:sym typeface="Source Code Pr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317" name="Shape 317"/>
        <p:cNvGrpSpPr/>
        <p:nvPr/>
      </p:nvGrpSpPr>
      <p:grpSpPr>
        <a:xfrm>
          <a:off x="0" y="0"/>
          <a:ext cx="0" cy="0"/>
          <a:chOff x="0" y="0"/>
          <a:chExt cx="0" cy="0"/>
        </a:xfrm>
      </p:grpSpPr>
      <p:sp>
        <p:nvSpPr>
          <p:cNvPr id="318" name="Google Shape;318;p46"/>
          <p:cNvSpPr txBox="1"/>
          <p:nvPr/>
        </p:nvSpPr>
        <p:spPr>
          <a:xfrm>
            <a:off x="1296825" y="693275"/>
            <a:ext cx="6612600" cy="3281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5650">
                <a:solidFill>
                  <a:schemeClr val="lt1"/>
                </a:solidFill>
                <a:latin typeface="Staatliches"/>
                <a:ea typeface="Staatliches"/>
                <a:cs typeface="Staatliches"/>
                <a:sym typeface="Staatliches"/>
              </a:rPr>
              <a:t>Exercise</a:t>
            </a:r>
            <a:endParaRPr sz="1300">
              <a:solidFill>
                <a:schemeClr val="lt1"/>
              </a:solidFill>
            </a:endParaRPr>
          </a:p>
          <a:p>
            <a:pPr indent="0" lvl="0" marL="0" rtl="0" algn="l">
              <a:lnSpc>
                <a:spcPct val="80000"/>
              </a:lnSpc>
              <a:spcBef>
                <a:spcPts val="0"/>
              </a:spcBef>
              <a:spcAft>
                <a:spcPts val="0"/>
              </a:spcAft>
              <a:buNone/>
            </a:pPr>
            <a:r>
              <a:rPr lang="en" sz="1300">
                <a:solidFill>
                  <a:schemeClr val="lt1"/>
                </a:solidFill>
              </a:rPr>
              <a:t>Using the output of the best fit model above, discuss each of the hyperparameters as well as the model. Why do you think this model outperformed others?</a:t>
            </a:r>
            <a:endParaRPr sz="1300">
              <a:solidFill>
                <a:schemeClr val="lt1"/>
              </a:solidFill>
            </a:endParaRPr>
          </a:p>
          <a:p>
            <a:pPr indent="0" lvl="0" marL="0" rtl="0" algn="l">
              <a:lnSpc>
                <a:spcPct val="80000"/>
              </a:lnSpc>
              <a:spcBef>
                <a:spcPts val="0"/>
              </a:spcBef>
              <a:spcAft>
                <a:spcPts val="0"/>
              </a:spcAft>
              <a:buNone/>
            </a:pPr>
            <a:r>
              <a:t/>
            </a:r>
            <a:endParaRPr sz="1300">
              <a:solidFill>
                <a:schemeClr val="lt1"/>
              </a:solidFill>
            </a:endParaRPr>
          </a:p>
          <a:p>
            <a:pPr indent="0" lvl="0" marL="0" rtl="0" algn="l">
              <a:lnSpc>
                <a:spcPct val="80000"/>
              </a:lnSpc>
              <a:spcBef>
                <a:spcPts val="0"/>
              </a:spcBef>
              <a:spcAft>
                <a:spcPts val="0"/>
              </a:spcAft>
              <a:buNone/>
            </a:pPr>
            <a:r>
              <a:rPr lang="en" sz="1300">
                <a:solidFill>
                  <a:schemeClr val="lt1"/>
                </a:solidFill>
              </a:rPr>
              <a:t>Now, consider that an ideal model exists, and it's a different base model than the best fit model seen above. Our goal is to find that ideal model. We can do two things to find it: choose a different model, or pick better hyperparameter choices for the models we already have.</a:t>
            </a:r>
            <a:endParaRPr sz="1300">
              <a:solidFill>
                <a:schemeClr val="lt1"/>
              </a:solidFill>
            </a:endParaRPr>
          </a:p>
          <a:p>
            <a:pPr indent="0" lvl="0" marL="0" rtl="0" algn="l">
              <a:lnSpc>
                <a:spcPct val="80000"/>
              </a:lnSpc>
              <a:spcBef>
                <a:spcPts val="0"/>
              </a:spcBef>
              <a:spcAft>
                <a:spcPts val="0"/>
              </a:spcAft>
              <a:buNone/>
            </a:pPr>
            <a:r>
              <a:t/>
            </a:r>
            <a:endParaRPr sz="1300">
              <a:solidFill>
                <a:schemeClr val="lt1"/>
              </a:solidFill>
            </a:endParaRPr>
          </a:p>
          <a:p>
            <a:pPr indent="0" lvl="0" marL="0" rtl="0" algn="l">
              <a:lnSpc>
                <a:spcPct val="80000"/>
              </a:lnSpc>
              <a:spcBef>
                <a:spcPts val="0"/>
              </a:spcBef>
              <a:spcAft>
                <a:spcPts val="0"/>
              </a:spcAft>
              <a:buNone/>
            </a:pPr>
            <a:r>
              <a:t/>
            </a:r>
            <a:endParaRPr sz="1300">
              <a:solidFill>
                <a:schemeClr val="lt1"/>
              </a:solidFill>
            </a:endParaRPr>
          </a:p>
          <a:p>
            <a:pPr indent="0" lvl="0" marL="0" rtl="0" algn="l">
              <a:lnSpc>
                <a:spcPct val="80000"/>
              </a:lnSpc>
              <a:spcBef>
                <a:spcPts val="0"/>
              </a:spcBef>
              <a:spcAft>
                <a:spcPts val="0"/>
              </a:spcAft>
              <a:buNone/>
            </a:pPr>
            <a:r>
              <a:rPr lang="en" sz="1300">
                <a:solidFill>
                  <a:schemeClr val="lt1"/>
                </a:solidFill>
              </a:rPr>
              <a:t>Choose at least two options below. After each option, rerun the pipeline. Did the best fit model change? Explain why this may be happening.</a:t>
            </a:r>
            <a:endParaRPr sz="1300">
              <a:solidFill>
                <a:schemeClr val="lt1"/>
              </a:solidFill>
            </a:endParaRPr>
          </a:p>
          <a:p>
            <a:pPr indent="0" lvl="0" marL="0" rtl="0" algn="l">
              <a:lnSpc>
                <a:spcPct val="80000"/>
              </a:lnSpc>
              <a:spcBef>
                <a:spcPts val="0"/>
              </a:spcBef>
              <a:spcAft>
                <a:spcPts val="0"/>
              </a:spcAft>
              <a:buNone/>
            </a:pPr>
            <a:r>
              <a:t/>
            </a:r>
            <a:endParaRPr sz="1300">
              <a:solidFill>
                <a:schemeClr val="lt1"/>
              </a:solidFill>
            </a:endParaRPr>
          </a:p>
          <a:p>
            <a:pPr indent="-311150" lvl="0" marL="457200" rtl="0" algn="l">
              <a:lnSpc>
                <a:spcPct val="80000"/>
              </a:lnSpc>
              <a:spcBef>
                <a:spcPts val="0"/>
              </a:spcBef>
              <a:spcAft>
                <a:spcPts val="0"/>
              </a:spcAft>
              <a:buClr>
                <a:schemeClr val="lt1"/>
              </a:buClr>
              <a:buSzPts val="1300"/>
              <a:buChar char="●"/>
            </a:pPr>
            <a:r>
              <a:rPr lang="en" sz="1300">
                <a:solidFill>
                  <a:schemeClr val="lt1"/>
                </a:solidFill>
              </a:rPr>
              <a:t>Refine the existing hyperparameter choices</a:t>
            </a:r>
            <a:endParaRPr sz="1300">
              <a:solidFill>
                <a:schemeClr val="lt1"/>
              </a:solidFill>
            </a:endParaRPr>
          </a:p>
          <a:p>
            <a:pPr indent="-311150" lvl="0" marL="457200" rtl="0" algn="l">
              <a:lnSpc>
                <a:spcPct val="80000"/>
              </a:lnSpc>
              <a:spcBef>
                <a:spcPts val="0"/>
              </a:spcBef>
              <a:spcAft>
                <a:spcPts val="0"/>
              </a:spcAft>
              <a:buClr>
                <a:schemeClr val="lt1"/>
              </a:buClr>
              <a:buSzPts val="1300"/>
              <a:buChar char="●"/>
            </a:pPr>
            <a:r>
              <a:rPr lang="en" sz="1300">
                <a:solidFill>
                  <a:schemeClr val="lt1"/>
                </a:solidFill>
              </a:rPr>
              <a:t>Add a new model </a:t>
            </a:r>
            <a:r>
              <a:rPr lang="en" sz="1300">
                <a:solidFill>
                  <a:schemeClr val="lt1"/>
                </a:solidFill>
              </a:rPr>
              <a:t>and include hyperparameters choices</a:t>
            </a:r>
            <a:endParaRPr sz="1300">
              <a:solidFill>
                <a:schemeClr val="lt1"/>
              </a:solidFill>
            </a:endParaRPr>
          </a:p>
          <a:p>
            <a:pPr indent="-311150" lvl="0" marL="457200" rtl="0" algn="l">
              <a:lnSpc>
                <a:spcPct val="80000"/>
              </a:lnSpc>
              <a:spcBef>
                <a:spcPts val="0"/>
              </a:spcBef>
              <a:spcAft>
                <a:spcPts val="0"/>
              </a:spcAft>
              <a:buClr>
                <a:schemeClr val="lt1"/>
              </a:buClr>
              <a:buSzPts val="1300"/>
              <a:buChar char="●"/>
            </a:pPr>
            <a:r>
              <a:rPr lang="en" sz="1300">
                <a:solidFill>
                  <a:schemeClr val="lt1"/>
                </a:solidFill>
              </a:rPr>
              <a:t>Update  grid search or cross validation</a:t>
            </a:r>
            <a:endParaRPr sz="1300">
              <a:solidFill>
                <a:schemeClr val="lt1"/>
              </a:solidFill>
            </a:endParaRPr>
          </a:p>
        </p:txBody>
      </p:sp>
      <p:pic>
        <p:nvPicPr>
          <p:cNvPr descr="8 Minute Timer Relaxing Music Lofi Fish Background&#10;Song- https://www.youtube.com/watch?v=Nh_oj5hsAbs&amp;t=41s&#10;&#10;&#10;&#10;TAGS&#10;9 minute&#10;9 minute countdown&#10;9 minute lo-fi hiphop timer&#10;9 minute timer&#10;countdown&#10;lo-fi music&#10;lofi study song&#10;study music&#10;study timer&#10;time&#10;timer&#10;working music&#10;9 minute timer with music&#10;9 minute clock&#10;lofi hiphop&#10;relaxing timers&#10;relaxing music&#10;relaxing lofi timer&#10;nature timer&#10;meditation&#10;meditation music&#10;relaxing sleep music&#10;school timer&#10;sleep timer&#10;chill timer&#10;chill music&#10;lofi timer&#10;lofi hiphop timer&#10;lofi hip hop" id="319" name="Google Shape;319;p46" title="8 Minute Timer Relaxing Music Lofi Fish Background">
            <a:hlinkClick r:id="rId3"/>
          </p:cNvPr>
          <p:cNvPicPr preferRelativeResize="0"/>
          <p:nvPr/>
        </p:nvPicPr>
        <p:blipFill>
          <a:blip r:embed="rId4">
            <a:alphaModFix/>
          </a:blip>
          <a:stretch>
            <a:fillRect/>
          </a:stretch>
        </p:blipFill>
        <p:spPr>
          <a:xfrm>
            <a:off x="7865275" y="4341225"/>
            <a:ext cx="1002300" cy="563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324" name="Google Shape;324;p47"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325" name="Google Shape;325;p47"/>
          <p:cNvSpPr/>
          <p:nvPr/>
        </p:nvSpPr>
        <p:spPr>
          <a:xfrm>
            <a:off x="2293625" y="967750"/>
            <a:ext cx="4953000" cy="2689800"/>
          </a:xfrm>
          <a:prstGeom prst="roundRect">
            <a:avLst>
              <a:gd fmla="val 16667" name="adj"/>
            </a:avLst>
          </a:prstGeom>
          <a:solidFill>
            <a:srgbClr val="BE86B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Work Time</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None/>
            </a:pPr>
            <a:r>
              <a:rPr b="1" lang="en" sz="2800">
                <a:solidFill>
                  <a:srgbClr val="7F1E15"/>
                </a:solidFill>
              </a:rPr>
              <a:t>HW7 </a:t>
            </a:r>
            <a:endParaRPr b="1" sz="2800">
              <a:solidFill>
                <a:srgbClr val="7F1E15"/>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rPr lang="en" u="sng">
                <a:solidFill>
                  <a:schemeClr val="hlink"/>
                </a:solidFill>
                <a:hlinkClick r:id="rId6"/>
              </a:rPr>
              <a:t>View on our website</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9" name="Shape 329"/>
        <p:cNvGrpSpPr/>
        <p:nvPr/>
      </p:nvGrpSpPr>
      <p:grpSpPr>
        <a:xfrm>
          <a:off x="0" y="0"/>
          <a:ext cx="0" cy="0"/>
          <a:chOff x="0" y="0"/>
          <a:chExt cx="0" cy="0"/>
        </a:xfrm>
      </p:grpSpPr>
      <p:sp>
        <p:nvSpPr>
          <p:cNvPr id="330" name="Google Shape;330;p48"/>
          <p:cNvSpPr/>
          <p:nvPr/>
        </p:nvSpPr>
        <p:spPr>
          <a:xfrm>
            <a:off x="2503200" y="1211550"/>
            <a:ext cx="4137600" cy="2720400"/>
          </a:xfrm>
          <a:prstGeom prst="roundRect">
            <a:avLst>
              <a:gd fmla="val 16667" name="adj"/>
            </a:avLst>
          </a:prstGeom>
          <a:solidFill>
            <a:srgbClr val="8494AF"/>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800">
                <a:solidFill>
                  <a:schemeClr val="dk1"/>
                </a:solidFill>
                <a:latin typeface="Staatliches"/>
                <a:ea typeface="Staatliches"/>
                <a:cs typeface="Staatliches"/>
                <a:sym typeface="Staatliches"/>
              </a:rPr>
              <a:t>lab work time</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Clr>
                <a:schemeClr val="dk1"/>
              </a:buClr>
              <a:buSzPts val="1100"/>
              <a:buFont typeface="Arial"/>
              <a:buNone/>
            </a:pPr>
            <a:r>
              <a:t/>
            </a:r>
            <a:endParaRPr sz="2800">
              <a:solidFill>
                <a:schemeClr val="dk1"/>
              </a:solidFill>
              <a:latin typeface="Staatliches"/>
              <a:ea typeface="Staatliches"/>
              <a:cs typeface="Staatliches"/>
              <a:sym typeface="Staatliches"/>
            </a:endParaRPr>
          </a:p>
          <a:p>
            <a:pPr indent="0" lvl="0" marL="0" rtl="0" algn="ctr">
              <a:spcBef>
                <a:spcPts val="0"/>
              </a:spcBef>
              <a:spcAft>
                <a:spcPts val="0"/>
              </a:spcAft>
              <a:buClr>
                <a:schemeClr val="dk1"/>
              </a:buClr>
              <a:buSzPts val="1100"/>
              <a:buFont typeface="Arial"/>
              <a:buNone/>
            </a:pPr>
            <a:r>
              <a:rPr b="1" lang="en" sz="2800">
                <a:solidFill>
                  <a:srgbClr val="FE9381"/>
                </a:solidFill>
              </a:rPr>
              <a:t>Lab ESB Part 1 + 2</a:t>
            </a:r>
            <a:endParaRPr b="1" sz="2800">
              <a:solidFill>
                <a:srgbClr val="FE938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Clr>
                <a:schemeClr val="dk1"/>
              </a:buClr>
              <a:buSzPts val="1100"/>
              <a:buFont typeface="Arial"/>
              <a:buNone/>
            </a:pPr>
            <a:r>
              <a:rPr lang="en" u="sng">
                <a:solidFill>
                  <a:schemeClr val="hlink"/>
                </a:solidFill>
                <a:hlinkClick r:id="rId4"/>
              </a:rPr>
              <a:t>View on our website</a:t>
            </a:r>
            <a:endParaRPr>
              <a:solidFill>
                <a:schemeClr val="dk1"/>
              </a:solidFill>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331" name="Google Shape;331;p48" title="synthwave radio 🌌 - beats to chill/game to">
            <a:hlinkClick r:id="rId5"/>
          </p:cNvPr>
          <p:cNvPicPr preferRelativeResize="0"/>
          <p:nvPr/>
        </p:nvPicPr>
        <p:blipFill>
          <a:blip r:embed="rId6">
            <a:alphaModFix/>
          </a:blip>
          <a:stretch>
            <a:fillRect/>
          </a:stretch>
        </p:blipFill>
        <p:spPr>
          <a:xfrm>
            <a:off x="135850" y="4657597"/>
            <a:ext cx="561450" cy="31581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5" name="Shape 335"/>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336" name="Google Shape;336;p49"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
        <p:nvSpPr>
          <p:cNvPr id="337" name="Google Shape;337;p49"/>
          <p:cNvSpPr/>
          <p:nvPr/>
        </p:nvSpPr>
        <p:spPr>
          <a:xfrm>
            <a:off x="2166300" y="1146750"/>
            <a:ext cx="4811400" cy="2850000"/>
          </a:xfrm>
          <a:prstGeom prst="roundRect">
            <a:avLst>
              <a:gd fmla="val 16667" name="adj"/>
            </a:avLst>
          </a:prstGeom>
          <a:solidFill>
            <a:srgbClr val="9D9F24"/>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1100"/>
              <a:buFont typeface="Arial"/>
              <a:buNone/>
            </a:pPr>
            <a:r>
              <a:rPr lang="en" sz="4950">
                <a:solidFill>
                  <a:schemeClr val="dk1"/>
                </a:solidFill>
                <a:latin typeface="Staatliches"/>
                <a:ea typeface="Staatliches"/>
                <a:cs typeface="Staatliches"/>
                <a:sym typeface="Staatliches"/>
              </a:rPr>
              <a:t>Machine Learning</a:t>
            </a:r>
            <a:endParaRPr sz="495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2538">
                <a:solidFill>
                  <a:schemeClr val="dk1"/>
                </a:solidFill>
                <a:latin typeface="Staatliches"/>
                <a:ea typeface="Staatliches"/>
                <a:cs typeface="Staatliches"/>
                <a:sym typeface="Staatliches"/>
              </a:rPr>
              <a:t>With python</a:t>
            </a:r>
            <a:endParaRPr sz="2538">
              <a:solidFill>
                <a:schemeClr val="dk1"/>
              </a:solidFill>
              <a:latin typeface="Staatliches"/>
              <a:ea typeface="Staatliches"/>
              <a:cs typeface="Staatliches"/>
              <a:sym typeface="Staatliches"/>
            </a:endParaRPr>
          </a:p>
          <a:p>
            <a:pPr indent="0" lvl="0" marL="0" rtl="0" algn="l">
              <a:lnSpc>
                <a:spcPct val="80000"/>
              </a:lnSpc>
              <a:spcBef>
                <a:spcPts val="0"/>
              </a:spcBef>
              <a:spcAft>
                <a:spcPts val="0"/>
              </a:spcAft>
              <a:buClr>
                <a:schemeClr val="dk1"/>
              </a:buClr>
              <a:buSzPts val="1100"/>
              <a:buFont typeface="Arial"/>
              <a:buNone/>
            </a:pPr>
            <a:r>
              <a:t/>
            </a:r>
            <a:endParaRPr sz="4000">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sz="3622">
                <a:solidFill>
                  <a:schemeClr val="lt1"/>
                </a:solidFill>
                <a:latin typeface="Staatliches"/>
                <a:ea typeface="Staatliches"/>
                <a:cs typeface="Staatliches"/>
                <a:sym typeface="Staatliches"/>
              </a:rPr>
              <a:t>ESB</a:t>
            </a:r>
            <a:r>
              <a:rPr b="1" lang="en" sz="3622">
                <a:solidFill>
                  <a:schemeClr val="lt1"/>
                </a:solidFill>
                <a:latin typeface="Source Code Pro"/>
                <a:ea typeface="Source Code Pro"/>
                <a:cs typeface="Source Code Pro"/>
                <a:sym typeface="Source Code Pro"/>
              </a:rPr>
              <a:t>3</a:t>
            </a:r>
            <a:r>
              <a:rPr lang="en" sz="3622">
                <a:solidFill>
                  <a:schemeClr val="dk1"/>
                </a:solidFill>
                <a:latin typeface="Staatliches"/>
                <a:ea typeface="Staatliches"/>
                <a:cs typeface="Staatliches"/>
                <a:sym typeface="Staatliches"/>
              </a:rPr>
              <a:t>: ensemble MODELS</a:t>
            </a:r>
            <a:r>
              <a:rPr lang="en" sz="2422">
                <a:solidFill>
                  <a:schemeClr val="dk1"/>
                </a:solidFill>
                <a:latin typeface="Staatliches"/>
                <a:ea typeface="Staatliches"/>
                <a:cs typeface="Staatliches"/>
                <a:sym typeface="Staatliches"/>
              </a:rPr>
              <a:t> </a:t>
            </a:r>
            <a:endParaRPr sz="2422">
              <a:solidFill>
                <a:schemeClr val="dk1"/>
              </a:solidFill>
              <a:latin typeface="Staatliches"/>
              <a:ea typeface="Staatliches"/>
              <a:cs typeface="Staatliches"/>
              <a:sym typeface="Staatliches"/>
            </a:endParaRPr>
          </a:p>
          <a:p>
            <a:pPr indent="0" lvl="0" marL="0" rtl="0" algn="ctr">
              <a:lnSpc>
                <a:spcPct val="80000"/>
              </a:lnSpc>
              <a:spcBef>
                <a:spcPts val="0"/>
              </a:spcBef>
              <a:spcAft>
                <a:spcPts val="0"/>
              </a:spcAft>
              <a:buClr>
                <a:schemeClr val="dk1"/>
              </a:buClr>
              <a:buSzPts val="1100"/>
              <a:buFont typeface="Arial"/>
              <a:buNone/>
            </a:pPr>
            <a:r>
              <a:rPr lang="en">
                <a:solidFill>
                  <a:schemeClr val="dk1"/>
                </a:solidFill>
              </a:rPr>
              <a:t>model selection flowchart</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341" name="Shape 341"/>
        <p:cNvGrpSpPr/>
        <p:nvPr/>
      </p:nvGrpSpPr>
      <p:grpSpPr>
        <a:xfrm>
          <a:off x="0" y="0"/>
          <a:ext cx="0" cy="0"/>
          <a:chOff x="0" y="0"/>
          <a:chExt cx="0" cy="0"/>
        </a:xfrm>
      </p:grpSpPr>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342" name="Google Shape;342;p50" title="synthwave radio 🌌 - beats to chill/game to">
            <a:hlinkClick r:id="rId3"/>
          </p:cNvPr>
          <p:cNvPicPr preferRelativeResize="0"/>
          <p:nvPr/>
        </p:nvPicPr>
        <p:blipFill>
          <a:blip r:embed="rId4">
            <a:alphaModFix/>
          </a:blip>
          <a:stretch>
            <a:fillRect/>
          </a:stretch>
        </p:blipFill>
        <p:spPr>
          <a:xfrm>
            <a:off x="135850" y="4657597"/>
            <a:ext cx="561450" cy="315811"/>
          </a:xfrm>
          <a:prstGeom prst="rect">
            <a:avLst/>
          </a:prstGeom>
          <a:noFill/>
          <a:ln>
            <a:noFill/>
          </a:ln>
        </p:spPr>
      </p:pic>
      <p:pic>
        <p:nvPicPr>
          <p:cNvPr id="343" name="Google Shape;343;p50" title="Screenshot 2026-01-26 at 10.12.27 AM.png"/>
          <p:cNvPicPr preferRelativeResize="0"/>
          <p:nvPr/>
        </p:nvPicPr>
        <p:blipFill>
          <a:blip r:embed="rId5">
            <a:alphaModFix/>
          </a:blip>
          <a:stretch>
            <a:fillRect/>
          </a:stretch>
        </p:blipFill>
        <p:spPr>
          <a:xfrm>
            <a:off x="1911138" y="94100"/>
            <a:ext cx="5321725" cy="4955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1"/>
          <p:cNvSpPr/>
          <p:nvPr/>
        </p:nvSpPr>
        <p:spPr>
          <a:xfrm>
            <a:off x="743138" y="132400"/>
            <a:ext cx="2842800" cy="2254800"/>
          </a:xfrm>
          <a:prstGeom prst="rect">
            <a:avLst/>
          </a:prstGeom>
          <a:solidFill>
            <a:srgbClr val="F3F3F3"/>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Clustering</a:t>
            </a:r>
            <a:endParaRPr sz="1000">
              <a:latin typeface="Proxima Nova"/>
              <a:ea typeface="Proxima Nova"/>
              <a:cs typeface="Proxima Nova"/>
              <a:sym typeface="Proxima Nova"/>
            </a:endParaRPr>
          </a:p>
        </p:txBody>
      </p:sp>
      <p:sp>
        <p:nvSpPr>
          <p:cNvPr id="349" name="Google Shape;349;p51"/>
          <p:cNvSpPr/>
          <p:nvPr/>
        </p:nvSpPr>
        <p:spPr>
          <a:xfrm>
            <a:off x="5491788" y="173825"/>
            <a:ext cx="2842800" cy="2254800"/>
          </a:xfrm>
          <a:prstGeom prst="rect">
            <a:avLst/>
          </a:prstGeom>
          <a:solidFill>
            <a:srgbClr val="F3F3F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l">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sp>
        <p:nvSpPr>
          <p:cNvPr id="350" name="Google Shape;350;p51"/>
          <p:cNvSpPr/>
          <p:nvPr/>
        </p:nvSpPr>
        <p:spPr>
          <a:xfrm>
            <a:off x="743138" y="2569851"/>
            <a:ext cx="2842800" cy="2254800"/>
          </a:xfrm>
          <a:prstGeom prst="rect">
            <a:avLst/>
          </a:prstGeom>
          <a:solidFill>
            <a:srgbClr val="F3F3F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sp>
        <p:nvSpPr>
          <p:cNvPr id="351" name="Google Shape;351;p51"/>
          <p:cNvSpPr/>
          <p:nvPr/>
        </p:nvSpPr>
        <p:spPr>
          <a:xfrm>
            <a:off x="5491788" y="2611275"/>
            <a:ext cx="2842800" cy="2254800"/>
          </a:xfrm>
          <a:prstGeom prst="rect">
            <a:avLst/>
          </a:prstGeom>
          <a:solidFill>
            <a:srgbClr val="F3F3F3"/>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sp>
        <p:nvSpPr>
          <p:cNvPr id="352" name="Google Shape;352;p51"/>
          <p:cNvSpPr txBox="1"/>
          <p:nvPr/>
        </p:nvSpPr>
        <p:spPr>
          <a:xfrm>
            <a:off x="1442288" y="482200"/>
            <a:ext cx="1444500" cy="17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Hierarchical</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DBSCAN</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k-means</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k-modes</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k-medians</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GMMs</a:t>
            </a:r>
            <a:endParaRPr sz="1800">
              <a:solidFill>
                <a:schemeClr val="dk2"/>
              </a:solidFill>
              <a:latin typeface="Proxima Nova"/>
              <a:ea typeface="Proxima Nova"/>
              <a:cs typeface="Proxima Nova"/>
              <a:sym typeface="Proxima Nova"/>
            </a:endParaRPr>
          </a:p>
        </p:txBody>
      </p:sp>
      <p:sp>
        <p:nvSpPr>
          <p:cNvPr id="353" name="Google Shape;353;p51"/>
          <p:cNvSpPr txBox="1"/>
          <p:nvPr/>
        </p:nvSpPr>
        <p:spPr>
          <a:xfrm>
            <a:off x="6450738" y="680975"/>
            <a:ext cx="924900" cy="135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PCA</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SVM</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(LDA)</a:t>
            </a:r>
            <a:endParaRPr sz="1800">
              <a:solidFill>
                <a:schemeClr val="dk2"/>
              </a:solidFill>
              <a:latin typeface="Proxima Nova"/>
              <a:ea typeface="Proxima Nova"/>
              <a:cs typeface="Proxima Nova"/>
              <a:sym typeface="Proxima Nova"/>
            </a:endParaRPr>
          </a:p>
        </p:txBody>
      </p:sp>
      <p:sp>
        <p:nvSpPr>
          <p:cNvPr id="354" name="Google Shape;354;p51"/>
          <p:cNvSpPr txBox="1"/>
          <p:nvPr/>
        </p:nvSpPr>
        <p:spPr>
          <a:xfrm>
            <a:off x="901013" y="3074625"/>
            <a:ext cx="1626900" cy="16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Decision Tree</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Log Reg</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Linear SVM</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Kernel SVM</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p:txBody>
      </p:sp>
      <p:sp>
        <p:nvSpPr>
          <p:cNvPr id="355" name="Google Shape;355;p51"/>
          <p:cNvSpPr txBox="1"/>
          <p:nvPr/>
        </p:nvSpPr>
        <p:spPr>
          <a:xfrm>
            <a:off x="6147238" y="2896075"/>
            <a:ext cx="1731900" cy="17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Decision Tree</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Linear Reg</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RF</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NN</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XGBoost</a:t>
            </a:r>
            <a:endParaRPr sz="1800">
              <a:solidFill>
                <a:schemeClr val="dk2"/>
              </a:solidFill>
              <a:latin typeface="Proxima Nova"/>
              <a:ea typeface="Proxima Nova"/>
              <a:cs typeface="Proxima Nova"/>
              <a:sym typeface="Proxima Nova"/>
            </a:endParaRPr>
          </a:p>
        </p:txBody>
      </p:sp>
      <p:sp>
        <p:nvSpPr>
          <p:cNvPr id="356" name="Google Shape;356;p51"/>
          <p:cNvSpPr txBox="1"/>
          <p:nvPr/>
        </p:nvSpPr>
        <p:spPr>
          <a:xfrm>
            <a:off x="2450938" y="3050750"/>
            <a:ext cx="1077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RF</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NN</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NB</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dk2"/>
                </a:solidFill>
                <a:latin typeface="Proxima Nova"/>
                <a:ea typeface="Proxima Nova"/>
                <a:cs typeface="Proxima Nova"/>
                <a:sym typeface="Proxima Nova"/>
              </a:rPr>
              <a:t>XGBoost</a:t>
            </a:r>
            <a:endParaRPr sz="1800">
              <a:solidFill>
                <a:schemeClr val="dk2"/>
              </a:solidFill>
              <a:latin typeface="Proxima Nova"/>
              <a:ea typeface="Proxima Nova"/>
              <a:cs typeface="Proxima Nova"/>
              <a:sym typeface="Proxima Nova"/>
            </a:endParaRPr>
          </a:p>
        </p:txBody>
      </p:sp>
      <p:sp>
        <p:nvSpPr>
          <p:cNvPr id="357" name="Google Shape;357;p51"/>
          <p:cNvSpPr/>
          <p:nvPr/>
        </p:nvSpPr>
        <p:spPr>
          <a:xfrm>
            <a:off x="4011300" y="784950"/>
            <a:ext cx="1088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358" name="Google Shape;358;p51"/>
          <p:cNvSpPr/>
          <p:nvPr/>
        </p:nvSpPr>
        <p:spPr>
          <a:xfrm>
            <a:off x="4018825" y="3374775"/>
            <a:ext cx="1040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359" name="Google Shape;359;p51"/>
          <p:cNvSpPr/>
          <p:nvPr/>
        </p:nvSpPr>
        <p:spPr>
          <a:xfrm>
            <a:off x="4022050" y="1593852"/>
            <a:ext cx="1040100" cy="387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cxnSp>
        <p:nvCxnSpPr>
          <p:cNvPr id="360" name="Google Shape;360;p51"/>
          <p:cNvCxnSpPr>
            <a:stCxn id="357" idx="3"/>
            <a:endCxn id="349" idx="1"/>
          </p:cNvCxnSpPr>
          <p:nvPr/>
        </p:nvCxnSpPr>
        <p:spPr>
          <a:xfrm>
            <a:off x="5099400" y="995400"/>
            <a:ext cx="392400" cy="305700"/>
          </a:xfrm>
          <a:prstGeom prst="straightConnector1">
            <a:avLst/>
          </a:prstGeom>
          <a:noFill/>
          <a:ln cap="flat" cmpd="sng" w="9525">
            <a:solidFill>
              <a:srgbClr val="666666"/>
            </a:solidFill>
            <a:prstDash val="solid"/>
            <a:round/>
            <a:headEnd len="med" w="med" type="none"/>
            <a:tailEnd len="med" w="med" type="triangle"/>
          </a:ln>
        </p:spPr>
      </p:cxnSp>
      <p:cxnSp>
        <p:nvCxnSpPr>
          <p:cNvPr id="361" name="Google Shape;361;p51"/>
          <p:cNvCxnSpPr>
            <a:stCxn id="357" idx="2"/>
            <a:endCxn id="359" idx="0"/>
          </p:cNvCxnSpPr>
          <p:nvPr/>
        </p:nvCxnSpPr>
        <p:spPr>
          <a:xfrm flipH="1">
            <a:off x="4542150" y="1205850"/>
            <a:ext cx="13200" cy="387900"/>
          </a:xfrm>
          <a:prstGeom prst="straightConnector1">
            <a:avLst/>
          </a:prstGeom>
          <a:noFill/>
          <a:ln cap="flat" cmpd="sng" w="9525">
            <a:solidFill>
              <a:srgbClr val="666666"/>
            </a:solidFill>
            <a:prstDash val="solid"/>
            <a:round/>
            <a:headEnd len="med" w="med" type="none"/>
            <a:tailEnd len="med" w="med" type="triangle"/>
          </a:ln>
        </p:spPr>
      </p:cxnSp>
      <p:cxnSp>
        <p:nvCxnSpPr>
          <p:cNvPr id="362" name="Google Shape;362;p51"/>
          <p:cNvCxnSpPr>
            <a:stCxn id="359" idx="1"/>
            <a:endCxn id="348" idx="3"/>
          </p:cNvCxnSpPr>
          <p:nvPr/>
        </p:nvCxnSpPr>
        <p:spPr>
          <a:xfrm rot="10800000">
            <a:off x="3585850" y="1259802"/>
            <a:ext cx="436200" cy="528000"/>
          </a:xfrm>
          <a:prstGeom prst="straightConnector1">
            <a:avLst/>
          </a:prstGeom>
          <a:noFill/>
          <a:ln cap="flat" cmpd="sng" w="9525">
            <a:solidFill>
              <a:srgbClr val="666666"/>
            </a:solidFill>
            <a:prstDash val="solid"/>
            <a:round/>
            <a:headEnd len="med" w="med" type="none"/>
            <a:tailEnd len="med" w="med" type="triangle"/>
          </a:ln>
        </p:spPr>
      </p:cxnSp>
      <p:cxnSp>
        <p:nvCxnSpPr>
          <p:cNvPr id="363" name="Google Shape;363;p51"/>
          <p:cNvCxnSpPr>
            <a:stCxn id="359" idx="0"/>
            <a:endCxn id="349" idx="1"/>
          </p:cNvCxnSpPr>
          <p:nvPr/>
        </p:nvCxnSpPr>
        <p:spPr>
          <a:xfrm flipH="1" rot="10800000">
            <a:off x="4542100" y="1301352"/>
            <a:ext cx="949800" cy="292500"/>
          </a:xfrm>
          <a:prstGeom prst="straightConnector1">
            <a:avLst/>
          </a:prstGeom>
          <a:noFill/>
          <a:ln cap="flat" cmpd="sng" w="9525">
            <a:solidFill>
              <a:srgbClr val="666666"/>
            </a:solidFill>
            <a:prstDash val="solid"/>
            <a:round/>
            <a:headEnd len="med" w="med" type="stealth"/>
            <a:tailEnd len="med" w="med" type="none"/>
          </a:ln>
        </p:spPr>
      </p:cxnSp>
      <p:cxnSp>
        <p:nvCxnSpPr>
          <p:cNvPr id="364" name="Google Shape;364;p51"/>
          <p:cNvCxnSpPr>
            <a:stCxn id="358" idx="1"/>
            <a:endCxn id="356" idx="3"/>
          </p:cNvCxnSpPr>
          <p:nvPr/>
        </p:nvCxnSpPr>
        <p:spPr>
          <a:xfrm flipH="1">
            <a:off x="3528025" y="3585225"/>
            <a:ext cx="490800" cy="111900"/>
          </a:xfrm>
          <a:prstGeom prst="straightConnector1">
            <a:avLst/>
          </a:prstGeom>
          <a:noFill/>
          <a:ln cap="flat" cmpd="sng" w="9525">
            <a:solidFill>
              <a:srgbClr val="666666"/>
            </a:solidFill>
            <a:prstDash val="solid"/>
            <a:round/>
            <a:headEnd len="med" w="med" type="none"/>
            <a:tailEnd len="med" w="med" type="triangle"/>
          </a:ln>
        </p:spPr>
      </p:cxnSp>
      <p:cxnSp>
        <p:nvCxnSpPr>
          <p:cNvPr id="365" name="Google Shape;365;p51"/>
          <p:cNvCxnSpPr>
            <a:stCxn id="358" idx="3"/>
            <a:endCxn id="351" idx="1"/>
          </p:cNvCxnSpPr>
          <p:nvPr/>
        </p:nvCxnSpPr>
        <p:spPr>
          <a:xfrm>
            <a:off x="5058925" y="3585225"/>
            <a:ext cx="432900" cy="153600"/>
          </a:xfrm>
          <a:prstGeom prst="straightConnector1">
            <a:avLst/>
          </a:prstGeom>
          <a:noFill/>
          <a:ln cap="flat" cmpd="sng" w="9525">
            <a:solidFill>
              <a:srgbClr val="666666"/>
            </a:solidFill>
            <a:prstDash val="solid"/>
            <a:round/>
            <a:headEnd len="med" w="med" type="none"/>
            <a:tailEnd len="med" w="med" type="triangle"/>
          </a:ln>
        </p:spPr>
      </p:cxnSp>
      <p:cxnSp>
        <p:nvCxnSpPr>
          <p:cNvPr id="366" name="Google Shape;366;p51"/>
          <p:cNvCxnSpPr>
            <a:stCxn id="359" idx="2"/>
            <a:endCxn id="358" idx="0"/>
          </p:cNvCxnSpPr>
          <p:nvPr/>
        </p:nvCxnSpPr>
        <p:spPr>
          <a:xfrm flipH="1">
            <a:off x="4538800" y="1981752"/>
            <a:ext cx="3300" cy="1392900"/>
          </a:xfrm>
          <a:prstGeom prst="straightConnector1">
            <a:avLst/>
          </a:prstGeom>
          <a:noFill/>
          <a:ln cap="flat" cmpd="sng" w="9525">
            <a:solidFill>
              <a:srgbClr val="666666"/>
            </a:solidFill>
            <a:prstDash val="solid"/>
            <a:round/>
            <a:headEnd len="med" w="med" type="none"/>
            <a:tailEnd len="med" w="med" type="triangle"/>
          </a:ln>
        </p:spPr>
      </p:cxnSp>
      <p:sp>
        <p:nvSpPr>
          <p:cNvPr id="367" name="Google Shape;367;p51"/>
          <p:cNvSpPr txBox="1"/>
          <p:nvPr/>
        </p:nvSpPr>
        <p:spPr>
          <a:xfrm>
            <a:off x="4639047" y="1999920"/>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rgbClr val="666666"/>
              </a:solidFill>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2"/>
          <p:cNvSpPr/>
          <p:nvPr/>
        </p:nvSpPr>
        <p:spPr>
          <a:xfrm>
            <a:off x="5555750" y="2723075"/>
            <a:ext cx="1088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373" name="Google Shape;373;p52"/>
          <p:cNvSpPr/>
          <p:nvPr/>
        </p:nvSpPr>
        <p:spPr>
          <a:xfrm>
            <a:off x="5603100" y="4227900"/>
            <a:ext cx="1040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374" name="Google Shape;374;p52"/>
          <p:cNvSpPr/>
          <p:nvPr/>
        </p:nvSpPr>
        <p:spPr>
          <a:xfrm>
            <a:off x="5566500" y="3531977"/>
            <a:ext cx="1040100" cy="387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sp>
        <p:nvSpPr>
          <p:cNvPr id="375" name="Google Shape;375;p52"/>
          <p:cNvSpPr/>
          <p:nvPr/>
        </p:nvSpPr>
        <p:spPr>
          <a:xfrm>
            <a:off x="423200" y="374475"/>
            <a:ext cx="4842600" cy="3365100"/>
          </a:xfrm>
          <a:prstGeom prst="rect">
            <a:avLst/>
          </a:prstGeom>
          <a:solidFill>
            <a:srgbClr val="FFAB40"/>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latin typeface="Proxima Nova"/>
                <a:ea typeface="Proxima Nova"/>
                <a:cs typeface="Proxima Nova"/>
                <a:sym typeface="Proxima Nova"/>
              </a:rPr>
              <a:t>Unsupervised</a:t>
            </a:r>
            <a:r>
              <a:rPr lang="en" sz="1600">
                <a:latin typeface="Proxima Nova"/>
                <a:ea typeface="Proxima Nova"/>
                <a:cs typeface="Proxima Nova"/>
                <a:sym typeface="Proxima Nova"/>
              </a:rPr>
              <a:t>: Clustering</a:t>
            </a:r>
            <a:endParaRPr sz="1600">
              <a:latin typeface="Proxima Nova"/>
              <a:ea typeface="Proxima Nova"/>
              <a:cs typeface="Proxima Nova"/>
              <a:sym typeface="Proxima Nova"/>
            </a:endParaRPr>
          </a:p>
        </p:txBody>
      </p:sp>
      <p:sp>
        <p:nvSpPr>
          <p:cNvPr id="376" name="Google Shape;376;p52"/>
          <p:cNvSpPr/>
          <p:nvPr/>
        </p:nvSpPr>
        <p:spPr>
          <a:xfrm>
            <a:off x="6937125" y="2720200"/>
            <a:ext cx="1040100" cy="6297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p:txBody>
      </p:sp>
      <p:sp>
        <p:nvSpPr>
          <p:cNvPr id="377" name="Google Shape;377;p52"/>
          <p:cNvSpPr/>
          <p:nvPr/>
        </p:nvSpPr>
        <p:spPr>
          <a:xfrm>
            <a:off x="4263475" y="4095950"/>
            <a:ext cx="1088100" cy="547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p:txBody>
      </p:sp>
      <p:sp>
        <p:nvSpPr>
          <p:cNvPr id="378" name="Google Shape;378;p52"/>
          <p:cNvSpPr/>
          <p:nvPr/>
        </p:nvSpPr>
        <p:spPr>
          <a:xfrm>
            <a:off x="7043050" y="4095950"/>
            <a:ext cx="934200" cy="547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p:txBody>
      </p:sp>
      <p:cxnSp>
        <p:nvCxnSpPr>
          <p:cNvPr id="379" name="Google Shape;379;p52"/>
          <p:cNvCxnSpPr>
            <a:stCxn id="372" idx="3"/>
            <a:endCxn id="376" idx="1"/>
          </p:cNvCxnSpPr>
          <p:nvPr/>
        </p:nvCxnSpPr>
        <p:spPr>
          <a:xfrm>
            <a:off x="6643850" y="2933525"/>
            <a:ext cx="293400" cy="101400"/>
          </a:xfrm>
          <a:prstGeom prst="straightConnector1">
            <a:avLst/>
          </a:prstGeom>
          <a:noFill/>
          <a:ln cap="flat" cmpd="sng" w="9525">
            <a:solidFill>
              <a:srgbClr val="666666"/>
            </a:solidFill>
            <a:prstDash val="solid"/>
            <a:round/>
            <a:headEnd len="med" w="med" type="none"/>
            <a:tailEnd len="med" w="med" type="triangle"/>
          </a:ln>
        </p:spPr>
      </p:cxnSp>
      <p:cxnSp>
        <p:nvCxnSpPr>
          <p:cNvPr id="380" name="Google Shape;380;p52"/>
          <p:cNvCxnSpPr>
            <a:stCxn id="372" idx="2"/>
            <a:endCxn id="374" idx="0"/>
          </p:cNvCxnSpPr>
          <p:nvPr/>
        </p:nvCxnSpPr>
        <p:spPr>
          <a:xfrm flipH="1">
            <a:off x="6086600" y="3143975"/>
            <a:ext cx="13200" cy="387900"/>
          </a:xfrm>
          <a:prstGeom prst="straightConnector1">
            <a:avLst/>
          </a:prstGeom>
          <a:noFill/>
          <a:ln cap="flat" cmpd="sng" w="9525">
            <a:solidFill>
              <a:srgbClr val="666666"/>
            </a:solidFill>
            <a:prstDash val="solid"/>
            <a:round/>
            <a:headEnd len="med" w="med" type="none"/>
            <a:tailEnd len="med" w="med" type="triangle"/>
          </a:ln>
        </p:spPr>
      </p:cxnSp>
      <p:cxnSp>
        <p:nvCxnSpPr>
          <p:cNvPr id="381" name="Google Shape;381;p52"/>
          <p:cNvCxnSpPr>
            <a:stCxn id="374" idx="1"/>
            <a:endCxn id="382" idx="3"/>
          </p:cNvCxnSpPr>
          <p:nvPr/>
        </p:nvCxnSpPr>
        <p:spPr>
          <a:xfrm rot="10800000">
            <a:off x="4966200" y="2783027"/>
            <a:ext cx="600300" cy="942900"/>
          </a:xfrm>
          <a:prstGeom prst="straightConnector1">
            <a:avLst/>
          </a:prstGeom>
          <a:noFill/>
          <a:ln cap="flat" cmpd="sng" w="9525">
            <a:solidFill>
              <a:srgbClr val="666666"/>
            </a:solidFill>
            <a:prstDash val="solid"/>
            <a:round/>
            <a:headEnd len="med" w="med" type="none"/>
            <a:tailEnd len="med" w="med" type="triangle"/>
          </a:ln>
        </p:spPr>
      </p:cxnSp>
      <p:cxnSp>
        <p:nvCxnSpPr>
          <p:cNvPr id="383" name="Google Shape;383;p52"/>
          <p:cNvCxnSpPr>
            <a:stCxn id="374" idx="0"/>
            <a:endCxn id="376" idx="2"/>
          </p:cNvCxnSpPr>
          <p:nvPr/>
        </p:nvCxnSpPr>
        <p:spPr>
          <a:xfrm flipH="1" rot="10800000">
            <a:off x="6086550" y="3349877"/>
            <a:ext cx="1370700" cy="182100"/>
          </a:xfrm>
          <a:prstGeom prst="straightConnector1">
            <a:avLst/>
          </a:prstGeom>
          <a:noFill/>
          <a:ln cap="flat" cmpd="sng" w="9525">
            <a:solidFill>
              <a:srgbClr val="666666"/>
            </a:solidFill>
            <a:prstDash val="solid"/>
            <a:round/>
            <a:headEnd len="med" w="med" type="stealth"/>
            <a:tailEnd len="med" w="med" type="none"/>
          </a:ln>
        </p:spPr>
      </p:cxnSp>
      <p:cxnSp>
        <p:nvCxnSpPr>
          <p:cNvPr id="384" name="Google Shape;384;p52"/>
          <p:cNvCxnSpPr>
            <a:stCxn id="373" idx="1"/>
            <a:endCxn id="377" idx="3"/>
          </p:cNvCxnSpPr>
          <p:nvPr/>
        </p:nvCxnSpPr>
        <p:spPr>
          <a:xfrm rot="10800000">
            <a:off x="5351700" y="4369650"/>
            <a:ext cx="251400" cy="68700"/>
          </a:xfrm>
          <a:prstGeom prst="straightConnector1">
            <a:avLst/>
          </a:prstGeom>
          <a:noFill/>
          <a:ln cap="flat" cmpd="sng" w="9525">
            <a:solidFill>
              <a:srgbClr val="666666"/>
            </a:solidFill>
            <a:prstDash val="solid"/>
            <a:round/>
            <a:headEnd len="med" w="med" type="none"/>
            <a:tailEnd len="med" w="med" type="triangle"/>
          </a:ln>
        </p:spPr>
      </p:cxnSp>
      <p:cxnSp>
        <p:nvCxnSpPr>
          <p:cNvPr id="385" name="Google Shape;385;p52"/>
          <p:cNvCxnSpPr>
            <a:stCxn id="373" idx="3"/>
            <a:endCxn id="378" idx="1"/>
          </p:cNvCxnSpPr>
          <p:nvPr/>
        </p:nvCxnSpPr>
        <p:spPr>
          <a:xfrm flipH="1" rot="10800000">
            <a:off x="6643200" y="4369650"/>
            <a:ext cx="399900" cy="68700"/>
          </a:xfrm>
          <a:prstGeom prst="straightConnector1">
            <a:avLst/>
          </a:prstGeom>
          <a:noFill/>
          <a:ln cap="flat" cmpd="sng" w="9525">
            <a:solidFill>
              <a:srgbClr val="666666"/>
            </a:solidFill>
            <a:prstDash val="solid"/>
            <a:round/>
            <a:headEnd len="med" w="med" type="none"/>
            <a:tailEnd len="med" w="med" type="triangle"/>
          </a:ln>
        </p:spPr>
      </p:cxnSp>
      <p:cxnSp>
        <p:nvCxnSpPr>
          <p:cNvPr id="386" name="Google Shape;386;p52"/>
          <p:cNvCxnSpPr>
            <a:stCxn id="374" idx="2"/>
            <a:endCxn id="373" idx="0"/>
          </p:cNvCxnSpPr>
          <p:nvPr/>
        </p:nvCxnSpPr>
        <p:spPr>
          <a:xfrm>
            <a:off x="6086550" y="3919877"/>
            <a:ext cx="36600" cy="308100"/>
          </a:xfrm>
          <a:prstGeom prst="straightConnector1">
            <a:avLst/>
          </a:prstGeom>
          <a:noFill/>
          <a:ln cap="flat" cmpd="sng" w="9525">
            <a:solidFill>
              <a:srgbClr val="666666"/>
            </a:solidFill>
            <a:prstDash val="solid"/>
            <a:round/>
            <a:headEnd len="med" w="med" type="none"/>
            <a:tailEnd len="med" w="med" type="triangle"/>
          </a:ln>
        </p:spPr>
      </p:cxnSp>
      <p:sp>
        <p:nvSpPr>
          <p:cNvPr id="387" name="Google Shape;387;p52"/>
          <p:cNvSpPr txBox="1"/>
          <p:nvPr/>
        </p:nvSpPr>
        <p:spPr>
          <a:xfrm>
            <a:off x="6689028" y="2737033"/>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388" name="Google Shape;388;p52"/>
          <p:cNvSpPr txBox="1"/>
          <p:nvPr/>
        </p:nvSpPr>
        <p:spPr>
          <a:xfrm>
            <a:off x="6183497" y="3938045"/>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389" name="Google Shape;389;p52"/>
          <p:cNvSpPr txBox="1"/>
          <p:nvPr/>
        </p:nvSpPr>
        <p:spPr>
          <a:xfrm>
            <a:off x="6735862" y="4166688"/>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390" name="Google Shape;390;p52"/>
          <p:cNvSpPr txBox="1"/>
          <p:nvPr/>
        </p:nvSpPr>
        <p:spPr>
          <a:xfrm>
            <a:off x="6178841" y="3200746"/>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391" name="Google Shape;391;p52"/>
          <p:cNvSpPr txBox="1"/>
          <p:nvPr/>
        </p:nvSpPr>
        <p:spPr>
          <a:xfrm>
            <a:off x="5267380" y="35251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392" name="Google Shape;392;p52"/>
          <p:cNvSpPr txBox="1"/>
          <p:nvPr/>
        </p:nvSpPr>
        <p:spPr>
          <a:xfrm>
            <a:off x="5349046" y="4106678"/>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382" name="Google Shape;382;p52"/>
          <p:cNvSpPr/>
          <p:nvPr/>
        </p:nvSpPr>
        <p:spPr>
          <a:xfrm>
            <a:off x="3872745" y="2516388"/>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Hierarchical?</a:t>
            </a:r>
            <a:endParaRPr sz="1000">
              <a:latin typeface="Proxima Nova"/>
              <a:ea typeface="Proxima Nova"/>
              <a:cs typeface="Proxima Nova"/>
              <a:sym typeface="Proxima Nova"/>
            </a:endParaRPr>
          </a:p>
        </p:txBody>
      </p:sp>
      <p:sp>
        <p:nvSpPr>
          <p:cNvPr id="393" name="Google Shape;393;p52"/>
          <p:cNvSpPr/>
          <p:nvPr/>
        </p:nvSpPr>
        <p:spPr>
          <a:xfrm>
            <a:off x="2394871" y="2516388"/>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Specify k?</a:t>
            </a:r>
            <a:endParaRPr sz="1000">
              <a:latin typeface="Proxima Nova"/>
              <a:ea typeface="Proxima Nova"/>
              <a:cs typeface="Proxima Nova"/>
              <a:sym typeface="Proxima Nova"/>
            </a:endParaRPr>
          </a:p>
        </p:txBody>
      </p:sp>
      <p:sp>
        <p:nvSpPr>
          <p:cNvPr id="394" name="Google Shape;394;p52"/>
          <p:cNvSpPr/>
          <p:nvPr/>
        </p:nvSpPr>
        <p:spPr>
          <a:xfrm>
            <a:off x="2394871" y="1503344"/>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Categorical variables?</a:t>
            </a:r>
            <a:endParaRPr sz="1000">
              <a:latin typeface="Proxima Nova"/>
              <a:ea typeface="Proxima Nova"/>
              <a:cs typeface="Proxima Nova"/>
              <a:sym typeface="Proxima Nova"/>
            </a:endParaRPr>
          </a:p>
        </p:txBody>
      </p:sp>
      <p:sp>
        <p:nvSpPr>
          <p:cNvPr id="395" name="Google Shape;395;p52"/>
          <p:cNvSpPr/>
          <p:nvPr/>
        </p:nvSpPr>
        <p:spPr>
          <a:xfrm>
            <a:off x="985616" y="1503344"/>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Prefer probabilities?</a:t>
            </a:r>
            <a:endParaRPr sz="1000">
              <a:latin typeface="Proxima Nova"/>
              <a:ea typeface="Proxima Nova"/>
              <a:cs typeface="Proxima Nova"/>
              <a:sym typeface="Proxima Nova"/>
            </a:endParaRPr>
          </a:p>
        </p:txBody>
      </p:sp>
      <p:cxnSp>
        <p:nvCxnSpPr>
          <p:cNvPr id="396" name="Google Shape;396;p52"/>
          <p:cNvCxnSpPr>
            <a:stCxn id="382" idx="1"/>
            <a:endCxn id="393" idx="3"/>
          </p:cNvCxnSpPr>
          <p:nvPr/>
        </p:nvCxnSpPr>
        <p:spPr>
          <a:xfrm rot="10800000">
            <a:off x="3488445" y="2782938"/>
            <a:ext cx="384300" cy="0"/>
          </a:xfrm>
          <a:prstGeom prst="straightConnector1">
            <a:avLst/>
          </a:prstGeom>
          <a:noFill/>
          <a:ln cap="flat" cmpd="sng" w="9525">
            <a:solidFill>
              <a:srgbClr val="666666"/>
            </a:solidFill>
            <a:prstDash val="solid"/>
            <a:round/>
            <a:headEnd len="med" w="med" type="none"/>
            <a:tailEnd len="med" w="med" type="triangle"/>
          </a:ln>
        </p:spPr>
      </p:cxnSp>
      <p:cxnSp>
        <p:nvCxnSpPr>
          <p:cNvPr id="397" name="Google Shape;397;p52"/>
          <p:cNvCxnSpPr>
            <a:stCxn id="393" idx="0"/>
            <a:endCxn id="394" idx="2"/>
          </p:cNvCxnSpPr>
          <p:nvPr/>
        </p:nvCxnSpPr>
        <p:spPr>
          <a:xfrm rot="10800000">
            <a:off x="2941621" y="2036388"/>
            <a:ext cx="0" cy="480000"/>
          </a:xfrm>
          <a:prstGeom prst="straightConnector1">
            <a:avLst/>
          </a:prstGeom>
          <a:noFill/>
          <a:ln cap="flat" cmpd="sng" w="9525">
            <a:solidFill>
              <a:srgbClr val="666666"/>
            </a:solidFill>
            <a:prstDash val="solid"/>
            <a:round/>
            <a:headEnd len="med" w="med" type="none"/>
            <a:tailEnd len="med" w="med" type="triangle"/>
          </a:ln>
        </p:spPr>
      </p:cxnSp>
      <p:cxnSp>
        <p:nvCxnSpPr>
          <p:cNvPr id="398" name="Google Shape;398;p52"/>
          <p:cNvCxnSpPr>
            <a:stCxn id="394" idx="1"/>
            <a:endCxn id="395" idx="3"/>
          </p:cNvCxnSpPr>
          <p:nvPr/>
        </p:nvCxnSpPr>
        <p:spPr>
          <a:xfrm rot="10800000">
            <a:off x="2078971" y="1769894"/>
            <a:ext cx="315900" cy="0"/>
          </a:xfrm>
          <a:prstGeom prst="straightConnector1">
            <a:avLst/>
          </a:prstGeom>
          <a:noFill/>
          <a:ln cap="flat" cmpd="sng" w="9525">
            <a:solidFill>
              <a:srgbClr val="666666"/>
            </a:solidFill>
            <a:prstDash val="solid"/>
            <a:round/>
            <a:headEnd len="med" w="med" type="none"/>
            <a:tailEnd len="med" w="med" type="triangle"/>
          </a:ln>
        </p:spPr>
      </p:cxnSp>
      <p:sp>
        <p:nvSpPr>
          <p:cNvPr id="399" name="Google Shape;399;p52"/>
          <p:cNvSpPr txBox="1"/>
          <p:nvPr/>
        </p:nvSpPr>
        <p:spPr>
          <a:xfrm>
            <a:off x="3612007" y="2750639"/>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00" name="Google Shape;400;p52"/>
          <p:cNvSpPr txBox="1"/>
          <p:nvPr/>
        </p:nvSpPr>
        <p:spPr>
          <a:xfrm>
            <a:off x="2983360" y="309507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01" name="Google Shape;401;p52"/>
          <p:cNvSpPr txBox="1"/>
          <p:nvPr/>
        </p:nvSpPr>
        <p:spPr>
          <a:xfrm>
            <a:off x="2156922" y="1785533"/>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02" name="Google Shape;402;p52"/>
          <p:cNvSpPr txBox="1"/>
          <p:nvPr/>
        </p:nvSpPr>
        <p:spPr>
          <a:xfrm>
            <a:off x="1544255" y="1206470"/>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03" name="Google Shape;403;p52"/>
          <p:cNvSpPr txBox="1"/>
          <p:nvPr/>
        </p:nvSpPr>
        <p:spPr>
          <a:xfrm>
            <a:off x="1544255" y="207506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04" name="Google Shape;404;p52"/>
          <p:cNvSpPr txBox="1"/>
          <p:nvPr/>
        </p:nvSpPr>
        <p:spPr>
          <a:xfrm>
            <a:off x="2922756" y="217157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05" name="Google Shape;405;p52"/>
          <p:cNvSpPr txBox="1"/>
          <p:nvPr/>
        </p:nvSpPr>
        <p:spPr>
          <a:xfrm>
            <a:off x="2922756" y="1206470"/>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06" name="Google Shape;406;p52"/>
          <p:cNvSpPr/>
          <p:nvPr/>
        </p:nvSpPr>
        <p:spPr>
          <a:xfrm>
            <a:off x="3896866" y="1826756"/>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Hierarchical</a:t>
            </a:r>
            <a:endParaRPr sz="1000">
              <a:latin typeface="Proxima Nova"/>
              <a:ea typeface="Proxima Nova"/>
              <a:cs typeface="Proxima Nova"/>
              <a:sym typeface="Proxima Nova"/>
            </a:endParaRPr>
          </a:p>
        </p:txBody>
      </p:sp>
      <p:sp>
        <p:nvSpPr>
          <p:cNvPr id="407" name="Google Shape;407;p52"/>
          <p:cNvSpPr txBox="1"/>
          <p:nvPr/>
        </p:nvSpPr>
        <p:spPr>
          <a:xfrm>
            <a:off x="4377841" y="217157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cxnSp>
        <p:nvCxnSpPr>
          <p:cNvPr id="408" name="Google Shape;408;p52"/>
          <p:cNvCxnSpPr>
            <a:stCxn id="382" idx="0"/>
            <a:endCxn id="406" idx="2"/>
          </p:cNvCxnSpPr>
          <p:nvPr/>
        </p:nvCxnSpPr>
        <p:spPr>
          <a:xfrm rot="10800000">
            <a:off x="4419495" y="2098488"/>
            <a:ext cx="0" cy="417900"/>
          </a:xfrm>
          <a:prstGeom prst="straightConnector1">
            <a:avLst/>
          </a:prstGeom>
          <a:noFill/>
          <a:ln cap="flat" cmpd="sng" w="9525">
            <a:solidFill>
              <a:srgbClr val="666666"/>
            </a:solidFill>
            <a:prstDash val="solid"/>
            <a:round/>
            <a:headEnd len="med" w="med" type="none"/>
            <a:tailEnd len="med" w="med" type="triangle"/>
          </a:ln>
        </p:spPr>
      </p:cxnSp>
      <p:sp>
        <p:nvSpPr>
          <p:cNvPr id="409" name="Google Shape;409;p52"/>
          <p:cNvSpPr/>
          <p:nvPr/>
        </p:nvSpPr>
        <p:spPr>
          <a:xfrm>
            <a:off x="2418992" y="909589"/>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k-modes</a:t>
            </a:r>
            <a:endParaRPr sz="1000">
              <a:latin typeface="Proxima Nova"/>
              <a:ea typeface="Proxima Nova"/>
              <a:cs typeface="Proxima Nova"/>
              <a:sym typeface="Proxima Nova"/>
            </a:endParaRPr>
          </a:p>
        </p:txBody>
      </p:sp>
      <p:cxnSp>
        <p:nvCxnSpPr>
          <p:cNvPr id="410" name="Google Shape;410;p52"/>
          <p:cNvCxnSpPr>
            <a:stCxn id="394" idx="0"/>
            <a:endCxn id="409" idx="2"/>
          </p:cNvCxnSpPr>
          <p:nvPr/>
        </p:nvCxnSpPr>
        <p:spPr>
          <a:xfrm rot="10800000">
            <a:off x="2941621" y="1181444"/>
            <a:ext cx="0" cy="321900"/>
          </a:xfrm>
          <a:prstGeom prst="straightConnector1">
            <a:avLst/>
          </a:prstGeom>
          <a:noFill/>
          <a:ln cap="flat" cmpd="sng" w="9525">
            <a:solidFill>
              <a:srgbClr val="666666"/>
            </a:solidFill>
            <a:prstDash val="solid"/>
            <a:round/>
            <a:headEnd len="med" w="med" type="none"/>
            <a:tailEnd len="med" w="med" type="triangle"/>
          </a:ln>
        </p:spPr>
      </p:cxnSp>
      <p:sp>
        <p:nvSpPr>
          <p:cNvPr id="411" name="Google Shape;411;p52"/>
          <p:cNvSpPr/>
          <p:nvPr/>
        </p:nvSpPr>
        <p:spPr>
          <a:xfrm>
            <a:off x="1009737" y="909589"/>
            <a:ext cx="1045200" cy="271800"/>
          </a:xfrm>
          <a:prstGeom prst="rect">
            <a:avLst/>
          </a:prstGeom>
          <a:solidFill>
            <a:srgbClr val="FF572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k-means</a:t>
            </a:r>
            <a:endParaRPr sz="1000">
              <a:latin typeface="Proxima Nova"/>
              <a:ea typeface="Proxima Nova"/>
              <a:cs typeface="Proxima Nova"/>
              <a:sym typeface="Proxima Nova"/>
            </a:endParaRPr>
          </a:p>
        </p:txBody>
      </p:sp>
      <p:cxnSp>
        <p:nvCxnSpPr>
          <p:cNvPr id="412" name="Google Shape;412;p52"/>
          <p:cNvCxnSpPr>
            <a:stCxn id="395" idx="0"/>
            <a:endCxn id="411" idx="2"/>
          </p:cNvCxnSpPr>
          <p:nvPr/>
        </p:nvCxnSpPr>
        <p:spPr>
          <a:xfrm rot="10800000">
            <a:off x="1532366" y="1181444"/>
            <a:ext cx="0" cy="321900"/>
          </a:xfrm>
          <a:prstGeom prst="straightConnector1">
            <a:avLst/>
          </a:prstGeom>
          <a:noFill/>
          <a:ln cap="flat" cmpd="sng" w="9525">
            <a:solidFill>
              <a:srgbClr val="666666"/>
            </a:solidFill>
            <a:prstDash val="solid"/>
            <a:round/>
            <a:headEnd len="med" w="med" type="none"/>
            <a:tailEnd len="med" w="med" type="triangle"/>
          </a:ln>
        </p:spPr>
      </p:cxnSp>
      <p:sp>
        <p:nvSpPr>
          <p:cNvPr id="413" name="Google Shape;413;p52"/>
          <p:cNvSpPr/>
          <p:nvPr/>
        </p:nvSpPr>
        <p:spPr>
          <a:xfrm>
            <a:off x="1009737" y="2346735"/>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GMMs</a:t>
            </a:r>
            <a:endParaRPr sz="1000">
              <a:latin typeface="Proxima Nova"/>
              <a:ea typeface="Proxima Nova"/>
              <a:cs typeface="Proxima Nova"/>
              <a:sym typeface="Proxima Nova"/>
            </a:endParaRPr>
          </a:p>
        </p:txBody>
      </p:sp>
      <p:cxnSp>
        <p:nvCxnSpPr>
          <p:cNvPr id="414" name="Google Shape;414;p52"/>
          <p:cNvCxnSpPr>
            <a:stCxn id="395" idx="2"/>
            <a:endCxn id="413" idx="0"/>
          </p:cNvCxnSpPr>
          <p:nvPr/>
        </p:nvCxnSpPr>
        <p:spPr>
          <a:xfrm>
            <a:off x="1532366" y="2036444"/>
            <a:ext cx="0" cy="310200"/>
          </a:xfrm>
          <a:prstGeom prst="straightConnector1">
            <a:avLst/>
          </a:prstGeom>
          <a:noFill/>
          <a:ln cap="flat" cmpd="sng" w="9525">
            <a:solidFill>
              <a:srgbClr val="666666"/>
            </a:solidFill>
            <a:prstDash val="solid"/>
            <a:round/>
            <a:headEnd len="med" w="med" type="none"/>
            <a:tailEnd len="med" w="med" type="triangle"/>
          </a:ln>
        </p:spPr>
      </p:cxnSp>
      <p:sp>
        <p:nvSpPr>
          <p:cNvPr id="415" name="Google Shape;415;p52"/>
          <p:cNvSpPr/>
          <p:nvPr/>
        </p:nvSpPr>
        <p:spPr>
          <a:xfrm>
            <a:off x="2418992" y="3371621"/>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DBSCAN</a:t>
            </a:r>
            <a:endParaRPr sz="1000">
              <a:latin typeface="Proxima Nova"/>
              <a:ea typeface="Proxima Nova"/>
              <a:cs typeface="Proxima Nova"/>
              <a:sym typeface="Proxima Nova"/>
            </a:endParaRPr>
          </a:p>
        </p:txBody>
      </p:sp>
      <p:cxnSp>
        <p:nvCxnSpPr>
          <p:cNvPr id="416" name="Google Shape;416;p52"/>
          <p:cNvCxnSpPr>
            <a:stCxn id="393" idx="2"/>
            <a:endCxn id="415" idx="0"/>
          </p:cNvCxnSpPr>
          <p:nvPr/>
        </p:nvCxnSpPr>
        <p:spPr>
          <a:xfrm>
            <a:off x="2941621" y="3049488"/>
            <a:ext cx="0" cy="322200"/>
          </a:xfrm>
          <a:prstGeom prst="straightConnector1">
            <a:avLst/>
          </a:prstGeom>
          <a:noFill/>
          <a:ln cap="flat" cmpd="sng" w="9525">
            <a:solidFill>
              <a:srgbClr val="666666"/>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3"/>
          <p:cNvSpPr/>
          <p:nvPr/>
        </p:nvSpPr>
        <p:spPr>
          <a:xfrm>
            <a:off x="1882375" y="2450625"/>
            <a:ext cx="1088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422" name="Google Shape;422;p53"/>
          <p:cNvSpPr/>
          <p:nvPr/>
        </p:nvSpPr>
        <p:spPr>
          <a:xfrm>
            <a:off x="1929725" y="3955450"/>
            <a:ext cx="1040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423" name="Google Shape;423;p53"/>
          <p:cNvSpPr/>
          <p:nvPr/>
        </p:nvSpPr>
        <p:spPr>
          <a:xfrm>
            <a:off x="1893125" y="3259527"/>
            <a:ext cx="1040100" cy="387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sp>
        <p:nvSpPr>
          <p:cNvPr id="424" name="Google Shape;424;p53"/>
          <p:cNvSpPr/>
          <p:nvPr/>
        </p:nvSpPr>
        <p:spPr>
          <a:xfrm>
            <a:off x="311700" y="2425413"/>
            <a:ext cx="1277400" cy="572700"/>
          </a:xfrm>
          <a:prstGeom prst="rect">
            <a:avLst/>
          </a:prstGeom>
          <a:solidFill>
            <a:srgbClr val="FFAB40"/>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Proxima Nova"/>
                <a:ea typeface="Proxima Nova"/>
                <a:cs typeface="Proxima Nova"/>
                <a:sym typeface="Proxima Nova"/>
              </a:rPr>
              <a:t>Unsupervised</a:t>
            </a:r>
            <a:r>
              <a:rPr lang="en" sz="1100">
                <a:latin typeface="Proxima Nova"/>
                <a:ea typeface="Proxima Nova"/>
                <a:cs typeface="Proxima Nova"/>
                <a:sym typeface="Proxima Nova"/>
              </a:rPr>
              <a:t>: Clustering</a:t>
            </a:r>
            <a:endParaRPr sz="1100">
              <a:latin typeface="Proxima Nova"/>
              <a:ea typeface="Proxima Nova"/>
              <a:cs typeface="Proxima Nova"/>
              <a:sym typeface="Proxima Nova"/>
            </a:endParaRPr>
          </a:p>
        </p:txBody>
      </p:sp>
      <p:sp>
        <p:nvSpPr>
          <p:cNvPr id="425" name="Google Shape;425;p53"/>
          <p:cNvSpPr/>
          <p:nvPr/>
        </p:nvSpPr>
        <p:spPr>
          <a:xfrm>
            <a:off x="3717825" y="1017725"/>
            <a:ext cx="4225200" cy="21252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sp>
        <p:nvSpPr>
          <p:cNvPr id="426" name="Google Shape;426;p53"/>
          <p:cNvSpPr/>
          <p:nvPr/>
        </p:nvSpPr>
        <p:spPr>
          <a:xfrm>
            <a:off x="590100" y="3823500"/>
            <a:ext cx="1088100" cy="547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p:txBody>
      </p:sp>
      <p:sp>
        <p:nvSpPr>
          <p:cNvPr id="427" name="Google Shape;427;p53"/>
          <p:cNvSpPr/>
          <p:nvPr/>
        </p:nvSpPr>
        <p:spPr>
          <a:xfrm>
            <a:off x="3263875" y="4376350"/>
            <a:ext cx="934200" cy="547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p:txBody>
      </p:sp>
      <p:cxnSp>
        <p:nvCxnSpPr>
          <p:cNvPr id="428" name="Google Shape;428;p53"/>
          <p:cNvCxnSpPr>
            <a:stCxn id="421" idx="3"/>
            <a:endCxn id="425" idx="1"/>
          </p:cNvCxnSpPr>
          <p:nvPr/>
        </p:nvCxnSpPr>
        <p:spPr>
          <a:xfrm flipH="1" rot="10800000">
            <a:off x="2970475" y="2080275"/>
            <a:ext cx="747300" cy="580800"/>
          </a:xfrm>
          <a:prstGeom prst="straightConnector1">
            <a:avLst/>
          </a:prstGeom>
          <a:noFill/>
          <a:ln cap="flat" cmpd="sng" w="9525">
            <a:solidFill>
              <a:srgbClr val="666666"/>
            </a:solidFill>
            <a:prstDash val="solid"/>
            <a:round/>
            <a:headEnd len="med" w="med" type="none"/>
            <a:tailEnd len="med" w="med" type="triangle"/>
          </a:ln>
        </p:spPr>
      </p:cxnSp>
      <p:cxnSp>
        <p:nvCxnSpPr>
          <p:cNvPr id="429" name="Google Shape;429;p53"/>
          <p:cNvCxnSpPr>
            <a:stCxn id="421" idx="2"/>
            <a:endCxn id="423" idx="0"/>
          </p:cNvCxnSpPr>
          <p:nvPr/>
        </p:nvCxnSpPr>
        <p:spPr>
          <a:xfrm flipH="1">
            <a:off x="2413225" y="2871525"/>
            <a:ext cx="13200" cy="387900"/>
          </a:xfrm>
          <a:prstGeom prst="straightConnector1">
            <a:avLst/>
          </a:prstGeom>
          <a:noFill/>
          <a:ln cap="flat" cmpd="sng" w="9525">
            <a:solidFill>
              <a:srgbClr val="666666"/>
            </a:solidFill>
            <a:prstDash val="solid"/>
            <a:round/>
            <a:headEnd len="med" w="med" type="none"/>
            <a:tailEnd len="med" w="med" type="triangle"/>
          </a:ln>
        </p:spPr>
      </p:cxnSp>
      <p:cxnSp>
        <p:nvCxnSpPr>
          <p:cNvPr id="430" name="Google Shape;430;p53"/>
          <p:cNvCxnSpPr>
            <a:stCxn id="423" idx="1"/>
            <a:endCxn id="424" idx="2"/>
          </p:cNvCxnSpPr>
          <p:nvPr/>
        </p:nvCxnSpPr>
        <p:spPr>
          <a:xfrm rot="10800000">
            <a:off x="950525" y="2998077"/>
            <a:ext cx="942600" cy="455400"/>
          </a:xfrm>
          <a:prstGeom prst="straightConnector1">
            <a:avLst/>
          </a:prstGeom>
          <a:noFill/>
          <a:ln cap="flat" cmpd="sng" w="9525">
            <a:solidFill>
              <a:srgbClr val="666666"/>
            </a:solidFill>
            <a:prstDash val="solid"/>
            <a:round/>
            <a:headEnd len="med" w="med" type="none"/>
            <a:tailEnd len="med" w="med" type="triangle"/>
          </a:ln>
        </p:spPr>
      </p:cxnSp>
      <p:cxnSp>
        <p:nvCxnSpPr>
          <p:cNvPr id="431" name="Google Shape;431;p53"/>
          <p:cNvCxnSpPr>
            <a:stCxn id="423" idx="0"/>
            <a:endCxn id="425" idx="2"/>
          </p:cNvCxnSpPr>
          <p:nvPr/>
        </p:nvCxnSpPr>
        <p:spPr>
          <a:xfrm flipH="1" rot="10800000">
            <a:off x="2413175" y="3142827"/>
            <a:ext cx="3417300" cy="116700"/>
          </a:xfrm>
          <a:prstGeom prst="straightConnector1">
            <a:avLst/>
          </a:prstGeom>
          <a:noFill/>
          <a:ln cap="flat" cmpd="sng" w="9525">
            <a:solidFill>
              <a:srgbClr val="666666"/>
            </a:solidFill>
            <a:prstDash val="solid"/>
            <a:round/>
            <a:headEnd len="med" w="med" type="stealth"/>
            <a:tailEnd len="med" w="med" type="none"/>
          </a:ln>
        </p:spPr>
      </p:cxnSp>
      <p:cxnSp>
        <p:nvCxnSpPr>
          <p:cNvPr id="432" name="Google Shape;432;p53"/>
          <p:cNvCxnSpPr>
            <a:stCxn id="422" idx="1"/>
            <a:endCxn id="426" idx="3"/>
          </p:cNvCxnSpPr>
          <p:nvPr/>
        </p:nvCxnSpPr>
        <p:spPr>
          <a:xfrm rot="10800000">
            <a:off x="1678325" y="4097200"/>
            <a:ext cx="251400" cy="68700"/>
          </a:xfrm>
          <a:prstGeom prst="straightConnector1">
            <a:avLst/>
          </a:prstGeom>
          <a:noFill/>
          <a:ln cap="flat" cmpd="sng" w="9525">
            <a:solidFill>
              <a:srgbClr val="666666"/>
            </a:solidFill>
            <a:prstDash val="solid"/>
            <a:round/>
            <a:headEnd len="med" w="med" type="none"/>
            <a:tailEnd len="med" w="med" type="triangle"/>
          </a:ln>
        </p:spPr>
      </p:cxnSp>
      <p:cxnSp>
        <p:nvCxnSpPr>
          <p:cNvPr id="433" name="Google Shape;433;p53"/>
          <p:cNvCxnSpPr>
            <a:stCxn id="422" idx="3"/>
            <a:endCxn id="427" idx="1"/>
          </p:cNvCxnSpPr>
          <p:nvPr/>
        </p:nvCxnSpPr>
        <p:spPr>
          <a:xfrm>
            <a:off x="2969825" y="4165900"/>
            <a:ext cx="294000" cy="483900"/>
          </a:xfrm>
          <a:prstGeom prst="straightConnector1">
            <a:avLst/>
          </a:prstGeom>
          <a:noFill/>
          <a:ln cap="flat" cmpd="sng" w="9525">
            <a:solidFill>
              <a:srgbClr val="666666"/>
            </a:solidFill>
            <a:prstDash val="solid"/>
            <a:round/>
            <a:headEnd len="med" w="med" type="none"/>
            <a:tailEnd len="med" w="med" type="triangle"/>
          </a:ln>
        </p:spPr>
      </p:cxnSp>
      <p:cxnSp>
        <p:nvCxnSpPr>
          <p:cNvPr id="434" name="Google Shape;434;p53"/>
          <p:cNvCxnSpPr>
            <a:stCxn id="423" idx="2"/>
            <a:endCxn id="422" idx="0"/>
          </p:cNvCxnSpPr>
          <p:nvPr/>
        </p:nvCxnSpPr>
        <p:spPr>
          <a:xfrm>
            <a:off x="2413175" y="3647427"/>
            <a:ext cx="36600" cy="308100"/>
          </a:xfrm>
          <a:prstGeom prst="straightConnector1">
            <a:avLst/>
          </a:prstGeom>
          <a:noFill/>
          <a:ln cap="flat" cmpd="sng" w="9525">
            <a:solidFill>
              <a:srgbClr val="666666"/>
            </a:solidFill>
            <a:prstDash val="solid"/>
            <a:round/>
            <a:headEnd len="med" w="med" type="none"/>
            <a:tailEnd len="med" w="med" type="triangle"/>
          </a:ln>
        </p:spPr>
      </p:cxnSp>
      <p:sp>
        <p:nvSpPr>
          <p:cNvPr id="435" name="Google Shape;435;p53"/>
          <p:cNvSpPr txBox="1"/>
          <p:nvPr/>
        </p:nvSpPr>
        <p:spPr>
          <a:xfrm>
            <a:off x="3015653" y="2464583"/>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36" name="Google Shape;436;p53"/>
          <p:cNvSpPr txBox="1"/>
          <p:nvPr/>
        </p:nvSpPr>
        <p:spPr>
          <a:xfrm>
            <a:off x="2510122" y="3665595"/>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37" name="Google Shape;437;p53"/>
          <p:cNvSpPr txBox="1"/>
          <p:nvPr/>
        </p:nvSpPr>
        <p:spPr>
          <a:xfrm>
            <a:off x="3062487" y="3894238"/>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38" name="Google Shape;438;p53"/>
          <p:cNvSpPr txBox="1"/>
          <p:nvPr/>
        </p:nvSpPr>
        <p:spPr>
          <a:xfrm>
            <a:off x="2505466" y="2928296"/>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39" name="Google Shape;439;p53"/>
          <p:cNvSpPr txBox="1"/>
          <p:nvPr/>
        </p:nvSpPr>
        <p:spPr>
          <a:xfrm>
            <a:off x="1517805" y="310027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40" name="Google Shape;440;p53"/>
          <p:cNvSpPr txBox="1"/>
          <p:nvPr/>
        </p:nvSpPr>
        <p:spPr>
          <a:xfrm>
            <a:off x="1675671" y="3834228"/>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41" name="Google Shape;441;p53"/>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3000">
                <a:solidFill>
                  <a:srgbClr val="FF5722"/>
                </a:solidFill>
                <a:latin typeface="Alfa Slab One"/>
                <a:ea typeface="Alfa Slab One"/>
                <a:cs typeface="Alfa Slab One"/>
                <a:sym typeface="Alfa Slab One"/>
              </a:rPr>
              <a:t>Model Selection Flowchart</a:t>
            </a:r>
            <a:endParaRPr sz="3000">
              <a:solidFill>
                <a:srgbClr val="FF5722"/>
              </a:solidFill>
              <a:latin typeface="Alfa Slab One"/>
              <a:ea typeface="Alfa Slab One"/>
              <a:cs typeface="Alfa Slab One"/>
              <a:sym typeface="Alfa Slab One"/>
            </a:endParaRPr>
          </a:p>
        </p:txBody>
      </p:sp>
      <p:sp>
        <p:nvSpPr>
          <p:cNvPr id="442" name="Google Shape;442;p53"/>
          <p:cNvSpPr/>
          <p:nvPr/>
        </p:nvSpPr>
        <p:spPr>
          <a:xfrm>
            <a:off x="3881045" y="1597013"/>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Topic Modeling?</a:t>
            </a:r>
            <a:endParaRPr sz="1000">
              <a:latin typeface="Proxima Nova"/>
              <a:ea typeface="Proxima Nova"/>
              <a:cs typeface="Proxima Nova"/>
              <a:sym typeface="Proxima Nova"/>
            </a:endParaRPr>
          </a:p>
        </p:txBody>
      </p:sp>
      <p:sp>
        <p:nvSpPr>
          <p:cNvPr id="443" name="Google Shape;443;p53"/>
          <p:cNvSpPr/>
          <p:nvPr/>
        </p:nvSpPr>
        <p:spPr>
          <a:xfrm>
            <a:off x="5449770" y="1597013"/>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Probabilistic</a:t>
            </a:r>
            <a:endParaRPr sz="1000">
              <a:latin typeface="Proxima Nova"/>
              <a:ea typeface="Proxima Nova"/>
              <a:cs typeface="Proxima Nova"/>
              <a:sym typeface="Proxima Nova"/>
            </a:endParaRPr>
          </a:p>
        </p:txBody>
      </p:sp>
      <p:sp>
        <p:nvSpPr>
          <p:cNvPr id="444" name="Google Shape;444;p53"/>
          <p:cNvSpPr/>
          <p:nvPr/>
        </p:nvSpPr>
        <p:spPr>
          <a:xfrm>
            <a:off x="5473917" y="2389264"/>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SVD</a:t>
            </a:r>
            <a:endParaRPr sz="1000">
              <a:latin typeface="Proxima Nova"/>
              <a:ea typeface="Proxima Nova"/>
              <a:cs typeface="Proxima Nova"/>
              <a:sym typeface="Proxima Nova"/>
            </a:endParaRPr>
          </a:p>
        </p:txBody>
      </p:sp>
      <p:sp>
        <p:nvSpPr>
          <p:cNvPr id="445" name="Google Shape;445;p53"/>
          <p:cNvSpPr/>
          <p:nvPr/>
        </p:nvSpPr>
        <p:spPr>
          <a:xfrm>
            <a:off x="6826617" y="1727664"/>
            <a:ext cx="1045200" cy="271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LDA</a:t>
            </a:r>
            <a:endParaRPr sz="1000">
              <a:latin typeface="Proxima Nova"/>
              <a:ea typeface="Proxima Nova"/>
              <a:cs typeface="Proxima Nova"/>
              <a:sym typeface="Proxima Nova"/>
            </a:endParaRPr>
          </a:p>
        </p:txBody>
      </p:sp>
      <p:sp>
        <p:nvSpPr>
          <p:cNvPr id="446" name="Google Shape;446;p53"/>
          <p:cNvSpPr/>
          <p:nvPr/>
        </p:nvSpPr>
        <p:spPr>
          <a:xfrm>
            <a:off x="3905212" y="2389264"/>
            <a:ext cx="1045200" cy="271800"/>
          </a:xfrm>
          <a:prstGeom prst="rect">
            <a:avLst/>
          </a:prstGeom>
          <a:solidFill>
            <a:srgbClr val="FF572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PCA</a:t>
            </a:r>
            <a:endParaRPr sz="1000">
              <a:latin typeface="Proxima Nova"/>
              <a:ea typeface="Proxima Nova"/>
              <a:cs typeface="Proxima Nova"/>
              <a:sym typeface="Proxima Nova"/>
            </a:endParaRPr>
          </a:p>
        </p:txBody>
      </p:sp>
      <p:sp>
        <p:nvSpPr>
          <p:cNvPr id="447" name="Google Shape;447;p53"/>
          <p:cNvSpPr txBox="1"/>
          <p:nvPr/>
        </p:nvSpPr>
        <p:spPr>
          <a:xfrm>
            <a:off x="5143604" y="159702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cxnSp>
        <p:nvCxnSpPr>
          <p:cNvPr id="448" name="Google Shape;448;p53"/>
          <p:cNvCxnSpPr>
            <a:stCxn id="442" idx="3"/>
            <a:endCxn id="443" idx="1"/>
          </p:cNvCxnSpPr>
          <p:nvPr/>
        </p:nvCxnSpPr>
        <p:spPr>
          <a:xfrm>
            <a:off x="4974545" y="1863563"/>
            <a:ext cx="475200" cy="0"/>
          </a:xfrm>
          <a:prstGeom prst="straightConnector1">
            <a:avLst/>
          </a:prstGeom>
          <a:noFill/>
          <a:ln cap="flat" cmpd="sng" w="9525">
            <a:solidFill>
              <a:srgbClr val="666666"/>
            </a:solidFill>
            <a:prstDash val="solid"/>
            <a:round/>
            <a:headEnd len="med" w="med" type="none"/>
            <a:tailEnd len="med" w="med" type="triangle"/>
          </a:ln>
        </p:spPr>
      </p:cxnSp>
      <p:cxnSp>
        <p:nvCxnSpPr>
          <p:cNvPr id="449" name="Google Shape;449;p53"/>
          <p:cNvCxnSpPr>
            <a:stCxn id="442" idx="2"/>
            <a:endCxn id="446" idx="0"/>
          </p:cNvCxnSpPr>
          <p:nvPr/>
        </p:nvCxnSpPr>
        <p:spPr>
          <a:xfrm>
            <a:off x="4427795" y="2130113"/>
            <a:ext cx="0" cy="259200"/>
          </a:xfrm>
          <a:prstGeom prst="straightConnector1">
            <a:avLst/>
          </a:prstGeom>
          <a:noFill/>
          <a:ln cap="flat" cmpd="sng" w="9525">
            <a:solidFill>
              <a:srgbClr val="666666"/>
            </a:solidFill>
            <a:prstDash val="solid"/>
            <a:round/>
            <a:headEnd len="med" w="med" type="none"/>
            <a:tailEnd len="med" w="med" type="triangle"/>
          </a:ln>
        </p:spPr>
      </p:cxnSp>
      <p:cxnSp>
        <p:nvCxnSpPr>
          <p:cNvPr id="450" name="Google Shape;450;p53"/>
          <p:cNvCxnSpPr>
            <a:stCxn id="443" idx="3"/>
            <a:endCxn id="445" idx="1"/>
          </p:cNvCxnSpPr>
          <p:nvPr/>
        </p:nvCxnSpPr>
        <p:spPr>
          <a:xfrm>
            <a:off x="6543270" y="1863563"/>
            <a:ext cx="283200" cy="0"/>
          </a:xfrm>
          <a:prstGeom prst="straightConnector1">
            <a:avLst/>
          </a:prstGeom>
          <a:noFill/>
          <a:ln cap="flat" cmpd="sng" w="9525">
            <a:solidFill>
              <a:srgbClr val="666666"/>
            </a:solidFill>
            <a:prstDash val="solid"/>
            <a:round/>
            <a:headEnd len="med" w="med" type="none"/>
            <a:tailEnd len="med" w="med" type="triangle"/>
          </a:ln>
        </p:spPr>
      </p:cxnSp>
      <p:cxnSp>
        <p:nvCxnSpPr>
          <p:cNvPr id="451" name="Google Shape;451;p53"/>
          <p:cNvCxnSpPr>
            <a:stCxn id="443" idx="2"/>
            <a:endCxn id="444" idx="0"/>
          </p:cNvCxnSpPr>
          <p:nvPr/>
        </p:nvCxnSpPr>
        <p:spPr>
          <a:xfrm>
            <a:off x="5996520" y="2130113"/>
            <a:ext cx="0" cy="259200"/>
          </a:xfrm>
          <a:prstGeom prst="straightConnector1">
            <a:avLst/>
          </a:prstGeom>
          <a:noFill/>
          <a:ln cap="flat" cmpd="sng" w="9525">
            <a:solidFill>
              <a:srgbClr val="666666"/>
            </a:solidFill>
            <a:prstDash val="solid"/>
            <a:round/>
            <a:headEnd len="med" w="med" type="none"/>
            <a:tailEnd len="med" w="med" type="triangle"/>
          </a:ln>
        </p:spPr>
      </p:cxnSp>
      <p:sp>
        <p:nvSpPr>
          <p:cNvPr id="452" name="Google Shape;452;p53"/>
          <p:cNvSpPr txBox="1"/>
          <p:nvPr/>
        </p:nvSpPr>
        <p:spPr>
          <a:xfrm>
            <a:off x="6616404" y="1597025"/>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53" name="Google Shape;453;p53"/>
          <p:cNvSpPr txBox="1"/>
          <p:nvPr/>
        </p:nvSpPr>
        <p:spPr>
          <a:xfrm>
            <a:off x="4427807" y="2123814"/>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54" name="Google Shape;454;p53"/>
          <p:cNvSpPr txBox="1"/>
          <p:nvPr/>
        </p:nvSpPr>
        <p:spPr>
          <a:xfrm>
            <a:off x="5996532" y="2123814"/>
            <a:ext cx="137100" cy="271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458" name="Shape 458"/>
        <p:cNvGrpSpPr/>
        <p:nvPr/>
      </p:nvGrpSpPr>
      <p:grpSpPr>
        <a:xfrm>
          <a:off x="0" y="0"/>
          <a:ext cx="0" cy="0"/>
          <a:chOff x="0" y="0"/>
          <a:chExt cx="0" cy="0"/>
        </a:xfrm>
      </p:grpSpPr>
      <p:pic>
        <p:nvPicPr>
          <p:cNvPr id="459" name="Google Shape;459;p54" title="Screenshot 2026-01-26 at 10.10.47 AM.png"/>
          <p:cNvPicPr preferRelativeResize="0"/>
          <p:nvPr/>
        </p:nvPicPr>
        <p:blipFill>
          <a:blip r:embed="rId3">
            <a:alphaModFix/>
          </a:blip>
          <a:stretch>
            <a:fillRect/>
          </a:stretch>
        </p:blipFill>
        <p:spPr>
          <a:xfrm>
            <a:off x="1137349" y="652275"/>
            <a:ext cx="6869300" cy="3838925"/>
          </a:xfrm>
          <a:prstGeom prst="rect">
            <a:avLst/>
          </a:prstGeom>
          <a:noFill/>
          <a:ln>
            <a:noFill/>
          </a:ln>
        </p:spPr>
      </p:pic>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460" name="Google Shape;460;p54"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5"/>
          <p:cNvSpPr/>
          <p:nvPr/>
        </p:nvSpPr>
        <p:spPr>
          <a:xfrm>
            <a:off x="1989700" y="1061700"/>
            <a:ext cx="1088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466" name="Google Shape;466;p55"/>
          <p:cNvSpPr/>
          <p:nvPr/>
        </p:nvSpPr>
        <p:spPr>
          <a:xfrm>
            <a:off x="2037050" y="2566525"/>
            <a:ext cx="1040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467" name="Google Shape;467;p55"/>
          <p:cNvSpPr/>
          <p:nvPr/>
        </p:nvSpPr>
        <p:spPr>
          <a:xfrm>
            <a:off x="2000450" y="1870602"/>
            <a:ext cx="1040100" cy="387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sp>
        <p:nvSpPr>
          <p:cNvPr id="468" name="Google Shape;468;p55"/>
          <p:cNvSpPr/>
          <p:nvPr/>
        </p:nvSpPr>
        <p:spPr>
          <a:xfrm>
            <a:off x="419025" y="1036488"/>
            <a:ext cx="1277400" cy="572700"/>
          </a:xfrm>
          <a:prstGeom prst="rect">
            <a:avLst/>
          </a:prstGeom>
          <a:solidFill>
            <a:srgbClr val="FFAB40"/>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Proxima Nova"/>
                <a:ea typeface="Proxima Nova"/>
                <a:cs typeface="Proxima Nova"/>
                <a:sym typeface="Proxima Nova"/>
              </a:rPr>
              <a:t>Unsupervised</a:t>
            </a:r>
            <a:r>
              <a:rPr lang="en" sz="1100">
                <a:latin typeface="Proxima Nova"/>
                <a:ea typeface="Proxima Nova"/>
                <a:cs typeface="Proxima Nova"/>
                <a:sym typeface="Proxima Nova"/>
              </a:rPr>
              <a:t>: Clustering</a:t>
            </a:r>
            <a:endParaRPr sz="1100">
              <a:latin typeface="Proxima Nova"/>
              <a:ea typeface="Proxima Nova"/>
              <a:cs typeface="Proxima Nova"/>
              <a:sym typeface="Proxima Nova"/>
            </a:endParaRPr>
          </a:p>
        </p:txBody>
      </p:sp>
      <p:sp>
        <p:nvSpPr>
          <p:cNvPr id="469" name="Google Shape;469;p55"/>
          <p:cNvSpPr/>
          <p:nvPr/>
        </p:nvSpPr>
        <p:spPr>
          <a:xfrm>
            <a:off x="3371200" y="1017713"/>
            <a:ext cx="1129200" cy="580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p:txBody>
      </p:sp>
      <p:sp>
        <p:nvSpPr>
          <p:cNvPr id="470" name="Google Shape;470;p55"/>
          <p:cNvSpPr/>
          <p:nvPr/>
        </p:nvSpPr>
        <p:spPr>
          <a:xfrm>
            <a:off x="697425" y="2434575"/>
            <a:ext cx="1088100" cy="547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p:txBody>
      </p:sp>
      <p:sp>
        <p:nvSpPr>
          <p:cNvPr id="471" name="Google Shape;471;p55"/>
          <p:cNvSpPr/>
          <p:nvPr/>
        </p:nvSpPr>
        <p:spPr>
          <a:xfrm>
            <a:off x="3998649" y="2503375"/>
            <a:ext cx="4307700" cy="21051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cxnSp>
        <p:nvCxnSpPr>
          <p:cNvPr id="472" name="Google Shape;472;p55"/>
          <p:cNvCxnSpPr>
            <a:stCxn id="465" idx="3"/>
            <a:endCxn id="469" idx="1"/>
          </p:cNvCxnSpPr>
          <p:nvPr/>
        </p:nvCxnSpPr>
        <p:spPr>
          <a:xfrm>
            <a:off x="3077800" y="1272150"/>
            <a:ext cx="293400" cy="36000"/>
          </a:xfrm>
          <a:prstGeom prst="straightConnector1">
            <a:avLst/>
          </a:prstGeom>
          <a:noFill/>
          <a:ln cap="flat" cmpd="sng" w="9525">
            <a:solidFill>
              <a:srgbClr val="666666"/>
            </a:solidFill>
            <a:prstDash val="solid"/>
            <a:round/>
            <a:headEnd len="med" w="med" type="none"/>
            <a:tailEnd len="med" w="med" type="triangle"/>
          </a:ln>
        </p:spPr>
      </p:cxnSp>
      <p:cxnSp>
        <p:nvCxnSpPr>
          <p:cNvPr id="473" name="Google Shape;473;p55"/>
          <p:cNvCxnSpPr>
            <a:stCxn id="465" idx="2"/>
            <a:endCxn id="467" idx="0"/>
          </p:cNvCxnSpPr>
          <p:nvPr/>
        </p:nvCxnSpPr>
        <p:spPr>
          <a:xfrm flipH="1">
            <a:off x="2520550" y="1482600"/>
            <a:ext cx="13200" cy="387900"/>
          </a:xfrm>
          <a:prstGeom prst="straightConnector1">
            <a:avLst/>
          </a:prstGeom>
          <a:noFill/>
          <a:ln cap="flat" cmpd="sng" w="9525">
            <a:solidFill>
              <a:srgbClr val="666666"/>
            </a:solidFill>
            <a:prstDash val="solid"/>
            <a:round/>
            <a:headEnd len="med" w="med" type="none"/>
            <a:tailEnd len="med" w="med" type="triangle"/>
          </a:ln>
        </p:spPr>
      </p:cxnSp>
      <p:cxnSp>
        <p:nvCxnSpPr>
          <p:cNvPr id="474" name="Google Shape;474;p55"/>
          <p:cNvCxnSpPr>
            <a:stCxn id="467" idx="1"/>
            <a:endCxn id="468" idx="2"/>
          </p:cNvCxnSpPr>
          <p:nvPr/>
        </p:nvCxnSpPr>
        <p:spPr>
          <a:xfrm rot="10800000">
            <a:off x="1057850" y="1609152"/>
            <a:ext cx="942600" cy="455400"/>
          </a:xfrm>
          <a:prstGeom prst="straightConnector1">
            <a:avLst/>
          </a:prstGeom>
          <a:noFill/>
          <a:ln cap="flat" cmpd="sng" w="9525">
            <a:solidFill>
              <a:srgbClr val="666666"/>
            </a:solidFill>
            <a:prstDash val="solid"/>
            <a:round/>
            <a:headEnd len="med" w="med" type="none"/>
            <a:tailEnd len="med" w="med" type="triangle"/>
          </a:ln>
        </p:spPr>
      </p:cxnSp>
      <p:cxnSp>
        <p:nvCxnSpPr>
          <p:cNvPr id="475" name="Google Shape;475;p55"/>
          <p:cNvCxnSpPr>
            <a:stCxn id="467" idx="0"/>
            <a:endCxn id="469" idx="2"/>
          </p:cNvCxnSpPr>
          <p:nvPr/>
        </p:nvCxnSpPr>
        <p:spPr>
          <a:xfrm flipH="1" rot="10800000">
            <a:off x="2520500" y="1598502"/>
            <a:ext cx="1415400" cy="272100"/>
          </a:xfrm>
          <a:prstGeom prst="straightConnector1">
            <a:avLst/>
          </a:prstGeom>
          <a:noFill/>
          <a:ln cap="flat" cmpd="sng" w="9525">
            <a:solidFill>
              <a:srgbClr val="666666"/>
            </a:solidFill>
            <a:prstDash val="solid"/>
            <a:round/>
            <a:headEnd len="med" w="med" type="stealth"/>
            <a:tailEnd len="med" w="med" type="none"/>
          </a:ln>
        </p:spPr>
      </p:cxnSp>
      <p:cxnSp>
        <p:nvCxnSpPr>
          <p:cNvPr id="476" name="Google Shape;476;p55"/>
          <p:cNvCxnSpPr>
            <a:stCxn id="466" idx="1"/>
            <a:endCxn id="470" idx="3"/>
          </p:cNvCxnSpPr>
          <p:nvPr/>
        </p:nvCxnSpPr>
        <p:spPr>
          <a:xfrm rot="10800000">
            <a:off x="1785650" y="2708275"/>
            <a:ext cx="251400" cy="68700"/>
          </a:xfrm>
          <a:prstGeom prst="straightConnector1">
            <a:avLst/>
          </a:prstGeom>
          <a:noFill/>
          <a:ln cap="flat" cmpd="sng" w="9525">
            <a:solidFill>
              <a:srgbClr val="666666"/>
            </a:solidFill>
            <a:prstDash val="solid"/>
            <a:round/>
            <a:headEnd len="med" w="med" type="none"/>
            <a:tailEnd len="med" w="med" type="triangle"/>
          </a:ln>
        </p:spPr>
      </p:cxnSp>
      <p:cxnSp>
        <p:nvCxnSpPr>
          <p:cNvPr id="477" name="Google Shape;477;p55"/>
          <p:cNvCxnSpPr>
            <a:stCxn id="466" idx="3"/>
            <a:endCxn id="471" idx="1"/>
          </p:cNvCxnSpPr>
          <p:nvPr/>
        </p:nvCxnSpPr>
        <p:spPr>
          <a:xfrm>
            <a:off x="3077150" y="2776975"/>
            <a:ext cx="921600" cy="779100"/>
          </a:xfrm>
          <a:prstGeom prst="straightConnector1">
            <a:avLst/>
          </a:prstGeom>
          <a:noFill/>
          <a:ln cap="flat" cmpd="sng" w="9525">
            <a:solidFill>
              <a:srgbClr val="666666"/>
            </a:solidFill>
            <a:prstDash val="solid"/>
            <a:round/>
            <a:headEnd len="med" w="med" type="none"/>
            <a:tailEnd len="med" w="med" type="triangle"/>
          </a:ln>
        </p:spPr>
      </p:cxnSp>
      <p:cxnSp>
        <p:nvCxnSpPr>
          <p:cNvPr id="478" name="Google Shape;478;p55"/>
          <p:cNvCxnSpPr>
            <a:stCxn id="467" idx="2"/>
            <a:endCxn id="466" idx="0"/>
          </p:cNvCxnSpPr>
          <p:nvPr/>
        </p:nvCxnSpPr>
        <p:spPr>
          <a:xfrm>
            <a:off x="2520500" y="2258502"/>
            <a:ext cx="36600" cy="308100"/>
          </a:xfrm>
          <a:prstGeom prst="straightConnector1">
            <a:avLst/>
          </a:prstGeom>
          <a:noFill/>
          <a:ln cap="flat" cmpd="sng" w="9525">
            <a:solidFill>
              <a:srgbClr val="666666"/>
            </a:solidFill>
            <a:prstDash val="solid"/>
            <a:round/>
            <a:headEnd len="med" w="med" type="none"/>
            <a:tailEnd len="med" w="med" type="triangle"/>
          </a:ln>
        </p:spPr>
      </p:cxnSp>
      <p:sp>
        <p:nvSpPr>
          <p:cNvPr id="479" name="Google Shape;479;p55"/>
          <p:cNvSpPr txBox="1"/>
          <p:nvPr/>
        </p:nvSpPr>
        <p:spPr>
          <a:xfrm>
            <a:off x="3122978" y="1075658"/>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80" name="Google Shape;480;p55"/>
          <p:cNvSpPr txBox="1"/>
          <p:nvPr/>
        </p:nvSpPr>
        <p:spPr>
          <a:xfrm>
            <a:off x="2617447" y="2276670"/>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81" name="Google Shape;481;p55"/>
          <p:cNvSpPr txBox="1"/>
          <p:nvPr/>
        </p:nvSpPr>
        <p:spPr>
          <a:xfrm>
            <a:off x="3169812" y="2505313"/>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482" name="Google Shape;482;p55"/>
          <p:cNvSpPr txBox="1"/>
          <p:nvPr/>
        </p:nvSpPr>
        <p:spPr>
          <a:xfrm>
            <a:off x="2612791" y="1539371"/>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83" name="Google Shape;483;p55"/>
          <p:cNvSpPr txBox="1"/>
          <p:nvPr/>
        </p:nvSpPr>
        <p:spPr>
          <a:xfrm>
            <a:off x="1625130" y="1711353"/>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84" name="Google Shape;484;p55"/>
          <p:cNvSpPr txBox="1"/>
          <p:nvPr/>
        </p:nvSpPr>
        <p:spPr>
          <a:xfrm>
            <a:off x="1782996" y="2445303"/>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485" name="Google Shape;485;p55"/>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3000">
                <a:solidFill>
                  <a:srgbClr val="FF5722"/>
                </a:solidFill>
                <a:latin typeface="Alfa Slab One"/>
                <a:ea typeface="Alfa Slab One"/>
                <a:cs typeface="Alfa Slab One"/>
                <a:sym typeface="Alfa Slab One"/>
              </a:rPr>
              <a:t>Model Selection Flowchart</a:t>
            </a:r>
            <a:endParaRPr sz="3000">
              <a:solidFill>
                <a:srgbClr val="FF5722"/>
              </a:solidFill>
              <a:latin typeface="Alfa Slab One"/>
              <a:ea typeface="Alfa Slab One"/>
              <a:cs typeface="Alfa Slab One"/>
              <a:sym typeface="Alfa Slab One"/>
            </a:endParaRPr>
          </a:p>
        </p:txBody>
      </p:sp>
      <p:sp>
        <p:nvSpPr>
          <p:cNvPr id="486" name="Google Shape;486;p55"/>
          <p:cNvSpPr/>
          <p:nvPr/>
        </p:nvSpPr>
        <p:spPr>
          <a:xfrm>
            <a:off x="4165995" y="2899963"/>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Speed or Accuracy</a:t>
            </a:r>
            <a:endParaRPr sz="1000">
              <a:latin typeface="Proxima Nova"/>
              <a:ea typeface="Proxima Nova"/>
              <a:cs typeface="Proxima Nova"/>
              <a:sym typeface="Proxima Nova"/>
            </a:endParaRPr>
          </a:p>
        </p:txBody>
      </p:sp>
      <p:sp>
        <p:nvSpPr>
          <p:cNvPr id="487" name="Google Shape;487;p55"/>
          <p:cNvSpPr/>
          <p:nvPr/>
        </p:nvSpPr>
        <p:spPr>
          <a:xfrm>
            <a:off x="4190142" y="3642239"/>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RF</a:t>
            </a:r>
            <a:endParaRPr sz="1000">
              <a:latin typeface="Proxima Nova"/>
              <a:ea typeface="Proxima Nova"/>
              <a:cs typeface="Proxima Nova"/>
              <a:sym typeface="Proxima Nova"/>
            </a:endParaRPr>
          </a:p>
        </p:txBody>
      </p:sp>
      <p:sp>
        <p:nvSpPr>
          <p:cNvPr id="488" name="Google Shape;488;p55"/>
          <p:cNvSpPr/>
          <p:nvPr/>
        </p:nvSpPr>
        <p:spPr>
          <a:xfrm>
            <a:off x="4190142" y="3950864"/>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NNs</a:t>
            </a:r>
            <a:endParaRPr sz="1000">
              <a:latin typeface="Proxima Nova"/>
              <a:ea typeface="Proxima Nova"/>
              <a:cs typeface="Proxima Nova"/>
              <a:sym typeface="Proxima Nova"/>
            </a:endParaRPr>
          </a:p>
        </p:txBody>
      </p:sp>
      <p:sp>
        <p:nvSpPr>
          <p:cNvPr id="489" name="Google Shape;489;p55"/>
          <p:cNvSpPr/>
          <p:nvPr/>
        </p:nvSpPr>
        <p:spPr>
          <a:xfrm>
            <a:off x="4190142" y="4259489"/>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XGBoost</a:t>
            </a:r>
            <a:endParaRPr sz="1000">
              <a:latin typeface="Proxima Nova"/>
              <a:ea typeface="Proxima Nova"/>
              <a:cs typeface="Proxima Nova"/>
              <a:sym typeface="Proxima Nova"/>
            </a:endParaRPr>
          </a:p>
        </p:txBody>
      </p:sp>
      <p:sp>
        <p:nvSpPr>
          <p:cNvPr id="490" name="Google Shape;490;p55"/>
          <p:cNvSpPr/>
          <p:nvPr/>
        </p:nvSpPr>
        <p:spPr>
          <a:xfrm>
            <a:off x="5791992" y="2899964"/>
            <a:ext cx="1045200" cy="271800"/>
          </a:xfrm>
          <a:prstGeom prst="rect">
            <a:avLst/>
          </a:prstGeom>
          <a:solidFill>
            <a:schemeClr val="accent5"/>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Linear Reg</a:t>
            </a:r>
            <a:endParaRPr sz="1000">
              <a:solidFill>
                <a:schemeClr val="lt1"/>
              </a:solidFill>
              <a:latin typeface="Proxima Nova"/>
              <a:ea typeface="Proxima Nova"/>
              <a:cs typeface="Proxima Nova"/>
              <a:sym typeface="Proxima Nova"/>
            </a:endParaRPr>
          </a:p>
        </p:txBody>
      </p:sp>
      <p:sp>
        <p:nvSpPr>
          <p:cNvPr id="491" name="Google Shape;491;p55"/>
          <p:cNvSpPr/>
          <p:nvPr/>
        </p:nvSpPr>
        <p:spPr>
          <a:xfrm>
            <a:off x="5791992" y="3218014"/>
            <a:ext cx="1045200" cy="2718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Decision Tree</a:t>
            </a:r>
            <a:endParaRPr sz="1000">
              <a:solidFill>
                <a:schemeClr val="lt1"/>
              </a:solidFill>
              <a:latin typeface="Proxima Nova"/>
              <a:ea typeface="Proxima Nova"/>
              <a:cs typeface="Proxima Nova"/>
              <a:sym typeface="Proxima Nova"/>
            </a:endParaRPr>
          </a:p>
        </p:txBody>
      </p:sp>
      <p:cxnSp>
        <p:nvCxnSpPr>
          <p:cNvPr id="492" name="Google Shape;492;p55"/>
          <p:cNvCxnSpPr>
            <a:stCxn id="486" idx="3"/>
          </p:cNvCxnSpPr>
          <p:nvPr/>
        </p:nvCxnSpPr>
        <p:spPr>
          <a:xfrm>
            <a:off x="5259495" y="3166513"/>
            <a:ext cx="489300" cy="7500"/>
          </a:xfrm>
          <a:prstGeom prst="straightConnector1">
            <a:avLst/>
          </a:prstGeom>
          <a:noFill/>
          <a:ln cap="flat" cmpd="sng" w="9525">
            <a:solidFill>
              <a:schemeClr val="lt1"/>
            </a:solidFill>
            <a:prstDash val="solid"/>
            <a:round/>
            <a:headEnd len="med" w="med" type="none"/>
            <a:tailEnd len="med" w="med" type="triangle"/>
          </a:ln>
        </p:spPr>
      </p:cxnSp>
      <p:sp>
        <p:nvSpPr>
          <p:cNvPr id="493" name="Google Shape;493;p55"/>
          <p:cNvSpPr txBox="1"/>
          <p:nvPr/>
        </p:nvSpPr>
        <p:spPr>
          <a:xfrm>
            <a:off x="5290375" y="2823775"/>
            <a:ext cx="5385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Proxima Nova"/>
                <a:ea typeface="Proxima Nova"/>
                <a:cs typeface="Proxima Nova"/>
                <a:sym typeface="Proxima Nova"/>
              </a:rPr>
              <a:t>speed</a:t>
            </a:r>
            <a:endParaRPr sz="800">
              <a:solidFill>
                <a:schemeClr val="lt1"/>
              </a:solidFill>
              <a:latin typeface="Proxima Nova"/>
              <a:ea typeface="Proxima Nova"/>
              <a:cs typeface="Proxima Nova"/>
              <a:sym typeface="Proxima Nova"/>
            </a:endParaRPr>
          </a:p>
        </p:txBody>
      </p:sp>
      <p:cxnSp>
        <p:nvCxnSpPr>
          <p:cNvPr id="494" name="Google Shape;494;p55"/>
          <p:cNvCxnSpPr>
            <a:stCxn id="486" idx="2"/>
            <a:endCxn id="487" idx="0"/>
          </p:cNvCxnSpPr>
          <p:nvPr/>
        </p:nvCxnSpPr>
        <p:spPr>
          <a:xfrm>
            <a:off x="4712745" y="3433063"/>
            <a:ext cx="0" cy="209100"/>
          </a:xfrm>
          <a:prstGeom prst="straightConnector1">
            <a:avLst/>
          </a:prstGeom>
          <a:noFill/>
          <a:ln cap="flat" cmpd="sng" w="9525">
            <a:solidFill>
              <a:schemeClr val="lt1"/>
            </a:solidFill>
            <a:prstDash val="solid"/>
            <a:round/>
            <a:headEnd len="med" w="med" type="none"/>
            <a:tailEnd len="med" w="med" type="triangle"/>
          </a:ln>
        </p:spPr>
      </p:cxnSp>
      <p:sp>
        <p:nvSpPr>
          <p:cNvPr id="495" name="Google Shape;495;p55"/>
          <p:cNvSpPr txBox="1"/>
          <p:nvPr/>
        </p:nvSpPr>
        <p:spPr>
          <a:xfrm>
            <a:off x="4074850" y="3401725"/>
            <a:ext cx="6237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Proxima Nova"/>
                <a:ea typeface="Proxima Nova"/>
                <a:cs typeface="Proxima Nova"/>
                <a:sym typeface="Proxima Nova"/>
              </a:rPr>
              <a:t>accurate</a:t>
            </a:r>
            <a:endParaRPr sz="800">
              <a:solidFill>
                <a:schemeClr val="lt1"/>
              </a:solidFill>
              <a:latin typeface="Proxima Nova"/>
              <a:ea typeface="Proxima Nova"/>
              <a:cs typeface="Proxima Nova"/>
              <a:sym typeface="Proxima Nova"/>
            </a:endParaRPr>
          </a:p>
        </p:txBody>
      </p:sp>
      <p:sp>
        <p:nvSpPr>
          <p:cNvPr id="496" name="Google Shape;496;p55"/>
          <p:cNvSpPr txBox="1"/>
          <p:nvPr/>
        </p:nvSpPr>
        <p:spPr>
          <a:xfrm>
            <a:off x="7009550" y="2749225"/>
            <a:ext cx="1277400" cy="4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Proxima Nova"/>
                <a:ea typeface="Proxima Nova"/>
                <a:cs typeface="Proxima Nova"/>
                <a:sym typeface="Proxima Nova"/>
              </a:rPr>
              <a:t>interpretable / explainable</a:t>
            </a:r>
            <a:endParaRPr sz="1200">
              <a:solidFill>
                <a:schemeClr val="lt1"/>
              </a:solidFill>
              <a:latin typeface="Proxima Nova"/>
              <a:ea typeface="Proxima Nova"/>
              <a:cs typeface="Proxima Nova"/>
              <a:sym typeface="Proxima Nova"/>
            </a:endParaRPr>
          </a:p>
        </p:txBody>
      </p:sp>
      <p:sp>
        <p:nvSpPr>
          <p:cNvPr id="497" name="Google Shape;497;p55"/>
          <p:cNvSpPr/>
          <p:nvPr/>
        </p:nvSpPr>
        <p:spPr>
          <a:xfrm>
            <a:off x="6875350" y="3215425"/>
            <a:ext cx="496950" cy="165400"/>
          </a:xfrm>
          <a:custGeom>
            <a:rect b="b" l="l" r="r" t="t"/>
            <a:pathLst>
              <a:path extrusionOk="0" h="6616" w="19878">
                <a:moveTo>
                  <a:pt x="19878" y="1988"/>
                </a:moveTo>
                <a:cubicBezTo>
                  <a:pt x="19492" y="2540"/>
                  <a:pt x="19768" y="4583"/>
                  <a:pt x="17559" y="5301"/>
                </a:cubicBezTo>
                <a:cubicBezTo>
                  <a:pt x="15350" y="6019"/>
                  <a:pt x="9553" y="7178"/>
                  <a:pt x="6626" y="6294"/>
                </a:cubicBezTo>
                <a:cubicBezTo>
                  <a:pt x="3700" y="5411"/>
                  <a:pt x="1104" y="1049"/>
                  <a:pt x="0" y="0"/>
                </a:cubicBezTo>
              </a:path>
            </a:pathLst>
          </a:custGeom>
          <a:noFill/>
          <a:ln cap="flat" cmpd="sng" w="9525">
            <a:solidFill>
              <a:schemeClr val="lt1"/>
            </a:solidFill>
            <a:prstDash val="solid"/>
            <a:round/>
            <a:headEnd len="med" w="med" type="none"/>
            <a:tailEnd len="med" w="med" type="stealth"/>
          </a:ln>
        </p:spPr>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6"/>
          <p:cNvSpPr/>
          <p:nvPr/>
        </p:nvSpPr>
        <p:spPr>
          <a:xfrm>
            <a:off x="5894775" y="1028675"/>
            <a:ext cx="1088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Need to reduce dimensionality?</a:t>
            </a:r>
            <a:endParaRPr sz="1000">
              <a:latin typeface="Proxima Nova"/>
              <a:ea typeface="Proxima Nova"/>
              <a:cs typeface="Proxima Nova"/>
              <a:sym typeface="Proxima Nova"/>
            </a:endParaRPr>
          </a:p>
        </p:txBody>
      </p:sp>
      <p:sp>
        <p:nvSpPr>
          <p:cNvPr id="503" name="Google Shape;503;p56"/>
          <p:cNvSpPr/>
          <p:nvPr/>
        </p:nvSpPr>
        <p:spPr>
          <a:xfrm>
            <a:off x="5942125" y="2533500"/>
            <a:ext cx="1040100" cy="420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Predicting a numeric value?</a:t>
            </a:r>
            <a:endParaRPr sz="1000">
              <a:latin typeface="Proxima Nova"/>
              <a:ea typeface="Proxima Nova"/>
              <a:cs typeface="Proxima Nova"/>
              <a:sym typeface="Proxima Nova"/>
            </a:endParaRPr>
          </a:p>
        </p:txBody>
      </p:sp>
      <p:sp>
        <p:nvSpPr>
          <p:cNvPr id="504" name="Google Shape;504;p56"/>
          <p:cNvSpPr/>
          <p:nvPr/>
        </p:nvSpPr>
        <p:spPr>
          <a:xfrm>
            <a:off x="5905525" y="1837577"/>
            <a:ext cx="1040100" cy="3879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Has a target variable?</a:t>
            </a:r>
            <a:endParaRPr sz="1000">
              <a:latin typeface="Proxima Nova"/>
              <a:ea typeface="Proxima Nova"/>
              <a:cs typeface="Proxima Nova"/>
              <a:sym typeface="Proxima Nova"/>
            </a:endParaRPr>
          </a:p>
        </p:txBody>
      </p:sp>
      <p:sp>
        <p:nvSpPr>
          <p:cNvPr id="505" name="Google Shape;505;p56"/>
          <p:cNvSpPr/>
          <p:nvPr/>
        </p:nvSpPr>
        <p:spPr>
          <a:xfrm>
            <a:off x="4324100" y="1003463"/>
            <a:ext cx="1277400" cy="572700"/>
          </a:xfrm>
          <a:prstGeom prst="rect">
            <a:avLst/>
          </a:prstGeom>
          <a:solidFill>
            <a:srgbClr val="FFAB40"/>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latin typeface="Proxima Nova"/>
                <a:ea typeface="Proxima Nova"/>
                <a:cs typeface="Proxima Nova"/>
                <a:sym typeface="Proxima Nova"/>
              </a:rPr>
              <a:t>Unsupervised</a:t>
            </a:r>
            <a:r>
              <a:rPr lang="en" sz="1100">
                <a:latin typeface="Proxima Nova"/>
                <a:ea typeface="Proxima Nova"/>
                <a:cs typeface="Proxima Nova"/>
                <a:sym typeface="Proxima Nova"/>
              </a:rPr>
              <a:t>: Clustering</a:t>
            </a:r>
            <a:endParaRPr sz="1100">
              <a:latin typeface="Proxima Nova"/>
              <a:ea typeface="Proxima Nova"/>
              <a:cs typeface="Proxima Nova"/>
              <a:sym typeface="Proxima Nova"/>
            </a:endParaRPr>
          </a:p>
        </p:txBody>
      </p:sp>
      <p:sp>
        <p:nvSpPr>
          <p:cNvPr id="506" name="Google Shape;506;p56"/>
          <p:cNvSpPr/>
          <p:nvPr/>
        </p:nvSpPr>
        <p:spPr>
          <a:xfrm>
            <a:off x="7276275" y="984688"/>
            <a:ext cx="1129200" cy="580800"/>
          </a:xfrm>
          <a:prstGeom prst="rect">
            <a:avLst/>
          </a:prstGeom>
          <a:solidFill>
            <a:srgbClr val="FFAB4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Unsupervised</a:t>
            </a:r>
            <a:r>
              <a:rPr lang="en" sz="1000">
                <a:latin typeface="Proxima Nova"/>
                <a:ea typeface="Proxima Nova"/>
                <a:cs typeface="Proxima Nova"/>
                <a:sym typeface="Proxima Nova"/>
              </a:rPr>
              <a:t>: Dimensionality Reduction</a:t>
            </a:r>
            <a:endParaRPr sz="1000">
              <a:latin typeface="Proxima Nova"/>
              <a:ea typeface="Proxima Nova"/>
              <a:cs typeface="Proxima Nova"/>
              <a:sym typeface="Proxima Nova"/>
            </a:endParaRPr>
          </a:p>
        </p:txBody>
      </p:sp>
      <p:sp>
        <p:nvSpPr>
          <p:cNvPr id="507" name="Google Shape;507;p56"/>
          <p:cNvSpPr/>
          <p:nvPr/>
        </p:nvSpPr>
        <p:spPr>
          <a:xfrm>
            <a:off x="504450" y="2401550"/>
            <a:ext cx="5186100" cy="22482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Classification</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a:p>
            <a:pPr indent="0" lvl="0" marL="0" rtl="0" algn="ctr">
              <a:spcBef>
                <a:spcPts val="0"/>
              </a:spcBef>
              <a:spcAft>
                <a:spcPts val="0"/>
              </a:spcAft>
              <a:buNone/>
            </a:pPr>
            <a:r>
              <a:t/>
            </a:r>
            <a:endParaRPr sz="1000">
              <a:latin typeface="Proxima Nova"/>
              <a:ea typeface="Proxima Nova"/>
              <a:cs typeface="Proxima Nova"/>
              <a:sym typeface="Proxima Nova"/>
            </a:endParaRPr>
          </a:p>
        </p:txBody>
      </p:sp>
      <p:sp>
        <p:nvSpPr>
          <p:cNvPr id="508" name="Google Shape;508;p56"/>
          <p:cNvSpPr/>
          <p:nvPr/>
        </p:nvSpPr>
        <p:spPr>
          <a:xfrm>
            <a:off x="7357475" y="2367950"/>
            <a:ext cx="1202100" cy="580800"/>
          </a:xfrm>
          <a:prstGeom prst="rect">
            <a:avLst/>
          </a:prstGeom>
          <a:solidFill>
            <a:srgbClr val="4285F4"/>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Supervised</a:t>
            </a:r>
            <a:r>
              <a:rPr lang="en" sz="1000">
                <a:latin typeface="Proxima Nova"/>
                <a:ea typeface="Proxima Nova"/>
                <a:cs typeface="Proxima Nova"/>
                <a:sym typeface="Proxima Nova"/>
              </a:rPr>
              <a:t>: Regression</a:t>
            </a:r>
            <a:endParaRPr sz="1000">
              <a:latin typeface="Proxima Nova"/>
              <a:ea typeface="Proxima Nova"/>
              <a:cs typeface="Proxima Nova"/>
              <a:sym typeface="Proxima Nova"/>
            </a:endParaRPr>
          </a:p>
        </p:txBody>
      </p:sp>
      <p:cxnSp>
        <p:nvCxnSpPr>
          <p:cNvPr id="509" name="Google Shape;509;p56"/>
          <p:cNvCxnSpPr>
            <a:stCxn id="502" idx="3"/>
            <a:endCxn id="506" idx="1"/>
          </p:cNvCxnSpPr>
          <p:nvPr/>
        </p:nvCxnSpPr>
        <p:spPr>
          <a:xfrm>
            <a:off x="6982875" y="1239125"/>
            <a:ext cx="293400" cy="36000"/>
          </a:xfrm>
          <a:prstGeom prst="straightConnector1">
            <a:avLst/>
          </a:prstGeom>
          <a:noFill/>
          <a:ln cap="flat" cmpd="sng" w="9525">
            <a:solidFill>
              <a:srgbClr val="666666"/>
            </a:solidFill>
            <a:prstDash val="solid"/>
            <a:round/>
            <a:headEnd len="med" w="med" type="none"/>
            <a:tailEnd len="med" w="med" type="triangle"/>
          </a:ln>
        </p:spPr>
      </p:cxnSp>
      <p:cxnSp>
        <p:nvCxnSpPr>
          <p:cNvPr id="510" name="Google Shape;510;p56"/>
          <p:cNvCxnSpPr>
            <a:stCxn id="502" idx="2"/>
            <a:endCxn id="504" idx="0"/>
          </p:cNvCxnSpPr>
          <p:nvPr/>
        </p:nvCxnSpPr>
        <p:spPr>
          <a:xfrm flipH="1">
            <a:off x="6425625" y="1449575"/>
            <a:ext cx="13200" cy="387900"/>
          </a:xfrm>
          <a:prstGeom prst="straightConnector1">
            <a:avLst/>
          </a:prstGeom>
          <a:noFill/>
          <a:ln cap="flat" cmpd="sng" w="9525">
            <a:solidFill>
              <a:srgbClr val="666666"/>
            </a:solidFill>
            <a:prstDash val="solid"/>
            <a:round/>
            <a:headEnd len="med" w="med" type="none"/>
            <a:tailEnd len="med" w="med" type="triangle"/>
          </a:ln>
        </p:spPr>
      </p:cxnSp>
      <p:cxnSp>
        <p:nvCxnSpPr>
          <p:cNvPr id="511" name="Google Shape;511;p56"/>
          <p:cNvCxnSpPr>
            <a:stCxn id="504" idx="1"/>
            <a:endCxn id="505" idx="2"/>
          </p:cNvCxnSpPr>
          <p:nvPr/>
        </p:nvCxnSpPr>
        <p:spPr>
          <a:xfrm rot="10800000">
            <a:off x="4962925" y="1576127"/>
            <a:ext cx="942600" cy="455400"/>
          </a:xfrm>
          <a:prstGeom prst="straightConnector1">
            <a:avLst/>
          </a:prstGeom>
          <a:noFill/>
          <a:ln cap="flat" cmpd="sng" w="9525">
            <a:solidFill>
              <a:srgbClr val="666666"/>
            </a:solidFill>
            <a:prstDash val="solid"/>
            <a:round/>
            <a:headEnd len="med" w="med" type="none"/>
            <a:tailEnd len="med" w="med" type="triangle"/>
          </a:ln>
        </p:spPr>
      </p:cxnSp>
      <p:cxnSp>
        <p:nvCxnSpPr>
          <p:cNvPr id="512" name="Google Shape;512;p56"/>
          <p:cNvCxnSpPr>
            <a:stCxn id="504" idx="0"/>
            <a:endCxn id="506" idx="2"/>
          </p:cNvCxnSpPr>
          <p:nvPr/>
        </p:nvCxnSpPr>
        <p:spPr>
          <a:xfrm flipH="1" rot="10800000">
            <a:off x="6425575" y="1565477"/>
            <a:ext cx="1415400" cy="272100"/>
          </a:xfrm>
          <a:prstGeom prst="straightConnector1">
            <a:avLst/>
          </a:prstGeom>
          <a:noFill/>
          <a:ln cap="flat" cmpd="sng" w="9525">
            <a:solidFill>
              <a:srgbClr val="666666"/>
            </a:solidFill>
            <a:prstDash val="solid"/>
            <a:round/>
            <a:headEnd len="med" w="med" type="stealth"/>
            <a:tailEnd len="med" w="med" type="none"/>
          </a:ln>
        </p:spPr>
      </p:cxnSp>
      <p:cxnSp>
        <p:nvCxnSpPr>
          <p:cNvPr id="513" name="Google Shape;513;p56"/>
          <p:cNvCxnSpPr>
            <a:stCxn id="503" idx="1"/>
            <a:endCxn id="507" idx="3"/>
          </p:cNvCxnSpPr>
          <p:nvPr/>
        </p:nvCxnSpPr>
        <p:spPr>
          <a:xfrm flipH="1">
            <a:off x="5690425" y="2743950"/>
            <a:ext cx="251700" cy="781800"/>
          </a:xfrm>
          <a:prstGeom prst="straightConnector1">
            <a:avLst/>
          </a:prstGeom>
          <a:noFill/>
          <a:ln cap="flat" cmpd="sng" w="9525">
            <a:solidFill>
              <a:srgbClr val="666666"/>
            </a:solidFill>
            <a:prstDash val="solid"/>
            <a:round/>
            <a:headEnd len="med" w="med" type="none"/>
            <a:tailEnd len="med" w="med" type="triangle"/>
          </a:ln>
        </p:spPr>
      </p:cxnSp>
      <p:cxnSp>
        <p:nvCxnSpPr>
          <p:cNvPr id="514" name="Google Shape;514;p56"/>
          <p:cNvCxnSpPr>
            <a:stCxn id="503" idx="3"/>
            <a:endCxn id="508" idx="1"/>
          </p:cNvCxnSpPr>
          <p:nvPr/>
        </p:nvCxnSpPr>
        <p:spPr>
          <a:xfrm flipH="1" rot="10800000">
            <a:off x="6982225" y="2658450"/>
            <a:ext cx="375300" cy="85500"/>
          </a:xfrm>
          <a:prstGeom prst="straightConnector1">
            <a:avLst/>
          </a:prstGeom>
          <a:noFill/>
          <a:ln cap="flat" cmpd="sng" w="9525">
            <a:solidFill>
              <a:srgbClr val="666666"/>
            </a:solidFill>
            <a:prstDash val="solid"/>
            <a:round/>
            <a:headEnd len="med" w="med" type="none"/>
            <a:tailEnd len="med" w="med" type="triangle"/>
          </a:ln>
        </p:spPr>
      </p:cxnSp>
      <p:cxnSp>
        <p:nvCxnSpPr>
          <p:cNvPr id="515" name="Google Shape;515;p56"/>
          <p:cNvCxnSpPr>
            <a:stCxn id="504" idx="2"/>
            <a:endCxn id="503" idx="0"/>
          </p:cNvCxnSpPr>
          <p:nvPr/>
        </p:nvCxnSpPr>
        <p:spPr>
          <a:xfrm>
            <a:off x="6425575" y="2225477"/>
            <a:ext cx="36600" cy="308100"/>
          </a:xfrm>
          <a:prstGeom prst="straightConnector1">
            <a:avLst/>
          </a:prstGeom>
          <a:noFill/>
          <a:ln cap="flat" cmpd="sng" w="9525">
            <a:solidFill>
              <a:srgbClr val="666666"/>
            </a:solidFill>
            <a:prstDash val="solid"/>
            <a:round/>
            <a:headEnd len="med" w="med" type="none"/>
            <a:tailEnd len="med" w="med" type="triangle"/>
          </a:ln>
        </p:spPr>
      </p:cxnSp>
      <p:sp>
        <p:nvSpPr>
          <p:cNvPr id="516" name="Google Shape;516;p56"/>
          <p:cNvSpPr txBox="1"/>
          <p:nvPr/>
        </p:nvSpPr>
        <p:spPr>
          <a:xfrm>
            <a:off x="7028053" y="1042633"/>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517" name="Google Shape;517;p56"/>
          <p:cNvSpPr txBox="1"/>
          <p:nvPr/>
        </p:nvSpPr>
        <p:spPr>
          <a:xfrm>
            <a:off x="6522522" y="2243645"/>
            <a:ext cx="1980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518" name="Google Shape;518;p56"/>
          <p:cNvSpPr txBox="1"/>
          <p:nvPr/>
        </p:nvSpPr>
        <p:spPr>
          <a:xfrm>
            <a:off x="7074887" y="2472288"/>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Y</a:t>
            </a:r>
            <a:endParaRPr sz="1000">
              <a:solidFill>
                <a:srgbClr val="666666"/>
              </a:solidFill>
              <a:latin typeface="Proxima Nova"/>
              <a:ea typeface="Proxima Nova"/>
              <a:cs typeface="Proxima Nova"/>
              <a:sym typeface="Proxima Nova"/>
            </a:endParaRPr>
          </a:p>
        </p:txBody>
      </p:sp>
      <p:sp>
        <p:nvSpPr>
          <p:cNvPr id="519" name="Google Shape;519;p56"/>
          <p:cNvSpPr txBox="1"/>
          <p:nvPr/>
        </p:nvSpPr>
        <p:spPr>
          <a:xfrm>
            <a:off x="6517866" y="1506346"/>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520" name="Google Shape;520;p56"/>
          <p:cNvSpPr txBox="1"/>
          <p:nvPr/>
        </p:nvSpPr>
        <p:spPr>
          <a:xfrm>
            <a:off x="5530205" y="1678328"/>
            <a:ext cx="136500" cy="2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521" name="Google Shape;521;p56"/>
          <p:cNvSpPr txBox="1"/>
          <p:nvPr/>
        </p:nvSpPr>
        <p:spPr>
          <a:xfrm>
            <a:off x="5688071" y="2412278"/>
            <a:ext cx="136500" cy="2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66666"/>
                </a:solidFill>
                <a:latin typeface="Proxima Nova"/>
                <a:ea typeface="Proxima Nova"/>
                <a:cs typeface="Proxima Nova"/>
                <a:sym typeface="Proxima Nova"/>
              </a:rPr>
              <a:t>N</a:t>
            </a:r>
            <a:endParaRPr sz="1000">
              <a:solidFill>
                <a:srgbClr val="666666"/>
              </a:solidFill>
              <a:latin typeface="Proxima Nova"/>
              <a:ea typeface="Proxima Nova"/>
              <a:cs typeface="Proxima Nova"/>
              <a:sym typeface="Proxima Nova"/>
            </a:endParaRPr>
          </a:p>
        </p:txBody>
      </p:sp>
      <p:sp>
        <p:nvSpPr>
          <p:cNvPr id="522" name="Google Shape;522;p56"/>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3000">
                <a:solidFill>
                  <a:srgbClr val="FF5722"/>
                </a:solidFill>
                <a:latin typeface="Alfa Slab One"/>
                <a:ea typeface="Alfa Slab One"/>
                <a:cs typeface="Alfa Slab One"/>
                <a:sym typeface="Alfa Slab One"/>
              </a:rPr>
              <a:t>Model Selection Flowchart</a:t>
            </a:r>
            <a:endParaRPr sz="3000">
              <a:solidFill>
                <a:srgbClr val="FF5722"/>
              </a:solidFill>
              <a:latin typeface="Alfa Slab One"/>
              <a:ea typeface="Alfa Slab One"/>
              <a:cs typeface="Alfa Slab One"/>
              <a:sym typeface="Alfa Slab One"/>
            </a:endParaRPr>
          </a:p>
        </p:txBody>
      </p:sp>
      <p:sp>
        <p:nvSpPr>
          <p:cNvPr id="523" name="Google Shape;523;p56"/>
          <p:cNvSpPr/>
          <p:nvPr/>
        </p:nvSpPr>
        <p:spPr>
          <a:xfrm>
            <a:off x="4230645" y="2872963"/>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Speed or Accuracy</a:t>
            </a:r>
            <a:endParaRPr sz="1000">
              <a:latin typeface="Proxima Nova"/>
              <a:ea typeface="Proxima Nova"/>
              <a:cs typeface="Proxima Nova"/>
              <a:sym typeface="Proxima Nova"/>
            </a:endParaRPr>
          </a:p>
        </p:txBody>
      </p:sp>
      <p:sp>
        <p:nvSpPr>
          <p:cNvPr id="524" name="Google Shape;524;p56"/>
          <p:cNvSpPr/>
          <p:nvPr/>
        </p:nvSpPr>
        <p:spPr>
          <a:xfrm>
            <a:off x="3490317" y="3938864"/>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Kernel SVM</a:t>
            </a:r>
            <a:endParaRPr sz="1000">
              <a:latin typeface="Proxima Nova"/>
              <a:ea typeface="Proxima Nova"/>
              <a:cs typeface="Proxima Nova"/>
              <a:sym typeface="Proxima Nova"/>
            </a:endParaRPr>
          </a:p>
        </p:txBody>
      </p:sp>
      <p:sp>
        <p:nvSpPr>
          <p:cNvPr id="525" name="Google Shape;525;p56"/>
          <p:cNvSpPr/>
          <p:nvPr/>
        </p:nvSpPr>
        <p:spPr>
          <a:xfrm>
            <a:off x="4608467" y="3938864"/>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NNs</a:t>
            </a:r>
            <a:endParaRPr sz="1000">
              <a:latin typeface="Proxima Nova"/>
              <a:ea typeface="Proxima Nova"/>
              <a:cs typeface="Proxima Nova"/>
              <a:sym typeface="Proxima Nova"/>
            </a:endParaRPr>
          </a:p>
        </p:txBody>
      </p:sp>
      <p:sp>
        <p:nvSpPr>
          <p:cNvPr id="526" name="Google Shape;526;p56"/>
          <p:cNvSpPr/>
          <p:nvPr/>
        </p:nvSpPr>
        <p:spPr>
          <a:xfrm>
            <a:off x="4608467" y="4247489"/>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XGBoost</a:t>
            </a:r>
            <a:endParaRPr sz="1000">
              <a:latin typeface="Proxima Nova"/>
              <a:ea typeface="Proxima Nova"/>
              <a:cs typeface="Proxima Nova"/>
              <a:sym typeface="Proxima Nova"/>
            </a:endParaRPr>
          </a:p>
        </p:txBody>
      </p:sp>
      <p:sp>
        <p:nvSpPr>
          <p:cNvPr id="527" name="Google Shape;527;p56"/>
          <p:cNvSpPr/>
          <p:nvPr/>
        </p:nvSpPr>
        <p:spPr>
          <a:xfrm>
            <a:off x="3490317" y="4247489"/>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RF</a:t>
            </a:r>
            <a:endParaRPr sz="1000">
              <a:latin typeface="Proxima Nova"/>
              <a:ea typeface="Proxima Nova"/>
              <a:cs typeface="Proxima Nova"/>
              <a:sym typeface="Proxima Nova"/>
            </a:endParaRPr>
          </a:p>
        </p:txBody>
      </p:sp>
      <p:sp>
        <p:nvSpPr>
          <p:cNvPr id="528" name="Google Shape;528;p56"/>
          <p:cNvSpPr txBox="1"/>
          <p:nvPr/>
        </p:nvSpPr>
        <p:spPr>
          <a:xfrm>
            <a:off x="4572000" y="3690875"/>
            <a:ext cx="6237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Proxima Nova"/>
                <a:ea typeface="Proxima Nova"/>
                <a:cs typeface="Proxima Nova"/>
                <a:sym typeface="Proxima Nova"/>
              </a:rPr>
              <a:t>accurate</a:t>
            </a:r>
            <a:endParaRPr sz="800">
              <a:solidFill>
                <a:schemeClr val="lt1"/>
              </a:solidFill>
              <a:latin typeface="Proxima Nova"/>
              <a:ea typeface="Proxima Nova"/>
              <a:cs typeface="Proxima Nova"/>
              <a:sym typeface="Proxima Nova"/>
            </a:endParaRPr>
          </a:p>
        </p:txBody>
      </p:sp>
      <p:cxnSp>
        <p:nvCxnSpPr>
          <p:cNvPr id="529" name="Google Shape;529;p56"/>
          <p:cNvCxnSpPr>
            <a:stCxn id="523" idx="2"/>
            <a:endCxn id="528" idx="1"/>
          </p:cNvCxnSpPr>
          <p:nvPr/>
        </p:nvCxnSpPr>
        <p:spPr>
          <a:xfrm flipH="1">
            <a:off x="4571895" y="3406063"/>
            <a:ext cx="205500" cy="420600"/>
          </a:xfrm>
          <a:prstGeom prst="straightConnector1">
            <a:avLst/>
          </a:prstGeom>
          <a:noFill/>
          <a:ln cap="flat" cmpd="sng" w="9525">
            <a:solidFill>
              <a:schemeClr val="lt1"/>
            </a:solidFill>
            <a:prstDash val="solid"/>
            <a:round/>
            <a:headEnd len="med" w="med" type="none"/>
            <a:tailEnd len="med" w="med" type="triangle"/>
          </a:ln>
        </p:spPr>
      </p:cxnSp>
      <p:sp>
        <p:nvSpPr>
          <p:cNvPr id="530" name="Google Shape;530;p56"/>
          <p:cNvSpPr/>
          <p:nvPr/>
        </p:nvSpPr>
        <p:spPr>
          <a:xfrm>
            <a:off x="2711545" y="2868288"/>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Explainable</a:t>
            </a:r>
            <a:endParaRPr sz="1000">
              <a:latin typeface="Proxima Nova"/>
              <a:ea typeface="Proxima Nova"/>
              <a:cs typeface="Proxima Nova"/>
              <a:sym typeface="Proxima Nova"/>
            </a:endParaRPr>
          </a:p>
        </p:txBody>
      </p:sp>
      <p:cxnSp>
        <p:nvCxnSpPr>
          <p:cNvPr id="531" name="Google Shape;531;p56"/>
          <p:cNvCxnSpPr>
            <a:stCxn id="523" idx="1"/>
            <a:endCxn id="530" idx="3"/>
          </p:cNvCxnSpPr>
          <p:nvPr/>
        </p:nvCxnSpPr>
        <p:spPr>
          <a:xfrm rot="10800000">
            <a:off x="3804945" y="3134713"/>
            <a:ext cx="425700" cy="4800"/>
          </a:xfrm>
          <a:prstGeom prst="straightConnector1">
            <a:avLst/>
          </a:prstGeom>
          <a:noFill/>
          <a:ln cap="flat" cmpd="sng" w="9525">
            <a:solidFill>
              <a:schemeClr val="lt1"/>
            </a:solidFill>
            <a:prstDash val="solid"/>
            <a:round/>
            <a:headEnd len="med" w="med" type="none"/>
            <a:tailEnd len="med" w="med" type="triangle"/>
          </a:ln>
        </p:spPr>
      </p:cxnSp>
      <p:sp>
        <p:nvSpPr>
          <p:cNvPr id="532" name="Google Shape;532;p56"/>
          <p:cNvSpPr txBox="1"/>
          <p:nvPr/>
        </p:nvSpPr>
        <p:spPr>
          <a:xfrm>
            <a:off x="3736313" y="2867725"/>
            <a:ext cx="5385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latin typeface="Proxima Nova"/>
                <a:ea typeface="Proxima Nova"/>
                <a:cs typeface="Proxima Nova"/>
                <a:sym typeface="Proxima Nova"/>
              </a:rPr>
              <a:t>speed</a:t>
            </a:r>
            <a:endParaRPr sz="800">
              <a:solidFill>
                <a:schemeClr val="lt1"/>
              </a:solidFill>
              <a:latin typeface="Proxima Nova"/>
              <a:ea typeface="Proxima Nova"/>
              <a:cs typeface="Proxima Nova"/>
              <a:sym typeface="Proxima Nova"/>
            </a:endParaRPr>
          </a:p>
        </p:txBody>
      </p:sp>
      <p:sp>
        <p:nvSpPr>
          <p:cNvPr id="533" name="Google Shape;533;p56"/>
          <p:cNvSpPr/>
          <p:nvPr/>
        </p:nvSpPr>
        <p:spPr>
          <a:xfrm>
            <a:off x="2338117" y="3929439"/>
            <a:ext cx="1045200" cy="271800"/>
          </a:xfrm>
          <a:prstGeom prst="rect">
            <a:avLst/>
          </a:prstGeom>
          <a:solidFill>
            <a:schemeClr val="accent5"/>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Linear Reg</a:t>
            </a:r>
            <a:endParaRPr sz="1000">
              <a:solidFill>
                <a:schemeClr val="lt1"/>
              </a:solidFill>
              <a:latin typeface="Proxima Nova"/>
              <a:ea typeface="Proxima Nova"/>
              <a:cs typeface="Proxima Nova"/>
              <a:sym typeface="Proxima Nova"/>
            </a:endParaRPr>
          </a:p>
        </p:txBody>
      </p:sp>
      <p:sp>
        <p:nvSpPr>
          <p:cNvPr id="534" name="Google Shape;534;p56"/>
          <p:cNvSpPr/>
          <p:nvPr/>
        </p:nvSpPr>
        <p:spPr>
          <a:xfrm>
            <a:off x="2338117" y="4247489"/>
            <a:ext cx="1045200" cy="271800"/>
          </a:xfrm>
          <a:prstGeom prst="rect">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lt1"/>
                </a:solidFill>
                <a:latin typeface="Proxima Nova"/>
                <a:ea typeface="Proxima Nova"/>
                <a:cs typeface="Proxima Nova"/>
                <a:sym typeface="Proxima Nova"/>
              </a:rPr>
              <a:t>Decision Tree</a:t>
            </a:r>
            <a:endParaRPr sz="1000">
              <a:solidFill>
                <a:schemeClr val="lt1"/>
              </a:solidFill>
              <a:latin typeface="Proxima Nova"/>
              <a:ea typeface="Proxima Nova"/>
              <a:cs typeface="Proxima Nova"/>
              <a:sym typeface="Proxima Nova"/>
            </a:endParaRPr>
          </a:p>
        </p:txBody>
      </p:sp>
      <p:cxnSp>
        <p:nvCxnSpPr>
          <p:cNvPr id="535" name="Google Shape;535;p56"/>
          <p:cNvCxnSpPr>
            <a:stCxn id="530" idx="2"/>
            <a:endCxn id="533" idx="0"/>
          </p:cNvCxnSpPr>
          <p:nvPr/>
        </p:nvCxnSpPr>
        <p:spPr>
          <a:xfrm flipH="1">
            <a:off x="2860795" y="3401388"/>
            <a:ext cx="397500" cy="528000"/>
          </a:xfrm>
          <a:prstGeom prst="straightConnector1">
            <a:avLst/>
          </a:prstGeom>
          <a:noFill/>
          <a:ln cap="flat" cmpd="sng" w="9525">
            <a:solidFill>
              <a:schemeClr val="lt1"/>
            </a:solidFill>
            <a:prstDash val="solid"/>
            <a:round/>
            <a:headEnd len="med" w="med" type="none"/>
            <a:tailEnd len="med" w="med" type="triangle"/>
          </a:ln>
        </p:spPr>
      </p:cxnSp>
      <p:sp>
        <p:nvSpPr>
          <p:cNvPr id="536" name="Google Shape;536;p56"/>
          <p:cNvSpPr/>
          <p:nvPr/>
        </p:nvSpPr>
        <p:spPr>
          <a:xfrm>
            <a:off x="1227220" y="2868288"/>
            <a:ext cx="1093500" cy="533100"/>
          </a:xfrm>
          <a:prstGeom prst="rect">
            <a:avLst/>
          </a:prstGeom>
          <a:solidFill>
            <a:srgbClr val="D9D9D9"/>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Proxima Nova"/>
                <a:ea typeface="Proxima Nova"/>
                <a:cs typeface="Proxima Nova"/>
                <a:sym typeface="Proxima Nova"/>
              </a:rPr>
              <a:t>Data is Too Large</a:t>
            </a:r>
            <a:endParaRPr sz="1000">
              <a:latin typeface="Proxima Nova"/>
              <a:ea typeface="Proxima Nova"/>
              <a:cs typeface="Proxima Nova"/>
              <a:sym typeface="Proxima Nova"/>
            </a:endParaRPr>
          </a:p>
        </p:txBody>
      </p:sp>
      <p:cxnSp>
        <p:nvCxnSpPr>
          <p:cNvPr id="537" name="Google Shape;537;p56"/>
          <p:cNvCxnSpPr>
            <a:stCxn id="530" idx="1"/>
            <a:endCxn id="536" idx="3"/>
          </p:cNvCxnSpPr>
          <p:nvPr/>
        </p:nvCxnSpPr>
        <p:spPr>
          <a:xfrm rot="10800000">
            <a:off x="2320645" y="3134838"/>
            <a:ext cx="390900" cy="0"/>
          </a:xfrm>
          <a:prstGeom prst="straightConnector1">
            <a:avLst/>
          </a:prstGeom>
          <a:noFill/>
          <a:ln cap="flat" cmpd="sng" w="9525">
            <a:solidFill>
              <a:schemeClr val="lt1"/>
            </a:solidFill>
            <a:prstDash val="solid"/>
            <a:round/>
            <a:headEnd len="med" w="med" type="none"/>
            <a:tailEnd len="med" w="med" type="triangle"/>
          </a:ln>
        </p:spPr>
      </p:cxnSp>
      <p:sp>
        <p:nvSpPr>
          <p:cNvPr id="538" name="Google Shape;538;p56"/>
          <p:cNvSpPr/>
          <p:nvPr/>
        </p:nvSpPr>
        <p:spPr>
          <a:xfrm>
            <a:off x="1251367" y="3929439"/>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Naive Bayes</a:t>
            </a:r>
            <a:endParaRPr sz="1000">
              <a:latin typeface="Proxima Nova"/>
              <a:ea typeface="Proxima Nova"/>
              <a:cs typeface="Proxima Nova"/>
              <a:sym typeface="Proxima Nova"/>
            </a:endParaRPr>
          </a:p>
        </p:txBody>
      </p:sp>
      <p:cxnSp>
        <p:nvCxnSpPr>
          <p:cNvPr id="539" name="Google Shape;539;p56"/>
          <p:cNvCxnSpPr>
            <a:stCxn id="536" idx="2"/>
            <a:endCxn id="538" idx="0"/>
          </p:cNvCxnSpPr>
          <p:nvPr/>
        </p:nvCxnSpPr>
        <p:spPr>
          <a:xfrm>
            <a:off x="1773970" y="3401388"/>
            <a:ext cx="0" cy="528000"/>
          </a:xfrm>
          <a:prstGeom prst="straightConnector1">
            <a:avLst/>
          </a:prstGeom>
          <a:noFill/>
          <a:ln cap="flat" cmpd="sng" w="9525">
            <a:solidFill>
              <a:schemeClr val="lt1"/>
            </a:solidFill>
            <a:prstDash val="solid"/>
            <a:round/>
            <a:headEnd len="med" w="med" type="none"/>
            <a:tailEnd len="med" w="med" type="triangle"/>
          </a:ln>
        </p:spPr>
      </p:cxnSp>
      <p:sp>
        <p:nvSpPr>
          <p:cNvPr id="540" name="Google Shape;540;p56"/>
          <p:cNvSpPr/>
          <p:nvPr/>
        </p:nvSpPr>
        <p:spPr>
          <a:xfrm>
            <a:off x="545017" y="3529514"/>
            <a:ext cx="1045200" cy="271800"/>
          </a:xfrm>
          <a:prstGeom prst="rect">
            <a:avLst/>
          </a:prstGeom>
          <a:solidFill>
            <a:schemeClr val="lt2"/>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Proxima Nova"/>
                <a:ea typeface="Proxima Nova"/>
                <a:cs typeface="Proxima Nova"/>
                <a:sym typeface="Proxima Nova"/>
              </a:rPr>
              <a:t>Linear SVM</a:t>
            </a:r>
            <a:endParaRPr sz="1000">
              <a:latin typeface="Proxima Nova"/>
              <a:ea typeface="Proxima Nova"/>
              <a:cs typeface="Proxima Nova"/>
              <a:sym typeface="Proxima Nova"/>
            </a:endParaRPr>
          </a:p>
        </p:txBody>
      </p:sp>
      <p:cxnSp>
        <p:nvCxnSpPr>
          <p:cNvPr id="541" name="Google Shape;541;p56"/>
          <p:cNvCxnSpPr>
            <a:stCxn id="536" idx="1"/>
            <a:endCxn id="540" idx="0"/>
          </p:cNvCxnSpPr>
          <p:nvPr/>
        </p:nvCxnSpPr>
        <p:spPr>
          <a:xfrm flipH="1">
            <a:off x="1067620" y="3134838"/>
            <a:ext cx="159600" cy="394800"/>
          </a:xfrm>
          <a:prstGeom prst="straightConnector1">
            <a:avLst/>
          </a:prstGeom>
          <a:noFill/>
          <a:ln cap="flat" cmpd="sng" w="9525">
            <a:solidFill>
              <a:schemeClr val="lt1"/>
            </a:solidFill>
            <a:prstDash val="solid"/>
            <a:round/>
            <a:headEnd len="med" w="med" type="none"/>
            <a:tailEnd len="med" w="med" type="triangle"/>
          </a:ln>
        </p:spPr>
      </p:cxnSp>
      <p:sp>
        <p:nvSpPr>
          <p:cNvPr id="542" name="Google Shape;542;p56"/>
          <p:cNvSpPr txBox="1"/>
          <p:nvPr/>
        </p:nvSpPr>
        <p:spPr>
          <a:xfrm>
            <a:off x="3119237" y="3536863"/>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roxima Nova"/>
                <a:ea typeface="Proxima Nova"/>
                <a:cs typeface="Proxima Nova"/>
                <a:sym typeface="Proxima Nova"/>
              </a:rPr>
              <a:t>Y</a:t>
            </a:r>
            <a:endParaRPr sz="1000">
              <a:solidFill>
                <a:schemeClr val="lt1"/>
              </a:solidFill>
              <a:latin typeface="Proxima Nova"/>
              <a:ea typeface="Proxima Nova"/>
              <a:cs typeface="Proxima Nova"/>
              <a:sym typeface="Proxima Nova"/>
            </a:endParaRPr>
          </a:p>
        </p:txBody>
      </p:sp>
      <p:sp>
        <p:nvSpPr>
          <p:cNvPr id="543" name="Google Shape;543;p56"/>
          <p:cNvSpPr txBox="1"/>
          <p:nvPr/>
        </p:nvSpPr>
        <p:spPr>
          <a:xfrm>
            <a:off x="1773987" y="3525738"/>
            <a:ext cx="107400" cy="1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roxima Nova"/>
                <a:ea typeface="Proxima Nova"/>
                <a:cs typeface="Proxima Nova"/>
                <a:sym typeface="Proxima Nova"/>
              </a:rPr>
              <a:t>Y</a:t>
            </a:r>
            <a:endParaRPr sz="1000">
              <a:solidFill>
                <a:schemeClr val="lt1"/>
              </a:solidFill>
              <a:latin typeface="Proxima Nova"/>
              <a:ea typeface="Proxima Nova"/>
              <a:cs typeface="Proxima Nova"/>
              <a:sym typeface="Proxima Nova"/>
            </a:endParaRPr>
          </a:p>
        </p:txBody>
      </p:sp>
      <p:sp>
        <p:nvSpPr>
          <p:cNvPr id="544" name="Google Shape;544;p56"/>
          <p:cNvSpPr txBox="1"/>
          <p:nvPr/>
        </p:nvSpPr>
        <p:spPr>
          <a:xfrm>
            <a:off x="905960" y="3071484"/>
            <a:ext cx="2517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roxima Nova"/>
                <a:ea typeface="Proxima Nova"/>
                <a:cs typeface="Proxima Nova"/>
                <a:sym typeface="Proxima Nova"/>
              </a:rPr>
              <a:t>N</a:t>
            </a:r>
            <a:endParaRPr sz="1000">
              <a:solidFill>
                <a:schemeClr val="lt1"/>
              </a:solidFill>
              <a:latin typeface="Proxima Nova"/>
              <a:ea typeface="Proxima Nova"/>
              <a:cs typeface="Proxima Nova"/>
              <a:sym typeface="Proxima Nova"/>
            </a:endParaRPr>
          </a:p>
        </p:txBody>
      </p:sp>
      <p:sp>
        <p:nvSpPr>
          <p:cNvPr id="545" name="Google Shape;545;p56"/>
          <p:cNvSpPr txBox="1"/>
          <p:nvPr/>
        </p:nvSpPr>
        <p:spPr>
          <a:xfrm>
            <a:off x="2390298" y="2867734"/>
            <a:ext cx="251700" cy="2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roxima Nova"/>
                <a:ea typeface="Proxima Nova"/>
                <a:cs typeface="Proxima Nova"/>
                <a:sym typeface="Proxima Nova"/>
              </a:rPr>
              <a:t>N</a:t>
            </a:r>
            <a:endParaRPr sz="1000">
              <a:solidFill>
                <a:schemeClr val="lt1"/>
              </a:solidFill>
              <a:latin typeface="Proxima Nova"/>
              <a:ea typeface="Proxima Nova"/>
              <a:cs typeface="Proxima Nova"/>
              <a:sym typeface="Proxima Nov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id="550" name="Google Shape;550;p57"/>
          <p:cNvPicPr preferRelativeResize="0"/>
          <p:nvPr/>
        </p:nvPicPr>
        <p:blipFill>
          <a:blip r:embed="rId3">
            <a:alphaModFix/>
          </a:blip>
          <a:stretch>
            <a:fillRect/>
          </a:stretch>
        </p:blipFill>
        <p:spPr>
          <a:xfrm>
            <a:off x="152400" y="152400"/>
            <a:ext cx="5851851" cy="3451075"/>
          </a:xfrm>
          <a:prstGeom prst="rect">
            <a:avLst/>
          </a:prstGeom>
          <a:noFill/>
          <a:ln>
            <a:noFill/>
          </a:ln>
        </p:spPr>
      </p:pic>
      <p:pic>
        <p:nvPicPr>
          <p:cNvPr id="551" name="Google Shape;551;p57"/>
          <p:cNvPicPr preferRelativeResize="0"/>
          <p:nvPr/>
        </p:nvPicPr>
        <p:blipFill>
          <a:blip r:embed="rId4">
            <a:alphaModFix/>
          </a:blip>
          <a:stretch>
            <a:fillRect/>
          </a:stretch>
        </p:blipFill>
        <p:spPr>
          <a:xfrm>
            <a:off x="4768699" y="2942449"/>
            <a:ext cx="3812075" cy="1626700"/>
          </a:xfrm>
          <a:prstGeom prst="rect">
            <a:avLst/>
          </a:prstGeom>
          <a:noFill/>
          <a:ln>
            <a:noFill/>
          </a:ln>
        </p:spPr>
      </p:pic>
      <p:pic>
        <p:nvPicPr>
          <p:cNvPr id="552" name="Google Shape;552;p57"/>
          <p:cNvPicPr preferRelativeResize="0"/>
          <p:nvPr/>
        </p:nvPicPr>
        <p:blipFill>
          <a:blip r:embed="rId5">
            <a:alphaModFix/>
          </a:blip>
          <a:stretch>
            <a:fillRect/>
          </a:stretch>
        </p:blipFill>
        <p:spPr>
          <a:xfrm>
            <a:off x="279099" y="2942449"/>
            <a:ext cx="3812076" cy="1775693"/>
          </a:xfrm>
          <a:prstGeom prst="rect">
            <a:avLst/>
          </a:prstGeom>
          <a:noFill/>
          <a:ln>
            <a:noFill/>
          </a:ln>
        </p:spPr>
      </p:pic>
      <p:pic>
        <p:nvPicPr>
          <p:cNvPr id="553" name="Google Shape;553;p57"/>
          <p:cNvPicPr preferRelativeResize="0"/>
          <p:nvPr/>
        </p:nvPicPr>
        <p:blipFill>
          <a:blip r:embed="rId6">
            <a:alphaModFix/>
          </a:blip>
          <a:stretch>
            <a:fillRect/>
          </a:stretch>
        </p:blipFill>
        <p:spPr>
          <a:xfrm>
            <a:off x="4751550" y="830350"/>
            <a:ext cx="4084800" cy="1775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174D"/>
        </a:solidFill>
      </p:bgPr>
    </p:bg>
    <p:spTree>
      <p:nvGrpSpPr>
        <p:cNvPr id="557" name="Shape 557"/>
        <p:cNvGrpSpPr/>
        <p:nvPr/>
      </p:nvGrpSpPr>
      <p:grpSpPr>
        <a:xfrm>
          <a:off x="0" y="0"/>
          <a:ext cx="0" cy="0"/>
          <a:chOff x="0" y="0"/>
          <a:chExt cx="0" cy="0"/>
        </a:xfrm>
      </p:grpSpPr>
      <p:pic>
        <p:nvPicPr>
          <p:cNvPr id="558" name="Google Shape;558;p58" title="Screenshot 2026-01-26 at 10.14.01 AM.png"/>
          <p:cNvPicPr preferRelativeResize="0"/>
          <p:nvPr/>
        </p:nvPicPr>
        <p:blipFill>
          <a:blip r:embed="rId3">
            <a:alphaModFix/>
          </a:blip>
          <a:stretch>
            <a:fillRect/>
          </a:stretch>
        </p:blipFill>
        <p:spPr>
          <a:xfrm>
            <a:off x="2353188" y="152400"/>
            <a:ext cx="4437631" cy="4838700"/>
          </a:xfrm>
          <a:prstGeom prst="rect">
            <a:avLst/>
          </a:prstGeom>
          <a:noFill/>
          <a:ln>
            <a:noFill/>
          </a:ln>
        </p:spPr>
      </p:pic>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559" name="Google Shape;559;p58"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D9F24"/>
        </a:solidFill>
      </p:bgPr>
    </p:bg>
    <p:spTree>
      <p:nvGrpSpPr>
        <p:cNvPr id="563" name="Shape 563"/>
        <p:cNvGrpSpPr/>
        <p:nvPr/>
      </p:nvGrpSpPr>
      <p:grpSpPr>
        <a:xfrm>
          <a:off x="0" y="0"/>
          <a:ext cx="0" cy="0"/>
          <a:chOff x="0" y="0"/>
          <a:chExt cx="0" cy="0"/>
        </a:xfrm>
      </p:grpSpPr>
      <p:sp>
        <p:nvSpPr>
          <p:cNvPr id="564" name="Google Shape;564;p59"/>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lnSpc>
                <a:spcPct val="80000"/>
              </a:lnSpc>
              <a:spcBef>
                <a:spcPts val="0"/>
              </a:spcBef>
              <a:spcAft>
                <a:spcPts val="0"/>
              </a:spcAft>
              <a:buNone/>
            </a:pPr>
            <a:r>
              <a:rPr b="1" lang="en" sz="6650">
                <a:solidFill>
                  <a:srgbClr val="36174D"/>
                </a:solidFill>
                <a:latin typeface="Staatliches"/>
                <a:ea typeface="Staatliches"/>
                <a:cs typeface="Staatliches"/>
                <a:sym typeface="Staatliches"/>
              </a:rPr>
              <a:t>example </a:t>
            </a:r>
            <a:endParaRPr b="1" sz="6650">
              <a:solidFill>
                <a:srgbClr val="36174D"/>
              </a:solidFill>
              <a:latin typeface="Staatliches"/>
              <a:ea typeface="Staatliches"/>
              <a:cs typeface="Staatliches"/>
              <a:sym typeface="Staatliches"/>
            </a:endParaRPr>
          </a:p>
          <a:p>
            <a:pPr indent="0" lvl="0" marL="0" rtl="0" algn="ctr">
              <a:lnSpc>
                <a:spcPct val="80000"/>
              </a:lnSpc>
              <a:spcBef>
                <a:spcPts val="0"/>
              </a:spcBef>
              <a:spcAft>
                <a:spcPts val="0"/>
              </a:spcAft>
              <a:buNone/>
            </a:pPr>
            <a:r>
              <a:rPr b="1" lang="en" sz="2600">
                <a:solidFill>
                  <a:srgbClr val="36174D"/>
                </a:solidFill>
                <a:latin typeface="Staatliches"/>
                <a:ea typeface="Staatliches"/>
                <a:cs typeface="Staatliches"/>
                <a:sym typeface="Staatliches"/>
              </a:rPr>
              <a:t>tuning workflow</a:t>
            </a:r>
            <a:endParaRPr b="1" sz="2600">
              <a:solidFill>
                <a:srgbClr val="36174D"/>
              </a:solidFill>
              <a:latin typeface="Staatliches"/>
              <a:ea typeface="Staatliches"/>
              <a:cs typeface="Staatliches"/>
              <a:sym typeface="Staatliches"/>
            </a:endParaRPr>
          </a:p>
          <a:p>
            <a:pPr indent="0" lvl="0" marL="0" rtl="0" algn="ctr">
              <a:spcBef>
                <a:spcPts val="0"/>
              </a:spcBef>
              <a:spcAft>
                <a:spcPts val="0"/>
              </a:spcAft>
              <a:buNone/>
            </a:pPr>
            <a:r>
              <a:rPr lang="en" sz="1100">
                <a:latin typeface="Manrope"/>
                <a:ea typeface="Manrope"/>
                <a:cs typeface="Manrope"/>
                <a:sym typeface="Manrope"/>
              </a:rPr>
              <a:t>Link: </a:t>
            </a:r>
            <a:r>
              <a:rPr lang="en" sz="1100" u="sng">
                <a:solidFill>
                  <a:schemeClr val="hlink"/>
                </a:solidFill>
                <a:latin typeface="Manrope"/>
                <a:ea typeface="Manrope"/>
                <a:cs typeface="Manrope"/>
                <a:sym typeface="Manrope"/>
                <a:hlinkClick r:id="rId3"/>
              </a:rPr>
              <a:t>click for access</a:t>
            </a:r>
            <a:endParaRPr sz="1100">
              <a:latin typeface="Manrope"/>
              <a:ea typeface="Manrope"/>
              <a:cs typeface="Manrope"/>
              <a:sym typeface="Manrope"/>
            </a:endParaRPr>
          </a:p>
          <a:p>
            <a:pPr indent="0" lvl="0" marL="0" rtl="0" algn="ctr">
              <a:spcBef>
                <a:spcPts val="0"/>
              </a:spcBef>
              <a:spcAft>
                <a:spcPts val="0"/>
              </a:spcAft>
              <a:buNone/>
            </a:pPr>
            <a:r>
              <a:t/>
            </a:r>
            <a:endParaRPr sz="1100">
              <a:latin typeface="Manrope"/>
              <a:ea typeface="Manrope"/>
              <a:cs typeface="Manrope"/>
              <a:sym typeface="Manrope"/>
            </a:endParaRPr>
          </a:p>
        </p:txBody>
      </p:sp>
      <p:pic>
        <p:nvPicPr>
          <p:cNvPr descr="🎼 | Listen on Spotify, Apple music and more&#10;→  https://fanlink.to/ChillSynthwave&#10;&#10;🎶 Subscribe to this channel for more synthwave music&#10;→ https://bit.ly/synthwave-channel&#10;&#10;🌎 | Lofi Girl on all social media&#10;→  https://fanlink.to/lofigirl-social&#10;&#10;👕 | Lofi Girl merch&#10;→  https://bit.ly/Iofigirl-shop&#10;&#10;🎭 | Create your lofi avatar now&#10;→  https://lofigirl.com/generator/&#10;&#10;💬 | Join the Lofi Girl community&#10;→   https://bit.ly/lofigirl-discord&#10;→   https://bit.ly/lofigirl-reddit&#10;&#10;🎨 | Art by Lofi Studio (full list of artists here)&#10;→  https://www.instagram.com/p/CrlCU3msh49/&#10;&#10;📝 | Submit your music / art&#10;→  https://bit.ly/lofi-submission" id="565" name="Google Shape;565;p59" title="synthwave radio 🌌 - beats to chill/game to">
            <a:hlinkClick r:id="rId4"/>
          </p:cNvPr>
          <p:cNvPicPr preferRelativeResize="0"/>
          <p:nvPr/>
        </p:nvPicPr>
        <p:blipFill>
          <a:blip r:embed="rId5">
            <a:alphaModFix/>
          </a:blip>
          <a:stretch>
            <a:fillRect/>
          </a:stretch>
        </p:blipFill>
        <p:spPr>
          <a:xfrm>
            <a:off x="135850" y="4657597"/>
            <a:ext cx="561450" cy="3158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