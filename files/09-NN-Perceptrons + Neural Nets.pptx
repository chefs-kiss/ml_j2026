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5143500" cx="9144000"/>
  <p:notesSz cx="6858000" cy="9144000"/>
  <p:embeddedFontLst>
    <p:embeddedFont>
      <p:font typeface="Staatliches"/>
      <p:regular r:id="rId53"/>
    </p:embeddedFont>
    <p:embeddedFont>
      <p:font typeface="Source Code Pro"/>
      <p:regular r:id="rId54"/>
      <p:bold r:id="rId55"/>
      <p:italic r:id="rId56"/>
      <p:boldItalic r:id="rId57"/>
    </p:embeddedFont>
    <p:embeddedFont>
      <p:font typeface="Manrope"/>
      <p:regular r:id="rId58"/>
      <p:bold r:id="rId59"/>
    </p:embeddedFont>
    <p:embeddedFont>
      <p:font typeface="Pacifico"/>
      <p:regular r:id="rId60"/>
    </p:embeddedFont>
    <p:embeddedFont>
      <p:font typeface="Roboto Mono"/>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Mono-bold.fntdata"/><Relationship Id="rId61" Type="http://schemas.openxmlformats.org/officeDocument/2006/relationships/font" Target="fonts/RobotoMono-regular.fntdata"/><Relationship Id="rId20" Type="http://schemas.openxmlformats.org/officeDocument/2006/relationships/slide" Target="slides/slide14.xml"/><Relationship Id="rId64" Type="http://schemas.openxmlformats.org/officeDocument/2006/relationships/font" Target="fonts/RobotoMono-boldItalic.fntdata"/><Relationship Id="rId63" Type="http://schemas.openxmlformats.org/officeDocument/2006/relationships/font" Target="fonts/RobotoMono-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Pacifico-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Staatliches-regular.fntdata"/><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SourceCodePro-bold.fntdata"/><Relationship Id="rId10" Type="http://schemas.openxmlformats.org/officeDocument/2006/relationships/slide" Target="slides/slide4.xml"/><Relationship Id="rId54" Type="http://schemas.openxmlformats.org/officeDocument/2006/relationships/font" Target="fonts/SourceCodePro-regular.fntdata"/><Relationship Id="rId13" Type="http://schemas.openxmlformats.org/officeDocument/2006/relationships/slide" Target="slides/slide7.xml"/><Relationship Id="rId57" Type="http://schemas.openxmlformats.org/officeDocument/2006/relationships/font" Target="fonts/SourceCodePro-boldItalic.fntdata"/><Relationship Id="rId12" Type="http://schemas.openxmlformats.org/officeDocument/2006/relationships/slide" Target="slides/slide6.xml"/><Relationship Id="rId56" Type="http://schemas.openxmlformats.org/officeDocument/2006/relationships/font" Target="fonts/SourceCodePro-italic.fntdata"/><Relationship Id="rId15" Type="http://schemas.openxmlformats.org/officeDocument/2006/relationships/slide" Target="slides/slide9.xml"/><Relationship Id="rId59" Type="http://schemas.openxmlformats.org/officeDocument/2006/relationships/font" Target="fonts/Manrope-bold.fntdata"/><Relationship Id="rId14" Type="http://schemas.openxmlformats.org/officeDocument/2006/relationships/slide" Target="slides/slide8.xml"/><Relationship Id="rId58" Type="http://schemas.openxmlformats.org/officeDocument/2006/relationships/font" Target="fonts/Manrope-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bf0497fa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bbf0497fa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Layout objects pulled from: https://slidesgo.com/</a:t>
            </a:r>
            <a:endParaRPr/>
          </a:p>
          <a:p>
            <a:pPr indent="0" lvl="0" marL="0" rtl="0" algn="l">
              <a:spcBef>
                <a:spcPts val="0"/>
              </a:spcBef>
              <a:spcAft>
                <a:spcPts val="0"/>
              </a:spcAft>
              <a:buNone/>
            </a:pPr>
            <a:r>
              <a:rPr lang="en"/>
              <a:t>All icons are from: https://thenounproject.com/</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4b931015e8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4b931015e8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4b931015e8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4b931015e8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4b931015e8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4b931015e8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4b931015e8_0_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4b931015e8_0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4ea3f90e9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4ea3f90e9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4b931015e8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4b931015e8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4ea3f90e9f_1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4ea3f90e9f_1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4bd6dcc38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4bd6dcc38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4b931015e8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4b931015e8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bbf0497fa0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bbf0497fa0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Layout objects pulled from: https://slidesgo.com/</a:t>
            </a:r>
            <a:endParaRPr/>
          </a:p>
          <a:p>
            <a:pPr indent="0" lvl="0" marL="0" rtl="0" algn="l">
              <a:spcBef>
                <a:spcPts val="0"/>
              </a:spcBef>
              <a:spcAft>
                <a:spcPts val="0"/>
              </a:spcAft>
              <a:buNone/>
            </a:pPr>
            <a:r>
              <a:rPr lang="en"/>
              <a:t>All icons are from: https://thenounproject.com/</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4ca6cf32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4ca6cf32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4ca6cf3251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4ca6cf3251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4ca6cf3251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34ca6cf3251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4ca6cf3251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34ca6cf3251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4ca6cf3251_0_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34ca6cf3251_0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4ca6cf3251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34ca6cf3251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34ca6cf3251_0_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7" name="Google Shape;1017;g34ca6cf3251_0_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34ca6cf3251_0_10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34ca6cf3251_0_10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4ca6cf3251_0_10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34ca6cf3251_0_10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4ca6cf3251_0_10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4" name="Google Shape;1074;g34ca6cf3251_0_10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4ca6cf3251_0_1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34ca6cf3251_0_1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4ca6cf3251_0_1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34ca6cf3251_0_1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4ca6cf3251_0_1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34ca6cf3251_0_1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3bbf0497fa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3bbf0497fa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Layout objects pulled from: https://slidesgo.com/</a:t>
            </a:r>
            <a:endParaRPr/>
          </a:p>
          <a:p>
            <a:pPr indent="0" lvl="0" marL="0" rtl="0" algn="l">
              <a:spcBef>
                <a:spcPts val="0"/>
              </a:spcBef>
              <a:spcAft>
                <a:spcPts val="0"/>
              </a:spcAft>
              <a:buNone/>
            </a:pPr>
            <a:r>
              <a:rPr lang="en"/>
              <a:t>All icons are from: https://thenounproject.com/</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34d3e572f6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34d3e572f6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34d3e572f6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g34d3e572f6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4d2c0509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34d2c0509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g3bc171f78c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3" name="Google Shape;1163;g3bc171f78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Layout objects pulled from: https://slidesgo.com/</a:t>
            </a:r>
            <a:endParaRPr/>
          </a:p>
          <a:p>
            <a:pPr indent="0" lvl="0" marL="0" rtl="0" algn="l">
              <a:spcBef>
                <a:spcPts val="0"/>
              </a:spcBef>
              <a:spcAft>
                <a:spcPts val="0"/>
              </a:spcAft>
              <a:buNone/>
            </a:pPr>
            <a:r>
              <a:rPr lang="en"/>
              <a:t>All icons are from: https://thenounproject.com/</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3bc171f78c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9" name="Google Shape;1169;g3bc171f78c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g34b931015e8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8" name="Google Shape;1178;g34b931015e8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g34f3e5e129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3" name="Google Shape;1183;g34f3e5e129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34f3e5e129b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34f3e5e129b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4f3e5e12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34f3e5e12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g34f3e5e129b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8" name="Google Shape;1238;g34f3e5e129b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34f3e5e129b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5" name="Google Shape;1305;g34f3e5e129b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g34f3e5e129b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4" name="Google Shape;1324;g34f3e5e129b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g34f3e5e129b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7" name="Google Shape;1347;g34f3e5e129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g34f3e5e129b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5" name="Google Shape;1375;g34f3e5e129b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34f3e5e129b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4" name="Google Shape;1394;g34f3e5e129b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g34f3e5e129b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5" name="Google Shape;1405;g34f3e5e129b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g34f3e5e129b_0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2" name="Google Shape;1412;g34f3e5e129b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7" name="Shape 1417"/>
        <p:cNvGrpSpPr/>
        <p:nvPr/>
      </p:nvGrpSpPr>
      <p:grpSpPr>
        <a:xfrm>
          <a:off x="0" y="0"/>
          <a:ext cx="0" cy="0"/>
          <a:chOff x="0" y="0"/>
          <a:chExt cx="0" cy="0"/>
        </a:xfrm>
      </p:grpSpPr>
      <p:sp>
        <p:nvSpPr>
          <p:cNvPr id="1418" name="Google Shape;1418;g34f3e5e129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9" name="Google Shape;1419;g34f3e5e129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g34f3e5e129b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9" name="Google Shape;1429;g34f3e5e129b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g34f3e5e129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3" name="Google Shape;1473;g34f3e5e129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g34f3e5e129b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0" name="Google Shape;1480;g34f3e5e129b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C6B8EB"/>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www.youtube.com/watch?v=4xDzrJKXOOY" TargetMode="External"/><Relationship Id="rId5"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hyperlink" Target="http://www.youtube.com/watch?v=odzGsDTJKz4" TargetMode="External"/><Relationship Id="rId5"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jpg"/><Relationship Id="rId4" Type="http://schemas.openxmlformats.org/officeDocument/2006/relationships/hyperlink" Target="http://www.youtube.com/watch?v=4xDzrJKXOOY" TargetMode="External"/><Relationship Id="rId5"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1.png"/><Relationship Id="rId4" Type="http://schemas.openxmlformats.org/officeDocument/2006/relationships/image" Target="../media/image18.png"/><Relationship Id="rId5" Type="http://schemas.openxmlformats.org/officeDocument/2006/relationships/hyperlink" Target="http://www.youtube.com/watch?v=4xDzrJKXOOY" TargetMode="External"/><Relationship Id="rId6"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jpg"/><Relationship Id="rId4" Type="http://schemas.openxmlformats.org/officeDocument/2006/relationships/hyperlink" Target="http://www.youtube.com/watch?v=4xDzrJKXOOY" TargetMode="External"/><Relationship Id="rId5"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hyperlink" Target="http://www.youtube.com/watch?v=T2qQGqZxkD0" TargetMode="External"/><Relationship Id="rId4" Type="http://schemas.openxmlformats.org/officeDocument/2006/relationships/image" Target="../media/image9.jpg"/><Relationship Id="rId5" Type="http://schemas.openxmlformats.org/officeDocument/2006/relationships/hyperlink" Target="https://teachablemachine.withgoogle.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hyperlink" Target="http://www.youtube.com/watch?v=4xDzrJKXOOY" TargetMode="External"/><Relationship Id="rId4" Type="http://schemas.openxmlformats.org/officeDocument/2006/relationships/image" Target="../media/image1.jpg"/><Relationship Id="rId5"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hyperlink" Target="https://playground.tensorflow.org/#activation=tanh&amp;batchSize=10&amp;dataset=circle&amp;regDataset=reg-plane&amp;learningRate=0.03&amp;regularizationRate=0&amp;noise=0&amp;networkShape=4,2&amp;seed=0.46431&amp;showTestData=false&amp;discretize=false&amp;percTrainData=50&amp;x=true&amp;y=true&amp;xTimesY=false&amp;xSquared=false&amp;ySquared=false&amp;cosX=false&amp;sinX=false&amp;cosY=false&amp;sinY=false&amp;collectStats=false&amp;problem=classification&amp;initZero=false&amp;hideText=false" TargetMode="Externa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jpg"/><Relationship Id="rId4" Type="http://schemas.openxmlformats.org/officeDocument/2006/relationships/hyperlink" Target="http://www.youtube.com/watch?v=4xDzrJKXOOY" TargetMode="External"/><Relationship Id="rId5"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hyperlink" Target="http://www.youtube.com/watch?v=4xDzrJKXOOY" TargetMode="External"/><Relationship Id="rId6"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hyperlink" Target="https://colab.research.google.com/drive/1CksSgfKDlWkvm7A5rZaB-9en3KbXhywL#scrollTo=zEnt8veux4wY"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hyperlink" Target="http://www.youtube.com/watch?v=4xDzrJKXOOY" TargetMode="External"/><Relationship Id="rId4"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26.png"/><Relationship Id="rId4" Type="http://schemas.openxmlformats.org/officeDocument/2006/relationships/hyperlink" Target="https://archive.ics.uci.edu/dataset/101/tic+tac+toe+endgame"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26.png"/><Relationship Id="rId4" Type="http://schemas.openxmlformats.org/officeDocument/2006/relationships/hyperlink" Target="https://archive.ics.uci.edu/dataset/101/tic+tac+toe+endgame"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20.png"/><Relationship Id="rId4" Type="http://schemas.openxmlformats.org/officeDocument/2006/relationships/hyperlink" Target="https://www.tensorflow.org/learn"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hyperlink" Target="https://colab.research.google.com/github/tensorflow/docs/blob/master/site/en/tutorials/load_data/images.ipynb" TargetMode="External"/><Relationship Id="rId4" Type="http://schemas.openxmlformats.org/officeDocument/2006/relationships/hyperlink" Target="https://colab.research.google.com/github/tensorflow/tfx/blob/master/docs/tutorials/data_validation/tfdv_basic.ipynb" TargetMode="External"/><Relationship Id="rId5" Type="http://schemas.openxmlformats.org/officeDocument/2006/relationships/hyperlink" Target="https://www.tensorflow.org/learn" TargetMode="External"/><Relationship Id="rId6"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22.png"/><Relationship Id="rId4" Type="http://schemas.openxmlformats.org/officeDocument/2006/relationships/image" Target="../media/image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 name="Shape 98"/>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99" name="Google Shape;99;p25"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
        <p:nvSpPr>
          <p:cNvPr id="100" name="Google Shape;100;p25"/>
          <p:cNvSpPr/>
          <p:nvPr/>
        </p:nvSpPr>
        <p:spPr>
          <a:xfrm>
            <a:off x="2166300" y="1146750"/>
            <a:ext cx="4811400" cy="2850000"/>
          </a:xfrm>
          <a:prstGeom prst="roundRect">
            <a:avLst>
              <a:gd fmla="val 16667" name="adj"/>
            </a:avLst>
          </a:prstGeom>
          <a:solidFill>
            <a:srgbClr val="9D9F24"/>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 sz="4950">
                <a:solidFill>
                  <a:schemeClr val="dk1"/>
                </a:solidFill>
                <a:latin typeface="Staatliches"/>
                <a:ea typeface="Staatliches"/>
                <a:cs typeface="Staatliches"/>
                <a:sym typeface="Staatliches"/>
              </a:rPr>
              <a:t>Machine Learning</a:t>
            </a:r>
            <a:endParaRPr sz="495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2538">
                <a:solidFill>
                  <a:schemeClr val="dk1"/>
                </a:solidFill>
                <a:latin typeface="Staatliches"/>
                <a:ea typeface="Staatliches"/>
                <a:cs typeface="Staatliches"/>
                <a:sym typeface="Staatliches"/>
              </a:rPr>
              <a:t>With python</a:t>
            </a:r>
            <a:endParaRPr sz="2538">
              <a:solidFill>
                <a:schemeClr val="dk1"/>
              </a:solidFill>
              <a:latin typeface="Staatliches"/>
              <a:ea typeface="Staatliches"/>
              <a:cs typeface="Staatliches"/>
              <a:sym typeface="Staatliches"/>
            </a:endParaRPr>
          </a:p>
          <a:p>
            <a:pPr indent="0" lvl="0" marL="0" rtl="0" algn="l">
              <a:lnSpc>
                <a:spcPct val="80000"/>
              </a:lnSpc>
              <a:spcBef>
                <a:spcPts val="0"/>
              </a:spcBef>
              <a:spcAft>
                <a:spcPts val="0"/>
              </a:spcAft>
              <a:buClr>
                <a:schemeClr val="dk1"/>
              </a:buClr>
              <a:buSzPts val="1100"/>
              <a:buFont typeface="Arial"/>
              <a:buNone/>
            </a:pPr>
            <a:r>
              <a:t/>
            </a:r>
            <a:endParaRPr sz="400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4422">
                <a:solidFill>
                  <a:schemeClr val="lt1"/>
                </a:solidFill>
                <a:latin typeface="Staatliches"/>
                <a:ea typeface="Staatliches"/>
                <a:cs typeface="Staatliches"/>
                <a:sym typeface="Staatliches"/>
              </a:rPr>
              <a:t>NN</a:t>
            </a:r>
            <a:r>
              <a:rPr b="1" lang="en" sz="4422">
                <a:solidFill>
                  <a:schemeClr val="lt1"/>
                </a:solidFill>
                <a:latin typeface="Source Code Pro"/>
                <a:ea typeface="Source Code Pro"/>
                <a:cs typeface="Source Code Pro"/>
                <a:sym typeface="Source Code Pro"/>
              </a:rPr>
              <a:t>1</a:t>
            </a:r>
            <a:r>
              <a:rPr lang="en" sz="4422">
                <a:solidFill>
                  <a:schemeClr val="dk1"/>
                </a:solidFill>
                <a:latin typeface="Staatliches"/>
                <a:ea typeface="Staatliches"/>
                <a:cs typeface="Staatliches"/>
                <a:sym typeface="Staatliches"/>
              </a:rPr>
              <a:t>: Neural Nets</a:t>
            </a:r>
            <a:r>
              <a:rPr lang="en" sz="3222">
                <a:solidFill>
                  <a:schemeClr val="dk1"/>
                </a:solidFill>
                <a:latin typeface="Staatliches"/>
                <a:ea typeface="Staatliches"/>
                <a:cs typeface="Staatliches"/>
                <a:sym typeface="Staatliches"/>
              </a:rPr>
              <a:t> </a:t>
            </a:r>
            <a:endParaRPr sz="3222">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a:solidFill>
                  <a:schemeClr val="dk1"/>
                </a:solidFill>
              </a:rPr>
              <a:t>perceptrons</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6"/>
          <p:cNvSpPr txBox="1"/>
          <p:nvPr/>
        </p:nvSpPr>
        <p:spPr>
          <a:xfrm>
            <a:off x="655350" y="648450"/>
            <a:ext cx="78021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2"/>
                </a:solidFill>
                <a:latin typeface="Staatliches"/>
                <a:ea typeface="Staatliches"/>
                <a:cs typeface="Staatliches"/>
                <a:sym typeface="Staatliches"/>
              </a:rPr>
              <a:t>simple linear regression</a:t>
            </a:r>
            <a:r>
              <a:rPr lang="en" sz="1800">
                <a:solidFill>
                  <a:schemeClr val="dk2"/>
                </a:solidFill>
              </a:rPr>
              <a:t> </a:t>
            </a:r>
            <a:r>
              <a:rPr lang="en">
                <a:solidFill>
                  <a:schemeClr val="dk2"/>
                </a:solidFill>
              </a:rPr>
              <a:t>predicts a continuous target from a single feature using the prediction function </a:t>
            </a:r>
            <a:r>
              <a:rPr b="1" lang="en">
                <a:solidFill>
                  <a:srgbClr val="949AF8"/>
                </a:solidFill>
              </a:rPr>
              <a:t>ŷ</a:t>
            </a:r>
            <a:r>
              <a:rPr b="1" lang="en">
                <a:solidFill>
                  <a:schemeClr val="dk1"/>
                </a:solidFill>
              </a:rPr>
              <a:t> = β</a:t>
            </a:r>
            <a:r>
              <a:rPr b="1" lang="en" sz="600">
                <a:solidFill>
                  <a:schemeClr val="dk1"/>
                </a:solidFill>
              </a:rPr>
              <a:t>0</a:t>
            </a:r>
            <a:r>
              <a:rPr b="1" lang="en">
                <a:solidFill>
                  <a:schemeClr val="dk1"/>
                </a:solidFill>
              </a:rPr>
              <a:t> + β</a:t>
            </a:r>
            <a:r>
              <a:rPr b="1" lang="en" sz="600">
                <a:solidFill>
                  <a:schemeClr val="dk1"/>
                </a:solidFill>
              </a:rPr>
              <a:t>1</a:t>
            </a:r>
            <a:r>
              <a:rPr b="1" lang="en">
                <a:solidFill>
                  <a:srgbClr val="BCBD21"/>
                </a:solidFill>
              </a:rPr>
              <a:t>x</a:t>
            </a:r>
            <a:endParaRPr b="1">
              <a:solidFill>
                <a:srgbClr val="BCBD21"/>
              </a:solidFill>
            </a:endParaRPr>
          </a:p>
        </p:txBody>
      </p:sp>
      <p:sp>
        <p:nvSpPr>
          <p:cNvPr id="106" name="Google Shape;106;p26"/>
          <p:cNvSpPr txBox="1"/>
          <p:nvPr/>
        </p:nvSpPr>
        <p:spPr>
          <a:xfrm>
            <a:off x="655350" y="1334250"/>
            <a:ext cx="78021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2"/>
                </a:solidFill>
                <a:latin typeface="Staatliches"/>
                <a:ea typeface="Staatliches"/>
                <a:cs typeface="Staatliches"/>
                <a:sym typeface="Staatliches"/>
              </a:rPr>
              <a:t>multi </a:t>
            </a:r>
            <a:r>
              <a:rPr lang="en" sz="2100">
                <a:solidFill>
                  <a:schemeClr val="dk2"/>
                </a:solidFill>
                <a:latin typeface="Staatliches"/>
                <a:ea typeface="Staatliches"/>
                <a:cs typeface="Staatliches"/>
                <a:sym typeface="Staatliches"/>
              </a:rPr>
              <a:t>linear regression</a:t>
            </a:r>
            <a:r>
              <a:rPr lang="en" sz="1800">
                <a:solidFill>
                  <a:schemeClr val="dk2"/>
                </a:solidFill>
              </a:rPr>
              <a:t> </a:t>
            </a:r>
            <a:r>
              <a:rPr lang="en">
                <a:solidFill>
                  <a:schemeClr val="dk2"/>
                </a:solidFill>
              </a:rPr>
              <a:t>predicts a continuous target from more than one feature using the prediction function </a:t>
            </a:r>
            <a:r>
              <a:rPr b="1" lang="en">
                <a:solidFill>
                  <a:srgbClr val="949AF8"/>
                </a:solidFill>
              </a:rPr>
              <a:t>ŷ</a:t>
            </a:r>
            <a:r>
              <a:rPr b="1" lang="en">
                <a:solidFill>
                  <a:schemeClr val="dk1"/>
                </a:solidFill>
              </a:rPr>
              <a:t> = β</a:t>
            </a:r>
            <a:r>
              <a:rPr b="1" lang="en" sz="600">
                <a:solidFill>
                  <a:schemeClr val="dk1"/>
                </a:solidFill>
              </a:rPr>
              <a:t>0</a:t>
            </a:r>
            <a:r>
              <a:rPr b="1" lang="en">
                <a:solidFill>
                  <a:schemeClr val="dk1"/>
                </a:solidFill>
              </a:rPr>
              <a:t> + β</a:t>
            </a:r>
            <a:r>
              <a:rPr b="1" lang="en" sz="600">
                <a:solidFill>
                  <a:schemeClr val="dk1"/>
                </a:solidFill>
              </a:rPr>
              <a:t>1</a:t>
            </a:r>
            <a:r>
              <a:rPr b="1" lang="en">
                <a:solidFill>
                  <a:srgbClr val="BCBD21"/>
                </a:solidFill>
              </a:rPr>
              <a:t>x</a:t>
            </a:r>
            <a:r>
              <a:rPr b="1" lang="en" sz="600">
                <a:solidFill>
                  <a:srgbClr val="BCBD21"/>
                </a:solidFill>
              </a:rPr>
              <a:t>1</a:t>
            </a:r>
            <a:r>
              <a:rPr b="1" lang="en">
                <a:solidFill>
                  <a:schemeClr val="dk2"/>
                </a:solidFill>
              </a:rPr>
              <a:t> + </a:t>
            </a:r>
            <a:r>
              <a:rPr b="1" lang="en">
                <a:solidFill>
                  <a:schemeClr val="dk1"/>
                </a:solidFill>
              </a:rPr>
              <a:t>β</a:t>
            </a:r>
            <a:r>
              <a:rPr b="1" lang="en" sz="600">
                <a:solidFill>
                  <a:schemeClr val="dk1"/>
                </a:solidFill>
              </a:rPr>
              <a:t>2</a:t>
            </a:r>
            <a:r>
              <a:rPr b="1" lang="en">
                <a:solidFill>
                  <a:srgbClr val="BCBD21"/>
                </a:solidFill>
              </a:rPr>
              <a:t>x</a:t>
            </a:r>
            <a:r>
              <a:rPr b="1" lang="en" sz="600">
                <a:solidFill>
                  <a:srgbClr val="BCBD21"/>
                </a:solidFill>
              </a:rPr>
              <a:t>2</a:t>
            </a:r>
            <a:r>
              <a:rPr b="1" lang="en">
                <a:solidFill>
                  <a:schemeClr val="dk1"/>
                </a:solidFill>
              </a:rPr>
              <a:t> + … + β</a:t>
            </a:r>
            <a:r>
              <a:rPr b="1" lang="en" sz="600">
                <a:solidFill>
                  <a:schemeClr val="dk1"/>
                </a:solidFill>
              </a:rPr>
              <a:t>n</a:t>
            </a:r>
            <a:r>
              <a:rPr b="1" lang="en">
                <a:solidFill>
                  <a:srgbClr val="BCBD21"/>
                </a:solidFill>
              </a:rPr>
              <a:t>x</a:t>
            </a:r>
            <a:r>
              <a:rPr b="1" lang="en" sz="600">
                <a:solidFill>
                  <a:srgbClr val="BCBD21"/>
                </a:solidFill>
              </a:rPr>
              <a:t>n</a:t>
            </a:r>
            <a:endParaRPr b="1">
              <a:solidFill>
                <a:srgbClr val="BCBD21"/>
              </a:solidFill>
            </a:endParaRPr>
          </a:p>
        </p:txBody>
      </p:sp>
      <p:grpSp>
        <p:nvGrpSpPr>
          <p:cNvPr id="107" name="Google Shape;107;p26"/>
          <p:cNvGrpSpPr/>
          <p:nvPr/>
        </p:nvGrpSpPr>
        <p:grpSpPr>
          <a:xfrm>
            <a:off x="2256950" y="2574975"/>
            <a:ext cx="2241300" cy="371750"/>
            <a:chOff x="2256950" y="2574975"/>
            <a:chExt cx="2241300" cy="371750"/>
          </a:xfrm>
        </p:grpSpPr>
        <p:cxnSp>
          <p:nvCxnSpPr>
            <p:cNvPr id="108" name="Google Shape;108;p26"/>
            <p:cNvCxnSpPr>
              <a:stCxn id="109" idx="6"/>
              <a:endCxn id="110" idx="2"/>
            </p:cNvCxnSpPr>
            <p:nvPr/>
          </p:nvCxnSpPr>
          <p:spPr>
            <a:xfrm>
              <a:off x="2256950" y="2842625"/>
              <a:ext cx="2241300" cy="104100"/>
            </a:xfrm>
            <a:prstGeom prst="straightConnector1">
              <a:avLst/>
            </a:prstGeom>
            <a:noFill/>
            <a:ln cap="flat" cmpd="sng" w="9525">
              <a:solidFill>
                <a:schemeClr val="dk2"/>
              </a:solidFill>
              <a:prstDash val="solid"/>
              <a:round/>
              <a:headEnd len="med" w="med" type="none"/>
              <a:tailEnd len="med" w="med" type="triangle"/>
            </a:ln>
          </p:spPr>
        </p:cxnSp>
        <p:sp>
          <p:nvSpPr>
            <p:cNvPr id="111" name="Google Shape;111;p26"/>
            <p:cNvSpPr txBox="1"/>
            <p:nvPr/>
          </p:nvSpPr>
          <p:spPr>
            <a:xfrm>
              <a:off x="3173150" y="2574975"/>
              <a:ext cx="478800" cy="36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β</a:t>
              </a:r>
              <a:r>
                <a:rPr b="1" lang="en" sz="600">
                  <a:solidFill>
                    <a:schemeClr val="dk1"/>
                  </a:solidFill>
                </a:rPr>
                <a:t>1</a:t>
              </a:r>
              <a:endParaRPr sz="1800">
                <a:solidFill>
                  <a:schemeClr val="dk2"/>
                </a:solidFill>
              </a:endParaRPr>
            </a:p>
          </p:txBody>
        </p:sp>
      </p:grpSp>
      <p:grpSp>
        <p:nvGrpSpPr>
          <p:cNvPr id="112" name="Google Shape;112;p26"/>
          <p:cNvGrpSpPr/>
          <p:nvPr/>
        </p:nvGrpSpPr>
        <p:grpSpPr>
          <a:xfrm>
            <a:off x="2256950" y="2943645"/>
            <a:ext cx="2311200" cy="472430"/>
            <a:chOff x="2256950" y="2943645"/>
            <a:chExt cx="2311200" cy="472430"/>
          </a:xfrm>
        </p:grpSpPr>
        <p:cxnSp>
          <p:nvCxnSpPr>
            <p:cNvPr id="113" name="Google Shape;113;p26"/>
            <p:cNvCxnSpPr>
              <a:stCxn id="114" idx="6"/>
              <a:endCxn id="110" idx="3"/>
            </p:cNvCxnSpPr>
            <p:nvPr/>
          </p:nvCxnSpPr>
          <p:spPr>
            <a:xfrm flipH="1" rot="10800000">
              <a:off x="2256950" y="3110375"/>
              <a:ext cx="2311200" cy="305700"/>
            </a:xfrm>
            <a:prstGeom prst="straightConnector1">
              <a:avLst/>
            </a:prstGeom>
            <a:noFill/>
            <a:ln cap="flat" cmpd="sng" w="9525">
              <a:solidFill>
                <a:schemeClr val="dk2"/>
              </a:solidFill>
              <a:prstDash val="solid"/>
              <a:round/>
              <a:headEnd len="med" w="med" type="none"/>
              <a:tailEnd len="med" w="med" type="triangle"/>
            </a:ln>
          </p:spPr>
        </p:cxnSp>
        <p:sp>
          <p:nvSpPr>
            <p:cNvPr id="115" name="Google Shape;115;p26"/>
            <p:cNvSpPr txBox="1"/>
            <p:nvPr/>
          </p:nvSpPr>
          <p:spPr>
            <a:xfrm>
              <a:off x="3054050" y="2943645"/>
              <a:ext cx="4788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β</a:t>
              </a:r>
              <a:r>
                <a:rPr b="1" lang="en" sz="600">
                  <a:solidFill>
                    <a:schemeClr val="dk1"/>
                  </a:solidFill>
                </a:rPr>
                <a:t>2</a:t>
              </a:r>
              <a:endParaRPr sz="1800">
                <a:solidFill>
                  <a:schemeClr val="dk2"/>
                </a:solidFill>
              </a:endParaRPr>
            </a:p>
          </p:txBody>
        </p:sp>
      </p:grpSp>
      <p:grpSp>
        <p:nvGrpSpPr>
          <p:cNvPr id="116" name="Google Shape;116;p26"/>
          <p:cNvGrpSpPr/>
          <p:nvPr/>
        </p:nvGrpSpPr>
        <p:grpSpPr>
          <a:xfrm>
            <a:off x="2256794" y="3110273"/>
            <a:ext cx="2311500" cy="1065600"/>
            <a:chOff x="2256794" y="3110273"/>
            <a:chExt cx="2311500" cy="1065600"/>
          </a:xfrm>
        </p:grpSpPr>
        <p:cxnSp>
          <p:nvCxnSpPr>
            <p:cNvPr id="117" name="Google Shape;117;p26"/>
            <p:cNvCxnSpPr>
              <a:endCxn id="110" idx="3"/>
            </p:cNvCxnSpPr>
            <p:nvPr/>
          </p:nvCxnSpPr>
          <p:spPr>
            <a:xfrm flipH="1" rot="10800000">
              <a:off x="2256794" y="3110273"/>
              <a:ext cx="2311500" cy="1065600"/>
            </a:xfrm>
            <a:prstGeom prst="straightConnector1">
              <a:avLst/>
            </a:prstGeom>
            <a:noFill/>
            <a:ln cap="flat" cmpd="sng" w="9525">
              <a:solidFill>
                <a:schemeClr val="dk2"/>
              </a:solidFill>
              <a:prstDash val="solid"/>
              <a:round/>
              <a:headEnd len="med" w="med" type="none"/>
              <a:tailEnd len="med" w="med" type="triangle"/>
            </a:ln>
          </p:spPr>
        </p:cxnSp>
        <p:sp>
          <p:nvSpPr>
            <p:cNvPr id="118" name="Google Shape;118;p26"/>
            <p:cNvSpPr txBox="1"/>
            <p:nvPr/>
          </p:nvSpPr>
          <p:spPr>
            <a:xfrm>
              <a:off x="2992236" y="3428274"/>
              <a:ext cx="486900" cy="62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β</a:t>
              </a:r>
              <a:r>
                <a:rPr b="1" lang="en" sz="600">
                  <a:solidFill>
                    <a:schemeClr val="dk1"/>
                  </a:solidFill>
                </a:rPr>
                <a:t>n</a:t>
              </a:r>
              <a:endParaRPr sz="1800">
                <a:solidFill>
                  <a:schemeClr val="dk2"/>
                </a:solidFill>
              </a:endParaRPr>
            </a:p>
          </p:txBody>
        </p:sp>
      </p:grpSp>
      <p:grpSp>
        <p:nvGrpSpPr>
          <p:cNvPr id="119" name="Google Shape;119;p26"/>
          <p:cNvGrpSpPr/>
          <p:nvPr/>
        </p:nvGrpSpPr>
        <p:grpSpPr>
          <a:xfrm>
            <a:off x="3532850" y="3177977"/>
            <a:ext cx="1204581" cy="1460198"/>
            <a:chOff x="3532850" y="3177977"/>
            <a:chExt cx="1204581" cy="1460198"/>
          </a:xfrm>
        </p:grpSpPr>
        <p:sp>
          <p:nvSpPr>
            <p:cNvPr id="120" name="Google Shape;120;p26"/>
            <p:cNvSpPr/>
            <p:nvPr/>
          </p:nvSpPr>
          <p:spPr>
            <a:xfrm>
              <a:off x="3532850" y="4175875"/>
              <a:ext cx="478800" cy="46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1</a:t>
              </a:r>
              <a:endParaRPr/>
            </a:p>
          </p:txBody>
        </p:sp>
        <p:grpSp>
          <p:nvGrpSpPr>
            <p:cNvPr id="121" name="Google Shape;121;p26"/>
            <p:cNvGrpSpPr/>
            <p:nvPr/>
          </p:nvGrpSpPr>
          <p:grpSpPr>
            <a:xfrm>
              <a:off x="3941531" y="3177977"/>
              <a:ext cx="795900" cy="1065600"/>
              <a:chOff x="3941531" y="3177977"/>
              <a:chExt cx="795900" cy="1065600"/>
            </a:xfrm>
          </p:grpSpPr>
          <p:cxnSp>
            <p:nvCxnSpPr>
              <p:cNvPr id="122" name="Google Shape;122;p26"/>
              <p:cNvCxnSpPr>
                <a:stCxn id="120" idx="7"/>
                <a:endCxn id="110" idx="4"/>
              </p:cNvCxnSpPr>
              <p:nvPr/>
            </p:nvCxnSpPr>
            <p:spPr>
              <a:xfrm flipH="1" rot="10800000">
                <a:off x="3941531" y="3177977"/>
                <a:ext cx="795900" cy="1065600"/>
              </a:xfrm>
              <a:prstGeom prst="straightConnector1">
                <a:avLst/>
              </a:prstGeom>
              <a:noFill/>
              <a:ln cap="flat" cmpd="sng" w="9525">
                <a:solidFill>
                  <a:schemeClr val="dk2"/>
                </a:solidFill>
                <a:prstDash val="solid"/>
                <a:round/>
                <a:headEnd len="med" w="med" type="none"/>
                <a:tailEnd len="med" w="med" type="triangle"/>
              </a:ln>
            </p:spPr>
          </p:cxnSp>
          <p:sp>
            <p:nvSpPr>
              <p:cNvPr id="123" name="Google Shape;123;p26"/>
              <p:cNvSpPr txBox="1"/>
              <p:nvPr/>
            </p:nvSpPr>
            <p:spPr>
              <a:xfrm>
                <a:off x="4023578" y="3485025"/>
                <a:ext cx="3507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β</a:t>
                </a:r>
                <a:r>
                  <a:rPr b="1" lang="en" sz="600">
                    <a:solidFill>
                      <a:schemeClr val="dk1"/>
                    </a:solidFill>
                  </a:rPr>
                  <a:t>0</a:t>
                </a:r>
                <a:endParaRPr sz="1800">
                  <a:solidFill>
                    <a:schemeClr val="dk2"/>
                  </a:solidFill>
                </a:endParaRPr>
              </a:p>
            </p:txBody>
          </p:sp>
        </p:grpSp>
      </p:grpSp>
      <p:grpSp>
        <p:nvGrpSpPr>
          <p:cNvPr id="124" name="Google Shape;124;p26"/>
          <p:cNvGrpSpPr/>
          <p:nvPr/>
        </p:nvGrpSpPr>
        <p:grpSpPr>
          <a:xfrm>
            <a:off x="4976925" y="2297313"/>
            <a:ext cx="3350100" cy="890813"/>
            <a:chOff x="4976925" y="2297313"/>
            <a:chExt cx="3350100" cy="890813"/>
          </a:xfrm>
        </p:grpSpPr>
        <p:sp>
          <p:nvSpPr>
            <p:cNvPr id="125" name="Google Shape;125;p26"/>
            <p:cNvSpPr txBox="1"/>
            <p:nvPr/>
          </p:nvSpPr>
          <p:spPr>
            <a:xfrm>
              <a:off x="6907725" y="2297313"/>
              <a:ext cx="141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949AF8"/>
                  </a:solidFill>
                </a:rPr>
                <a:t>output</a:t>
              </a:r>
              <a:endParaRPr b="1">
                <a:solidFill>
                  <a:srgbClr val="949AF8"/>
                </a:solidFill>
              </a:endParaRPr>
            </a:p>
          </p:txBody>
        </p:sp>
        <p:sp>
          <p:nvSpPr>
            <p:cNvPr id="126" name="Google Shape;126;p26"/>
            <p:cNvSpPr/>
            <p:nvPr/>
          </p:nvSpPr>
          <p:spPr>
            <a:xfrm>
              <a:off x="7055625" y="2725825"/>
              <a:ext cx="478800" cy="462300"/>
            </a:xfrm>
            <a:prstGeom prst="ellipse">
              <a:avLst/>
            </a:prstGeom>
            <a:solidFill>
              <a:srgbClr val="949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a:solidFill>
                    <a:schemeClr val="dk1"/>
                  </a:solidFill>
                </a:rPr>
                <a:t>ŷ</a:t>
              </a:r>
              <a:endParaRPr>
                <a:solidFill>
                  <a:schemeClr val="dk1"/>
                </a:solidFill>
              </a:endParaRPr>
            </a:p>
          </p:txBody>
        </p:sp>
        <p:cxnSp>
          <p:nvCxnSpPr>
            <p:cNvPr id="127" name="Google Shape;127;p26"/>
            <p:cNvCxnSpPr>
              <a:endCxn id="126" idx="2"/>
            </p:cNvCxnSpPr>
            <p:nvPr/>
          </p:nvCxnSpPr>
          <p:spPr>
            <a:xfrm>
              <a:off x="4976925" y="2946775"/>
              <a:ext cx="2078700" cy="10200"/>
            </a:xfrm>
            <a:prstGeom prst="straightConnector1">
              <a:avLst/>
            </a:prstGeom>
            <a:noFill/>
            <a:ln cap="flat" cmpd="sng" w="9525">
              <a:solidFill>
                <a:schemeClr val="dk2"/>
              </a:solidFill>
              <a:prstDash val="solid"/>
              <a:round/>
              <a:headEnd len="med" w="med" type="none"/>
              <a:tailEnd len="med" w="med" type="triangle"/>
            </a:ln>
          </p:spPr>
        </p:cxnSp>
      </p:grpSp>
      <p:grpSp>
        <p:nvGrpSpPr>
          <p:cNvPr id="128" name="Google Shape;128;p26"/>
          <p:cNvGrpSpPr/>
          <p:nvPr/>
        </p:nvGrpSpPr>
        <p:grpSpPr>
          <a:xfrm>
            <a:off x="1382550" y="2174775"/>
            <a:ext cx="1419300" cy="2251625"/>
            <a:chOff x="1382550" y="2174775"/>
            <a:chExt cx="1419300" cy="2251625"/>
          </a:xfrm>
        </p:grpSpPr>
        <p:sp>
          <p:nvSpPr>
            <p:cNvPr id="129" name="Google Shape;129;p26"/>
            <p:cNvSpPr txBox="1"/>
            <p:nvPr/>
          </p:nvSpPr>
          <p:spPr>
            <a:xfrm>
              <a:off x="1382550" y="2174775"/>
              <a:ext cx="141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BCBD21"/>
                  </a:solidFill>
                </a:rPr>
                <a:t>feature values</a:t>
              </a:r>
              <a:endParaRPr b="1">
                <a:solidFill>
                  <a:srgbClr val="BCBD21"/>
                </a:solidFill>
              </a:endParaRPr>
            </a:p>
          </p:txBody>
        </p:sp>
        <p:grpSp>
          <p:nvGrpSpPr>
            <p:cNvPr id="130" name="Google Shape;130;p26"/>
            <p:cNvGrpSpPr/>
            <p:nvPr/>
          </p:nvGrpSpPr>
          <p:grpSpPr>
            <a:xfrm>
              <a:off x="1778150" y="2611475"/>
              <a:ext cx="478800" cy="1814925"/>
              <a:chOff x="1778150" y="2611475"/>
              <a:chExt cx="478800" cy="1814925"/>
            </a:xfrm>
          </p:grpSpPr>
          <p:sp>
            <p:nvSpPr>
              <p:cNvPr id="109" name="Google Shape;109;p26"/>
              <p:cNvSpPr/>
              <p:nvPr/>
            </p:nvSpPr>
            <p:spPr>
              <a:xfrm>
                <a:off x="1778150" y="26114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a:solidFill>
                      <a:schemeClr val="dk1"/>
                    </a:solidFill>
                  </a:rPr>
                  <a:t>x</a:t>
                </a:r>
                <a:r>
                  <a:rPr b="1" lang="en" sz="600">
                    <a:solidFill>
                      <a:schemeClr val="dk1"/>
                    </a:solidFill>
                  </a:rPr>
                  <a:t>1</a:t>
                </a:r>
                <a:endParaRPr>
                  <a:solidFill>
                    <a:schemeClr val="dk1"/>
                  </a:solidFill>
                </a:endParaRPr>
              </a:p>
            </p:txBody>
          </p:sp>
          <p:sp>
            <p:nvSpPr>
              <p:cNvPr id="114" name="Google Shape;114;p26"/>
              <p:cNvSpPr/>
              <p:nvPr/>
            </p:nvSpPr>
            <p:spPr>
              <a:xfrm>
                <a:off x="1778150" y="318492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2</a:t>
                </a:r>
                <a:endParaRPr>
                  <a:solidFill>
                    <a:schemeClr val="dk1"/>
                  </a:solidFill>
                </a:endParaRPr>
              </a:p>
            </p:txBody>
          </p:sp>
          <p:sp>
            <p:nvSpPr>
              <p:cNvPr id="131" name="Google Shape;131;p26"/>
              <p:cNvSpPr/>
              <p:nvPr/>
            </p:nvSpPr>
            <p:spPr>
              <a:xfrm>
                <a:off x="1778150" y="3964100"/>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n</a:t>
                </a:r>
                <a:endParaRPr>
                  <a:solidFill>
                    <a:schemeClr val="dk1"/>
                  </a:solidFill>
                </a:endParaRPr>
              </a:p>
            </p:txBody>
          </p:sp>
          <p:sp>
            <p:nvSpPr>
              <p:cNvPr id="132" name="Google Shape;132;p26"/>
              <p:cNvSpPr txBox="1"/>
              <p:nvPr/>
            </p:nvSpPr>
            <p:spPr>
              <a:xfrm rot="5400000">
                <a:off x="1852800" y="3753270"/>
                <a:ext cx="4788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a:t>
                </a:r>
                <a:endParaRPr sz="1800">
                  <a:solidFill>
                    <a:schemeClr val="dk1"/>
                  </a:solidFill>
                </a:endParaRPr>
              </a:p>
            </p:txBody>
          </p:sp>
        </p:grpSp>
      </p:grpSp>
      <p:grpSp>
        <p:nvGrpSpPr>
          <p:cNvPr id="133" name="Google Shape;133;p26"/>
          <p:cNvGrpSpPr/>
          <p:nvPr/>
        </p:nvGrpSpPr>
        <p:grpSpPr>
          <a:xfrm>
            <a:off x="2521200" y="1047850"/>
            <a:ext cx="3339175" cy="2130125"/>
            <a:chOff x="2521200" y="1047850"/>
            <a:chExt cx="3339175" cy="2130125"/>
          </a:xfrm>
        </p:grpSpPr>
        <p:grpSp>
          <p:nvGrpSpPr>
            <p:cNvPr id="134" name="Google Shape;134;p26"/>
            <p:cNvGrpSpPr/>
            <p:nvPr/>
          </p:nvGrpSpPr>
          <p:grpSpPr>
            <a:xfrm>
              <a:off x="4441075" y="2315475"/>
              <a:ext cx="1419300" cy="862500"/>
              <a:chOff x="4441075" y="2315475"/>
              <a:chExt cx="1419300" cy="862500"/>
            </a:xfrm>
          </p:grpSpPr>
          <p:sp>
            <p:nvSpPr>
              <p:cNvPr id="135" name="Google Shape;135;p26"/>
              <p:cNvSpPr txBox="1"/>
              <p:nvPr/>
            </p:nvSpPr>
            <p:spPr>
              <a:xfrm>
                <a:off x="4441075" y="2315475"/>
                <a:ext cx="141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1B91CA"/>
                    </a:solidFill>
                  </a:rPr>
                  <a:t>sum</a:t>
                </a:r>
                <a:endParaRPr b="1">
                  <a:solidFill>
                    <a:srgbClr val="1B91CA"/>
                  </a:solidFill>
                </a:endParaRPr>
              </a:p>
            </p:txBody>
          </p:sp>
          <p:sp>
            <p:nvSpPr>
              <p:cNvPr id="110" name="Google Shape;110;p26"/>
              <p:cNvSpPr/>
              <p:nvPr/>
            </p:nvSpPr>
            <p:spPr>
              <a:xfrm>
                <a:off x="4498175" y="27156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grpSp>
        <p:sp>
          <p:nvSpPr>
            <p:cNvPr id="136" name="Google Shape;136;p26"/>
            <p:cNvSpPr/>
            <p:nvPr/>
          </p:nvSpPr>
          <p:spPr>
            <a:xfrm>
              <a:off x="2521200" y="1047850"/>
              <a:ext cx="743100" cy="264300"/>
            </a:xfrm>
            <a:prstGeom prst="rect">
              <a:avLst/>
            </a:prstGeom>
            <a:noFill/>
            <a:ln cap="flat" cmpd="sng" w="9525">
              <a:solidFill>
                <a:srgbClr val="1B91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26"/>
            <p:cNvSpPr/>
            <p:nvPr/>
          </p:nvSpPr>
          <p:spPr>
            <a:xfrm>
              <a:off x="2521200" y="1752175"/>
              <a:ext cx="2121900" cy="264300"/>
            </a:xfrm>
            <a:prstGeom prst="rect">
              <a:avLst/>
            </a:prstGeom>
            <a:noFill/>
            <a:ln cap="flat" cmpd="sng" w="9525">
              <a:solidFill>
                <a:srgbClr val="1B91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38" name="Google Shape;138;p26"/>
          <p:cNvSpPr txBox="1"/>
          <p:nvPr/>
        </p:nvSpPr>
        <p:spPr>
          <a:xfrm>
            <a:off x="5468425" y="3737350"/>
            <a:ext cx="3319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W</a:t>
            </a:r>
            <a:r>
              <a:rPr lang="en">
                <a:solidFill>
                  <a:schemeClr val="dk2"/>
                </a:solidFill>
              </a:rPr>
              <a:t>e call the </a:t>
            </a:r>
            <a:r>
              <a:rPr b="1" lang="en">
                <a:solidFill>
                  <a:schemeClr val="dk1"/>
                </a:solidFill>
              </a:rPr>
              <a:t>β</a:t>
            </a:r>
            <a:r>
              <a:rPr b="1" lang="en" sz="600">
                <a:solidFill>
                  <a:schemeClr val="dk1"/>
                </a:solidFill>
              </a:rPr>
              <a:t>i  </a:t>
            </a:r>
            <a:r>
              <a:rPr lang="en">
                <a:solidFill>
                  <a:schemeClr val="dk2"/>
                </a:solidFill>
              </a:rPr>
              <a:t>values </a:t>
            </a:r>
            <a:r>
              <a:rPr b="1" lang="en">
                <a:solidFill>
                  <a:schemeClr val="dk2"/>
                </a:solidFill>
              </a:rPr>
              <a:t>coefficients</a:t>
            </a:r>
            <a:r>
              <a:rPr lang="en">
                <a:solidFill>
                  <a:schemeClr val="dk2"/>
                </a:solidFill>
              </a:rPr>
              <a:t> and </a:t>
            </a:r>
            <a:r>
              <a:rPr b="1" lang="en">
                <a:solidFill>
                  <a:schemeClr val="dk1"/>
                </a:solidFill>
              </a:rPr>
              <a:t>β</a:t>
            </a:r>
            <a:r>
              <a:rPr b="1" lang="en" sz="600">
                <a:solidFill>
                  <a:schemeClr val="dk1"/>
                </a:solidFill>
              </a:rPr>
              <a:t>0  </a:t>
            </a:r>
            <a:r>
              <a:rPr lang="en">
                <a:solidFill>
                  <a:schemeClr val="dk2"/>
                </a:solidFill>
              </a:rPr>
              <a:t>the intercept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nvSpPr>
        <p:spPr>
          <a:xfrm>
            <a:off x="670950" y="809100"/>
            <a:ext cx="7802100" cy="93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2"/>
                </a:solidFill>
                <a:latin typeface="Staatliches"/>
                <a:ea typeface="Staatliches"/>
                <a:cs typeface="Staatliches"/>
                <a:sym typeface="Staatliches"/>
              </a:rPr>
              <a:t>logistic regression</a:t>
            </a:r>
            <a:r>
              <a:rPr lang="en" sz="1800">
                <a:solidFill>
                  <a:schemeClr val="dk2"/>
                </a:solidFill>
              </a:rPr>
              <a:t> </a:t>
            </a:r>
            <a:r>
              <a:rPr lang="en">
                <a:solidFill>
                  <a:schemeClr val="dk2"/>
                </a:solidFill>
              </a:rPr>
              <a:t>predicts a categorical (typically binary) target from one or more features using the prediction function </a:t>
            </a:r>
            <a:r>
              <a:rPr b="1" lang="en">
                <a:solidFill>
                  <a:srgbClr val="949AF8"/>
                </a:solidFill>
              </a:rPr>
              <a:t>ŷ</a:t>
            </a:r>
            <a:r>
              <a:rPr b="1" lang="en">
                <a:solidFill>
                  <a:schemeClr val="dk1"/>
                </a:solidFill>
              </a:rPr>
              <a:t> = </a:t>
            </a:r>
            <a:r>
              <a:rPr b="1" lang="en">
                <a:solidFill>
                  <a:srgbClr val="FF00FF"/>
                </a:solidFill>
              </a:rPr>
              <a:t>σ</a:t>
            </a:r>
            <a:r>
              <a:rPr b="1" lang="en">
                <a:solidFill>
                  <a:schemeClr val="dk1"/>
                </a:solidFill>
              </a:rPr>
              <a:t>(β</a:t>
            </a:r>
            <a:r>
              <a:rPr b="1" lang="en" sz="600">
                <a:solidFill>
                  <a:schemeClr val="dk1"/>
                </a:solidFill>
              </a:rPr>
              <a:t>0</a:t>
            </a:r>
            <a:r>
              <a:rPr b="1" lang="en">
                <a:solidFill>
                  <a:schemeClr val="dk1"/>
                </a:solidFill>
              </a:rPr>
              <a:t> + β</a:t>
            </a:r>
            <a:r>
              <a:rPr b="1" lang="en" sz="600">
                <a:solidFill>
                  <a:schemeClr val="dk1"/>
                </a:solidFill>
              </a:rPr>
              <a:t>1</a:t>
            </a:r>
            <a:r>
              <a:rPr b="1" lang="en">
                <a:solidFill>
                  <a:srgbClr val="BCBD21"/>
                </a:solidFill>
              </a:rPr>
              <a:t>x</a:t>
            </a:r>
            <a:r>
              <a:rPr b="1" lang="en" sz="600">
                <a:solidFill>
                  <a:srgbClr val="BCBD21"/>
                </a:solidFill>
              </a:rPr>
              <a:t>1</a:t>
            </a:r>
            <a:r>
              <a:rPr b="1" lang="en">
                <a:solidFill>
                  <a:schemeClr val="dk2"/>
                </a:solidFill>
              </a:rPr>
              <a:t> + </a:t>
            </a:r>
            <a:r>
              <a:rPr b="1" lang="en">
                <a:solidFill>
                  <a:schemeClr val="dk1"/>
                </a:solidFill>
              </a:rPr>
              <a:t>β</a:t>
            </a:r>
            <a:r>
              <a:rPr b="1" lang="en" sz="600">
                <a:solidFill>
                  <a:schemeClr val="dk1"/>
                </a:solidFill>
              </a:rPr>
              <a:t>2</a:t>
            </a:r>
            <a:r>
              <a:rPr b="1" lang="en">
                <a:solidFill>
                  <a:srgbClr val="BCBD21"/>
                </a:solidFill>
              </a:rPr>
              <a:t>x</a:t>
            </a:r>
            <a:r>
              <a:rPr b="1" lang="en" sz="600">
                <a:solidFill>
                  <a:srgbClr val="BCBD21"/>
                </a:solidFill>
              </a:rPr>
              <a:t>2</a:t>
            </a:r>
            <a:r>
              <a:rPr b="1" lang="en">
                <a:solidFill>
                  <a:schemeClr val="dk1"/>
                </a:solidFill>
              </a:rPr>
              <a:t> + … + β</a:t>
            </a:r>
            <a:r>
              <a:rPr b="1" lang="en" sz="600">
                <a:solidFill>
                  <a:schemeClr val="dk1"/>
                </a:solidFill>
              </a:rPr>
              <a:t>n</a:t>
            </a:r>
            <a:r>
              <a:rPr b="1" lang="en">
                <a:solidFill>
                  <a:srgbClr val="BCBD21"/>
                </a:solidFill>
              </a:rPr>
              <a:t>x</a:t>
            </a:r>
            <a:r>
              <a:rPr b="1" lang="en" sz="600">
                <a:solidFill>
                  <a:srgbClr val="BCBD21"/>
                </a:solidFill>
              </a:rPr>
              <a:t>n</a:t>
            </a:r>
            <a:r>
              <a:rPr b="1" lang="en">
                <a:solidFill>
                  <a:schemeClr val="dk1"/>
                </a:solidFill>
              </a:rPr>
              <a:t>) </a:t>
            </a:r>
            <a:r>
              <a:rPr lang="en">
                <a:solidFill>
                  <a:schemeClr val="dk2"/>
                </a:solidFill>
              </a:rPr>
              <a:t>where</a:t>
            </a:r>
            <a:r>
              <a:rPr lang="en">
                <a:solidFill>
                  <a:schemeClr val="dk1"/>
                </a:solidFill>
              </a:rPr>
              <a:t> </a:t>
            </a:r>
            <a:r>
              <a:rPr b="1" lang="en">
                <a:solidFill>
                  <a:srgbClr val="FF00FF"/>
                </a:solidFill>
              </a:rPr>
              <a:t>σ</a:t>
            </a:r>
            <a:r>
              <a:rPr b="1" lang="en">
                <a:solidFill>
                  <a:schemeClr val="dk1"/>
                </a:solidFill>
              </a:rPr>
              <a:t>(</a:t>
            </a:r>
            <a:r>
              <a:rPr b="1" lang="en">
                <a:solidFill>
                  <a:srgbClr val="1B91CA"/>
                </a:solidFill>
              </a:rPr>
              <a:t>z</a:t>
            </a:r>
            <a:r>
              <a:rPr b="1" lang="en">
                <a:solidFill>
                  <a:schemeClr val="dk1"/>
                </a:solidFill>
              </a:rPr>
              <a:t>) </a:t>
            </a:r>
            <a:r>
              <a:rPr lang="en">
                <a:solidFill>
                  <a:schemeClr val="dk2"/>
                </a:solidFill>
              </a:rPr>
              <a:t>is the sigmoid function </a:t>
            </a:r>
            <a:endParaRPr>
              <a:solidFill>
                <a:schemeClr val="dk2"/>
              </a:solidFill>
            </a:endParaRPr>
          </a:p>
        </p:txBody>
      </p:sp>
      <p:pic>
        <p:nvPicPr>
          <p:cNvPr id="144" name="Google Shape;144;p27" title="Screenshot 2025-04-13 at 4.11.40 PM.png"/>
          <p:cNvPicPr preferRelativeResize="0"/>
          <p:nvPr/>
        </p:nvPicPr>
        <p:blipFill rotWithShape="1">
          <a:blip r:embed="rId3">
            <a:alphaModFix/>
          </a:blip>
          <a:srcRect b="0" l="0" r="0" t="12778"/>
          <a:stretch/>
        </p:blipFill>
        <p:spPr>
          <a:xfrm>
            <a:off x="1452525" y="1418550"/>
            <a:ext cx="990725" cy="329550"/>
          </a:xfrm>
          <a:prstGeom prst="rect">
            <a:avLst/>
          </a:prstGeom>
          <a:noFill/>
          <a:ln cap="flat" cmpd="sng" w="9525">
            <a:solidFill>
              <a:srgbClr val="FF00FF"/>
            </a:solidFill>
            <a:prstDash val="solid"/>
            <a:round/>
            <a:headEnd len="sm" w="sm" type="none"/>
            <a:tailEnd len="sm" w="sm" type="none"/>
          </a:ln>
        </p:spPr>
      </p:pic>
      <p:grpSp>
        <p:nvGrpSpPr>
          <p:cNvPr id="145" name="Google Shape;145;p27"/>
          <p:cNvGrpSpPr/>
          <p:nvPr/>
        </p:nvGrpSpPr>
        <p:grpSpPr>
          <a:xfrm>
            <a:off x="2256950" y="2574975"/>
            <a:ext cx="2241300" cy="371750"/>
            <a:chOff x="2256950" y="2574975"/>
            <a:chExt cx="2241300" cy="371750"/>
          </a:xfrm>
        </p:grpSpPr>
        <p:cxnSp>
          <p:nvCxnSpPr>
            <p:cNvPr id="146" name="Google Shape;146;p27"/>
            <p:cNvCxnSpPr>
              <a:stCxn id="147" idx="6"/>
              <a:endCxn id="148" idx="2"/>
            </p:cNvCxnSpPr>
            <p:nvPr/>
          </p:nvCxnSpPr>
          <p:spPr>
            <a:xfrm>
              <a:off x="2256950" y="2842625"/>
              <a:ext cx="2241300" cy="104100"/>
            </a:xfrm>
            <a:prstGeom prst="straightConnector1">
              <a:avLst/>
            </a:prstGeom>
            <a:noFill/>
            <a:ln cap="flat" cmpd="sng" w="9525">
              <a:solidFill>
                <a:schemeClr val="dk2"/>
              </a:solidFill>
              <a:prstDash val="solid"/>
              <a:round/>
              <a:headEnd len="med" w="med" type="none"/>
              <a:tailEnd len="med" w="med" type="triangle"/>
            </a:ln>
          </p:spPr>
        </p:cxnSp>
        <p:sp>
          <p:nvSpPr>
            <p:cNvPr id="149" name="Google Shape;149;p27"/>
            <p:cNvSpPr txBox="1"/>
            <p:nvPr/>
          </p:nvSpPr>
          <p:spPr>
            <a:xfrm>
              <a:off x="3173150" y="2574975"/>
              <a:ext cx="478800" cy="36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β</a:t>
              </a:r>
              <a:r>
                <a:rPr b="1" lang="en" sz="600">
                  <a:solidFill>
                    <a:schemeClr val="dk1"/>
                  </a:solidFill>
                </a:rPr>
                <a:t>1</a:t>
              </a:r>
              <a:endParaRPr sz="1800">
                <a:solidFill>
                  <a:schemeClr val="dk2"/>
                </a:solidFill>
              </a:endParaRPr>
            </a:p>
          </p:txBody>
        </p:sp>
      </p:grpSp>
      <p:grpSp>
        <p:nvGrpSpPr>
          <p:cNvPr id="150" name="Google Shape;150;p27"/>
          <p:cNvGrpSpPr/>
          <p:nvPr/>
        </p:nvGrpSpPr>
        <p:grpSpPr>
          <a:xfrm>
            <a:off x="2256950" y="2943645"/>
            <a:ext cx="2311200" cy="472430"/>
            <a:chOff x="2256950" y="2943645"/>
            <a:chExt cx="2311200" cy="472430"/>
          </a:xfrm>
        </p:grpSpPr>
        <p:cxnSp>
          <p:nvCxnSpPr>
            <p:cNvPr id="151" name="Google Shape;151;p27"/>
            <p:cNvCxnSpPr>
              <a:stCxn id="152" idx="6"/>
              <a:endCxn id="148" idx="3"/>
            </p:cNvCxnSpPr>
            <p:nvPr/>
          </p:nvCxnSpPr>
          <p:spPr>
            <a:xfrm flipH="1" rot="10800000">
              <a:off x="2256950" y="3110375"/>
              <a:ext cx="2311200" cy="305700"/>
            </a:xfrm>
            <a:prstGeom prst="straightConnector1">
              <a:avLst/>
            </a:prstGeom>
            <a:noFill/>
            <a:ln cap="flat" cmpd="sng" w="9525">
              <a:solidFill>
                <a:schemeClr val="dk2"/>
              </a:solidFill>
              <a:prstDash val="solid"/>
              <a:round/>
              <a:headEnd len="med" w="med" type="none"/>
              <a:tailEnd len="med" w="med" type="triangle"/>
            </a:ln>
          </p:spPr>
        </p:cxnSp>
        <p:sp>
          <p:nvSpPr>
            <p:cNvPr id="153" name="Google Shape;153;p27"/>
            <p:cNvSpPr txBox="1"/>
            <p:nvPr/>
          </p:nvSpPr>
          <p:spPr>
            <a:xfrm>
              <a:off x="3054050" y="2943645"/>
              <a:ext cx="4788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β</a:t>
              </a:r>
              <a:r>
                <a:rPr b="1" lang="en" sz="600">
                  <a:solidFill>
                    <a:schemeClr val="dk1"/>
                  </a:solidFill>
                </a:rPr>
                <a:t>2</a:t>
              </a:r>
              <a:endParaRPr sz="1800">
                <a:solidFill>
                  <a:schemeClr val="dk2"/>
                </a:solidFill>
              </a:endParaRPr>
            </a:p>
          </p:txBody>
        </p:sp>
      </p:grpSp>
      <p:grpSp>
        <p:nvGrpSpPr>
          <p:cNvPr id="154" name="Google Shape;154;p27"/>
          <p:cNvGrpSpPr/>
          <p:nvPr/>
        </p:nvGrpSpPr>
        <p:grpSpPr>
          <a:xfrm>
            <a:off x="2256794" y="3110273"/>
            <a:ext cx="2311500" cy="1065600"/>
            <a:chOff x="2256794" y="3110273"/>
            <a:chExt cx="2311500" cy="1065600"/>
          </a:xfrm>
        </p:grpSpPr>
        <p:cxnSp>
          <p:nvCxnSpPr>
            <p:cNvPr id="155" name="Google Shape;155;p27"/>
            <p:cNvCxnSpPr>
              <a:endCxn id="148" idx="3"/>
            </p:cNvCxnSpPr>
            <p:nvPr/>
          </p:nvCxnSpPr>
          <p:spPr>
            <a:xfrm flipH="1" rot="10800000">
              <a:off x="2256794" y="3110273"/>
              <a:ext cx="2311500" cy="1065600"/>
            </a:xfrm>
            <a:prstGeom prst="straightConnector1">
              <a:avLst/>
            </a:prstGeom>
            <a:noFill/>
            <a:ln cap="flat" cmpd="sng" w="9525">
              <a:solidFill>
                <a:schemeClr val="dk2"/>
              </a:solidFill>
              <a:prstDash val="solid"/>
              <a:round/>
              <a:headEnd len="med" w="med" type="none"/>
              <a:tailEnd len="med" w="med" type="triangle"/>
            </a:ln>
          </p:spPr>
        </p:cxnSp>
        <p:sp>
          <p:nvSpPr>
            <p:cNvPr id="156" name="Google Shape;156;p27"/>
            <p:cNvSpPr txBox="1"/>
            <p:nvPr/>
          </p:nvSpPr>
          <p:spPr>
            <a:xfrm>
              <a:off x="2992236" y="3428274"/>
              <a:ext cx="486900" cy="62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β</a:t>
              </a:r>
              <a:r>
                <a:rPr b="1" lang="en" sz="600">
                  <a:solidFill>
                    <a:schemeClr val="dk1"/>
                  </a:solidFill>
                </a:rPr>
                <a:t>n</a:t>
              </a:r>
              <a:endParaRPr sz="1800">
                <a:solidFill>
                  <a:schemeClr val="dk2"/>
                </a:solidFill>
              </a:endParaRPr>
            </a:p>
          </p:txBody>
        </p:sp>
      </p:grpSp>
      <p:grpSp>
        <p:nvGrpSpPr>
          <p:cNvPr id="157" name="Google Shape;157;p27"/>
          <p:cNvGrpSpPr/>
          <p:nvPr/>
        </p:nvGrpSpPr>
        <p:grpSpPr>
          <a:xfrm>
            <a:off x="3532850" y="3177977"/>
            <a:ext cx="1204581" cy="1460198"/>
            <a:chOff x="3532850" y="3177977"/>
            <a:chExt cx="1204581" cy="1460198"/>
          </a:xfrm>
        </p:grpSpPr>
        <p:sp>
          <p:nvSpPr>
            <p:cNvPr id="158" name="Google Shape;158;p27"/>
            <p:cNvSpPr/>
            <p:nvPr/>
          </p:nvSpPr>
          <p:spPr>
            <a:xfrm>
              <a:off x="3532850" y="4175875"/>
              <a:ext cx="478800" cy="46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1</a:t>
              </a:r>
              <a:endParaRPr/>
            </a:p>
          </p:txBody>
        </p:sp>
        <p:grpSp>
          <p:nvGrpSpPr>
            <p:cNvPr id="159" name="Google Shape;159;p27"/>
            <p:cNvGrpSpPr/>
            <p:nvPr/>
          </p:nvGrpSpPr>
          <p:grpSpPr>
            <a:xfrm>
              <a:off x="3941531" y="3177977"/>
              <a:ext cx="795900" cy="1065600"/>
              <a:chOff x="3941531" y="3177977"/>
              <a:chExt cx="795900" cy="1065600"/>
            </a:xfrm>
          </p:grpSpPr>
          <p:cxnSp>
            <p:nvCxnSpPr>
              <p:cNvPr id="160" name="Google Shape;160;p27"/>
              <p:cNvCxnSpPr>
                <a:stCxn id="158" idx="7"/>
                <a:endCxn id="148" idx="4"/>
              </p:cNvCxnSpPr>
              <p:nvPr/>
            </p:nvCxnSpPr>
            <p:spPr>
              <a:xfrm flipH="1" rot="10800000">
                <a:off x="3941531" y="3177977"/>
                <a:ext cx="795900" cy="1065600"/>
              </a:xfrm>
              <a:prstGeom prst="straightConnector1">
                <a:avLst/>
              </a:prstGeom>
              <a:noFill/>
              <a:ln cap="flat" cmpd="sng" w="9525">
                <a:solidFill>
                  <a:schemeClr val="dk2"/>
                </a:solidFill>
                <a:prstDash val="solid"/>
                <a:round/>
                <a:headEnd len="med" w="med" type="none"/>
                <a:tailEnd len="med" w="med" type="triangle"/>
              </a:ln>
            </p:spPr>
          </p:cxnSp>
          <p:sp>
            <p:nvSpPr>
              <p:cNvPr id="161" name="Google Shape;161;p27"/>
              <p:cNvSpPr txBox="1"/>
              <p:nvPr/>
            </p:nvSpPr>
            <p:spPr>
              <a:xfrm>
                <a:off x="4023578" y="3485025"/>
                <a:ext cx="3507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β</a:t>
                </a:r>
                <a:r>
                  <a:rPr b="1" lang="en" sz="600">
                    <a:solidFill>
                      <a:schemeClr val="dk1"/>
                    </a:solidFill>
                  </a:rPr>
                  <a:t>0</a:t>
                </a:r>
                <a:endParaRPr sz="1800">
                  <a:solidFill>
                    <a:schemeClr val="dk2"/>
                  </a:solidFill>
                </a:endParaRPr>
              </a:p>
            </p:txBody>
          </p:sp>
        </p:grpSp>
      </p:grpSp>
      <p:grpSp>
        <p:nvGrpSpPr>
          <p:cNvPr id="162" name="Google Shape;162;p27"/>
          <p:cNvGrpSpPr/>
          <p:nvPr/>
        </p:nvGrpSpPr>
        <p:grpSpPr>
          <a:xfrm>
            <a:off x="6701675" y="2297313"/>
            <a:ext cx="2234950" cy="890813"/>
            <a:chOff x="6092075" y="2297313"/>
            <a:chExt cx="2234950" cy="890813"/>
          </a:xfrm>
        </p:grpSpPr>
        <p:sp>
          <p:nvSpPr>
            <p:cNvPr id="163" name="Google Shape;163;p27"/>
            <p:cNvSpPr txBox="1"/>
            <p:nvPr/>
          </p:nvSpPr>
          <p:spPr>
            <a:xfrm>
              <a:off x="6907725" y="2297313"/>
              <a:ext cx="141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949AF8"/>
                  </a:solidFill>
                </a:rPr>
                <a:t>output</a:t>
              </a:r>
              <a:endParaRPr b="1">
                <a:solidFill>
                  <a:srgbClr val="949AF8"/>
                </a:solidFill>
              </a:endParaRPr>
            </a:p>
          </p:txBody>
        </p:sp>
        <p:sp>
          <p:nvSpPr>
            <p:cNvPr id="164" name="Google Shape;164;p27"/>
            <p:cNvSpPr/>
            <p:nvPr/>
          </p:nvSpPr>
          <p:spPr>
            <a:xfrm>
              <a:off x="7055625" y="2725825"/>
              <a:ext cx="478800" cy="462300"/>
            </a:xfrm>
            <a:prstGeom prst="ellipse">
              <a:avLst/>
            </a:prstGeom>
            <a:solidFill>
              <a:srgbClr val="949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ŷ</a:t>
              </a:r>
              <a:endParaRPr>
                <a:solidFill>
                  <a:schemeClr val="dk1"/>
                </a:solidFill>
              </a:endParaRPr>
            </a:p>
          </p:txBody>
        </p:sp>
        <p:cxnSp>
          <p:nvCxnSpPr>
            <p:cNvPr id="165" name="Google Shape;165;p27"/>
            <p:cNvCxnSpPr>
              <a:stCxn id="166" idx="6"/>
            </p:cNvCxnSpPr>
            <p:nvPr/>
          </p:nvCxnSpPr>
          <p:spPr>
            <a:xfrm flipH="1" rot="10800000">
              <a:off x="6092075" y="2957075"/>
              <a:ext cx="963600" cy="18300"/>
            </a:xfrm>
            <a:prstGeom prst="straightConnector1">
              <a:avLst/>
            </a:prstGeom>
            <a:noFill/>
            <a:ln cap="flat" cmpd="sng" w="9525">
              <a:solidFill>
                <a:schemeClr val="dk2"/>
              </a:solidFill>
              <a:prstDash val="solid"/>
              <a:round/>
              <a:headEnd len="med" w="med" type="none"/>
              <a:tailEnd len="med" w="med" type="triangle"/>
            </a:ln>
          </p:spPr>
        </p:cxnSp>
      </p:grpSp>
      <p:grpSp>
        <p:nvGrpSpPr>
          <p:cNvPr id="167" name="Google Shape;167;p27"/>
          <p:cNvGrpSpPr/>
          <p:nvPr/>
        </p:nvGrpSpPr>
        <p:grpSpPr>
          <a:xfrm>
            <a:off x="1382550" y="2174775"/>
            <a:ext cx="1419300" cy="2251625"/>
            <a:chOff x="1382550" y="2174775"/>
            <a:chExt cx="1419300" cy="2251625"/>
          </a:xfrm>
        </p:grpSpPr>
        <p:sp>
          <p:nvSpPr>
            <p:cNvPr id="168" name="Google Shape;168;p27"/>
            <p:cNvSpPr txBox="1"/>
            <p:nvPr/>
          </p:nvSpPr>
          <p:spPr>
            <a:xfrm>
              <a:off x="1382550" y="2174775"/>
              <a:ext cx="141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BCBD21"/>
                  </a:solidFill>
                </a:rPr>
                <a:t>feature values</a:t>
              </a:r>
              <a:endParaRPr b="1">
                <a:solidFill>
                  <a:srgbClr val="BCBD21"/>
                </a:solidFill>
              </a:endParaRPr>
            </a:p>
          </p:txBody>
        </p:sp>
        <p:grpSp>
          <p:nvGrpSpPr>
            <p:cNvPr id="169" name="Google Shape;169;p27"/>
            <p:cNvGrpSpPr/>
            <p:nvPr/>
          </p:nvGrpSpPr>
          <p:grpSpPr>
            <a:xfrm>
              <a:off x="1778150" y="2611475"/>
              <a:ext cx="478800" cy="1814925"/>
              <a:chOff x="1778150" y="2611475"/>
              <a:chExt cx="478800" cy="1814925"/>
            </a:xfrm>
          </p:grpSpPr>
          <p:sp>
            <p:nvSpPr>
              <p:cNvPr id="147" name="Google Shape;147;p27"/>
              <p:cNvSpPr/>
              <p:nvPr/>
            </p:nvSpPr>
            <p:spPr>
              <a:xfrm>
                <a:off x="1778150" y="26114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1</a:t>
                </a:r>
                <a:endParaRPr>
                  <a:solidFill>
                    <a:schemeClr val="dk1"/>
                  </a:solidFill>
                </a:endParaRPr>
              </a:p>
            </p:txBody>
          </p:sp>
          <p:sp>
            <p:nvSpPr>
              <p:cNvPr id="152" name="Google Shape;152;p27"/>
              <p:cNvSpPr/>
              <p:nvPr/>
            </p:nvSpPr>
            <p:spPr>
              <a:xfrm>
                <a:off x="1778150" y="318492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2</a:t>
                </a:r>
                <a:endParaRPr>
                  <a:solidFill>
                    <a:schemeClr val="dk1"/>
                  </a:solidFill>
                </a:endParaRPr>
              </a:p>
            </p:txBody>
          </p:sp>
          <p:sp>
            <p:nvSpPr>
              <p:cNvPr id="170" name="Google Shape;170;p27"/>
              <p:cNvSpPr/>
              <p:nvPr/>
            </p:nvSpPr>
            <p:spPr>
              <a:xfrm>
                <a:off x="1778150" y="3964100"/>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n</a:t>
                </a:r>
                <a:endParaRPr>
                  <a:solidFill>
                    <a:schemeClr val="dk1"/>
                  </a:solidFill>
                </a:endParaRPr>
              </a:p>
            </p:txBody>
          </p:sp>
          <p:sp>
            <p:nvSpPr>
              <p:cNvPr id="171" name="Google Shape;171;p27"/>
              <p:cNvSpPr txBox="1"/>
              <p:nvPr/>
            </p:nvSpPr>
            <p:spPr>
              <a:xfrm rot="5400000">
                <a:off x="1852800" y="3753270"/>
                <a:ext cx="4788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a:t>
                </a:r>
                <a:endParaRPr sz="1800">
                  <a:solidFill>
                    <a:schemeClr val="dk1"/>
                  </a:solidFill>
                </a:endParaRPr>
              </a:p>
            </p:txBody>
          </p:sp>
        </p:grpSp>
      </p:grpSp>
      <p:grpSp>
        <p:nvGrpSpPr>
          <p:cNvPr id="172" name="Google Shape;172;p27"/>
          <p:cNvGrpSpPr/>
          <p:nvPr/>
        </p:nvGrpSpPr>
        <p:grpSpPr>
          <a:xfrm>
            <a:off x="4200450" y="1190075"/>
            <a:ext cx="2027700" cy="1987900"/>
            <a:chOff x="4200450" y="1190075"/>
            <a:chExt cx="2027700" cy="1987900"/>
          </a:xfrm>
        </p:grpSpPr>
        <p:grpSp>
          <p:nvGrpSpPr>
            <p:cNvPr id="173" name="Google Shape;173;p27"/>
            <p:cNvGrpSpPr/>
            <p:nvPr/>
          </p:nvGrpSpPr>
          <p:grpSpPr>
            <a:xfrm>
              <a:off x="4441075" y="2315475"/>
              <a:ext cx="1419300" cy="862500"/>
              <a:chOff x="4441075" y="2315475"/>
              <a:chExt cx="1419300" cy="862500"/>
            </a:xfrm>
          </p:grpSpPr>
          <p:sp>
            <p:nvSpPr>
              <p:cNvPr id="174" name="Google Shape;174;p27"/>
              <p:cNvSpPr txBox="1"/>
              <p:nvPr/>
            </p:nvSpPr>
            <p:spPr>
              <a:xfrm>
                <a:off x="4441075" y="2315475"/>
                <a:ext cx="141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1B91CA"/>
                    </a:solidFill>
                  </a:rPr>
                  <a:t>sum</a:t>
                </a:r>
                <a:endParaRPr b="1">
                  <a:solidFill>
                    <a:srgbClr val="1B91CA"/>
                  </a:solidFill>
                </a:endParaRPr>
              </a:p>
            </p:txBody>
          </p:sp>
          <p:sp>
            <p:nvSpPr>
              <p:cNvPr id="148" name="Google Shape;148;p27"/>
              <p:cNvSpPr/>
              <p:nvPr/>
            </p:nvSpPr>
            <p:spPr>
              <a:xfrm>
                <a:off x="4498175" y="27156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grpSp>
        <p:sp>
          <p:nvSpPr>
            <p:cNvPr id="175" name="Google Shape;175;p27"/>
            <p:cNvSpPr/>
            <p:nvPr/>
          </p:nvSpPr>
          <p:spPr>
            <a:xfrm>
              <a:off x="4200450" y="1190075"/>
              <a:ext cx="2027700" cy="264300"/>
            </a:xfrm>
            <a:prstGeom prst="rect">
              <a:avLst/>
            </a:prstGeom>
            <a:noFill/>
            <a:ln cap="flat" cmpd="sng" w="9525">
              <a:solidFill>
                <a:srgbClr val="1B91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76" name="Google Shape;176;p27"/>
          <p:cNvGrpSpPr/>
          <p:nvPr/>
        </p:nvGrpSpPr>
        <p:grpSpPr>
          <a:xfrm>
            <a:off x="4976975" y="2315713"/>
            <a:ext cx="2517300" cy="890813"/>
            <a:chOff x="5809725" y="2297313"/>
            <a:chExt cx="2517300" cy="890813"/>
          </a:xfrm>
        </p:grpSpPr>
        <p:sp>
          <p:nvSpPr>
            <p:cNvPr id="177" name="Google Shape;177;p27"/>
            <p:cNvSpPr txBox="1"/>
            <p:nvPr/>
          </p:nvSpPr>
          <p:spPr>
            <a:xfrm>
              <a:off x="6907725" y="2297313"/>
              <a:ext cx="141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00FF"/>
                  </a:solidFill>
                </a:rPr>
                <a:t>squish</a:t>
              </a:r>
              <a:endParaRPr b="1">
                <a:solidFill>
                  <a:srgbClr val="FF00FF"/>
                </a:solidFill>
              </a:endParaRPr>
            </a:p>
          </p:txBody>
        </p:sp>
        <p:sp>
          <p:nvSpPr>
            <p:cNvPr id="166" name="Google Shape;166;p27"/>
            <p:cNvSpPr/>
            <p:nvPr/>
          </p:nvSpPr>
          <p:spPr>
            <a:xfrm>
              <a:off x="7055625" y="2725825"/>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σ</a:t>
              </a:r>
              <a:endParaRPr>
                <a:solidFill>
                  <a:schemeClr val="dk1"/>
                </a:solidFill>
              </a:endParaRPr>
            </a:p>
          </p:txBody>
        </p:sp>
        <p:cxnSp>
          <p:nvCxnSpPr>
            <p:cNvPr id="178" name="Google Shape;178;p27"/>
            <p:cNvCxnSpPr>
              <a:stCxn id="148" idx="6"/>
            </p:cNvCxnSpPr>
            <p:nvPr/>
          </p:nvCxnSpPr>
          <p:spPr>
            <a:xfrm>
              <a:off x="5809725" y="2928425"/>
              <a:ext cx="1245900" cy="28500"/>
            </a:xfrm>
            <a:prstGeom prst="straightConnector1">
              <a:avLst/>
            </a:prstGeom>
            <a:noFill/>
            <a:ln cap="flat" cmpd="sng" w="9525">
              <a:solidFill>
                <a:schemeClr val="dk2"/>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nvSpPr>
        <p:spPr>
          <a:xfrm>
            <a:off x="670950" y="504300"/>
            <a:ext cx="78021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2"/>
                </a:solidFill>
                <a:latin typeface="Staatliches"/>
                <a:ea typeface="Staatliches"/>
                <a:cs typeface="Staatliches"/>
                <a:sym typeface="Staatliches"/>
              </a:rPr>
              <a:t>perceptron</a:t>
            </a:r>
            <a:r>
              <a:rPr lang="en" sz="1800">
                <a:solidFill>
                  <a:schemeClr val="dk2"/>
                </a:solidFill>
              </a:rPr>
              <a:t> </a:t>
            </a:r>
            <a:r>
              <a:rPr lang="en">
                <a:solidFill>
                  <a:schemeClr val="dk2"/>
                </a:solidFill>
              </a:rPr>
              <a:t>is a very simple neural network, also called linear binary classifier. Let’s update our parameter naming convention: use </a:t>
            </a:r>
            <a:r>
              <a:rPr b="1" lang="en">
                <a:solidFill>
                  <a:schemeClr val="dk1"/>
                </a:solidFill>
              </a:rPr>
              <a:t>𝑤</a:t>
            </a:r>
            <a:r>
              <a:rPr b="1" lang="en" sz="600">
                <a:solidFill>
                  <a:schemeClr val="dk1"/>
                </a:solidFill>
              </a:rPr>
              <a:t>1 </a:t>
            </a:r>
            <a:r>
              <a:rPr lang="en">
                <a:solidFill>
                  <a:schemeClr val="dk2"/>
                </a:solidFill>
              </a:rPr>
              <a:t>for w</a:t>
            </a:r>
            <a:r>
              <a:rPr lang="en">
                <a:solidFill>
                  <a:schemeClr val="dk2"/>
                </a:solidFill>
              </a:rPr>
              <a:t>eights and </a:t>
            </a:r>
            <a:r>
              <a:rPr b="1" i="1" lang="en">
                <a:solidFill>
                  <a:schemeClr val="dk1"/>
                </a:solidFill>
              </a:rPr>
              <a:t>b</a:t>
            </a:r>
            <a:r>
              <a:rPr lang="en">
                <a:solidFill>
                  <a:schemeClr val="dk2"/>
                </a:solidFill>
              </a:rPr>
              <a:t> for bias.</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Our prediction function </a:t>
            </a:r>
            <a:r>
              <a:rPr b="1" lang="en">
                <a:solidFill>
                  <a:srgbClr val="949AF8"/>
                </a:solidFill>
              </a:rPr>
              <a:t>ŷ</a:t>
            </a:r>
            <a:r>
              <a:rPr b="1" lang="en">
                <a:solidFill>
                  <a:schemeClr val="dk1"/>
                </a:solidFill>
              </a:rPr>
              <a:t> = </a:t>
            </a:r>
            <a:r>
              <a:rPr b="1" lang="en">
                <a:solidFill>
                  <a:srgbClr val="FF00FF"/>
                </a:solidFill>
              </a:rPr>
              <a:t>f</a:t>
            </a:r>
            <a:r>
              <a:rPr b="1" lang="en">
                <a:solidFill>
                  <a:schemeClr val="dk1"/>
                </a:solidFill>
              </a:rPr>
              <a:t>(</a:t>
            </a:r>
            <a:r>
              <a:rPr b="1" i="1" lang="en">
                <a:solidFill>
                  <a:schemeClr val="dk1"/>
                </a:solidFill>
              </a:rPr>
              <a:t>b</a:t>
            </a:r>
            <a:r>
              <a:rPr b="1" lang="en">
                <a:solidFill>
                  <a:schemeClr val="dk1"/>
                </a:solidFill>
              </a:rPr>
              <a:t> + </a:t>
            </a:r>
            <a:r>
              <a:rPr b="1" lang="en">
                <a:solidFill>
                  <a:schemeClr val="dk1"/>
                </a:solidFill>
              </a:rPr>
              <a:t>𝑤</a:t>
            </a:r>
            <a:r>
              <a:rPr b="1" lang="en" sz="600">
                <a:solidFill>
                  <a:schemeClr val="dk1"/>
                </a:solidFill>
              </a:rPr>
              <a:t>1</a:t>
            </a:r>
            <a:r>
              <a:rPr b="1" lang="en">
                <a:solidFill>
                  <a:srgbClr val="BCBD21"/>
                </a:solidFill>
              </a:rPr>
              <a:t>x</a:t>
            </a:r>
            <a:r>
              <a:rPr b="1" lang="en" sz="600">
                <a:solidFill>
                  <a:srgbClr val="BCBD21"/>
                </a:solidFill>
              </a:rPr>
              <a:t>1</a:t>
            </a:r>
            <a:r>
              <a:rPr b="1" lang="en">
                <a:solidFill>
                  <a:schemeClr val="dk2"/>
                </a:solidFill>
              </a:rPr>
              <a:t> + </a:t>
            </a:r>
            <a:r>
              <a:rPr b="1" lang="en">
                <a:solidFill>
                  <a:schemeClr val="dk1"/>
                </a:solidFill>
              </a:rPr>
              <a:t>𝑤</a:t>
            </a:r>
            <a:r>
              <a:rPr b="1" lang="en" sz="600">
                <a:solidFill>
                  <a:schemeClr val="dk1"/>
                </a:solidFill>
              </a:rPr>
              <a:t>2</a:t>
            </a:r>
            <a:r>
              <a:rPr b="1" lang="en">
                <a:solidFill>
                  <a:srgbClr val="BCBD21"/>
                </a:solidFill>
              </a:rPr>
              <a:t>x</a:t>
            </a:r>
            <a:r>
              <a:rPr b="1" lang="en" sz="600">
                <a:solidFill>
                  <a:srgbClr val="BCBD21"/>
                </a:solidFill>
              </a:rPr>
              <a:t>2</a:t>
            </a:r>
            <a:r>
              <a:rPr b="1" lang="en">
                <a:solidFill>
                  <a:schemeClr val="dk1"/>
                </a:solidFill>
              </a:rPr>
              <a:t> + … + </a:t>
            </a:r>
            <a:r>
              <a:rPr b="1" lang="en">
                <a:solidFill>
                  <a:schemeClr val="dk1"/>
                </a:solidFill>
              </a:rPr>
              <a:t>𝑤</a:t>
            </a:r>
            <a:r>
              <a:rPr b="1" lang="en" sz="600">
                <a:solidFill>
                  <a:schemeClr val="dk1"/>
                </a:solidFill>
              </a:rPr>
              <a:t>n</a:t>
            </a:r>
            <a:r>
              <a:rPr b="1" lang="en">
                <a:solidFill>
                  <a:srgbClr val="BCBD21"/>
                </a:solidFill>
              </a:rPr>
              <a:t>x</a:t>
            </a:r>
            <a:r>
              <a:rPr b="1" lang="en" sz="600">
                <a:solidFill>
                  <a:srgbClr val="BCBD21"/>
                </a:solidFill>
              </a:rPr>
              <a:t>n</a:t>
            </a:r>
            <a:r>
              <a:rPr b="1" lang="en">
                <a:solidFill>
                  <a:schemeClr val="dk1"/>
                </a:solidFill>
              </a:rPr>
              <a:t>) </a:t>
            </a:r>
            <a:r>
              <a:rPr lang="en">
                <a:solidFill>
                  <a:schemeClr val="dk2"/>
                </a:solidFill>
              </a:rPr>
              <a:t>where</a:t>
            </a:r>
            <a:r>
              <a:rPr lang="en">
                <a:solidFill>
                  <a:schemeClr val="dk1"/>
                </a:solidFill>
              </a:rPr>
              <a:t> </a:t>
            </a:r>
            <a:r>
              <a:rPr b="1" lang="en">
                <a:solidFill>
                  <a:srgbClr val="FF00FF"/>
                </a:solidFill>
              </a:rPr>
              <a:t>f</a:t>
            </a:r>
            <a:r>
              <a:rPr b="1" lang="en">
                <a:solidFill>
                  <a:schemeClr val="dk1"/>
                </a:solidFill>
              </a:rPr>
              <a:t>(</a:t>
            </a:r>
            <a:r>
              <a:rPr b="1" lang="en">
                <a:solidFill>
                  <a:srgbClr val="1B91CA"/>
                </a:solidFill>
              </a:rPr>
              <a:t>z</a:t>
            </a:r>
            <a:r>
              <a:rPr b="1" lang="en">
                <a:solidFill>
                  <a:schemeClr val="dk1"/>
                </a:solidFill>
              </a:rPr>
              <a:t>) </a:t>
            </a:r>
            <a:r>
              <a:rPr lang="en">
                <a:solidFill>
                  <a:schemeClr val="dk2"/>
                </a:solidFill>
              </a:rPr>
              <a:t>is what we call the activation function </a:t>
            </a:r>
            <a:endParaRPr>
              <a:solidFill>
                <a:schemeClr val="dk2"/>
              </a:solidFill>
            </a:endParaRPr>
          </a:p>
        </p:txBody>
      </p:sp>
      <p:grpSp>
        <p:nvGrpSpPr>
          <p:cNvPr id="184" name="Google Shape;184;p28"/>
          <p:cNvGrpSpPr/>
          <p:nvPr/>
        </p:nvGrpSpPr>
        <p:grpSpPr>
          <a:xfrm>
            <a:off x="2256950" y="2574975"/>
            <a:ext cx="2241300" cy="371750"/>
            <a:chOff x="2256950" y="2574975"/>
            <a:chExt cx="2241300" cy="371750"/>
          </a:xfrm>
        </p:grpSpPr>
        <p:cxnSp>
          <p:nvCxnSpPr>
            <p:cNvPr id="185" name="Google Shape;185;p28"/>
            <p:cNvCxnSpPr>
              <a:stCxn id="186" idx="6"/>
              <a:endCxn id="187" idx="2"/>
            </p:cNvCxnSpPr>
            <p:nvPr/>
          </p:nvCxnSpPr>
          <p:spPr>
            <a:xfrm>
              <a:off x="2256950" y="2842625"/>
              <a:ext cx="2241300" cy="104100"/>
            </a:xfrm>
            <a:prstGeom prst="straightConnector1">
              <a:avLst/>
            </a:prstGeom>
            <a:noFill/>
            <a:ln cap="flat" cmpd="sng" w="9525">
              <a:solidFill>
                <a:schemeClr val="dk2"/>
              </a:solidFill>
              <a:prstDash val="solid"/>
              <a:round/>
              <a:headEnd len="med" w="med" type="none"/>
              <a:tailEnd len="med" w="med" type="triangle"/>
            </a:ln>
          </p:spPr>
        </p:cxnSp>
        <p:sp>
          <p:nvSpPr>
            <p:cNvPr id="188" name="Google Shape;188;p28"/>
            <p:cNvSpPr txBox="1"/>
            <p:nvPr/>
          </p:nvSpPr>
          <p:spPr>
            <a:xfrm>
              <a:off x="3173150" y="2574975"/>
              <a:ext cx="478800" cy="36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𝑤</a:t>
              </a:r>
              <a:r>
                <a:rPr b="1" lang="en" sz="600">
                  <a:solidFill>
                    <a:schemeClr val="dk1"/>
                  </a:solidFill>
                </a:rPr>
                <a:t>1</a:t>
              </a:r>
              <a:endParaRPr sz="1800">
                <a:solidFill>
                  <a:schemeClr val="dk2"/>
                </a:solidFill>
              </a:endParaRPr>
            </a:p>
          </p:txBody>
        </p:sp>
      </p:grpSp>
      <p:grpSp>
        <p:nvGrpSpPr>
          <p:cNvPr id="189" name="Google Shape;189;p28"/>
          <p:cNvGrpSpPr/>
          <p:nvPr/>
        </p:nvGrpSpPr>
        <p:grpSpPr>
          <a:xfrm>
            <a:off x="2256950" y="2943645"/>
            <a:ext cx="2311200" cy="472430"/>
            <a:chOff x="2256950" y="2943645"/>
            <a:chExt cx="2311200" cy="472430"/>
          </a:xfrm>
        </p:grpSpPr>
        <p:cxnSp>
          <p:nvCxnSpPr>
            <p:cNvPr id="190" name="Google Shape;190;p28"/>
            <p:cNvCxnSpPr>
              <a:stCxn id="191" idx="6"/>
              <a:endCxn id="187" idx="3"/>
            </p:cNvCxnSpPr>
            <p:nvPr/>
          </p:nvCxnSpPr>
          <p:spPr>
            <a:xfrm flipH="1" rot="10800000">
              <a:off x="2256950" y="3110375"/>
              <a:ext cx="2311200" cy="305700"/>
            </a:xfrm>
            <a:prstGeom prst="straightConnector1">
              <a:avLst/>
            </a:prstGeom>
            <a:noFill/>
            <a:ln cap="flat" cmpd="sng" w="9525">
              <a:solidFill>
                <a:schemeClr val="dk2"/>
              </a:solidFill>
              <a:prstDash val="solid"/>
              <a:round/>
              <a:headEnd len="med" w="med" type="none"/>
              <a:tailEnd len="med" w="med" type="triangle"/>
            </a:ln>
          </p:spPr>
        </p:cxnSp>
        <p:sp>
          <p:nvSpPr>
            <p:cNvPr id="192" name="Google Shape;192;p28"/>
            <p:cNvSpPr txBox="1"/>
            <p:nvPr/>
          </p:nvSpPr>
          <p:spPr>
            <a:xfrm>
              <a:off x="3054050" y="2943645"/>
              <a:ext cx="4788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𝑤</a:t>
              </a:r>
              <a:r>
                <a:rPr b="1" lang="en" sz="600">
                  <a:solidFill>
                    <a:schemeClr val="dk1"/>
                  </a:solidFill>
                </a:rPr>
                <a:t>2</a:t>
              </a:r>
              <a:endParaRPr sz="1800">
                <a:solidFill>
                  <a:schemeClr val="dk2"/>
                </a:solidFill>
              </a:endParaRPr>
            </a:p>
          </p:txBody>
        </p:sp>
      </p:grpSp>
      <p:grpSp>
        <p:nvGrpSpPr>
          <p:cNvPr id="193" name="Google Shape;193;p28"/>
          <p:cNvGrpSpPr/>
          <p:nvPr/>
        </p:nvGrpSpPr>
        <p:grpSpPr>
          <a:xfrm>
            <a:off x="2256794" y="3110273"/>
            <a:ext cx="2311500" cy="1065600"/>
            <a:chOff x="2256794" y="3110273"/>
            <a:chExt cx="2311500" cy="1065600"/>
          </a:xfrm>
        </p:grpSpPr>
        <p:cxnSp>
          <p:nvCxnSpPr>
            <p:cNvPr id="194" name="Google Shape;194;p28"/>
            <p:cNvCxnSpPr>
              <a:endCxn id="187" idx="3"/>
            </p:cNvCxnSpPr>
            <p:nvPr/>
          </p:nvCxnSpPr>
          <p:spPr>
            <a:xfrm flipH="1" rot="10800000">
              <a:off x="2256794" y="3110273"/>
              <a:ext cx="2311500" cy="1065600"/>
            </a:xfrm>
            <a:prstGeom prst="straightConnector1">
              <a:avLst/>
            </a:prstGeom>
            <a:noFill/>
            <a:ln cap="flat" cmpd="sng" w="9525">
              <a:solidFill>
                <a:schemeClr val="dk2"/>
              </a:solidFill>
              <a:prstDash val="solid"/>
              <a:round/>
              <a:headEnd len="med" w="med" type="none"/>
              <a:tailEnd len="med" w="med" type="triangle"/>
            </a:ln>
          </p:spPr>
        </p:cxnSp>
        <p:sp>
          <p:nvSpPr>
            <p:cNvPr id="195" name="Google Shape;195;p28"/>
            <p:cNvSpPr txBox="1"/>
            <p:nvPr/>
          </p:nvSpPr>
          <p:spPr>
            <a:xfrm>
              <a:off x="2992236" y="3428274"/>
              <a:ext cx="486900" cy="62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𝑤</a:t>
              </a:r>
              <a:r>
                <a:rPr b="1" lang="en" sz="600">
                  <a:solidFill>
                    <a:schemeClr val="dk1"/>
                  </a:solidFill>
                </a:rPr>
                <a:t>n</a:t>
              </a:r>
              <a:endParaRPr sz="1800">
                <a:solidFill>
                  <a:schemeClr val="dk2"/>
                </a:solidFill>
              </a:endParaRPr>
            </a:p>
          </p:txBody>
        </p:sp>
      </p:grpSp>
      <p:grpSp>
        <p:nvGrpSpPr>
          <p:cNvPr id="196" name="Google Shape;196;p28"/>
          <p:cNvGrpSpPr/>
          <p:nvPr/>
        </p:nvGrpSpPr>
        <p:grpSpPr>
          <a:xfrm>
            <a:off x="3532850" y="3177977"/>
            <a:ext cx="1204581" cy="1460198"/>
            <a:chOff x="3532850" y="3177977"/>
            <a:chExt cx="1204581" cy="1460198"/>
          </a:xfrm>
        </p:grpSpPr>
        <p:sp>
          <p:nvSpPr>
            <p:cNvPr id="197" name="Google Shape;197;p28"/>
            <p:cNvSpPr/>
            <p:nvPr/>
          </p:nvSpPr>
          <p:spPr>
            <a:xfrm>
              <a:off x="3532850" y="4175875"/>
              <a:ext cx="478800" cy="46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1</a:t>
              </a:r>
              <a:endParaRPr/>
            </a:p>
          </p:txBody>
        </p:sp>
        <p:grpSp>
          <p:nvGrpSpPr>
            <p:cNvPr id="198" name="Google Shape;198;p28"/>
            <p:cNvGrpSpPr/>
            <p:nvPr/>
          </p:nvGrpSpPr>
          <p:grpSpPr>
            <a:xfrm>
              <a:off x="3941531" y="3177977"/>
              <a:ext cx="795900" cy="1065600"/>
              <a:chOff x="3941531" y="3177977"/>
              <a:chExt cx="795900" cy="1065600"/>
            </a:xfrm>
          </p:grpSpPr>
          <p:cxnSp>
            <p:nvCxnSpPr>
              <p:cNvPr id="199" name="Google Shape;199;p28"/>
              <p:cNvCxnSpPr>
                <a:stCxn id="197" idx="7"/>
                <a:endCxn id="187" idx="4"/>
              </p:cNvCxnSpPr>
              <p:nvPr/>
            </p:nvCxnSpPr>
            <p:spPr>
              <a:xfrm flipH="1" rot="10800000">
                <a:off x="3941531" y="3177977"/>
                <a:ext cx="795900" cy="1065600"/>
              </a:xfrm>
              <a:prstGeom prst="straightConnector1">
                <a:avLst/>
              </a:prstGeom>
              <a:noFill/>
              <a:ln cap="flat" cmpd="sng" w="9525">
                <a:solidFill>
                  <a:schemeClr val="dk2"/>
                </a:solidFill>
                <a:prstDash val="solid"/>
                <a:round/>
                <a:headEnd len="med" w="med" type="none"/>
                <a:tailEnd len="med" w="med" type="triangle"/>
              </a:ln>
            </p:spPr>
          </p:cxnSp>
          <p:sp>
            <p:nvSpPr>
              <p:cNvPr id="200" name="Google Shape;200;p28"/>
              <p:cNvSpPr txBox="1"/>
              <p:nvPr/>
            </p:nvSpPr>
            <p:spPr>
              <a:xfrm>
                <a:off x="4023578" y="3485025"/>
                <a:ext cx="3507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i="1" lang="en">
                    <a:solidFill>
                      <a:schemeClr val="dk1"/>
                    </a:solidFill>
                  </a:rPr>
                  <a:t>b</a:t>
                </a:r>
                <a:endParaRPr sz="1800">
                  <a:solidFill>
                    <a:schemeClr val="dk2"/>
                  </a:solidFill>
                </a:endParaRPr>
              </a:p>
            </p:txBody>
          </p:sp>
        </p:grpSp>
      </p:grpSp>
      <p:grpSp>
        <p:nvGrpSpPr>
          <p:cNvPr id="201" name="Google Shape;201;p28"/>
          <p:cNvGrpSpPr/>
          <p:nvPr/>
        </p:nvGrpSpPr>
        <p:grpSpPr>
          <a:xfrm>
            <a:off x="6701675" y="2297313"/>
            <a:ext cx="2234950" cy="890813"/>
            <a:chOff x="6092075" y="2297313"/>
            <a:chExt cx="2234950" cy="890813"/>
          </a:xfrm>
        </p:grpSpPr>
        <p:sp>
          <p:nvSpPr>
            <p:cNvPr id="202" name="Google Shape;202;p28"/>
            <p:cNvSpPr txBox="1"/>
            <p:nvPr/>
          </p:nvSpPr>
          <p:spPr>
            <a:xfrm>
              <a:off x="6907725" y="2297313"/>
              <a:ext cx="141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949AF8"/>
                  </a:solidFill>
                </a:rPr>
                <a:t>output</a:t>
              </a:r>
              <a:endParaRPr b="1">
                <a:solidFill>
                  <a:srgbClr val="949AF8"/>
                </a:solidFill>
              </a:endParaRPr>
            </a:p>
          </p:txBody>
        </p:sp>
        <p:sp>
          <p:nvSpPr>
            <p:cNvPr id="203" name="Google Shape;203;p28"/>
            <p:cNvSpPr/>
            <p:nvPr/>
          </p:nvSpPr>
          <p:spPr>
            <a:xfrm>
              <a:off x="7055625" y="2725825"/>
              <a:ext cx="478800" cy="462300"/>
            </a:xfrm>
            <a:prstGeom prst="ellipse">
              <a:avLst/>
            </a:prstGeom>
            <a:solidFill>
              <a:srgbClr val="949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ŷ</a:t>
              </a:r>
              <a:endParaRPr>
                <a:solidFill>
                  <a:schemeClr val="dk1"/>
                </a:solidFill>
              </a:endParaRPr>
            </a:p>
          </p:txBody>
        </p:sp>
        <p:cxnSp>
          <p:nvCxnSpPr>
            <p:cNvPr id="204" name="Google Shape;204;p28"/>
            <p:cNvCxnSpPr>
              <a:stCxn id="205" idx="6"/>
            </p:cNvCxnSpPr>
            <p:nvPr/>
          </p:nvCxnSpPr>
          <p:spPr>
            <a:xfrm flipH="1" rot="10800000">
              <a:off x="6092075" y="2957075"/>
              <a:ext cx="963600" cy="18300"/>
            </a:xfrm>
            <a:prstGeom prst="straightConnector1">
              <a:avLst/>
            </a:prstGeom>
            <a:noFill/>
            <a:ln cap="flat" cmpd="sng" w="9525">
              <a:solidFill>
                <a:schemeClr val="dk2"/>
              </a:solidFill>
              <a:prstDash val="solid"/>
              <a:round/>
              <a:headEnd len="med" w="med" type="none"/>
              <a:tailEnd len="med" w="med" type="triangle"/>
            </a:ln>
          </p:spPr>
        </p:cxnSp>
      </p:grpSp>
      <p:grpSp>
        <p:nvGrpSpPr>
          <p:cNvPr id="206" name="Google Shape;206;p28"/>
          <p:cNvGrpSpPr/>
          <p:nvPr/>
        </p:nvGrpSpPr>
        <p:grpSpPr>
          <a:xfrm>
            <a:off x="1382550" y="2174775"/>
            <a:ext cx="1419300" cy="2251625"/>
            <a:chOff x="1382550" y="2174775"/>
            <a:chExt cx="1419300" cy="2251625"/>
          </a:xfrm>
        </p:grpSpPr>
        <p:sp>
          <p:nvSpPr>
            <p:cNvPr id="207" name="Google Shape;207;p28"/>
            <p:cNvSpPr txBox="1"/>
            <p:nvPr/>
          </p:nvSpPr>
          <p:spPr>
            <a:xfrm>
              <a:off x="1382550" y="2174775"/>
              <a:ext cx="141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BCBD21"/>
                  </a:solidFill>
                </a:rPr>
                <a:t>feature values</a:t>
              </a:r>
              <a:endParaRPr b="1">
                <a:solidFill>
                  <a:srgbClr val="BCBD21"/>
                </a:solidFill>
              </a:endParaRPr>
            </a:p>
          </p:txBody>
        </p:sp>
        <p:grpSp>
          <p:nvGrpSpPr>
            <p:cNvPr id="208" name="Google Shape;208;p28"/>
            <p:cNvGrpSpPr/>
            <p:nvPr/>
          </p:nvGrpSpPr>
          <p:grpSpPr>
            <a:xfrm>
              <a:off x="1778150" y="2611475"/>
              <a:ext cx="478800" cy="1814925"/>
              <a:chOff x="1778150" y="2611475"/>
              <a:chExt cx="478800" cy="1814925"/>
            </a:xfrm>
          </p:grpSpPr>
          <p:sp>
            <p:nvSpPr>
              <p:cNvPr id="186" name="Google Shape;186;p28"/>
              <p:cNvSpPr/>
              <p:nvPr/>
            </p:nvSpPr>
            <p:spPr>
              <a:xfrm>
                <a:off x="1778150" y="26114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1</a:t>
                </a:r>
                <a:endParaRPr>
                  <a:solidFill>
                    <a:schemeClr val="dk1"/>
                  </a:solidFill>
                </a:endParaRPr>
              </a:p>
            </p:txBody>
          </p:sp>
          <p:sp>
            <p:nvSpPr>
              <p:cNvPr id="191" name="Google Shape;191;p28"/>
              <p:cNvSpPr/>
              <p:nvPr/>
            </p:nvSpPr>
            <p:spPr>
              <a:xfrm>
                <a:off x="1778150" y="318492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2</a:t>
                </a:r>
                <a:endParaRPr>
                  <a:solidFill>
                    <a:schemeClr val="dk1"/>
                  </a:solidFill>
                </a:endParaRPr>
              </a:p>
            </p:txBody>
          </p:sp>
          <p:sp>
            <p:nvSpPr>
              <p:cNvPr id="209" name="Google Shape;209;p28"/>
              <p:cNvSpPr/>
              <p:nvPr/>
            </p:nvSpPr>
            <p:spPr>
              <a:xfrm>
                <a:off x="1778150" y="3964100"/>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n</a:t>
                </a:r>
                <a:endParaRPr>
                  <a:solidFill>
                    <a:schemeClr val="dk1"/>
                  </a:solidFill>
                </a:endParaRPr>
              </a:p>
            </p:txBody>
          </p:sp>
          <p:sp>
            <p:nvSpPr>
              <p:cNvPr id="210" name="Google Shape;210;p28"/>
              <p:cNvSpPr txBox="1"/>
              <p:nvPr/>
            </p:nvSpPr>
            <p:spPr>
              <a:xfrm rot="5400000">
                <a:off x="1852800" y="3753270"/>
                <a:ext cx="4788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a:t>
                </a:r>
                <a:endParaRPr sz="1800">
                  <a:solidFill>
                    <a:schemeClr val="dk1"/>
                  </a:solidFill>
                </a:endParaRPr>
              </a:p>
            </p:txBody>
          </p:sp>
        </p:grpSp>
      </p:grpSp>
      <p:grpSp>
        <p:nvGrpSpPr>
          <p:cNvPr id="211" name="Google Shape;211;p28"/>
          <p:cNvGrpSpPr/>
          <p:nvPr/>
        </p:nvGrpSpPr>
        <p:grpSpPr>
          <a:xfrm>
            <a:off x="4976975" y="2315713"/>
            <a:ext cx="2517300" cy="890813"/>
            <a:chOff x="5809725" y="2297313"/>
            <a:chExt cx="2517300" cy="890813"/>
          </a:xfrm>
        </p:grpSpPr>
        <p:sp>
          <p:nvSpPr>
            <p:cNvPr id="212" name="Google Shape;212;p28"/>
            <p:cNvSpPr txBox="1"/>
            <p:nvPr/>
          </p:nvSpPr>
          <p:spPr>
            <a:xfrm>
              <a:off x="6907725" y="2297313"/>
              <a:ext cx="141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00FF"/>
                  </a:solidFill>
                </a:rPr>
                <a:t>activation</a:t>
              </a:r>
              <a:endParaRPr b="1">
                <a:solidFill>
                  <a:srgbClr val="FF00FF"/>
                </a:solidFill>
              </a:endParaRPr>
            </a:p>
          </p:txBody>
        </p:sp>
        <p:sp>
          <p:nvSpPr>
            <p:cNvPr id="205" name="Google Shape;205;p28"/>
            <p:cNvSpPr/>
            <p:nvPr/>
          </p:nvSpPr>
          <p:spPr>
            <a:xfrm>
              <a:off x="7055625" y="2725825"/>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 f</a:t>
              </a:r>
              <a:endParaRPr>
                <a:solidFill>
                  <a:schemeClr val="dk1"/>
                </a:solidFill>
              </a:endParaRPr>
            </a:p>
          </p:txBody>
        </p:sp>
        <p:cxnSp>
          <p:nvCxnSpPr>
            <p:cNvPr id="213" name="Google Shape;213;p28"/>
            <p:cNvCxnSpPr>
              <a:stCxn id="187" idx="6"/>
            </p:cNvCxnSpPr>
            <p:nvPr/>
          </p:nvCxnSpPr>
          <p:spPr>
            <a:xfrm>
              <a:off x="5809725" y="2928425"/>
              <a:ext cx="1245900" cy="28500"/>
            </a:xfrm>
            <a:prstGeom prst="straightConnector1">
              <a:avLst/>
            </a:prstGeom>
            <a:noFill/>
            <a:ln cap="flat" cmpd="sng" w="9525">
              <a:solidFill>
                <a:schemeClr val="dk2"/>
              </a:solidFill>
              <a:prstDash val="solid"/>
              <a:round/>
              <a:headEnd len="med" w="med" type="none"/>
              <a:tailEnd len="med" w="med" type="triangle"/>
            </a:ln>
          </p:spPr>
        </p:cxnSp>
      </p:grpSp>
      <p:grpSp>
        <p:nvGrpSpPr>
          <p:cNvPr id="214" name="Google Shape;214;p28"/>
          <p:cNvGrpSpPr/>
          <p:nvPr/>
        </p:nvGrpSpPr>
        <p:grpSpPr>
          <a:xfrm>
            <a:off x="4441075" y="2315475"/>
            <a:ext cx="1419300" cy="862500"/>
            <a:chOff x="4441075" y="2315475"/>
            <a:chExt cx="1419300" cy="862500"/>
          </a:xfrm>
        </p:grpSpPr>
        <p:sp>
          <p:nvSpPr>
            <p:cNvPr id="215" name="Google Shape;215;p28"/>
            <p:cNvSpPr txBox="1"/>
            <p:nvPr/>
          </p:nvSpPr>
          <p:spPr>
            <a:xfrm>
              <a:off x="4441075" y="2315475"/>
              <a:ext cx="141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1B91CA"/>
                  </a:solidFill>
                </a:rPr>
                <a:t>sum</a:t>
              </a:r>
              <a:endParaRPr b="1">
                <a:solidFill>
                  <a:srgbClr val="1B91CA"/>
                </a:solidFill>
              </a:endParaRPr>
            </a:p>
          </p:txBody>
        </p:sp>
        <p:sp>
          <p:nvSpPr>
            <p:cNvPr id="216" name="Google Shape;216;p28"/>
            <p:cNvSpPr/>
            <p:nvPr/>
          </p:nvSpPr>
          <p:spPr>
            <a:xfrm>
              <a:off x="4498175" y="27156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grpSp>
      <p:grpSp>
        <p:nvGrpSpPr>
          <p:cNvPr id="217" name="Google Shape;217;p28"/>
          <p:cNvGrpSpPr/>
          <p:nvPr/>
        </p:nvGrpSpPr>
        <p:grpSpPr>
          <a:xfrm>
            <a:off x="5468425" y="3508750"/>
            <a:ext cx="3319200" cy="933625"/>
            <a:chOff x="5468425" y="3508750"/>
            <a:chExt cx="3319200" cy="933625"/>
          </a:xfrm>
        </p:grpSpPr>
        <p:sp>
          <p:nvSpPr>
            <p:cNvPr id="218" name="Google Shape;218;p28"/>
            <p:cNvSpPr txBox="1"/>
            <p:nvPr/>
          </p:nvSpPr>
          <p:spPr>
            <a:xfrm>
              <a:off x="5468425" y="3508750"/>
              <a:ext cx="3319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Our first activation function we’ll look at is the unit-step.</a:t>
              </a:r>
              <a:endParaRPr b="1"/>
            </a:p>
          </p:txBody>
        </p:sp>
        <p:pic>
          <p:nvPicPr>
            <p:cNvPr id="219" name="Google Shape;219;p28" title="Screenshot 2025-04-13 at 4.33.23 PM.png"/>
            <p:cNvPicPr preferRelativeResize="0"/>
            <p:nvPr/>
          </p:nvPicPr>
          <p:blipFill>
            <a:blip r:embed="rId3">
              <a:alphaModFix/>
            </a:blip>
            <a:stretch>
              <a:fillRect/>
            </a:stretch>
          </p:blipFill>
          <p:spPr>
            <a:xfrm>
              <a:off x="6986275" y="3894232"/>
              <a:ext cx="1419300" cy="548143"/>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grpSp>
        <p:nvGrpSpPr>
          <p:cNvPr id="224" name="Google Shape;224;p29"/>
          <p:cNvGrpSpPr/>
          <p:nvPr/>
        </p:nvGrpSpPr>
        <p:grpSpPr>
          <a:xfrm>
            <a:off x="648050" y="2207825"/>
            <a:ext cx="2344842" cy="905150"/>
            <a:chOff x="648050" y="2360225"/>
            <a:chExt cx="2344842" cy="905150"/>
          </a:xfrm>
        </p:grpSpPr>
        <p:pic>
          <p:nvPicPr>
            <p:cNvPr id="225" name="Google Shape;225;p29"/>
            <p:cNvPicPr preferRelativeResize="0"/>
            <p:nvPr/>
          </p:nvPicPr>
          <p:blipFill>
            <a:blip r:embed="rId3">
              <a:alphaModFix/>
            </a:blip>
            <a:stretch>
              <a:fillRect/>
            </a:stretch>
          </p:blipFill>
          <p:spPr>
            <a:xfrm>
              <a:off x="648050" y="2360225"/>
              <a:ext cx="2344842" cy="905150"/>
            </a:xfrm>
            <a:prstGeom prst="rect">
              <a:avLst/>
            </a:prstGeom>
            <a:noFill/>
            <a:ln>
              <a:noFill/>
            </a:ln>
          </p:spPr>
        </p:pic>
        <p:sp>
          <p:nvSpPr>
            <p:cNvPr id="226" name="Google Shape;226;p29"/>
            <p:cNvSpPr/>
            <p:nvPr/>
          </p:nvSpPr>
          <p:spPr>
            <a:xfrm>
              <a:off x="704930" y="2699850"/>
              <a:ext cx="878100" cy="256800"/>
            </a:xfrm>
            <a:prstGeom prst="rect">
              <a:avLst/>
            </a:prstGeom>
            <a:solidFill>
              <a:srgbClr val="FFAB40">
                <a:alpha val="343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27" name="Google Shape;227;p29"/>
          <p:cNvGrpSpPr/>
          <p:nvPr/>
        </p:nvGrpSpPr>
        <p:grpSpPr>
          <a:xfrm>
            <a:off x="6446650" y="2382725"/>
            <a:ext cx="2195700" cy="823800"/>
            <a:chOff x="6740725" y="4085925"/>
            <a:chExt cx="2195700" cy="823800"/>
          </a:xfrm>
        </p:grpSpPr>
        <p:grpSp>
          <p:nvGrpSpPr>
            <p:cNvPr id="228" name="Google Shape;228;p29"/>
            <p:cNvGrpSpPr/>
            <p:nvPr/>
          </p:nvGrpSpPr>
          <p:grpSpPr>
            <a:xfrm>
              <a:off x="6825025" y="4085925"/>
              <a:ext cx="2111400" cy="738400"/>
              <a:chOff x="6215550" y="2449725"/>
              <a:chExt cx="2111400" cy="738400"/>
            </a:xfrm>
          </p:grpSpPr>
          <p:sp>
            <p:nvSpPr>
              <p:cNvPr id="229" name="Google Shape;229;p29"/>
              <p:cNvSpPr txBox="1"/>
              <p:nvPr/>
            </p:nvSpPr>
            <p:spPr>
              <a:xfrm>
                <a:off x="6215550" y="2449725"/>
                <a:ext cx="2111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949AF8"/>
                    </a:solidFill>
                  </a:rPr>
                  <a:t>predicted  </a:t>
                </a:r>
                <a:r>
                  <a:rPr b="1" lang="en" sz="1100">
                    <a:solidFill>
                      <a:schemeClr val="dk1"/>
                    </a:solidFill>
                  </a:rPr>
                  <a:t>vs     actual </a:t>
                </a:r>
                <a:endParaRPr b="1" sz="1100">
                  <a:solidFill>
                    <a:srgbClr val="949AF8"/>
                  </a:solidFill>
                </a:endParaRPr>
              </a:p>
            </p:txBody>
          </p:sp>
          <p:sp>
            <p:nvSpPr>
              <p:cNvPr id="230" name="Google Shape;230;p29"/>
              <p:cNvSpPr/>
              <p:nvPr/>
            </p:nvSpPr>
            <p:spPr>
              <a:xfrm>
                <a:off x="6372875" y="2725825"/>
                <a:ext cx="478800" cy="462300"/>
              </a:xfrm>
              <a:prstGeom prst="ellipse">
                <a:avLst/>
              </a:prstGeom>
              <a:solidFill>
                <a:srgbClr val="949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ŷ</a:t>
                </a:r>
                <a:endParaRPr>
                  <a:solidFill>
                    <a:schemeClr val="dk1"/>
                  </a:solidFill>
                </a:endParaRPr>
              </a:p>
            </p:txBody>
          </p:sp>
        </p:grpSp>
        <p:sp>
          <p:nvSpPr>
            <p:cNvPr id="231" name="Google Shape;231;p29"/>
            <p:cNvSpPr/>
            <p:nvPr/>
          </p:nvSpPr>
          <p:spPr>
            <a:xfrm>
              <a:off x="7907325" y="4362025"/>
              <a:ext cx="478800" cy="46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y</a:t>
              </a:r>
              <a:r>
                <a:rPr b="1" lang="en" sz="600">
                  <a:solidFill>
                    <a:schemeClr val="dk1"/>
                  </a:solidFill>
                </a:rPr>
                <a:t>i</a:t>
              </a:r>
              <a:endParaRPr>
                <a:solidFill>
                  <a:schemeClr val="dk1"/>
                </a:solidFill>
              </a:endParaRPr>
            </a:p>
          </p:txBody>
        </p:sp>
        <p:cxnSp>
          <p:nvCxnSpPr>
            <p:cNvPr id="232" name="Google Shape;232;p29"/>
            <p:cNvCxnSpPr>
              <a:stCxn id="231" idx="2"/>
              <a:endCxn id="230" idx="6"/>
            </p:cNvCxnSpPr>
            <p:nvPr/>
          </p:nvCxnSpPr>
          <p:spPr>
            <a:xfrm rot="10800000">
              <a:off x="7461225" y="4593175"/>
              <a:ext cx="446100" cy="0"/>
            </a:xfrm>
            <a:prstGeom prst="straightConnector1">
              <a:avLst/>
            </a:prstGeom>
            <a:noFill/>
            <a:ln cap="flat" cmpd="sng" w="9525">
              <a:solidFill>
                <a:schemeClr val="dk2"/>
              </a:solidFill>
              <a:prstDash val="solid"/>
              <a:round/>
              <a:headEnd len="med" w="med" type="stealth"/>
              <a:tailEnd len="med" w="med" type="stealth"/>
            </a:ln>
          </p:spPr>
        </p:cxnSp>
        <p:sp>
          <p:nvSpPr>
            <p:cNvPr id="233" name="Google Shape;233;p29"/>
            <p:cNvSpPr/>
            <p:nvPr/>
          </p:nvSpPr>
          <p:spPr>
            <a:xfrm>
              <a:off x="6740725" y="4085925"/>
              <a:ext cx="1901100" cy="823800"/>
            </a:xfrm>
            <a:prstGeom prst="rect">
              <a:avLst/>
            </a:prstGeom>
            <a:noFill/>
            <a:ln cap="flat" cmpd="sng" w="28575">
              <a:solidFill>
                <a:srgbClr val="949AF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34" name="Google Shape;234;p29"/>
          <p:cNvSpPr txBox="1"/>
          <p:nvPr/>
        </p:nvSpPr>
        <p:spPr>
          <a:xfrm>
            <a:off x="273925" y="1790575"/>
            <a:ext cx="6126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Our cost function </a:t>
            </a:r>
            <a:r>
              <a:rPr b="1" lang="en">
                <a:solidFill>
                  <a:schemeClr val="accent4"/>
                </a:solidFill>
              </a:rPr>
              <a:t>Cost</a:t>
            </a:r>
            <a:r>
              <a:rPr lang="en">
                <a:solidFill>
                  <a:schemeClr val="dk2"/>
                </a:solidFill>
              </a:rPr>
              <a:t>(</a:t>
            </a:r>
            <a:r>
              <a:rPr lang="en">
                <a:solidFill>
                  <a:schemeClr val="dk2"/>
                </a:solidFill>
              </a:rPr>
              <a:t>𝑤</a:t>
            </a:r>
            <a:r>
              <a:rPr lang="en" sz="600">
                <a:solidFill>
                  <a:schemeClr val="dk2"/>
                </a:solidFill>
                <a:latin typeface="Source Code Pro"/>
                <a:ea typeface="Source Code Pro"/>
                <a:cs typeface="Source Code Pro"/>
                <a:sym typeface="Source Code Pro"/>
              </a:rPr>
              <a:t>i</a:t>
            </a:r>
            <a:r>
              <a:rPr lang="en">
                <a:solidFill>
                  <a:schemeClr val="dk2"/>
                </a:solidFill>
              </a:rPr>
              <a:t>, </a:t>
            </a:r>
            <a:r>
              <a:rPr i="1" lang="en">
                <a:solidFill>
                  <a:schemeClr val="dk2"/>
                </a:solidFill>
              </a:rPr>
              <a:t>b</a:t>
            </a:r>
            <a:r>
              <a:rPr lang="en">
                <a:solidFill>
                  <a:schemeClr val="dk2"/>
                </a:solidFill>
              </a:rPr>
              <a:t>)</a:t>
            </a:r>
            <a:r>
              <a:rPr b="1" lang="en">
                <a:solidFill>
                  <a:schemeClr val="dk2"/>
                </a:solidFill>
              </a:rPr>
              <a:t> </a:t>
            </a:r>
            <a:r>
              <a:rPr lang="en">
                <a:solidFill>
                  <a:schemeClr val="dk2"/>
                </a:solidFill>
              </a:rPr>
              <a:t>will be the </a:t>
            </a:r>
            <a:r>
              <a:rPr b="1" lang="en">
                <a:solidFill>
                  <a:schemeClr val="dk2"/>
                </a:solidFill>
              </a:rPr>
              <a:t>proportion of incorrect</a:t>
            </a:r>
            <a:r>
              <a:rPr lang="en">
                <a:solidFill>
                  <a:schemeClr val="dk2"/>
                </a:solidFill>
              </a:rPr>
              <a:t> labels</a:t>
            </a:r>
            <a:endParaRPr>
              <a:solidFill>
                <a:schemeClr val="dk2"/>
              </a:solidFill>
            </a:endParaRPr>
          </a:p>
        </p:txBody>
      </p:sp>
      <p:sp>
        <p:nvSpPr>
          <p:cNvPr id="235" name="Google Shape;235;p29"/>
          <p:cNvSpPr txBox="1"/>
          <p:nvPr/>
        </p:nvSpPr>
        <p:spPr>
          <a:xfrm>
            <a:off x="360850" y="3174625"/>
            <a:ext cx="6085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	</a:t>
            </a:r>
            <a:r>
              <a:rPr b="1" lang="en">
                <a:solidFill>
                  <a:srgbClr val="949AF8"/>
                </a:solidFill>
              </a:rPr>
              <a:t>ŷ </a:t>
            </a:r>
            <a:r>
              <a:rPr b="1" lang="en">
                <a:solidFill>
                  <a:schemeClr val="dk2"/>
                </a:solidFill>
              </a:rPr>
              <a:t>= y</a:t>
            </a:r>
            <a:r>
              <a:rPr b="1" lang="en" sz="800">
                <a:solidFill>
                  <a:schemeClr val="dk2"/>
                </a:solidFill>
              </a:rPr>
              <a:t>  </a:t>
            </a:r>
            <a:r>
              <a:rPr lang="en">
                <a:solidFill>
                  <a:schemeClr val="dk2"/>
                </a:solidFill>
              </a:rPr>
              <a:t>means it was correctly predicted, thus </a:t>
            </a:r>
            <a:r>
              <a:rPr b="1" lang="en">
                <a:solidFill>
                  <a:schemeClr val="dk2"/>
                </a:solidFill>
              </a:rPr>
              <a:t>0</a:t>
            </a:r>
            <a:endParaRPr b="1">
              <a:solidFill>
                <a:schemeClr val="dk2"/>
              </a:solidFill>
            </a:endParaRPr>
          </a:p>
          <a:p>
            <a:pPr indent="0" lvl="0" marL="0" rtl="0" algn="l">
              <a:spcBef>
                <a:spcPts val="0"/>
              </a:spcBef>
              <a:spcAft>
                <a:spcPts val="0"/>
              </a:spcAft>
              <a:buNone/>
            </a:pPr>
            <a:r>
              <a:rPr b="1" lang="en">
                <a:solidFill>
                  <a:schemeClr val="dk2"/>
                </a:solidFill>
              </a:rPr>
              <a:t>	</a:t>
            </a:r>
            <a:r>
              <a:rPr b="1" lang="en">
                <a:solidFill>
                  <a:srgbClr val="949AF8"/>
                </a:solidFill>
              </a:rPr>
              <a:t>ŷ </a:t>
            </a:r>
            <a:r>
              <a:rPr b="1" lang="en">
                <a:solidFill>
                  <a:schemeClr val="dk2"/>
                </a:solidFill>
              </a:rPr>
              <a:t>≠ y</a:t>
            </a:r>
            <a:r>
              <a:rPr b="1" lang="en" sz="800">
                <a:solidFill>
                  <a:schemeClr val="dk2"/>
                </a:solidFill>
              </a:rPr>
              <a:t> </a:t>
            </a:r>
            <a:r>
              <a:rPr lang="en">
                <a:solidFill>
                  <a:schemeClr val="dk2"/>
                </a:solidFill>
              </a:rPr>
              <a:t>means it was not correctly prediction, thus ±</a:t>
            </a:r>
            <a:r>
              <a:rPr b="1" lang="en">
                <a:solidFill>
                  <a:schemeClr val="dk2"/>
                </a:solidFill>
              </a:rPr>
              <a:t>1</a:t>
            </a:r>
            <a:endParaRPr b="1">
              <a:solidFill>
                <a:schemeClr val="dk2"/>
              </a:solidFill>
            </a:endParaRPr>
          </a:p>
        </p:txBody>
      </p:sp>
      <p:grpSp>
        <p:nvGrpSpPr>
          <p:cNvPr id="236" name="Google Shape;236;p29"/>
          <p:cNvGrpSpPr/>
          <p:nvPr/>
        </p:nvGrpSpPr>
        <p:grpSpPr>
          <a:xfrm>
            <a:off x="2918452" y="2340721"/>
            <a:ext cx="3299072" cy="683947"/>
            <a:chOff x="2918452" y="2493121"/>
            <a:chExt cx="3299072" cy="683947"/>
          </a:xfrm>
        </p:grpSpPr>
        <p:pic>
          <p:nvPicPr>
            <p:cNvPr id="237" name="Google Shape;237;p29"/>
            <p:cNvPicPr preferRelativeResize="0"/>
            <p:nvPr/>
          </p:nvPicPr>
          <p:blipFill>
            <a:blip r:embed="rId4">
              <a:alphaModFix/>
            </a:blip>
            <a:stretch>
              <a:fillRect/>
            </a:stretch>
          </p:blipFill>
          <p:spPr>
            <a:xfrm>
              <a:off x="2918452" y="2493121"/>
              <a:ext cx="3299072" cy="683947"/>
            </a:xfrm>
            <a:prstGeom prst="rect">
              <a:avLst/>
            </a:prstGeom>
            <a:noFill/>
            <a:ln>
              <a:noFill/>
            </a:ln>
          </p:spPr>
        </p:pic>
        <p:sp>
          <p:nvSpPr>
            <p:cNvPr id="238" name="Google Shape;238;p29"/>
            <p:cNvSpPr/>
            <p:nvPr/>
          </p:nvSpPr>
          <p:spPr>
            <a:xfrm>
              <a:off x="3604232" y="2748656"/>
              <a:ext cx="2231100" cy="256800"/>
            </a:xfrm>
            <a:prstGeom prst="rect">
              <a:avLst/>
            </a:prstGeom>
            <a:solidFill>
              <a:srgbClr val="949AF8">
                <a:alpha val="3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39" name="Google Shape;239;p29"/>
          <p:cNvSpPr/>
          <p:nvPr/>
        </p:nvSpPr>
        <p:spPr>
          <a:xfrm>
            <a:off x="2379499" y="2596256"/>
            <a:ext cx="149100" cy="256800"/>
          </a:xfrm>
          <a:prstGeom prst="rect">
            <a:avLst/>
          </a:prstGeom>
          <a:solidFill>
            <a:srgbClr val="949AF8">
              <a:alpha val="3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40" name="Google Shape;240;p29"/>
          <p:cNvGrpSpPr/>
          <p:nvPr/>
        </p:nvGrpSpPr>
        <p:grpSpPr>
          <a:xfrm>
            <a:off x="289950" y="504300"/>
            <a:ext cx="8092500" cy="1214050"/>
            <a:chOff x="289950" y="504300"/>
            <a:chExt cx="8092500" cy="1214050"/>
          </a:xfrm>
        </p:grpSpPr>
        <p:sp>
          <p:nvSpPr>
            <p:cNvPr id="241" name="Google Shape;241;p29"/>
            <p:cNvSpPr txBox="1"/>
            <p:nvPr/>
          </p:nvSpPr>
          <p:spPr>
            <a:xfrm>
              <a:off x="289950" y="504300"/>
              <a:ext cx="78021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2"/>
                  </a:solidFill>
                  <a:latin typeface="Staatliches"/>
                  <a:ea typeface="Staatliches"/>
                  <a:cs typeface="Staatliches"/>
                  <a:sym typeface="Staatliches"/>
                </a:rPr>
                <a:t>perceptron</a:t>
              </a:r>
              <a:r>
                <a:rPr lang="en" sz="1800">
                  <a:solidFill>
                    <a:schemeClr val="dk2"/>
                  </a:solidFill>
                </a:rPr>
                <a:t> </a:t>
              </a:r>
              <a:r>
                <a:rPr lang="en">
                  <a:solidFill>
                    <a:schemeClr val="dk2"/>
                  </a:solidFill>
                </a:rPr>
                <a:t>is a very simple neural network, also called linear binary classifier. Let’s update our parameter naming convention: use </a:t>
              </a:r>
              <a:r>
                <a:rPr b="1" lang="en">
                  <a:solidFill>
                    <a:schemeClr val="dk1"/>
                  </a:solidFill>
                </a:rPr>
                <a:t>𝑤</a:t>
              </a:r>
              <a:r>
                <a:rPr b="1" lang="en" sz="600">
                  <a:solidFill>
                    <a:schemeClr val="dk1"/>
                  </a:solidFill>
                </a:rPr>
                <a:t>1 </a:t>
              </a:r>
              <a:r>
                <a:rPr lang="en">
                  <a:solidFill>
                    <a:schemeClr val="dk2"/>
                  </a:solidFill>
                </a:rPr>
                <a:t>for weights and </a:t>
              </a:r>
              <a:r>
                <a:rPr b="1" i="1" lang="en">
                  <a:solidFill>
                    <a:schemeClr val="dk1"/>
                  </a:solidFill>
                </a:rPr>
                <a:t>b</a:t>
              </a:r>
              <a:r>
                <a:rPr lang="en">
                  <a:solidFill>
                    <a:schemeClr val="dk2"/>
                  </a:solidFill>
                </a:rPr>
                <a:t> for bias.</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Our prediction function </a:t>
              </a:r>
              <a:r>
                <a:rPr b="1" lang="en">
                  <a:solidFill>
                    <a:srgbClr val="949AF8"/>
                  </a:solidFill>
                </a:rPr>
                <a:t>ŷ</a:t>
              </a:r>
              <a:r>
                <a:rPr b="1" lang="en">
                  <a:solidFill>
                    <a:schemeClr val="dk1"/>
                  </a:solidFill>
                </a:rPr>
                <a:t> = </a:t>
              </a:r>
              <a:r>
                <a:rPr b="1" lang="en">
                  <a:solidFill>
                    <a:srgbClr val="FF00FF"/>
                  </a:solidFill>
                </a:rPr>
                <a:t>f</a:t>
              </a:r>
              <a:r>
                <a:rPr b="1" lang="en">
                  <a:solidFill>
                    <a:schemeClr val="dk1"/>
                  </a:solidFill>
                </a:rPr>
                <a:t>(</a:t>
              </a:r>
              <a:r>
                <a:rPr b="1" i="1" lang="en">
                  <a:solidFill>
                    <a:schemeClr val="dk1"/>
                  </a:solidFill>
                </a:rPr>
                <a:t>b</a:t>
              </a:r>
              <a:r>
                <a:rPr b="1" lang="en">
                  <a:solidFill>
                    <a:schemeClr val="dk1"/>
                  </a:solidFill>
                </a:rPr>
                <a:t> + 𝑤</a:t>
              </a:r>
              <a:r>
                <a:rPr b="1" lang="en" sz="600">
                  <a:solidFill>
                    <a:schemeClr val="dk1"/>
                  </a:solidFill>
                </a:rPr>
                <a:t>1</a:t>
              </a:r>
              <a:r>
                <a:rPr b="1" lang="en">
                  <a:solidFill>
                    <a:srgbClr val="BCBD21"/>
                  </a:solidFill>
                </a:rPr>
                <a:t>x</a:t>
              </a:r>
              <a:r>
                <a:rPr b="1" lang="en" sz="600">
                  <a:solidFill>
                    <a:srgbClr val="BCBD21"/>
                  </a:solidFill>
                </a:rPr>
                <a:t>1</a:t>
              </a:r>
              <a:r>
                <a:rPr b="1" lang="en">
                  <a:solidFill>
                    <a:schemeClr val="dk2"/>
                  </a:solidFill>
                </a:rPr>
                <a:t> + </a:t>
              </a:r>
              <a:r>
                <a:rPr b="1" lang="en">
                  <a:solidFill>
                    <a:schemeClr val="dk1"/>
                  </a:solidFill>
                </a:rPr>
                <a:t>𝑤</a:t>
              </a:r>
              <a:r>
                <a:rPr b="1" lang="en" sz="600">
                  <a:solidFill>
                    <a:schemeClr val="dk1"/>
                  </a:solidFill>
                </a:rPr>
                <a:t>2</a:t>
              </a:r>
              <a:r>
                <a:rPr b="1" lang="en">
                  <a:solidFill>
                    <a:srgbClr val="BCBD21"/>
                  </a:solidFill>
                </a:rPr>
                <a:t>x</a:t>
              </a:r>
              <a:r>
                <a:rPr b="1" lang="en" sz="600">
                  <a:solidFill>
                    <a:srgbClr val="BCBD21"/>
                  </a:solidFill>
                </a:rPr>
                <a:t>2</a:t>
              </a:r>
              <a:r>
                <a:rPr b="1" lang="en">
                  <a:solidFill>
                    <a:schemeClr val="dk1"/>
                  </a:solidFill>
                </a:rPr>
                <a:t> + … + 𝑤</a:t>
              </a:r>
              <a:r>
                <a:rPr b="1" lang="en" sz="600">
                  <a:solidFill>
                    <a:schemeClr val="dk1"/>
                  </a:solidFill>
                </a:rPr>
                <a:t>n</a:t>
              </a:r>
              <a:r>
                <a:rPr b="1" lang="en">
                  <a:solidFill>
                    <a:srgbClr val="BCBD21"/>
                  </a:solidFill>
                </a:rPr>
                <a:t>x</a:t>
              </a:r>
              <a:r>
                <a:rPr b="1" lang="en" sz="600">
                  <a:solidFill>
                    <a:srgbClr val="BCBD21"/>
                  </a:solidFill>
                </a:rPr>
                <a:t>n</a:t>
              </a:r>
              <a:r>
                <a:rPr b="1" lang="en">
                  <a:solidFill>
                    <a:schemeClr val="dk1"/>
                  </a:solidFill>
                </a:rPr>
                <a:t>) </a:t>
              </a:r>
              <a:r>
                <a:rPr lang="en">
                  <a:solidFill>
                    <a:schemeClr val="dk2"/>
                  </a:solidFill>
                </a:rPr>
                <a:t>with the </a:t>
              </a:r>
              <a:r>
                <a:rPr lang="en">
                  <a:solidFill>
                    <a:srgbClr val="FF00FF"/>
                  </a:solidFill>
                </a:rPr>
                <a:t>unit-step </a:t>
              </a:r>
              <a:r>
                <a:rPr lang="en">
                  <a:solidFill>
                    <a:schemeClr val="dk2"/>
                  </a:solidFill>
                </a:rPr>
                <a:t>function </a:t>
              </a:r>
              <a:endParaRPr>
                <a:solidFill>
                  <a:schemeClr val="dk2"/>
                </a:solidFill>
              </a:endParaRPr>
            </a:p>
          </p:txBody>
        </p:sp>
        <p:pic>
          <p:nvPicPr>
            <p:cNvPr id="242" name="Google Shape;242;p29" title="Screenshot 2025-04-13 at 4.33.23 PM.png"/>
            <p:cNvPicPr preferRelativeResize="0"/>
            <p:nvPr/>
          </p:nvPicPr>
          <p:blipFill>
            <a:blip r:embed="rId5">
              <a:alphaModFix/>
            </a:blip>
            <a:stretch>
              <a:fillRect/>
            </a:stretch>
          </p:blipFill>
          <p:spPr>
            <a:xfrm>
              <a:off x="6894000" y="1143500"/>
              <a:ext cx="1488450" cy="574850"/>
            </a:xfrm>
            <a:prstGeom prst="rect">
              <a:avLst/>
            </a:prstGeom>
            <a:noFill/>
            <a:ln>
              <a:noFill/>
            </a:ln>
          </p:spPr>
        </p:pic>
      </p:grpSp>
      <p:sp>
        <p:nvSpPr>
          <p:cNvPr id="243" name="Google Shape;243;p29"/>
          <p:cNvSpPr txBox="1"/>
          <p:nvPr/>
        </p:nvSpPr>
        <p:spPr>
          <a:xfrm>
            <a:off x="435850" y="3922075"/>
            <a:ext cx="801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Usually the next step is to do gradient descent (taking derivatives) but that won’t work here. Why?</a:t>
            </a:r>
            <a:endParaRPr/>
          </a:p>
        </p:txBody>
      </p:sp>
      <p:sp>
        <p:nvSpPr>
          <p:cNvPr id="244" name="Google Shape;244;p29"/>
          <p:cNvSpPr txBox="1"/>
          <p:nvPr/>
        </p:nvSpPr>
        <p:spPr>
          <a:xfrm>
            <a:off x="435850" y="4246075"/>
            <a:ext cx="7946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Both </a:t>
            </a:r>
            <a:r>
              <a:rPr b="1" lang="en">
                <a:solidFill>
                  <a:schemeClr val="dk2"/>
                </a:solidFill>
              </a:rPr>
              <a:t>absolute value</a:t>
            </a:r>
            <a:r>
              <a:rPr lang="en">
                <a:solidFill>
                  <a:schemeClr val="dk2"/>
                </a:solidFill>
              </a:rPr>
              <a:t> and </a:t>
            </a:r>
            <a:r>
              <a:rPr b="1" lang="en">
                <a:solidFill>
                  <a:schemeClr val="dk2"/>
                </a:solidFill>
              </a:rPr>
              <a:t>unit-step</a:t>
            </a:r>
            <a:r>
              <a:rPr lang="en">
                <a:solidFill>
                  <a:schemeClr val="dk2"/>
                </a:solidFill>
              </a:rPr>
              <a:t> functions are non-differentiable for various reasons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0"/>
          <p:cNvSpPr/>
          <p:nvPr/>
        </p:nvSpPr>
        <p:spPr>
          <a:xfrm>
            <a:off x="4477875" y="1104425"/>
            <a:ext cx="4449900" cy="767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 name="Google Shape;250;p30"/>
          <p:cNvSpPr txBox="1"/>
          <p:nvPr/>
        </p:nvSpPr>
        <p:spPr>
          <a:xfrm>
            <a:off x="394900" y="827925"/>
            <a:ext cx="3800400" cy="3950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2"/>
                </a:solidFill>
                <a:latin typeface="Staatliches"/>
                <a:ea typeface="Staatliches"/>
                <a:cs typeface="Staatliches"/>
                <a:sym typeface="Staatliches"/>
              </a:rPr>
              <a:t>stochastic gradient descent </a:t>
            </a:r>
            <a:r>
              <a:rPr lang="en">
                <a:solidFill>
                  <a:schemeClr val="dk2"/>
                </a:solidFill>
              </a:rPr>
              <a:t>is the </a:t>
            </a:r>
            <a:r>
              <a:rPr lang="en">
                <a:solidFill>
                  <a:schemeClr val="dk2"/>
                </a:solidFill>
              </a:rPr>
              <a:t>optimization used to minimize the cost function in neural networks by </a:t>
            </a:r>
            <a:r>
              <a:rPr b="1" lang="en">
                <a:solidFill>
                  <a:schemeClr val="dk2"/>
                </a:solidFill>
              </a:rPr>
              <a:t>updating weights incrementally</a:t>
            </a:r>
            <a:r>
              <a:rPr lang="en">
                <a:solidFill>
                  <a:schemeClr val="dk2"/>
                </a:solidFill>
              </a:rPr>
              <a:t>, using one data point (or a small batch) at a time</a:t>
            </a:r>
            <a:endParaRPr>
              <a:solidFill>
                <a:schemeClr val="dk2"/>
              </a:solidFill>
            </a:endParaRPr>
          </a:p>
        </p:txBody>
      </p:sp>
      <p:sp>
        <p:nvSpPr>
          <p:cNvPr id="251" name="Google Shape;251;p30"/>
          <p:cNvSpPr txBox="1"/>
          <p:nvPr/>
        </p:nvSpPr>
        <p:spPr>
          <a:xfrm>
            <a:off x="493600" y="2282450"/>
            <a:ext cx="3536700" cy="2339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2"/>
              </a:buClr>
              <a:buSzPts val="1400"/>
              <a:buChar char="●"/>
            </a:pPr>
            <a:r>
              <a:rPr lang="en">
                <a:solidFill>
                  <a:schemeClr val="dk2"/>
                </a:solidFill>
              </a:rPr>
              <a:t>Initialize </a:t>
            </a:r>
            <a:r>
              <a:rPr lang="en">
                <a:solidFill>
                  <a:schemeClr val="dk2"/>
                </a:solidFill>
              </a:rPr>
              <a:t>𝑤</a:t>
            </a:r>
            <a:r>
              <a:rPr lang="en" sz="800">
                <a:solidFill>
                  <a:schemeClr val="dk2"/>
                </a:solidFill>
              </a:rPr>
              <a:t>i</a:t>
            </a:r>
            <a:r>
              <a:rPr lang="en">
                <a:solidFill>
                  <a:schemeClr val="dk2"/>
                </a:solidFill>
              </a:rPr>
              <a:t> and </a:t>
            </a:r>
            <a:r>
              <a:rPr i="1" lang="en">
                <a:solidFill>
                  <a:schemeClr val="dk2"/>
                </a:solidFill>
              </a:rPr>
              <a:t>b</a:t>
            </a:r>
            <a:r>
              <a:rPr lang="en">
                <a:solidFill>
                  <a:schemeClr val="dk2"/>
                </a:solidFill>
              </a:rPr>
              <a:t> </a:t>
            </a:r>
            <a:endParaRPr>
              <a:solidFill>
                <a:schemeClr val="dk2"/>
              </a:solidFill>
            </a:endParaRPr>
          </a:p>
          <a:p>
            <a:pPr indent="-317500" lvl="0" marL="457200" rtl="0" algn="l">
              <a:spcBef>
                <a:spcPts val="0"/>
              </a:spcBef>
              <a:spcAft>
                <a:spcPts val="0"/>
              </a:spcAft>
              <a:buClr>
                <a:schemeClr val="dk2"/>
              </a:buClr>
              <a:buSzPts val="1400"/>
              <a:buChar char="●"/>
            </a:pPr>
            <a:r>
              <a:rPr b="1" lang="en">
                <a:solidFill>
                  <a:schemeClr val="dk2"/>
                </a:solidFill>
              </a:rPr>
              <a:t>Repeat</a:t>
            </a:r>
            <a:r>
              <a:rPr lang="en">
                <a:solidFill>
                  <a:schemeClr val="dk2"/>
                </a:solidFill>
              </a:rPr>
              <a:t> the following </a:t>
            </a:r>
            <a:r>
              <a:rPr lang="en">
                <a:solidFill>
                  <a:schemeClr val="dk2"/>
                </a:solidFill>
              </a:rPr>
              <a:t>until</a:t>
            </a:r>
            <a:r>
              <a:rPr lang="en">
                <a:solidFill>
                  <a:schemeClr val="dk2"/>
                </a:solidFill>
              </a:rPr>
              <a:t> stable:</a:t>
            </a:r>
            <a:endParaRPr>
              <a:solidFill>
                <a:schemeClr val="dk2"/>
              </a:solidFill>
            </a:endParaRPr>
          </a:p>
          <a:p>
            <a:pPr indent="457200" lvl="0" marL="0" rtl="0" algn="l">
              <a:spcBef>
                <a:spcPts val="0"/>
              </a:spcBef>
              <a:spcAft>
                <a:spcPts val="0"/>
              </a:spcAft>
              <a:buNone/>
            </a:pPr>
            <a:r>
              <a:rPr lang="en">
                <a:solidFill>
                  <a:schemeClr val="dk2"/>
                </a:solidFill>
              </a:rPr>
              <a:t>1. </a:t>
            </a:r>
            <a:r>
              <a:rPr lang="en">
                <a:solidFill>
                  <a:schemeClr val="dk2"/>
                </a:solidFill>
              </a:rPr>
              <a:t>Pick one training example</a:t>
            </a:r>
            <a:r>
              <a:rPr lang="en">
                <a:solidFill>
                  <a:schemeClr val="dk2"/>
                </a:solidFill>
              </a:rPr>
              <a:t> </a:t>
            </a:r>
            <a:endParaRPr>
              <a:solidFill>
                <a:schemeClr val="dk2"/>
              </a:solidFill>
            </a:endParaRPr>
          </a:p>
          <a:p>
            <a:pPr indent="457200" lvl="0" marL="0" rtl="0" algn="l">
              <a:spcBef>
                <a:spcPts val="0"/>
              </a:spcBef>
              <a:spcAft>
                <a:spcPts val="0"/>
              </a:spcAft>
              <a:buNone/>
            </a:pPr>
            <a:r>
              <a:rPr b="1" lang="en">
                <a:solidFill>
                  <a:schemeClr val="dk2"/>
                </a:solidFill>
              </a:rPr>
              <a:t>(x</a:t>
            </a:r>
            <a:r>
              <a:rPr b="1" lang="en" sz="900">
                <a:solidFill>
                  <a:schemeClr val="dk2"/>
                </a:solidFill>
              </a:rPr>
              <a:t>1</a:t>
            </a:r>
            <a:r>
              <a:rPr b="1" lang="en">
                <a:solidFill>
                  <a:schemeClr val="dk2"/>
                </a:solidFill>
              </a:rPr>
              <a:t>,x</a:t>
            </a:r>
            <a:r>
              <a:rPr b="1" lang="en" sz="900">
                <a:solidFill>
                  <a:schemeClr val="dk2"/>
                </a:solidFill>
              </a:rPr>
              <a:t>2, </a:t>
            </a:r>
            <a:r>
              <a:rPr b="1" lang="en">
                <a:solidFill>
                  <a:schemeClr val="dk2"/>
                </a:solidFill>
              </a:rPr>
              <a:t>…, x</a:t>
            </a:r>
            <a:r>
              <a:rPr b="1" lang="en" sz="900">
                <a:solidFill>
                  <a:schemeClr val="dk2"/>
                </a:solidFill>
              </a:rPr>
              <a:t>n, </a:t>
            </a:r>
            <a:r>
              <a:rPr b="1" lang="en">
                <a:solidFill>
                  <a:schemeClr val="dk2"/>
                </a:solidFill>
              </a:rPr>
              <a:t>y)</a:t>
            </a:r>
            <a:endParaRPr b="1">
              <a:solidFill>
                <a:schemeClr val="dk2"/>
              </a:solidFill>
            </a:endParaRPr>
          </a:p>
          <a:p>
            <a:pPr indent="457200" lvl="0" marL="0" rtl="0" algn="l">
              <a:spcBef>
                <a:spcPts val="0"/>
              </a:spcBef>
              <a:spcAft>
                <a:spcPts val="0"/>
              </a:spcAft>
              <a:buNone/>
            </a:pPr>
            <a:r>
              <a:t/>
            </a:r>
            <a:endParaRPr b="1">
              <a:solidFill>
                <a:schemeClr val="dk2"/>
              </a:solidFill>
            </a:endParaRPr>
          </a:p>
          <a:p>
            <a:pPr indent="457200" lvl="0" marL="0" rtl="0" algn="l">
              <a:spcBef>
                <a:spcPts val="0"/>
              </a:spcBef>
              <a:spcAft>
                <a:spcPts val="0"/>
              </a:spcAft>
              <a:buNone/>
            </a:pPr>
            <a:r>
              <a:rPr lang="en">
                <a:solidFill>
                  <a:schemeClr val="dk2"/>
                </a:solidFill>
              </a:rPr>
              <a:t>2. </a:t>
            </a:r>
            <a:r>
              <a:rPr lang="en">
                <a:solidFill>
                  <a:schemeClr val="dk2"/>
                </a:solidFill>
              </a:rPr>
              <a:t>Compute the gradient of cost for </a:t>
            </a:r>
            <a:endParaRPr>
              <a:solidFill>
                <a:schemeClr val="dk2"/>
              </a:solidFill>
            </a:endParaRPr>
          </a:p>
          <a:p>
            <a:pPr indent="457200" lvl="0" marL="0" rtl="0" algn="l">
              <a:spcBef>
                <a:spcPts val="0"/>
              </a:spcBef>
              <a:spcAft>
                <a:spcPts val="0"/>
              </a:spcAft>
              <a:buNone/>
            </a:pPr>
            <a:r>
              <a:rPr lang="en">
                <a:solidFill>
                  <a:schemeClr val="dk2"/>
                </a:solidFill>
              </a:rPr>
              <a:t>that example</a:t>
            </a:r>
            <a:endParaRPr>
              <a:solidFill>
                <a:schemeClr val="dk2"/>
              </a:solidFill>
            </a:endParaRPr>
          </a:p>
          <a:p>
            <a:pPr indent="457200" lvl="0" marL="0" rtl="0" algn="l">
              <a:spcBef>
                <a:spcPts val="0"/>
              </a:spcBef>
              <a:spcAft>
                <a:spcPts val="0"/>
              </a:spcAft>
              <a:buNone/>
            </a:pPr>
            <a:r>
              <a:t/>
            </a:r>
            <a:endParaRPr>
              <a:solidFill>
                <a:schemeClr val="dk2"/>
              </a:solidFill>
            </a:endParaRPr>
          </a:p>
          <a:p>
            <a:pPr indent="457200" lvl="0" marL="0" rtl="0" algn="l">
              <a:spcBef>
                <a:spcPts val="0"/>
              </a:spcBef>
              <a:spcAft>
                <a:spcPts val="0"/>
              </a:spcAft>
              <a:buNone/>
            </a:pPr>
            <a:r>
              <a:rPr lang="en">
                <a:solidFill>
                  <a:schemeClr val="dk2"/>
                </a:solidFill>
              </a:rPr>
              <a:t>3. </a:t>
            </a:r>
            <a:r>
              <a:rPr lang="en">
                <a:solidFill>
                  <a:schemeClr val="dk2"/>
                </a:solidFill>
              </a:rPr>
              <a:t>Adjust </a:t>
            </a:r>
            <a:r>
              <a:rPr lang="en">
                <a:solidFill>
                  <a:schemeClr val="dk2"/>
                </a:solidFill>
              </a:rPr>
              <a:t>𝑤</a:t>
            </a:r>
            <a:r>
              <a:rPr lang="en" sz="800">
                <a:solidFill>
                  <a:schemeClr val="dk2"/>
                </a:solidFill>
              </a:rPr>
              <a:t>i</a:t>
            </a:r>
            <a:r>
              <a:rPr lang="en">
                <a:solidFill>
                  <a:schemeClr val="dk2"/>
                </a:solidFill>
              </a:rPr>
              <a:t> and </a:t>
            </a:r>
            <a:r>
              <a:rPr i="1" lang="en">
                <a:solidFill>
                  <a:schemeClr val="dk2"/>
                </a:solidFill>
              </a:rPr>
              <a:t>b</a:t>
            </a:r>
            <a:r>
              <a:rPr lang="en">
                <a:solidFill>
                  <a:schemeClr val="dk2"/>
                </a:solidFill>
              </a:rPr>
              <a:t> in direction of</a:t>
            </a:r>
            <a:endParaRPr>
              <a:solidFill>
                <a:schemeClr val="dk2"/>
              </a:solidFill>
            </a:endParaRPr>
          </a:p>
          <a:p>
            <a:pPr indent="457200" lvl="0" marL="0" rtl="0" algn="l">
              <a:spcBef>
                <a:spcPts val="0"/>
              </a:spcBef>
              <a:spcAft>
                <a:spcPts val="0"/>
              </a:spcAft>
              <a:buNone/>
            </a:pPr>
            <a:r>
              <a:rPr lang="en">
                <a:solidFill>
                  <a:schemeClr val="dk2"/>
                </a:solidFill>
              </a:rPr>
              <a:t> negative gradient</a:t>
            </a:r>
            <a:endParaRPr>
              <a:solidFill>
                <a:schemeClr val="dk2"/>
              </a:solidFill>
            </a:endParaRPr>
          </a:p>
        </p:txBody>
      </p:sp>
      <p:sp>
        <p:nvSpPr>
          <p:cNvPr id="252" name="Google Shape;252;p30"/>
          <p:cNvSpPr txBox="1"/>
          <p:nvPr/>
        </p:nvSpPr>
        <p:spPr>
          <a:xfrm>
            <a:off x="5448525" y="656550"/>
            <a:ext cx="25086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2"/>
                </a:solidFill>
                <a:latin typeface="Staatliches"/>
                <a:ea typeface="Staatliches"/>
                <a:cs typeface="Staatliches"/>
                <a:sym typeface="Staatliches"/>
              </a:rPr>
              <a:t>training a perceptron</a:t>
            </a:r>
            <a:r>
              <a:rPr lang="en" sz="2100">
                <a:solidFill>
                  <a:schemeClr val="dk2"/>
                </a:solidFill>
                <a:latin typeface="Staatliches"/>
                <a:ea typeface="Staatliches"/>
                <a:cs typeface="Staatliches"/>
                <a:sym typeface="Staatliches"/>
              </a:rPr>
              <a:t> </a:t>
            </a:r>
            <a:endParaRPr>
              <a:solidFill>
                <a:schemeClr val="dk2"/>
              </a:solidFill>
            </a:endParaRPr>
          </a:p>
        </p:txBody>
      </p:sp>
      <p:sp>
        <p:nvSpPr>
          <p:cNvPr id="253" name="Google Shape;253;p30"/>
          <p:cNvSpPr txBox="1"/>
          <p:nvPr/>
        </p:nvSpPr>
        <p:spPr>
          <a:xfrm>
            <a:off x="4934475" y="2179600"/>
            <a:ext cx="3536700" cy="2339700"/>
          </a:xfrm>
          <a:prstGeom prst="rect">
            <a:avLst/>
          </a:prstGeom>
          <a:solidFill>
            <a:schemeClr val="lt2"/>
          </a:solid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2"/>
              </a:buClr>
              <a:buSzPts val="1400"/>
              <a:buChar char="●"/>
            </a:pPr>
            <a:r>
              <a:rPr lang="en">
                <a:solidFill>
                  <a:schemeClr val="dk2"/>
                </a:solidFill>
              </a:rPr>
              <a:t>Initialize 𝑤</a:t>
            </a:r>
            <a:r>
              <a:rPr lang="en" sz="800">
                <a:solidFill>
                  <a:schemeClr val="dk2"/>
                </a:solidFill>
              </a:rPr>
              <a:t>1</a:t>
            </a:r>
            <a:r>
              <a:rPr lang="en">
                <a:solidFill>
                  <a:schemeClr val="dk2"/>
                </a:solidFill>
              </a:rPr>
              <a:t> and </a:t>
            </a:r>
            <a:r>
              <a:rPr i="1" lang="en">
                <a:solidFill>
                  <a:schemeClr val="dk2"/>
                </a:solidFill>
                <a:latin typeface="Times New Roman"/>
                <a:ea typeface="Times New Roman"/>
                <a:cs typeface="Times New Roman"/>
                <a:sym typeface="Times New Roman"/>
              </a:rPr>
              <a:t>b</a:t>
            </a:r>
            <a:r>
              <a:rPr lang="en">
                <a:solidFill>
                  <a:schemeClr val="dk2"/>
                </a:solidFill>
              </a:rPr>
              <a:t> </a:t>
            </a:r>
            <a:endParaRPr>
              <a:solidFill>
                <a:schemeClr val="dk2"/>
              </a:solidFill>
            </a:endParaRPr>
          </a:p>
          <a:p>
            <a:pPr indent="-317500" lvl="0" marL="457200" rtl="0" algn="l">
              <a:spcBef>
                <a:spcPts val="0"/>
              </a:spcBef>
              <a:spcAft>
                <a:spcPts val="0"/>
              </a:spcAft>
              <a:buClr>
                <a:schemeClr val="dk2"/>
              </a:buClr>
              <a:buSzPts val="1400"/>
              <a:buChar char="●"/>
            </a:pPr>
            <a:r>
              <a:rPr b="1" lang="en">
                <a:solidFill>
                  <a:schemeClr val="dk2"/>
                </a:solidFill>
              </a:rPr>
              <a:t>Repeat</a:t>
            </a:r>
            <a:r>
              <a:rPr lang="en">
                <a:solidFill>
                  <a:schemeClr val="dk2"/>
                </a:solidFill>
              </a:rPr>
              <a:t> the following until stable:</a:t>
            </a:r>
            <a:endParaRPr>
              <a:solidFill>
                <a:schemeClr val="dk2"/>
              </a:solidFill>
            </a:endParaRPr>
          </a:p>
          <a:p>
            <a:pPr indent="457200" lvl="0" marL="0" rtl="0" algn="l">
              <a:spcBef>
                <a:spcPts val="0"/>
              </a:spcBef>
              <a:spcAft>
                <a:spcPts val="0"/>
              </a:spcAft>
              <a:buNone/>
            </a:pPr>
            <a:r>
              <a:rPr lang="en">
                <a:solidFill>
                  <a:schemeClr val="dk2"/>
                </a:solidFill>
              </a:rPr>
              <a:t>1. Pick one training example </a:t>
            </a:r>
            <a:endParaRPr>
              <a:solidFill>
                <a:schemeClr val="dk2"/>
              </a:solidFill>
            </a:endParaRPr>
          </a:p>
          <a:p>
            <a:pPr indent="457200" lvl="0" marL="0" rtl="0" algn="l">
              <a:spcBef>
                <a:spcPts val="0"/>
              </a:spcBef>
              <a:spcAft>
                <a:spcPts val="0"/>
              </a:spcAft>
              <a:buNone/>
            </a:pPr>
            <a:r>
              <a:rPr b="1" lang="en">
                <a:solidFill>
                  <a:schemeClr val="dk2"/>
                </a:solidFill>
              </a:rPr>
              <a:t>(</a:t>
            </a:r>
            <a:r>
              <a:rPr b="1" lang="en">
                <a:solidFill>
                  <a:srgbClr val="BCBD21"/>
                </a:solidFill>
              </a:rPr>
              <a:t>x</a:t>
            </a:r>
            <a:r>
              <a:rPr b="1" lang="en" sz="900">
                <a:solidFill>
                  <a:srgbClr val="BCBD21"/>
                </a:solidFill>
              </a:rPr>
              <a:t>1</a:t>
            </a:r>
            <a:r>
              <a:rPr b="1" lang="en">
                <a:solidFill>
                  <a:schemeClr val="dk2"/>
                </a:solidFill>
              </a:rPr>
              <a:t>,</a:t>
            </a:r>
            <a:r>
              <a:rPr b="1" lang="en">
                <a:solidFill>
                  <a:srgbClr val="BCBD21"/>
                </a:solidFill>
              </a:rPr>
              <a:t>x</a:t>
            </a:r>
            <a:r>
              <a:rPr b="1" lang="en" sz="900">
                <a:solidFill>
                  <a:srgbClr val="BCBD21"/>
                </a:solidFill>
              </a:rPr>
              <a:t>2</a:t>
            </a:r>
            <a:r>
              <a:rPr b="1" lang="en" sz="900">
                <a:solidFill>
                  <a:schemeClr val="dk2"/>
                </a:solidFill>
              </a:rPr>
              <a:t>, </a:t>
            </a:r>
            <a:r>
              <a:rPr b="1" lang="en">
                <a:solidFill>
                  <a:schemeClr val="dk2"/>
                </a:solidFill>
              </a:rPr>
              <a:t>…, </a:t>
            </a:r>
            <a:r>
              <a:rPr b="1" lang="en">
                <a:solidFill>
                  <a:srgbClr val="BCBD21"/>
                </a:solidFill>
              </a:rPr>
              <a:t>x</a:t>
            </a:r>
            <a:r>
              <a:rPr b="1" lang="en" sz="900">
                <a:solidFill>
                  <a:srgbClr val="BCBD21"/>
                </a:solidFill>
              </a:rPr>
              <a:t>n</a:t>
            </a:r>
            <a:r>
              <a:rPr b="1" lang="en" sz="900">
                <a:solidFill>
                  <a:schemeClr val="dk2"/>
                </a:solidFill>
              </a:rPr>
              <a:t>, </a:t>
            </a:r>
            <a:r>
              <a:rPr b="1" lang="en">
                <a:solidFill>
                  <a:schemeClr val="dk2"/>
                </a:solidFill>
              </a:rPr>
              <a:t>y)</a:t>
            </a:r>
            <a:endParaRPr b="1">
              <a:solidFill>
                <a:schemeClr val="dk2"/>
              </a:solidFill>
            </a:endParaRPr>
          </a:p>
          <a:p>
            <a:pPr indent="457200" lvl="0" marL="0" rtl="0" algn="l">
              <a:spcBef>
                <a:spcPts val="0"/>
              </a:spcBef>
              <a:spcAft>
                <a:spcPts val="0"/>
              </a:spcAft>
              <a:buNone/>
            </a:pPr>
            <a:r>
              <a:t/>
            </a:r>
            <a:endParaRPr b="1">
              <a:solidFill>
                <a:schemeClr val="dk2"/>
              </a:solidFill>
            </a:endParaRPr>
          </a:p>
          <a:p>
            <a:pPr indent="457200" lvl="0" marL="0" rtl="0" algn="l">
              <a:spcBef>
                <a:spcPts val="0"/>
              </a:spcBef>
              <a:spcAft>
                <a:spcPts val="0"/>
              </a:spcAft>
              <a:buNone/>
            </a:pPr>
            <a:r>
              <a:rPr lang="en">
                <a:solidFill>
                  <a:schemeClr val="dk2"/>
                </a:solidFill>
              </a:rPr>
              <a:t>2. Compute </a:t>
            </a:r>
            <a:r>
              <a:rPr lang="en">
                <a:solidFill>
                  <a:srgbClr val="949AF8"/>
                </a:solidFill>
              </a:rPr>
              <a:t>ŷ</a:t>
            </a:r>
            <a:r>
              <a:rPr lang="en">
                <a:solidFill>
                  <a:schemeClr val="dk2"/>
                </a:solidFill>
              </a:rPr>
              <a:t>. </a:t>
            </a:r>
            <a:r>
              <a:rPr lang="en">
                <a:solidFill>
                  <a:schemeClr val="dk1"/>
                </a:solidFill>
              </a:rPr>
              <a:t> </a:t>
            </a:r>
            <a:r>
              <a:rPr lang="en">
                <a:solidFill>
                  <a:schemeClr val="dk2"/>
                </a:solidFill>
              </a:rPr>
              <a:t>If </a:t>
            </a:r>
            <a:r>
              <a:rPr lang="en">
                <a:solidFill>
                  <a:srgbClr val="949AF8"/>
                </a:solidFill>
              </a:rPr>
              <a:t>ŷ</a:t>
            </a:r>
            <a:r>
              <a:rPr lang="en">
                <a:solidFill>
                  <a:schemeClr val="dk2"/>
                </a:solidFill>
              </a:rPr>
              <a:t> = y, continue.  </a:t>
            </a:r>
            <a:endParaRPr>
              <a:solidFill>
                <a:schemeClr val="dk2"/>
              </a:solidFill>
            </a:endParaRPr>
          </a:p>
          <a:p>
            <a:pPr indent="457200" lvl="0" marL="0" rtl="0" algn="l">
              <a:spcBef>
                <a:spcPts val="0"/>
              </a:spcBef>
              <a:spcAft>
                <a:spcPts val="0"/>
              </a:spcAft>
              <a:buNone/>
            </a:pPr>
            <a:r>
              <a:t/>
            </a:r>
            <a:endParaRPr>
              <a:solidFill>
                <a:schemeClr val="dk2"/>
              </a:solidFill>
            </a:endParaRPr>
          </a:p>
          <a:p>
            <a:pPr indent="457200" lvl="0" marL="0" rtl="0" algn="l">
              <a:spcBef>
                <a:spcPts val="0"/>
              </a:spcBef>
              <a:spcAft>
                <a:spcPts val="0"/>
              </a:spcAft>
              <a:buNone/>
            </a:pPr>
            <a:r>
              <a:rPr lang="en">
                <a:solidFill>
                  <a:schemeClr val="dk2"/>
                </a:solidFill>
              </a:rPr>
              <a:t>3. If </a:t>
            </a:r>
            <a:r>
              <a:rPr b="1" lang="en">
                <a:solidFill>
                  <a:srgbClr val="949AF8"/>
                </a:solidFill>
              </a:rPr>
              <a:t>ŷ </a:t>
            </a:r>
            <a:r>
              <a:rPr lang="en">
                <a:solidFill>
                  <a:schemeClr val="dk2"/>
                </a:solidFill>
              </a:rPr>
              <a:t>≠ y</a:t>
            </a:r>
            <a:r>
              <a:rPr lang="en">
                <a:solidFill>
                  <a:schemeClr val="dk2"/>
                </a:solidFill>
              </a:rPr>
              <a:t>, update: </a:t>
            </a:r>
            <a:endParaRPr>
              <a:solidFill>
                <a:schemeClr val="dk2"/>
              </a:solidFill>
            </a:endParaRPr>
          </a:p>
          <a:p>
            <a:pPr indent="457200" lvl="0" marL="0" rtl="0" algn="l">
              <a:spcBef>
                <a:spcPts val="0"/>
              </a:spcBef>
              <a:spcAft>
                <a:spcPts val="0"/>
              </a:spcAft>
              <a:buNone/>
            </a:pPr>
            <a:r>
              <a:rPr lang="en">
                <a:solidFill>
                  <a:schemeClr val="dk2"/>
                </a:solidFill>
              </a:rPr>
              <a:t>𝑤</a:t>
            </a:r>
            <a:r>
              <a:rPr lang="en" sz="800">
                <a:solidFill>
                  <a:schemeClr val="dk2"/>
                </a:solidFill>
              </a:rPr>
              <a:t>i</a:t>
            </a:r>
            <a:r>
              <a:rPr lang="en">
                <a:solidFill>
                  <a:schemeClr val="dk2"/>
                </a:solidFill>
              </a:rPr>
              <a:t> ← </a:t>
            </a:r>
            <a:r>
              <a:rPr lang="en">
                <a:solidFill>
                  <a:schemeClr val="dk2"/>
                </a:solidFill>
              </a:rPr>
              <a:t>𝑤</a:t>
            </a:r>
            <a:r>
              <a:rPr lang="en" sz="800">
                <a:solidFill>
                  <a:schemeClr val="dk2"/>
                </a:solidFill>
              </a:rPr>
              <a:t>i</a:t>
            </a:r>
            <a:r>
              <a:rPr lang="en">
                <a:solidFill>
                  <a:schemeClr val="dk2"/>
                </a:solidFill>
              </a:rPr>
              <a:t> + </a:t>
            </a:r>
            <a:r>
              <a:rPr lang="en">
                <a:solidFill>
                  <a:schemeClr val="dk1"/>
                </a:solidFill>
                <a:latin typeface="Pacifico"/>
                <a:ea typeface="Pacifico"/>
                <a:cs typeface="Pacifico"/>
                <a:sym typeface="Pacifico"/>
              </a:rPr>
              <a:t>l </a:t>
            </a:r>
            <a:r>
              <a:rPr lang="en">
                <a:solidFill>
                  <a:schemeClr val="dk2"/>
                </a:solidFill>
              </a:rPr>
              <a:t>(</a:t>
            </a:r>
            <a:r>
              <a:rPr lang="en">
                <a:solidFill>
                  <a:schemeClr val="dk2"/>
                </a:solidFill>
              </a:rPr>
              <a:t>y - </a:t>
            </a:r>
            <a:r>
              <a:rPr lang="en">
                <a:solidFill>
                  <a:srgbClr val="949AF8"/>
                </a:solidFill>
              </a:rPr>
              <a:t>ŷ</a:t>
            </a:r>
            <a:r>
              <a:rPr lang="en">
                <a:solidFill>
                  <a:schemeClr val="dk2"/>
                </a:solidFill>
              </a:rPr>
              <a:t>)</a:t>
            </a:r>
            <a:r>
              <a:rPr b="1" lang="en">
                <a:solidFill>
                  <a:srgbClr val="BCBD21"/>
                </a:solidFill>
              </a:rPr>
              <a:t>x</a:t>
            </a:r>
            <a:r>
              <a:rPr b="1" lang="en" sz="900">
                <a:solidFill>
                  <a:srgbClr val="BCBD21"/>
                </a:solidFill>
              </a:rPr>
              <a:t>i</a:t>
            </a:r>
            <a:endParaRPr b="1" sz="900">
              <a:solidFill>
                <a:srgbClr val="BCBD21"/>
              </a:solidFill>
            </a:endParaRPr>
          </a:p>
          <a:p>
            <a:pPr indent="457200" lvl="0" marL="0" rtl="0" algn="l">
              <a:spcBef>
                <a:spcPts val="0"/>
              </a:spcBef>
              <a:spcAft>
                <a:spcPts val="0"/>
              </a:spcAft>
              <a:buClr>
                <a:schemeClr val="dk1"/>
              </a:buClr>
              <a:buSzPts val="1100"/>
              <a:buFont typeface="Arial"/>
              <a:buNone/>
            </a:pPr>
            <a:r>
              <a:rPr i="1" lang="en">
                <a:solidFill>
                  <a:schemeClr val="dk2"/>
                </a:solidFill>
                <a:latin typeface="Times New Roman"/>
                <a:ea typeface="Times New Roman"/>
                <a:cs typeface="Times New Roman"/>
                <a:sym typeface="Times New Roman"/>
              </a:rPr>
              <a:t>b</a:t>
            </a:r>
            <a:r>
              <a:rPr lang="en">
                <a:solidFill>
                  <a:schemeClr val="dk2"/>
                </a:solidFill>
              </a:rPr>
              <a:t> ← </a:t>
            </a:r>
            <a:r>
              <a:rPr i="1" lang="en">
                <a:solidFill>
                  <a:schemeClr val="dk2"/>
                </a:solidFill>
                <a:latin typeface="Times New Roman"/>
                <a:ea typeface="Times New Roman"/>
                <a:cs typeface="Times New Roman"/>
                <a:sym typeface="Times New Roman"/>
              </a:rPr>
              <a:t>b</a:t>
            </a:r>
            <a:r>
              <a:rPr lang="en">
                <a:solidFill>
                  <a:schemeClr val="dk2"/>
                </a:solidFill>
              </a:rPr>
              <a:t> + </a:t>
            </a:r>
            <a:r>
              <a:rPr lang="en">
                <a:solidFill>
                  <a:schemeClr val="dk1"/>
                </a:solidFill>
                <a:latin typeface="Pacifico"/>
                <a:ea typeface="Pacifico"/>
                <a:cs typeface="Pacifico"/>
                <a:sym typeface="Pacifico"/>
              </a:rPr>
              <a:t>l </a:t>
            </a:r>
            <a:r>
              <a:rPr lang="en">
                <a:solidFill>
                  <a:schemeClr val="dk2"/>
                </a:solidFill>
              </a:rPr>
              <a:t>(y - </a:t>
            </a:r>
            <a:r>
              <a:rPr lang="en">
                <a:solidFill>
                  <a:srgbClr val="949AF8"/>
                </a:solidFill>
              </a:rPr>
              <a:t>ŷ</a:t>
            </a:r>
            <a:r>
              <a:rPr lang="en">
                <a:solidFill>
                  <a:schemeClr val="dk2"/>
                </a:solidFill>
              </a:rPr>
              <a:t>)</a:t>
            </a:r>
            <a:endParaRPr b="1" sz="900">
              <a:solidFill>
                <a:srgbClr val="BCBD21"/>
              </a:solidFill>
            </a:endParaRPr>
          </a:p>
        </p:txBody>
      </p:sp>
      <p:sp>
        <p:nvSpPr>
          <p:cNvPr id="254" name="Google Shape;254;p30"/>
          <p:cNvSpPr txBox="1"/>
          <p:nvPr/>
        </p:nvSpPr>
        <p:spPr>
          <a:xfrm>
            <a:off x="4471650" y="11603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49AF8"/>
                </a:solidFill>
              </a:rPr>
              <a:t>ŷ</a:t>
            </a:r>
            <a:r>
              <a:rPr lang="en">
                <a:solidFill>
                  <a:schemeClr val="dk1"/>
                </a:solidFill>
              </a:rPr>
              <a:t> = </a:t>
            </a:r>
            <a:r>
              <a:rPr i="1" lang="en">
                <a:solidFill>
                  <a:srgbClr val="FF00FF"/>
                </a:solidFill>
                <a:latin typeface="Times New Roman"/>
                <a:ea typeface="Times New Roman"/>
                <a:cs typeface="Times New Roman"/>
                <a:sym typeface="Times New Roman"/>
              </a:rPr>
              <a:t>f</a:t>
            </a:r>
            <a:r>
              <a:rPr lang="en">
                <a:solidFill>
                  <a:srgbClr val="FF00FF"/>
                </a:solidFill>
                <a:latin typeface="Times New Roman"/>
                <a:ea typeface="Times New Roman"/>
                <a:cs typeface="Times New Roman"/>
                <a:sym typeface="Times New Roman"/>
              </a:rPr>
              <a:t> </a:t>
            </a:r>
            <a:r>
              <a:rPr lang="en">
                <a:solidFill>
                  <a:schemeClr val="dk1"/>
                </a:solidFill>
              </a:rPr>
              <a:t>(</a:t>
            </a:r>
            <a:r>
              <a:rPr i="1" lang="en">
                <a:solidFill>
                  <a:schemeClr val="dk1"/>
                </a:solidFill>
              </a:rPr>
              <a:t>b</a:t>
            </a:r>
            <a:r>
              <a:rPr lang="en">
                <a:solidFill>
                  <a:schemeClr val="dk1"/>
                </a:solidFill>
              </a:rPr>
              <a:t> + 𝑤</a:t>
            </a:r>
            <a:r>
              <a:rPr lang="en" sz="600">
                <a:solidFill>
                  <a:schemeClr val="dk1"/>
                </a:solidFill>
              </a:rPr>
              <a:t>1</a:t>
            </a:r>
            <a:r>
              <a:rPr lang="en">
                <a:solidFill>
                  <a:srgbClr val="BCBD21"/>
                </a:solidFill>
              </a:rPr>
              <a:t>x</a:t>
            </a:r>
            <a:r>
              <a:rPr lang="en" sz="600">
                <a:solidFill>
                  <a:srgbClr val="BCBD21"/>
                </a:solidFill>
              </a:rPr>
              <a:t>1</a:t>
            </a:r>
            <a:r>
              <a:rPr lang="en">
                <a:solidFill>
                  <a:schemeClr val="dk2"/>
                </a:solidFill>
              </a:rPr>
              <a:t> + </a:t>
            </a:r>
            <a:r>
              <a:rPr lang="en">
                <a:solidFill>
                  <a:schemeClr val="dk1"/>
                </a:solidFill>
              </a:rPr>
              <a:t>𝑤</a:t>
            </a:r>
            <a:r>
              <a:rPr lang="en" sz="600">
                <a:solidFill>
                  <a:schemeClr val="dk1"/>
                </a:solidFill>
              </a:rPr>
              <a:t>2</a:t>
            </a:r>
            <a:r>
              <a:rPr lang="en">
                <a:solidFill>
                  <a:srgbClr val="BCBD21"/>
                </a:solidFill>
              </a:rPr>
              <a:t>x</a:t>
            </a:r>
            <a:r>
              <a:rPr lang="en" sz="600">
                <a:solidFill>
                  <a:srgbClr val="BCBD21"/>
                </a:solidFill>
              </a:rPr>
              <a:t>2</a:t>
            </a:r>
            <a:r>
              <a:rPr lang="en">
                <a:solidFill>
                  <a:schemeClr val="dk1"/>
                </a:solidFill>
              </a:rPr>
              <a:t> + … + 𝑤</a:t>
            </a:r>
            <a:r>
              <a:rPr lang="en" sz="600">
                <a:solidFill>
                  <a:schemeClr val="dk1"/>
                </a:solidFill>
              </a:rPr>
              <a:t>n</a:t>
            </a:r>
            <a:r>
              <a:rPr lang="en">
                <a:solidFill>
                  <a:srgbClr val="BCBD21"/>
                </a:solidFill>
              </a:rPr>
              <a:t>x</a:t>
            </a:r>
            <a:r>
              <a:rPr lang="en" sz="600">
                <a:solidFill>
                  <a:srgbClr val="BCBD21"/>
                </a:solidFill>
              </a:rPr>
              <a:t>n</a:t>
            </a:r>
            <a:r>
              <a:rPr lang="en">
                <a:solidFill>
                  <a:schemeClr val="dk1"/>
                </a:solidFill>
              </a:rPr>
              <a:t>)</a:t>
            </a:r>
            <a:endParaRPr/>
          </a:p>
        </p:txBody>
      </p:sp>
      <p:pic>
        <p:nvPicPr>
          <p:cNvPr id="255" name="Google Shape;255;p30" title="Screenshot 2025-04-13 at 4.33.23 PM.png"/>
          <p:cNvPicPr preferRelativeResize="0"/>
          <p:nvPr/>
        </p:nvPicPr>
        <p:blipFill>
          <a:blip r:embed="rId3">
            <a:alphaModFix/>
          </a:blip>
          <a:stretch>
            <a:fillRect/>
          </a:stretch>
        </p:blipFill>
        <p:spPr>
          <a:xfrm>
            <a:off x="7405900" y="1149200"/>
            <a:ext cx="1488450" cy="574850"/>
          </a:xfrm>
          <a:prstGeom prst="rect">
            <a:avLst/>
          </a:prstGeom>
          <a:noFill/>
          <a:ln>
            <a:noFill/>
          </a:ln>
        </p:spPr>
      </p:pic>
      <p:sp>
        <p:nvSpPr>
          <p:cNvPr id="256" name="Google Shape;256;p30"/>
          <p:cNvSpPr txBox="1"/>
          <p:nvPr/>
        </p:nvSpPr>
        <p:spPr>
          <a:xfrm>
            <a:off x="4471650" y="14719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learning rate: </a:t>
            </a:r>
            <a:r>
              <a:rPr lang="en">
                <a:solidFill>
                  <a:schemeClr val="dk1"/>
                </a:solidFill>
                <a:latin typeface="Pacifico"/>
                <a:ea typeface="Pacifico"/>
                <a:cs typeface="Pacifico"/>
                <a:sym typeface="Pacifico"/>
              </a:rPr>
              <a:t>l</a:t>
            </a:r>
            <a:r>
              <a:rPr lang="en">
                <a:solidFill>
                  <a:schemeClr val="dk1"/>
                </a:solidFill>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1"/>
          <p:cNvSpPr txBox="1"/>
          <p:nvPr>
            <p:ph type="title"/>
          </p:nvPr>
        </p:nvSpPr>
        <p:spPr>
          <a:xfrm>
            <a:off x="311700" y="445025"/>
            <a:ext cx="8520600" cy="864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400"/>
              <a:t>An </a:t>
            </a:r>
            <a:r>
              <a:rPr lang="en" sz="2144">
                <a:latin typeface="Staatliches"/>
                <a:ea typeface="Staatliches"/>
                <a:cs typeface="Staatliches"/>
                <a:sym typeface="Staatliches"/>
              </a:rPr>
              <a:t>activation function</a:t>
            </a:r>
            <a:r>
              <a:rPr lang="en" sz="1400"/>
              <a:t> transforms the linear combination </a:t>
            </a:r>
            <a:r>
              <a:rPr b="1" lang="en" sz="1400">
                <a:solidFill>
                  <a:srgbClr val="1B91CA"/>
                </a:solidFill>
              </a:rPr>
              <a:t>z </a:t>
            </a:r>
            <a:r>
              <a:rPr lang="en" sz="1400"/>
              <a:t>= </a:t>
            </a:r>
            <a:r>
              <a:rPr b="1" lang="en" sz="1400"/>
              <a:t>β</a:t>
            </a:r>
            <a:r>
              <a:rPr b="1" lang="en" sz="600"/>
              <a:t>0</a:t>
            </a:r>
            <a:r>
              <a:rPr b="1" lang="en" sz="1400"/>
              <a:t> + β</a:t>
            </a:r>
            <a:r>
              <a:rPr b="1" lang="en" sz="600"/>
              <a:t>1</a:t>
            </a:r>
            <a:r>
              <a:rPr b="1" lang="en" sz="1400">
                <a:solidFill>
                  <a:srgbClr val="BCBD21"/>
                </a:solidFill>
              </a:rPr>
              <a:t>x</a:t>
            </a:r>
            <a:r>
              <a:rPr b="1" lang="en" sz="600">
                <a:solidFill>
                  <a:srgbClr val="BCBD21"/>
                </a:solidFill>
              </a:rPr>
              <a:t>1</a:t>
            </a:r>
            <a:r>
              <a:rPr b="1" lang="en" sz="1400">
                <a:solidFill>
                  <a:schemeClr val="dk2"/>
                </a:solidFill>
              </a:rPr>
              <a:t> + </a:t>
            </a:r>
            <a:r>
              <a:rPr b="1" lang="en" sz="1400"/>
              <a:t>β</a:t>
            </a:r>
            <a:r>
              <a:rPr b="1" lang="en" sz="600"/>
              <a:t>2</a:t>
            </a:r>
            <a:r>
              <a:rPr b="1" lang="en" sz="1400">
                <a:solidFill>
                  <a:srgbClr val="BCBD21"/>
                </a:solidFill>
              </a:rPr>
              <a:t>x</a:t>
            </a:r>
            <a:r>
              <a:rPr b="1" lang="en" sz="600">
                <a:solidFill>
                  <a:srgbClr val="BCBD21"/>
                </a:solidFill>
              </a:rPr>
              <a:t>2</a:t>
            </a:r>
            <a:r>
              <a:rPr b="1" lang="en" sz="1400"/>
              <a:t> + … + β</a:t>
            </a:r>
            <a:r>
              <a:rPr b="1" lang="en" sz="600"/>
              <a:t>n</a:t>
            </a:r>
            <a:r>
              <a:rPr b="1" lang="en" sz="1400">
                <a:solidFill>
                  <a:srgbClr val="BCBD21"/>
                </a:solidFill>
              </a:rPr>
              <a:t>x</a:t>
            </a:r>
            <a:r>
              <a:rPr b="1" lang="en" sz="600">
                <a:solidFill>
                  <a:srgbClr val="BCBD21"/>
                </a:solidFill>
              </a:rPr>
              <a:t>n</a:t>
            </a:r>
            <a:r>
              <a:rPr lang="en" sz="1400"/>
              <a:t> into a neuron’s final output. This non-linear transformation </a:t>
            </a:r>
            <a:r>
              <a:rPr b="1" lang="en" sz="1400">
                <a:solidFill>
                  <a:srgbClr val="FF00FF"/>
                </a:solidFill>
              </a:rPr>
              <a:t>f</a:t>
            </a:r>
            <a:r>
              <a:rPr b="1" lang="en" sz="1400"/>
              <a:t>(</a:t>
            </a:r>
            <a:r>
              <a:rPr b="1" lang="en" sz="1400">
                <a:solidFill>
                  <a:srgbClr val="1B91CA"/>
                </a:solidFill>
              </a:rPr>
              <a:t>z</a:t>
            </a:r>
            <a:r>
              <a:rPr b="1" lang="en" sz="1400"/>
              <a:t>) </a:t>
            </a:r>
            <a:r>
              <a:rPr lang="en" sz="1400"/>
              <a:t>allows neural networks to model complex, non-linear relationships. Different activation functions </a:t>
            </a:r>
            <a:r>
              <a:rPr b="1" lang="en" sz="1400">
                <a:solidFill>
                  <a:srgbClr val="FF00FF"/>
                </a:solidFill>
              </a:rPr>
              <a:t>f</a:t>
            </a:r>
            <a:r>
              <a:rPr lang="en" sz="1400"/>
              <a:t> can be used depending on the task and layer type.</a:t>
            </a:r>
            <a:endParaRPr sz="1400">
              <a:solidFill>
                <a:schemeClr val="dk2"/>
              </a:solidFill>
            </a:endParaRPr>
          </a:p>
        </p:txBody>
      </p:sp>
      <p:grpSp>
        <p:nvGrpSpPr>
          <p:cNvPr id="262" name="Google Shape;262;p31"/>
          <p:cNvGrpSpPr/>
          <p:nvPr/>
        </p:nvGrpSpPr>
        <p:grpSpPr>
          <a:xfrm>
            <a:off x="1302150" y="1279050"/>
            <a:ext cx="2092950" cy="3701050"/>
            <a:chOff x="1302150" y="1279050"/>
            <a:chExt cx="2092950" cy="3701050"/>
          </a:xfrm>
        </p:grpSpPr>
        <p:sp>
          <p:nvSpPr>
            <p:cNvPr id="263" name="Google Shape;263;p31"/>
            <p:cNvSpPr/>
            <p:nvPr/>
          </p:nvSpPr>
          <p:spPr>
            <a:xfrm>
              <a:off x="1302150" y="1339000"/>
              <a:ext cx="2092800" cy="3641100"/>
            </a:xfrm>
            <a:prstGeom prst="rect">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4" name="Google Shape;264;p31" title="Screenshot 2025-04-13 at 4.33.23 PM.png"/>
            <p:cNvPicPr preferRelativeResize="0"/>
            <p:nvPr/>
          </p:nvPicPr>
          <p:blipFill>
            <a:blip r:embed="rId3">
              <a:alphaModFix/>
            </a:blip>
            <a:stretch>
              <a:fillRect/>
            </a:stretch>
          </p:blipFill>
          <p:spPr>
            <a:xfrm>
              <a:off x="1637575" y="1632325"/>
              <a:ext cx="1488450" cy="574850"/>
            </a:xfrm>
            <a:prstGeom prst="rect">
              <a:avLst/>
            </a:prstGeom>
            <a:noFill/>
            <a:ln>
              <a:noFill/>
            </a:ln>
          </p:spPr>
        </p:pic>
        <p:sp>
          <p:nvSpPr>
            <p:cNvPr id="265" name="Google Shape;265;p31"/>
            <p:cNvSpPr txBox="1"/>
            <p:nvPr/>
          </p:nvSpPr>
          <p:spPr>
            <a:xfrm>
              <a:off x="1302300" y="1279050"/>
              <a:ext cx="2092800" cy="514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44">
                  <a:solidFill>
                    <a:schemeClr val="dk1"/>
                  </a:solidFill>
                  <a:latin typeface="Staatliches"/>
                  <a:ea typeface="Staatliches"/>
                  <a:cs typeface="Staatliches"/>
                  <a:sym typeface="Staatliches"/>
                </a:rPr>
                <a:t>unit-step</a:t>
              </a:r>
              <a:endParaRPr/>
            </a:p>
          </p:txBody>
        </p:sp>
        <p:sp>
          <p:nvSpPr>
            <p:cNvPr id="266" name="Google Shape;266;p31"/>
            <p:cNvSpPr txBox="1"/>
            <p:nvPr/>
          </p:nvSpPr>
          <p:spPr>
            <a:xfrm>
              <a:off x="1302300" y="3189450"/>
              <a:ext cx="2092800" cy="853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44">
                  <a:solidFill>
                    <a:schemeClr val="dk1"/>
                  </a:solidFill>
                  <a:latin typeface="Staatliches"/>
                  <a:ea typeface="Staatliches"/>
                  <a:cs typeface="Staatliches"/>
                  <a:sym typeface="Staatliches"/>
                </a:rPr>
                <a:t>advantages</a:t>
              </a:r>
              <a:endParaRPr sz="2144">
                <a:solidFill>
                  <a:schemeClr val="dk1"/>
                </a:solidFill>
                <a:latin typeface="Staatliches"/>
                <a:ea typeface="Staatliches"/>
                <a:cs typeface="Staatliches"/>
                <a:sym typeface="Staatliches"/>
              </a:endParaRPr>
            </a:p>
            <a:p>
              <a:pPr indent="0" lvl="0" marL="0" rtl="0" algn="ctr">
                <a:spcBef>
                  <a:spcPts val="0"/>
                </a:spcBef>
                <a:spcAft>
                  <a:spcPts val="0"/>
                </a:spcAft>
                <a:buNone/>
              </a:pPr>
              <a:r>
                <a:rPr lang="en" sz="1100">
                  <a:solidFill>
                    <a:schemeClr val="dk1"/>
                  </a:solidFill>
                </a:rPr>
                <a:t>simple, allows for </a:t>
              </a:r>
              <a:endParaRPr sz="1100">
                <a:solidFill>
                  <a:schemeClr val="dk1"/>
                </a:solidFill>
              </a:endParaRPr>
            </a:p>
            <a:p>
              <a:pPr indent="0" lvl="0" marL="0" rtl="0" algn="ctr">
                <a:spcBef>
                  <a:spcPts val="0"/>
                </a:spcBef>
                <a:spcAft>
                  <a:spcPts val="0"/>
                </a:spcAft>
                <a:buNone/>
              </a:pPr>
              <a:r>
                <a:rPr lang="en" sz="1100">
                  <a:solidFill>
                    <a:schemeClr val="dk1"/>
                  </a:solidFill>
                </a:rPr>
                <a:t>binary classification</a:t>
              </a:r>
              <a:endParaRPr sz="1100">
                <a:solidFill>
                  <a:schemeClr val="dk1"/>
                </a:solidFill>
              </a:endParaRPr>
            </a:p>
          </p:txBody>
        </p:sp>
        <p:sp>
          <p:nvSpPr>
            <p:cNvPr id="267" name="Google Shape;267;p31"/>
            <p:cNvSpPr txBox="1"/>
            <p:nvPr/>
          </p:nvSpPr>
          <p:spPr>
            <a:xfrm>
              <a:off x="1302300" y="4034550"/>
              <a:ext cx="2092800" cy="853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44">
                  <a:solidFill>
                    <a:schemeClr val="dk1"/>
                  </a:solidFill>
                  <a:latin typeface="Staatliches"/>
                  <a:ea typeface="Staatliches"/>
                  <a:cs typeface="Staatliches"/>
                  <a:sym typeface="Staatliches"/>
                </a:rPr>
                <a:t>disadvantages</a:t>
              </a:r>
              <a:endParaRPr sz="2144">
                <a:solidFill>
                  <a:schemeClr val="dk1"/>
                </a:solidFill>
                <a:latin typeface="Staatliches"/>
                <a:ea typeface="Staatliches"/>
                <a:cs typeface="Staatliches"/>
                <a:sym typeface="Staatliches"/>
              </a:endParaRPr>
            </a:p>
            <a:p>
              <a:pPr indent="0" lvl="0" marL="0" rtl="0" algn="ctr">
                <a:spcBef>
                  <a:spcPts val="0"/>
                </a:spcBef>
                <a:spcAft>
                  <a:spcPts val="0"/>
                </a:spcAft>
                <a:buNone/>
              </a:pPr>
              <a:r>
                <a:rPr lang="en" sz="1100">
                  <a:solidFill>
                    <a:schemeClr val="dk1"/>
                  </a:solidFill>
                </a:rPr>
                <a:t>derivative DNE at </a:t>
              </a:r>
              <a:r>
                <a:rPr i="1" lang="en" sz="1100">
                  <a:solidFill>
                    <a:schemeClr val="dk1"/>
                  </a:solidFill>
                </a:rPr>
                <a:t>z</a:t>
              </a:r>
              <a:r>
                <a:rPr lang="en" sz="1100">
                  <a:solidFill>
                    <a:schemeClr val="dk1"/>
                  </a:solidFill>
                </a:rPr>
                <a:t>=0, 0 everywhere else</a:t>
              </a:r>
              <a:endParaRPr sz="1100">
                <a:solidFill>
                  <a:schemeClr val="dk1"/>
                </a:solidFill>
              </a:endParaRPr>
            </a:p>
          </p:txBody>
        </p:sp>
        <p:grpSp>
          <p:nvGrpSpPr>
            <p:cNvPr id="268" name="Google Shape;268;p31"/>
            <p:cNvGrpSpPr/>
            <p:nvPr/>
          </p:nvGrpSpPr>
          <p:grpSpPr>
            <a:xfrm>
              <a:off x="1492666" y="2242084"/>
              <a:ext cx="1778247" cy="915583"/>
              <a:chOff x="5299750" y="2857450"/>
              <a:chExt cx="1809000" cy="1290644"/>
            </a:xfrm>
          </p:grpSpPr>
          <p:sp>
            <p:nvSpPr>
              <p:cNvPr id="269" name="Google Shape;269;p31"/>
              <p:cNvSpPr/>
              <p:nvPr/>
            </p:nvSpPr>
            <p:spPr>
              <a:xfrm>
                <a:off x="5299750" y="2857450"/>
                <a:ext cx="1809000" cy="12477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70" name="Google Shape;270;p31"/>
              <p:cNvGrpSpPr/>
              <p:nvPr/>
            </p:nvGrpSpPr>
            <p:grpSpPr>
              <a:xfrm>
                <a:off x="5391728" y="2926384"/>
                <a:ext cx="1648530" cy="1221710"/>
                <a:chOff x="332550" y="2182900"/>
                <a:chExt cx="3423739" cy="2161553"/>
              </a:xfrm>
            </p:grpSpPr>
            <p:cxnSp>
              <p:nvCxnSpPr>
                <p:cNvPr id="271" name="Google Shape;271;p31"/>
                <p:cNvCxnSpPr/>
                <p:nvPr/>
              </p:nvCxnSpPr>
              <p:spPr>
                <a:xfrm flipH="1">
                  <a:off x="1988150" y="2182900"/>
                  <a:ext cx="7800" cy="1931700"/>
                </a:xfrm>
                <a:prstGeom prst="straightConnector1">
                  <a:avLst/>
                </a:prstGeom>
                <a:noFill/>
                <a:ln cap="flat" cmpd="sng" w="9525">
                  <a:solidFill>
                    <a:schemeClr val="dk2"/>
                  </a:solidFill>
                  <a:prstDash val="solid"/>
                  <a:round/>
                  <a:headEnd len="med" w="med" type="none"/>
                  <a:tailEnd len="med" w="med" type="none"/>
                </a:ln>
              </p:spPr>
            </p:cxnSp>
            <p:cxnSp>
              <p:nvCxnSpPr>
                <p:cNvPr id="272" name="Google Shape;272;p31"/>
                <p:cNvCxnSpPr/>
                <p:nvPr/>
              </p:nvCxnSpPr>
              <p:spPr>
                <a:xfrm flipH="1" rot="10800000">
                  <a:off x="332550" y="3792500"/>
                  <a:ext cx="3395700" cy="7800"/>
                </a:xfrm>
                <a:prstGeom prst="straightConnector1">
                  <a:avLst/>
                </a:prstGeom>
                <a:noFill/>
                <a:ln cap="flat" cmpd="sng" w="9525">
                  <a:solidFill>
                    <a:schemeClr val="dk2"/>
                  </a:solidFill>
                  <a:prstDash val="solid"/>
                  <a:round/>
                  <a:headEnd len="med" w="med" type="none"/>
                  <a:tailEnd len="med" w="med" type="none"/>
                </a:ln>
              </p:spPr>
            </p:cxnSp>
            <p:sp>
              <p:nvSpPr>
                <p:cNvPr id="273" name="Google Shape;273;p31"/>
                <p:cNvSpPr txBox="1"/>
                <p:nvPr/>
              </p:nvSpPr>
              <p:spPr>
                <a:xfrm>
                  <a:off x="1551375" y="2588250"/>
                  <a:ext cx="459900" cy="84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1</a:t>
                  </a:r>
                  <a:endParaRPr sz="1000">
                    <a:solidFill>
                      <a:schemeClr val="dk2"/>
                    </a:solidFill>
                  </a:endParaRPr>
                </a:p>
              </p:txBody>
            </p:sp>
            <p:sp>
              <p:nvSpPr>
                <p:cNvPr id="274" name="Google Shape;274;p31"/>
                <p:cNvSpPr txBox="1"/>
                <p:nvPr/>
              </p:nvSpPr>
              <p:spPr>
                <a:xfrm>
                  <a:off x="3296389" y="3499953"/>
                  <a:ext cx="459900" cy="84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z</a:t>
                  </a:r>
                  <a:endParaRPr sz="1000">
                    <a:solidFill>
                      <a:schemeClr val="dk2"/>
                    </a:solidFill>
                  </a:endParaRPr>
                </a:p>
              </p:txBody>
            </p:sp>
            <p:cxnSp>
              <p:nvCxnSpPr>
                <p:cNvPr id="275" name="Google Shape;275;p31"/>
                <p:cNvCxnSpPr/>
                <p:nvPr/>
              </p:nvCxnSpPr>
              <p:spPr>
                <a:xfrm rot="10800000">
                  <a:off x="347775" y="3792625"/>
                  <a:ext cx="1663500" cy="0"/>
                </a:xfrm>
                <a:prstGeom prst="straightConnector1">
                  <a:avLst/>
                </a:prstGeom>
                <a:noFill/>
                <a:ln cap="flat" cmpd="sng" w="19050">
                  <a:solidFill>
                    <a:srgbClr val="FF00FF"/>
                  </a:solidFill>
                  <a:prstDash val="solid"/>
                  <a:round/>
                  <a:headEnd len="med" w="med" type="oval"/>
                  <a:tailEnd len="med" w="med" type="none"/>
                </a:ln>
              </p:spPr>
            </p:cxnSp>
            <p:cxnSp>
              <p:nvCxnSpPr>
                <p:cNvPr id="276" name="Google Shape;276;p31"/>
                <p:cNvCxnSpPr/>
                <p:nvPr/>
              </p:nvCxnSpPr>
              <p:spPr>
                <a:xfrm>
                  <a:off x="1957625" y="2811450"/>
                  <a:ext cx="1487100" cy="15300"/>
                </a:xfrm>
                <a:prstGeom prst="straightConnector1">
                  <a:avLst/>
                </a:prstGeom>
                <a:noFill/>
                <a:ln cap="flat" cmpd="sng" w="19050">
                  <a:solidFill>
                    <a:srgbClr val="FF00FF"/>
                  </a:solidFill>
                  <a:prstDash val="solid"/>
                  <a:round/>
                  <a:headEnd len="med" w="med" type="oval"/>
                  <a:tailEnd len="med" w="med" type="none"/>
                </a:ln>
              </p:spPr>
            </p:cxnSp>
          </p:grpSp>
        </p:grpSp>
      </p:grpSp>
      <p:grpSp>
        <p:nvGrpSpPr>
          <p:cNvPr id="277" name="Google Shape;277;p31"/>
          <p:cNvGrpSpPr/>
          <p:nvPr/>
        </p:nvGrpSpPr>
        <p:grpSpPr>
          <a:xfrm>
            <a:off x="3777400" y="1279050"/>
            <a:ext cx="2092800" cy="3701050"/>
            <a:chOff x="3777400" y="1279050"/>
            <a:chExt cx="2092800" cy="3701050"/>
          </a:xfrm>
        </p:grpSpPr>
        <p:sp>
          <p:nvSpPr>
            <p:cNvPr id="278" name="Google Shape;278;p31"/>
            <p:cNvSpPr/>
            <p:nvPr/>
          </p:nvSpPr>
          <p:spPr>
            <a:xfrm>
              <a:off x="3777400" y="1339000"/>
              <a:ext cx="2092800" cy="3641100"/>
            </a:xfrm>
            <a:prstGeom prst="rect">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9" name="Google Shape;279;p31"/>
            <p:cNvSpPr txBox="1"/>
            <p:nvPr/>
          </p:nvSpPr>
          <p:spPr>
            <a:xfrm>
              <a:off x="3777400" y="1279050"/>
              <a:ext cx="2092800" cy="514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44">
                  <a:solidFill>
                    <a:schemeClr val="dk1"/>
                  </a:solidFill>
                  <a:latin typeface="Staatliches"/>
                  <a:ea typeface="Staatliches"/>
                  <a:cs typeface="Staatliches"/>
                  <a:sym typeface="Staatliches"/>
                </a:rPr>
                <a:t>sigmoid</a:t>
              </a:r>
              <a:endParaRPr/>
            </a:p>
          </p:txBody>
        </p:sp>
        <p:sp>
          <p:nvSpPr>
            <p:cNvPr id="280" name="Google Shape;280;p31"/>
            <p:cNvSpPr txBox="1"/>
            <p:nvPr/>
          </p:nvSpPr>
          <p:spPr>
            <a:xfrm>
              <a:off x="3777400" y="3219400"/>
              <a:ext cx="2092800" cy="853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44">
                  <a:solidFill>
                    <a:schemeClr val="dk1"/>
                  </a:solidFill>
                  <a:latin typeface="Staatliches"/>
                  <a:ea typeface="Staatliches"/>
                  <a:cs typeface="Staatliches"/>
                  <a:sym typeface="Staatliches"/>
                </a:rPr>
                <a:t>advantages</a:t>
              </a:r>
              <a:endParaRPr sz="2144">
                <a:solidFill>
                  <a:schemeClr val="dk1"/>
                </a:solidFill>
                <a:latin typeface="Staatliches"/>
                <a:ea typeface="Staatliches"/>
                <a:cs typeface="Staatliches"/>
                <a:sym typeface="Staatliches"/>
              </a:endParaRPr>
            </a:p>
            <a:p>
              <a:pPr indent="0" lvl="0" marL="0" rtl="0" algn="ctr">
                <a:spcBef>
                  <a:spcPts val="0"/>
                </a:spcBef>
                <a:spcAft>
                  <a:spcPts val="0"/>
                </a:spcAft>
                <a:buNone/>
              </a:pPr>
              <a:r>
                <a:rPr lang="en" sz="1100">
                  <a:solidFill>
                    <a:schemeClr val="dk1"/>
                  </a:solidFill>
                </a:rPr>
                <a:t>differentiable everywhere; </a:t>
              </a:r>
              <a:r>
                <a:rPr lang="en" sz="1100">
                  <a:solidFill>
                    <a:schemeClr val="dk1"/>
                  </a:solidFill>
                </a:rPr>
                <a:t>allows for binary classification; </a:t>
              </a:r>
              <a:endParaRPr sz="1100">
                <a:solidFill>
                  <a:schemeClr val="dk1"/>
                </a:solidFill>
              </a:endParaRPr>
            </a:p>
          </p:txBody>
        </p:sp>
        <p:sp>
          <p:nvSpPr>
            <p:cNvPr id="281" name="Google Shape;281;p31"/>
            <p:cNvSpPr txBox="1"/>
            <p:nvPr/>
          </p:nvSpPr>
          <p:spPr>
            <a:xfrm>
              <a:off x="3777400" y="4064500"/>
              <a:ext cx="2092800" cy="853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44">
                  <a:solidFill>
                    <a:schemeClr val="dk1"/>
                  </a:solidFill>
                  <a:latin typeface="Staatliches"/>
                  <a:ea typeface="Staatliches"/>
                  <a:cs typeface="Staatliches"/>
                  <a:sym typeface="Staatliches"/>
                </a:rPr>
                <a:t>disadvantages</a:t>
              </a:r>
              <a:endParaRPr sz="2144">
                <a:solidFill>
                  <a:schemeClr val="dk1"/>
                </a:solidFill>
                <a:latin typeface="Staatliches"/>
                <a:ea typeface="Staatliches"/>
                <a:cs typeface="Staatliches"/>
                <a:sym typeface="Staatliches"/>
              </a:endParaRPr>
            </a:p>
            <a:p>
              <a:pPr indent="0" lvl="0" marL="0" rtl="0" algn="ctr">
                <a:spcBef>
                  <a:spcPts val="0"/>
                </a:spcBef>
                <a:spcAft>
                  <a:spcPts val="0"/>
                </a:spcAft>
                <a:buNone/>
              </a:pPr>
              <a:r>
                <a:rPr lang="en" sz="1100" u="sng">
                  <a:solidFill>
                    <a:schemeClr val="dk1"/>
                  </a:solidFill>
                </a:rPr>
                <a:t>gradient vanishes</a:t>
              </a:r>
              <a:r>
                <a:rPr lang="en" sz="1100">
                  <a:solidFill>
                    <a:schemeClr val="dk1"/>
                  </a:solidFill>
                </a:rPr>
                <a:t> for large or small inputs, slowing training</a:t>
              </a:r>
              <a:endParaRPr sz="1100">
                <a:solidFill>
                  <a:schemeClr val="dk1"/>
                </a:solidFill>
              </a:endParaRPr>
            </a:p>
          </p:txBody>
        </p:sp>
        <p:pic>
          <p:nvPicPr>
            <p:cNvPr id="282" name="Google Shape;282;p31" title="Screenshot 2025-04-14 at 7.44.19 AM.png"/>
            <p:cNvPicPr preferRelativeResize="0"/>
            <p:nvPr/>
          </p:nvPicPr>
          <p:blipFill>
            <a:blip r:embed="rId4">
              <a:alphaModFix/>
            </a:blip>
            <a:stretch>
              <a:fillRect/>
            </a:stretch>
          </p:blipFill>
          <p:spPr>
            <a:xfrm>
              <a:off x="4275750" y="1668100"/>
              <a:ext cx="1162300" cy="462875"/>
            </a:xfrm>
            <a:prstGeom prst="rect">
              <a:avLst/>
            </a:prstGeom>
            <a:noFill/>
            <a:ln>
              <a:noFill/>
            </a:ln>
          </p:spPr>
        </p:pic>
        <p:grpSp>
          <p:nvGrpSpPr>
            <p:cNvPr id="283" name="Google Shape;283;p31"/>
            <p:cNvGrpSpPr/>
            <p:nvPr/>
          </p:nvGrpSpPr>
          <p:grpSpPr>
            <a:xfrm>
              <a:off x="3903666" y="2217396"/>
              <a:ext cx="1778247" cy="915583"/>
              <a:chOff x="2199216" y="2113959"/>
              <a:chExt cx="1778247" cy="915583"/>
            </a:xfrm>
          </p:grpSpPr>
          <p:grpSp>
            <p:nvGrpSpPr>
              <p:cNvPr id="284" name="Google Shape;284;p31"/>
              <p:cNvGrpSpPr/>
              <p:nvPr/>
            </p:nvGrpSpPr>
            <p:grpSpPr>
              <a:xfrm>
                <a:off x="2199216" y="2113959"/>
                <a:ext cx="1778247" cy="915583"/>
                <a:chOff x="5299750" y="2857450"/>
                <a:chExt cx="1809000" cy="1290644"/>
              </a:xfrm>
            </p:grpSpPr>
            <p:sp>
              <p:nvSpPr>
                <p:cNvPr id="285" name="Google Shape;285;p31"/>
                <p:cNvSpPr/>
                <p:nvPr/>
              </p:nvSpPr>
              <p:spPr>
                <a:xfrm>
                  <a:off x="5299750" y="2857450"/>
                  <a:ext cx="1809000" cy="12477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86" name="Google Shape;286;p31"/>
                <p:cNvGrpSpPr/>
                <p:nvPr/>
              </p:nvGrpSpPr>
              <p:grpSpPr>
                <a:xfrm>
                  <a:off x="5391728" y="2926384"/>
                  <a:ext cx="1648530" cy="1221710"/>
                  <a:chOff x="332550" y="2182900"/>
                  <a:chExt cx="3423739" cy="2161553"/>
                </a:xfrm>
              </p:grpSpPr>
              <p:cxnSp>
                <p:nvCxnSpPr>
                  <p:cNvPr id="287" name="Google Shape;287;p31"/>
                  <p:cNvCxnSpPr/>
                  <p:nvPr/>
                </p:nvCxnSpPr>
                <p:spPr>
                  <a:xfrm flipH="1">
                    <a:off x="1988150" y="2182900"/>
                    <a:ext cx="7800" cy="1931700"/>
                  </a:xfrm>
                  <a:prstGeom prst="straightConnector1">
                    <a:avLst/>
                  </a:prstGeom>
                  <a:noFill/>
                  <a:ln cap="flat" cmpd="sng" w="9525">
                    <a:solidFill>
                      <a:schemeClr val="dk2"/>
                    </a:solidFill>
                    <a:prstDash val="solid"/>
                    <a:round/>
                    <a:headEnd len="med" w="med" type="none"/>
                    <a:tailEnd len="med" w="med" type="none"/>
                  </a:ln>
                </p:spPr>
              </p:cxnSp>
              <p:cxnSp>
                <p:nvCxnSpPr>
                  <p:cNvPr id="288" name="Google Shape;288;p31"/>
                  <p:cNvCxnSpPr/>
                  <p:nvPr/>
                </p:nvCxnSpPr>
                <p:spPr>
                  <a:xfrm flipH="1" rot="10800000">
                    <a:off x="332550" y="3792500"/>
                    <a:ext cx="3395700" cy="7800"/>
                  </a:xfrm>
                  <a:prstGeom prst="straightConnector1">
                    <a:avLst/>
                  </a:prstGeom>
                  <a:noFill/>
                  <a:ln cap="flat" cmpd="sng" w="9525">
                    <a:solidFill>
                      <a:schemeClr val="dk2"/>
                    </a:solidFill>
                    <a:prstDash val="solid"/>
                    <a:round/>
                    <a:headEnd len="med" w="med" type="none"/>
                    <a:tailEnd len="med" w="med" type="none"/>
                  </a:ln>
                </p:spPr>
              </p:cxnSp>
              <p:sp>
                <p:nvSpPr>
                  <p:cNvPr id="289" name="Google Shape;289;p31"/>
                  <p:cNvSpPr txBox="1"/>
                  <p:nvPr/>
                </p:nvSpPr>
                <p:spPr>
                  <a:xfrm>
                    <a:off x="1551375" y="2398203"/>
                    <a:ext cx="459900" cy="84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1</a:t>
                    </a:r>
                    <a:endParaRPr sz="1000">
                      <a:solidFill>
                        <a:schemeClr val="dk2"/>
                      </a:solidFill>
                    </a:endParaRPr>
                  </a:p>
                </p:txBody>
              </p:sp>
              <p:sp>
                <p:nvSpPr>
                  <p:cNvPr id="290" name="Google Shape;290;p31"/>
                  <p:cNvSpPr txBox="1"/>
                  <p:nvPr/>
                </p:nvSpPr>
                <p:spPr>
                  <a:xfrm>
                    <a:off x="3296389" y="3499953"/>
                    <a:ext cx="459900" cy="84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z</a:t>
                    </a:r>
                    <a:endParaRPr sz="1000">
                      <a:solidFill>
                        <a:schemeClr val="dk2"/>
                      </a:solidFill>
                    </a:endParaRPr>
                  </a:p>
                </p:txBody>
              </p:sp>
            </p:grpSp>
          </p:grpSp>
          <p:sp>
            <p:nvSpPr>
              <p:cNvPr id="291" name="Google Shape;291;p31"/>
              <p:cNvSpPr/>
              <p:nvPr/>
            </p:nvSpPr>
            <p:spPr>
              <a:xfrm>
                <a:off x="2386913" y="2522817"/>
                <a:ext cx="1402875" cy="260350"/>
              </a:xfrm>
              <a:custGeom>
                <a:rect b="b" l="l" r="r" t="t"/>
                <a:pathLst>
                  <a:path extrusionOk="0" h="10414" w="56115">
                    <a:moveTo>
                      <a:pt x="0" y="10414"/>
                    </a:moveTo>
                    <a:cubicBezTo>
                      <a:pt x="1346" y="10380"/>
                      <a:pt x="5142" y="10414"/>
                      <a:pt x="8075" y="10207"/>
                    </a:cubicBezTo>
                    <a:cubicBezTo>
                      <a:pt x="11008" y="10000"/>
                      <a:pt x="14839" y="9586"/>
                      <a:pt x="17600" y="9172"/>
                    </a:cubicBezTo>
                    <a:cubicBezTo>
                      <a:pt x="20361" y="8758"/>
                      <a:pt x="23123" y="8378"/>
                      <a:pt x="24641" y="7722"/>
                    </a:cubicBezTo>
                    <a:cubicBezTo>
                      <a:pt x="26160" y="7066"/>
                      <a:pt x="25848" y="6204"/>
                      <a:pt x="26711" y="5238"/>
                    </a:cubicBezTo>
                    <a:cubicBezTo>
                      <a:pt x="27574" y="4272"/>
                      <a:pt x="28333" y="2650"/>
                      <a:pt x="29817" y="1925"/>
                    </a:cubicBezTo>
                    <a:cubicBezTo>
                      <a:pt x="31301" y="1200"/>
                      <a:pt x="32923" y="1200"/>
                      <a:pt x="35615" y="889"/>
                    </a:cubicBezTo>
                    <a:cubicBezTo>
                      <a:pt x="38307" y="578"/>
                      <a:pt x="42551" y="199"/>
                      <a:pt x="45968" y="61"/>
                    </a:cubicBezTo>
                    <a:cubicBezTo>
                      <a:pt x="49385" y="-77"/>
                      <a:pt x="54424" y="61"/>
                      <a:pt x="56115" y="61"/>
                    </a:cubicBezTo>
                  </a:path>
                </a:pathLst>
              </a:custGeom>
              <a:noFill/>
              <a:ln cap="flat" cmpd="sng" w="19050">
                <a:solidFill>
                  <a:srgbClr val="FF00FF"/>
                </a:solidFill>
                <a:prstDash val="solid"/>
                <a:round/>
                <a:headEnd len="med" w="med" type="none"/>
                <a:tailEnd len="med" w="med" type="none"/>
              </a:ln>
            </p:spPr>
          </p:sp>
          <p:cxnSp>
            <p:nvCxnSpPr>
              <p:cNvPr id="292" name="Google Shape;292;p31"/>
              <p:cNvCxnSpPr/>
              <p:nvPr/>
            </p:nvCxnSpPr>
            <p:spPr>
              <a:xfrm>
                <a:off x="2361000" y="2493300"/>
                <a:ext cx="1454700" cy="0"/>
              </a:xfrm>
              <a:prstGeom prst="straightConnector1">
                <a:avLst/>
              </a:prstGeom>
              <a:noFill/>
              <a:ln cap="flat" cmpd="sng" w="9525">
                <a:solidFill>
                  <a:schemeClr val="dk2"/>
                </a:solidFill>
                <a:prstDash val="dot"/>
                <a:round/>
                <a:headEnd len="med" w="med" type="none"/>
                <a:tailEnd len="med" w="med" type="none"/>
              </a:ln>
            </p:spPr>
          </p:cxnSp>
        </p:grpSp>
      </p:grpSp>
      <p:grpSp>
        <p:nvGrpSpPr>
          <p:cNvPr id="293" name="Google Shape;293;p31"/>
          <p:cNvGrpSpPr/>
          <p:nvPr/>
        </p:nvGrpSpPr>
        <p:grpSpPr>
          <a:xfrm>
            <a:off x="6252500" y="1279050"/>
            <a:ext cx="2092800" cy="3701050"/>
            <a:chOff x="6252500" y="1279050"/>
            <a:chExt cx="2092800" cy="3701050"/>
          </a:xfrm>
        </p:grpSpPr>
        <p:sp>
          <p:nvSpPr>
            <p:cNvPr id="294" name="Google Shape;294;p31"/>
            <p:cNvSpPr/>
            <p:nvPr/>
          </p:nvSpPr>
          <p:spPr>
            <a:xfrm>
              <a:off x="6252500" y="1339000"/>
              <a:ext cx="2092800" cy="3641100"/>
            </a:xfrm>
            <a:prstGeom prst="rect">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5" name="Google Shape;295;p31"/>
            <p:cNvSpPr txBox="1"/>
            <p:nvPr/>
          </p:nvSpPr>
          <p:spPr>
            <a:xfrm>
              <a:off x="6252500" y="1279050"/>
              <a:ext cx="2092800" cy="514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44">
                  <a:solidFill>
                    <a:schemeClr val="dk1"/>
                  </a:solidFill>
                  <a:latin typeface="Staatliches"/>
                  <a:ea typeface="Staatliches"/>
                  <a:cs typeface="Staatliches"/>
                  <a:sym typeface="Staatliches"/>
                </a:rPr>
                <a:t>tanh</a:t>
              </a:r>
              <a:endParaRPr/>
            </a:p>
          </p:txBody>
        </p:sp>
        <p:sp>
          <p:nvSpPr>
            <p:cNvPr id="296" name="Google Shape;296;p31"/>
            <p:cNvSpPr txBox="1"/>
            <p:nvPr/>
          </p:nvSpPr>
          <p:spPr>
            <a:xfrm>
              <a:off x="6252500" y="3219400"/>
              <a:ext cx="2092800" cy="853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44">
                  <a:solidFill>
                    <a:schemeClr val="dk1"/>
                  </a:solidFill>
                  <a:latin typeface="Staatliches"/>
                  <a:ea typeface="Staatliches"/>
                  <a:cs typeface="Staatliches"/>
                  <a:sym typeface="Staatliches"/>
                </a:rPr>
                <a:t>advantages</a:t>
              </a:r>
              <a:endParaRPr sz="2144">
                <a:solidFill>
                  <a:schemeClr val="dk1"/>
                </a:solidFill>
                <a:latin typeface="Staatliches"/>
                <a:ea typeface="Staatliches"/>
                <a:cs typeface="Staatliches"/>
                <a:sym typeface="Staatliches"/>
              </a:endParaRPr>
            </a:p>
            <a:p>
              <a:pPr indent="0" lvl="0" marL="0" rtl="0" algn="ctr">
                <a:spcBef>
                  <a:spcPts val="0"/>
                </a:spcBef>
                <a:spcAft>
                  <a:spcPts val="0"/>
                </a:spcAft>
                <a:buNone/>
              </a:pPr>
              <a:r>
                <a:rPr lang="en" sz="1100">
                  <a:solidFill>
                    <a:schemeClr val="dk1"/>
                  </a:solidFill>
                </a:rPr>
                <a:t>similar</a:t>
              </a:r>
              <a:r>
                <a:rPr lang="en" sz="1100">
                  <a:solidFill>
                    <a:schemeClr val="dk1"/>
                  </a:solidFill>
                </a:rPr>
                <a:t> to sigmoid; </a:t>
              </a:r>
              <a:endParaRPr sz="1100">
                <a:solidFill>
                  <a:schemeClr val="dk1"/>
                </a:solidFill>
              </a:endParaRPr>
            </a:p>
            <a:p>
              <a:pPr indent="0" lvl="0" marL="0" rtl="0" algn="ctr">
                <a:spcBef>
                  <a:spcPts val="0"/>
                </a:spcBef>
                <a:spcAft>
                  <a:spcPts val="0"/>
                </a:spcAft>
                <a:buNone/>
              </a:pPr>
              <a:r>
                <a:rPr lang="en" sz="1100">
                  <a:solidFill>
                    <a:schemeClr val="dk1"/>
                  </a:solidFill>
                </a:rPr>
                <a:t>centered around 0</a:t>
              </a:r>
              <a:r>
                <a:rPr lang="en" sz="1100">
                  <a:solidFill>
                    <a:schemeClr val="dk1"/>
                  </a:solidFill>
                </a:rPr>
                <a:t> </a:t>
              </a:r>
              <a:endParaRPr sz="1100">
                <a:solidFill>
                  <a:schemeClr val="dk1"/>
                </a:solidFill>
              </a:endParaRPr>
            </a:p>
          </p:txBody>
        </p:sp>
        <p:sp>
          <p:nvSpPr>
            <p:cNvPr id="297" name="Google Shape;297;p31"/>
            <p:cNvSpPr txBox="1"/>
            <p:nvPr/>
          </p:nvSpPr>
          <p:spPr>
            <a:xfrm>
              <a:off x="6252500" y="4064500"/>
              <a:ext cx="2092800" cy="853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44">
                  <a:solidFill>
                    <a:schemeClr val="dk1"/>
                  </a:solidFill>
                  <a:latin typeface="Staatliches"/>
                  <a:ea typeface="Staatliches"/>
                  <a:cs typeface="Staatliches"/>
                  <a:sym typeface="Staatliches"/>
                </a:rPr>
                <a:t>disadvantages</a:t>
              </a:r>
              <a:endParaRPr sz="2144">
                <a:solidFill>
                  <a:schemeClr val="dk1"/>
                </a:solidFill>
                <a:latin typeface="Staatliches"/>
                <a:ea typeface="Staatliches"/>
                <a:cs typeface="Staatliches"/>
                <a:sym typeface="Staatliches"/>
              </a:endParaRPr>
            </a:p>
            <a:p>
              <a:pPr indent="0" lvl="0" marL="0" rtl="0" algn="ctr">
                <a:spcBef>
                  <a:spcPts val="0"/>
                </a:spcBef>
                <a:spcAft>
                  <a:spcPts val="0"/>
                </a:spcAft>
                <a:buNone/>
              </a:pPr>
              <a:r>
                <a:rPr lang="en" sz="1100" u="sng">
                  <a:solidFill>
                    <a:schemeClr val="dk1"/>
                  </a:solidFill>
                </a:rPr>
                <a:t>gradient vanishes</a:t>
              </a:r>
              <a:r>
                <a:rPr lang="en" sz="1100">
                  <a:solidFill>
                    <a:schemeClr val="dk1"/>
                  </a:solidFill>
                </a:rPr>
                <a:t> for large or small inputs, slowing training</a:t>
              </a:r>
              <a:endParaRPr sz="1100">
                <a:solidFill>
                  <a:schemeClr val="dk1"/>
                </a:solidFill>
              </a:endParaRPr>
            </a:p>
          </p:txBody>
        </p:sp>
        <p:pic>
          <p:nvPicPr>
            <p:cNvPr id="298" name="Google Shape;298;p31" title="Screenshot 2025-04-14 at 7.51.49 AM.png"/>
            <p:cNvPicPr preferRelativeResize="0"/>
            <p:nvPr/>
          </p:nvPicPr>
          <p:blipFill>
            <a:blip r:embed="rId5">
              <a:alphaModFix/>
            </a:blip>
            <a:stretch>
              <a:fillRect/>
            </a:stretch>
          </p:blipFill>
          <p:spPr>
            <a:xfrm>
              <a:off x="6478524" y="1636374"/>
              <a:ext cx="1782045" cy="514800"/>
            </a:xfrm>
            <a:prstGeom prst="rect">
              <a:avLst/>
            </a:prstGeom>
            <a:noFill/>
            <a:ln>
              <a:noFill/>
            </a:ln>
          </p:spPr>
        </p:pic>
        <p:cxnSp>
          <p:nvCxnSpPr>
            <p:cNvPr id="299" name="Google Shape;299;p31"/>
            <p:cNvCxnSpPr/>
            <p:nvPr/>
          </p:nvCxnSpPr>
          <p:spPr>
            <a:xfrm>
              <a:off x="6478525" y="2977738"/>
              <a:ext cx="1454700" cy="0"/>
            </a:xfrm>
            <a:prstGeom prst="straightConnector1">
              <a:avLst/>
            </a:prstGeom>
            <a:noFill/>
            <a:ln cap="flat" cmpd="sng" w="9525">
              <a:solidFill>
                <a:schemeClr val="dk2"/>
              </a:solidFill>
              <a:prstDash val="dot"/>
              <a:round/>
              <a:headEnd len="med" w="med" type="none"/>
              <a:tailEnd len="med" w="med" type="none"/>
            </a:ln>
          </p:spPr>
        </p:cxnSp>
        <p:grpSp>
          <p:nvGrpSpPr>
            <p:cNvPr id="300" name="Google Shape;300;p31"/>
            <p:cNvGrpSpPr/>
            <p:nvPr/>
          </p:nvGrpSpPr>
          <p:grpSpPr>
            <a:xfrm>
              <a:off x="6378775" y="2279376"/>
              <a:ext cx="1778247" cy="910074"/>
              <a:chOff x="5004325" y="2249401"/>
              <a:chExt cx="1778247" cy="910074"/>
            </a:xfrm>
          </p:grpSpPr>
          <p:grpSp>
            <p:nvGrpSpPr>
              <p:cNvPr id="301" name="Google Shape;301;p31"/>
              <p:cNvGrpSpPr/>
              <p:nvPr/>
            </p:nvGrpSpPr>
            <p:grpSpPr>
              <a:xfrm>
                <a:off x="5004325" y="2249401"/>
                <a:ext cx="1778247" cy="853487"/>
                <a:chOff x="2199220" y="2173951"/>
                <a:chExt cx="1778247" cy="825103"/>
              </a:xfrm>
            </p:grpSpPr>
            <p:grpSp>
              <p:nvGrpSpPr>
                <p:cNvPr id="302" name="Google Shape;302;p31"/>
                <p:cNvGrpSpPr/>
                <p:nvPr/>
              </p:nvGrpSpPr>
              <p:grpSpPr>
                <a:xfrm>
                  <a:off x="2199220" y="2173951"/>
                  <a:ext cx="1778247" cy="825103"/>
                  <a:chOff x="5299754" y="2942018"/>
                  <a:chExt cx="1809000" cy="1163100"/>
                </a:xfrm>
              </p:grpSpPr>
              <p:sp>
                <p:nvSpPr>
                  <p:cNvPr id="303" name="Google Shape;303;p31"/>
                  <p:cNvSpPr/>
                  <p:nvPr/>
                </p:nvSpPr>
                <p:spPr>
                  <a:xfrm>
                    <a:off x="5299754" y="2942018"/>
                    <a:ext cx="1809000" cy="11631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04" name="Google Shape;304;p31"/>
                  <p:cNvGrpSpPr/>
                  <p:nvPr/>
                </p:nvGrpSpPr>
                <p:grpSpPr>
                  <a:xfrm>
                    <a:off x="5391728" y="3144898"/>
                    <a:ext cx="1648530" cy="856448"/>
                    <a:chOff x="332550" y="2569512"/>
                    <a:chExt cx="3423739" cy="1515300"/>
                  </a:xfrm>
                </p:grpSpPr>
                <p:cxnSp>
                  <p:nvCxnSpPr>
                    <p:cNvPr id="305" name="Google Shape;305;p31"/>
                    <p:cNvCxnSpPr/>
                    <p:nvPr/>
                  </p:nvCxnSpPr>
                  <p:spPr>
                    <a:xfrm flipH="1">
                      <a:off x="2019969" y="2569512"/>
                      <a:ext cx="9000" cy="1515300"/>
                    </a:xfrm>
                    <a:prstGeom prst="straightConnector1">
                      <a:avLst/>
                    </a:prstGeom>
                    <a:noFill/>
                    <a:ln cap="flat" cmpd="sng" w="9525">
                      <a:solidFill>
                        <a:schemeClr val="dk2"/>
                      </a:solidFill>
                      <a:prstDash val="solid"/>
                      <a:round/>
                      <a:headEnd len="med" w="med" type="none"/>
                      <a:tailEnd len="med" w="med" type="none"/>
                    </a:ln>
                  </p:spPr>
                </p:cxnSp>
                <p:cxnSp>
                  <p:nvCxnSpPr>
                    <p:cNvPr id="306" name="Google Shape;306;p31"/>
                    <p:cNvCxnSpPr/>
                    <p:nvPr/>
                  </p:nvCxnSpPr>
                  <p:spPr>
                    <a:xfrm flipH="1" rot="10800000">
                      <a:off x="332550" y="3412405"/>
                      <a:ext cx="3395700" cy="7800"/>
                    </a:xfrm>
                    <a:prstGeom prst="straightConnector1">
                      <a:avLst/>
                    </a:prstGeom>
                    <a:noFill/>
                    <a:ln cap="flat" cmpd="sng" w="9525">
                      <a:solidFill>
                        <a:schemeClr val="dk2"/>
                      </a:solidFill>
                      <a:prstDash val="solid"/>
                      <a:round/>
                      <a:headEnd len="med" w="med" type="none"/>
                      <a:tailEnd len="med" w="med" type="none"/>
                    </a:ln>
                  </p:spPr>
                </p:cxnSp>
                <p:sp>
                  <p:nvSpPr>
                    <p:cNvPr id="307" name="Google Shape;307;p31"/>
                    <p:cNvSpPr txBox="1"/>
                    <p:nvPr/>
                  </p:nvSpPr>
                  <p:spPr>
                    <a:xfrm>
                      <a:off x="3296389" y="3119858"/>
                      <a:ext cx="459900" cy="81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z</a:t>
                      </a:r>
                      <a:endParaRPr sz="1000">
                        <a:solidFill>
                          <a:schemeClr val="dk2"/>
                        </a:solidFill>
                      </a:endParaRPr>
                    </a:p>
                  </p:txBody>
                </p:sp>
              </p:grpSp>
            </p:grpSp>
            <p:sp>
              <p:nvSpPr>
                <p:cNvPr id="308" name="Google Shape;308;p31"/>
                <p:cNvSpPr/>
                <p:nvPr/>
              </p:nvSpPr>
              <p:spPr>
                <a:xfrm>
                  <a:off x="2386913" y="2522817"/>
                  <a:ext cx="1402875" cy="260350"/>
                </a:xfrm>
                <a:custGeom>
                  <a:rect b="b" l="l" r="r" t="t"/>
                  <a:pathLst>
                    <a:path extrusionOk="0" h="10414" w="56115">
                      <a:moveTo>
                        <a:pt x="0" y="10414"/>
                      </a:moveTo>
                      <a:cubicBezTo>
                        <a:pt x="1346" y="10380"/>
                        <a:pt x="5142" y="10414"/>
                        <a:pt x="8075" y="10207"/>
                      </a:cubicBezTo>
                      <a:cubicBezTo>
                        <a:pt x="11008" y="10000"/>
                        <a:pt x="14839" y="9586"/>
                        <a:pt x="17600" y="9172"/>
                      </a:cubicBezTo>
                      <a:cubicBezTo>
                        <a:pt x="20361" y="8758"/>
                        <a:pt x="23123" y="8378"/>
                        <a:pt x="24641" y="7722"/>
                      </a:cubicBezTo>
                      <a:cubicBezTo>
                        <a:pt x="26160" y="7066"/>
                        <a:pt x="25848" y="6204"/>
                        <a:pt x="26711" y="5238"/>
                      </a:cubicBezTo>
                      <a:cubicBezTo>
                        <a:pt x="27574" y="4272"/>
                        <a:pt x="28333" y="2650"/>
                        <a:pt x="29817" y="1925"/>
                      </a:cubicBezTo>
                      <a:cubicBezTo>
                        <a:pt x="31301" y="1200"/>
                        <a:pt x="32923" y="1200"/>
                        <a:pt x="35615" y="889"/>
                      </a:cubicBezTo>
                      <a:cubicBezTo>
                        <a:pt x="38307" y="578"/>
                        <a:pt x="42551" y="199"/>
                        <a:pt x="45968" y="61"/>
                      </a:cubicBezTo>
                      <a:cubicBezTo>
                        <a:pt x="49385" y="-77"/>
                        <a:pt x="54424" y="61"/>
                        <a:pt x="56115" y="61"/>
                      </a:cubicBezTo>
                    </a:path>
                  </a:pathLst>
                </a:custGeom>
                <a:noFill/>
                <a:ln cap="flat" cmpd="sng" w="19050">
                  <a:solidFill>
                    <a:srgbClr val="FF00FF"/>
                  </a:solidFill>
                  <a:prstDash val="solid"/>
                  <a:round/>
                  <a:headEnd len="med" w="med" type="none"/>
                  <a:tailEnd len="med" w="med" type="none"/>
                </a:ln>
              </p:spPr>
            </p:sp>
            <p:cxnSp>
              <p:nvCxnSpPr>
                <p:cNvPr id="309" name="Google Shape;309;p31"/>
                <p:cNvCxnSpPr/>
                <p:nvPr/>
              </p:nvCxnSpPr>
              <p:spPr>
                <a:xfrm>
                  <a:off x="2361000" y="2493300"/>
                  <a:ext cx="1454700" cy="0"/>
                </a:xfrm>
                <a:prstGeom prst="straightConnector1">
                  <a:avLst/>
                </a:prstGeom>
                <a:noFill/>
                <a:ln cap="flat" cmpd="sng" w="9525">
                  <a:solidFill>
                    <a:schemeClr val="dk2"/>
                  </a:solidFill>
                  <a:prstDash val="dot"/>
                  <a:round/>
                  <a:headEnd len="med" w="med" type="none"/>
                  <a:tailEnd len="med" w="med" type="none"/>
                </a:ln>
              </p:spPr>
            </p:cxnSp>
          </p:grpSp>
          <p:sp>
            <p:nvSpPr>
              <p:cNvPr id="310" name="Google Shape;310;p31"/>
              <p:cNvSpPr txBox="1"/>
              <p:nvPr/>
            </p:nvSpPr>
            <p:spPr>
              <a:xfrm>
                <a:off x="5722518" y="2365137"/>
                <a:ext cx="21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1</a:t>
                </a:r>
                <a:endParaRPr sz="1000">
                  <a:solidFill>
                    <a:schemeClr val="dk2"/>
                  </a:solidFill>
                </a:endParaRPr>
              </a:p>
            </p:txBody>
          </p:sp>
          <p:sp>
            <p:nvSpPr>
              <p:cNvPr id="311" name="Google Shape;311;p31"/>
              <p:cNvSpPr txBox="1"/>
              <p:nvPr/>
            </p:nvSpPr>
            <p:spPr>
              <a:xfrm>
                <a:off x="5690704" y="2820775"/>
                <a:ext cx="325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a:t>
                </a:r>
                <a:r>
                  <a:rPr lang="en" sz="1000">
                    <a:solidFill>
                      <a:schemeClr val="dk2"/>
                    </a:solidFill>
                  </a:rPr>
                  <a:t>1</a:t>
                </a:r>
                <a:endParaRPr sz="1000">
                  <a:solidFill>
                    <a:schemeClr val="dk2"/>
                  </a:solidFill>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2"/>
          <p:cNvSpPr txBox="1"/>
          <p:nvPr>
            <p:ph type="title"/>
          </p:nvPr>
        </p:nvSpPr>
        <p:spPr>
          <a:xfrm>
            <a:off x="311700" y="445025"/>
            <a:ext cx="8520600" cy="864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400"/>
              <a:t>An </a:t>
            </a:r>
            <a:r>
              <a:rPr lang="en" sz="2144">
                <a:latin typeface="Staatliches"/>
                <a:ea typeface="Staatliches"/>
                <a:cs typeface="Staatliches"/>
                <a:sym typeface="Staatliches"/>
              </a:rPr>
              <a:t>activation function</a:t>
            </a:r>
            <a:r>
              <a:rPr lang="en" sz="1400"/>
              <a:t> transforms the linear combination </a:t>
            </a:r>
            <a:r>
              <a:rPr b="1" lang="en" sz="1400">
                <a:solidFill>
                  <a:srgbClr val="1B91CA"/>
                </a:solidFill>
              </a:rPr>
              <a:t>z </a:t>
            </a:r>
            <a:r>
              <a:rPr lang="en" sz="1400"/>
              <a:t>= </a:t>
            </a:r>
            <a:r>
              <a:rPr b="1" lang="en" sz="1400"/>
              <a:t>β</a:t>
            </a:r>
            <a:r>
              <a:rPr b="1" lang="en" sz="600"/>
              <a:t>0</a:t>
            </a:r>
            <a:r>
              <a:rPr b="1" lang="en" sz="1400"/>
              <a:t> + β</a:t>
            </a:r>
            <a:r>
              <a:rPr b="1" lang="en" sz="600"/>
              <a:t>1</a:t>
            </a:r>
            <a:r>
              <a:rPr b="1" lang="en" sz="1400">
                <a:solidFill>
                  <a:srgbClr val="BCBD21"/>
                </a:solidFill>
              </a:rPr>
              <a:t>x</a:t>
            </a:r>
            <a:r>
              <a:rPr b="1" lang="en" sz="600">
                <a:solidFill>
                  <a:srgbClr val="BCBD21"/>
                </a:solidFill>
              </a:rPr>
              <a:t>1</a:t>
            </a:r>
            <a:r>
              <a:rPr b="1" lang="en" sz="1400">
                <a:solidFill>
                  <a:schemeClr val="dk2"/>
                </a:solidFill>
              </a:rPr>
              <a:t> + </a:t>
            </a:r>
            <a:r>
              <a:rPr b="1" lang="en" sz="1400"/>
              <a:t>β</a:t>
            </a:r>
            <a:r>
              <a:rPr b="1" lang="en" sz="600"/>
              <a:t>2</a:t>
            </a:r>
            <a:r>
              <a:rPr b="1" lang="en" sz="1400">
                <a:solidFill>
                  <a:srgbClr val="BCBD21"/>
                </a:solidFill>
              </a:rPr>
              <a:t>x</a:t>
            </a:r>
            <a:r>
              <a:rPr b="1" lang="en" sz="600">
                <a:solidFill>
                  <a:srgbClr val="BCBD21"/>
                </a:solidFill>
              </a:rPr>
              <a:t>2</a:t>
            </a:r>
            <a:r>
              <a:rPr b="1" lang="en" sz="1400"/>
              <a:t> + … + β</a:t>
            </a:r>
            <a:r>
              <a:rPr b="1" lang="en" sz="600"/>
              <a:t>n</a:t>
            </a:r>
            <a:r>
              <a:rPr b="1" lang="en" sz="1400">
                <a:solidFill>
                  <a:srgbClr val="BCBD21"/>
                </a:solidFill>
              </a:rPr>
              <a:t>x</a:t>
            </a:r>
            <a:r>
              <a:rPr b="1" lang="en" sz="600">
                <a:solidFill>
                  <a:srgbClr val="BCBD21"/>
                </a:solidFill>
              </a:rPr>
              <a:t>n</a:t>
            </a:r>
            <a:r>
              <a:rPr lang="en" sz="1400"/>
              <a:t> into a neuron’s final output. This non-linear transformation </a:t>
            </a:r>
            <a:r>
              <a:rPr b="1" lang="en" sz="1400">
                <a:solidFill>
                  <a:srgbClr val="FF00FF"/>
                </a:solidFill>
              </a:rPr>
              <a:t>f</a:t>
            </a:r>
            <a:r>
              <a:rPr b="1" lang="en" sz="1400"/>
              <a:t>(</a:t>
            </a:r>
            <a:r>
              <a:rPr b="1" lang="en" sz="1400">
                <a:solidFill>
                  <a:srgbClr val="1B91CA"/>
                </a:solidFill>
              </a:rPr>
              <a:t>z</a:t>
            </a:r>
            <a:r>
              <a:rPr b="1" lang="en" sz="1400"/>
              <a:t>) </a:t>
            </a:r>
            <a:r>
              <a:rPr lang="en" sz="1400"/>
              <a:t>allows neural networks to model complex, non-linear relationships. Different activation functions </a:t>
            </a:r>
            <a:r>
              <a:rPr b="1" lang="en" sz="1400">
                <a:solidFill>
                  <a:srgbClr val="FF00FF"/>
                </a:solidFill>
              </a:rPr>
              <a:t>f</a:t>
            </a:r>
            <a:r>
              <a:rPr lang="en" sz="1400"/>
              <a:t> can be used depending on the task and layer type.</a:t>
            </a:r>
            <a:endParaRPr sz="1400">
              <a:solidFill>
                <a:schemeClr val="dk2"/>
              </a:solidFill>
            </a:endParaRPr>
          </a:p>
        </p:txBody>
      </p:sp>
      <p:grpSp>
        <p:nvGrpSpPr>
          <p:cNvPr id="317" name="Google Shape;317;p32"/>
          <p:cNvGrpSpPr/>
          <p:nvPr/>
        </p:nvGrpSpPr>
        <p:grpSpPr>
          <a:xfrm>
            <a:off x="2174400" y="1279050"/>
            <a:ext cx="2092800" cy="3701050"/>
            <a:chOff x="2174400" y="1279050"/>
            <a:chExt cx="2092800" cy="3701050"/>
          </a:xfrm>
        </p:grpSpPr>
        <p:sp>
          <p:nvSpPr>
            <p:cNvPr id="318" name="Google Shape;318;p32"/>
            <p:cNvSpPr/>
            <p:nvPr/>
          </p:nvSpPr>
          <p:spPr>
            <a:xfrm>
              <a:off x="2174400" y="1339000"/>
              <a:ext cx="2092800" cy="3641100"/>
            </a:xfrm>
            <a:prstGeom prst="rect">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32"/>
            <p:cNvSpPr txBox="1"/>
            <p:nvPr/>
          </p:nvSpPr>
          <p:spPr>
            <a:xfrm>
              <a:off x="2174400" y="1279050"/>
              <a:ext cx="2092800" cy="514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44">
                  <a:solidFill>
                    <a:schemeClr val="dk1"/>
                  </a:solidFill>
                  <a:latin typeface="Staatliches"/>
                  <a:ea typeface="Staatliches"/>
                  <a:cs typeface="Staatliches"/>
                  <a:sym typeface="Staatliches"/>
                </a:rPr>
                <a:t>relu</a:t>
              </a:r>
              <a:endParaRPr/>
            </a:p>
          </p:txBody>
        </p:sp>
        <p:sp>
          <p:nvSpPr>
            <p:cNvPr id="320" name="Google Shape;320;p32"/>
            <p:cNvSpPr txBox="1"/>
            <p:nvPr/>
          </p:nvSpPr>
          <p:spPr>
            <a:xfrm>
              <a:off x="2174400" y="3219400"/>
              <a:ext cx="2092800" cy="853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44">
                  <a:solidFill>
                    <a:schemeClr val="dk1"/>
                  </a:solidFill>
                  <a:latin typeface="Staatliches"/>
                  <a:ea typeface="Staatliches"/>
                  <a:cs typeface="Staatliches"/>
                  <a:sym typeface="Staatliches"/>
                </a:rPr>
                <a:t>advantages</a:t>
              </a:r>
              <a:endParaRPr sz="2144">
                <a:solidFill>
                  <a:schemeClr val="dk1"/>
                </a:solidFill>
                <a:latin typeface="Staatliches"/>
                <a:ea typeface="Staatliches"/>
                <a:cs typeface="Staatliches"/>
                <a:sym typeface="Staatliches"/>
              </a:endParaRPr>
            </a:p>
            <a:p>
              <a:pPr indent="0" lvl="0" marL="0" rtl="0" algn="ctr">
                <a:spcBef>
                  <a:spcPts val="0"/>
                </a:spcBef>
                <a:spcAft>
                  <a:spcPts val="0"/>
                </a:spcAft>
                <a:buNone/>
              </a:pPr>
              <a:r>
                <a:rPr lang="en" sz="1100">
                  <a:solidFill>
                    <a:schemeClr val="dk1"/>
                  </a:solidFill>
                </a:rPr>
                <a:t>if z&gt;0, gradient never 0; </a:t>
              </a:r>
              <a:endParaRPr sz="1100">
                <a:solidFill>
                  <a:schemeClr val="dk1"/>
                </a:solidFill>
              </a:endParaRPr>
            </a:p>
            <a:p>
              <a:pPr indent="0" lvl="0" marL="0" rtl="0" algn="ctr">
                <a:spcBef>
                  <a:spcPts val="0"/>
                </a:spcBef>
                <a:spcAft>
                  <a:spcPts val="0"/>
                </a:spcAft>
                <a:buNone/>
              </a:pPr>
              <a:r>
                <a:rPr lang="en" sz="1100">
                  <a:solidFill>
                    <a:schemeClr val="dk1"/>
                  </a:solidFill>
                </a:rPr>
                <a:t>fixes vanishing gradient</a:t>
              </a:r>
              <a:r>
                <a:rPr lang="en" sz="1100">
                  <a:solidFill>
                    <a:schemeClr val="dk1"/>
                  </a:solidFill>
                </a:rPr>
                <a:t> </a:t>
              </a:r>
              <a:endParaRPr sz="1100">
                <a:solidFill>
                  <a:schemeClr val="dk1"/>
                </a:solidFill>
              </a:endParaRPr>
            </a:p>
          </p:txBody>
        </p:sp>
        <p:sp>
          <p:nvSpPr>
            <p:cNvPr id="321" name="Google Shape;321;p32"/>
            <p:cNvSpPr txBox="1"/>
            <p:nvPr/>
          </p:nvSpPr>
          <p:spPr>
            <a:xfrm>
              <a:off x="2174400" y="4064500"/>
              <a:ext cx="2092800" cy="853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44">
                  <a:solidFill>
                    <a:schemeClr val="dk1"/>
                  </a:solidFill>
                  <a:latin typeface="Staatliches"/>
                  <a:ea typeface="Staatliches"/>
                  <a:cs typeface="Staatliches"/>
                  <a:sym typeface="Staatliches"/>
                </a:rPr>
                <a:t>disadvantages</a:t>
              </a:r>
              <a:endParaRPr sz="2144">
                <a:solidFill>
                  <a:schemeClr val="dk1"/>
                </a:solidFill>
                <a:latin typeface="Staatliches"/>
                <a:ea typeface="Staatliches"/>
                <a:cs typeface="Staatliches"/>
                <a:sym typeface="Staatliches"/>
              </a:endParaRPr>
            </a:p>
            <a:p>
              <a:pPr indent="0" lvl="0" marL="0" rtl="0" algn="ctr">
                <a:spcBef>
                  <a:spcPts val="0"/>
                </a:spcBef>
                <a:spcAft>
                  <a:spcPts val="0"/>
                </a:spcAft>
                <a:buNone/>
              </a:pPr>
              <a:r>
                <a:rPr lang="en" sz="1100" u="sng">
                  <a:solidFill>
                    <a:schemeClr val="dk1"/>
                  </a:solidFill>
                </a:rPr>
                <a:t>dying ReLU:</a:t>
              </a:r>
              <a:r>
                <a:rPr lang="en" sz="1100">
                  <a:solidFill>
                    <a:schemeClr val="dk1"/>
                  </a:solidFill>
                </a:rPr>
                <a:t> if z&lt;0, </a:t>
              </a:r>
              <a:endParaRPr sz="1100">
                <a:solidFill>
                  <a:schemeClr val="dk1"/>
                </a:solidFill>
              </a:endParaRPr>
            </a:p>
            <a:p>
              <a:pPr indent="0" lvl="0" marL="0" rtl="0" algn="ctr">
                <a:spcBef>
                  <a:spcPts val="0"/>
                </a:spcBef>
                <a:spcAft>
                  <a:spcPts val="0"/>
                </a:spcAft>
                <a:buNone/>
              </a:pPr>
              <a:r>
                <a:rPr lang="en" sz="1100">
                  <a:solidFill>
                    <a:schemeClr val="dk1"/>
                  </a:solidFill>
                </a:rPr>
                <a:t>derivative DNE</a:t>
              </a:r>
              <a:r>
                <a:rPr lang="en" sz="1100">
                  <a:solidFill>
                    <a:schemeClr val="dk1"/>
                  </a:solidFill>
                </a:rPr>
                <a:t> </a:t>
              </a:r>
              <a:endParaRPr sz="1100">
                <a:solidFill>
                  <a:schemeClr val="dk1"/>
                </a:solidFill>
              </a:endParaRPr>
            </a:p>
          </p:txBody>
        </p:sp>
        <p:pic>
          <p:nvPicPr>
            <p:cNvPr id="322" name="Google Shape;322;p32" title="Screenshot 2025-04-14 at 7.57.31 AM.png"/>
            <p:cNvPicPr preferRelativeResize="0"/>
            <p:nvPr/>
          </p:nvPicPr>
          <p:blipFill>
            <a:blip r:embed="rId3">
              <a:alphaModFix/>
            </a:blip>
            <a:stretch>
              <a:fillRect/>
            </a:stretch>
          </p:blipFill>
          <p:spPr>
            <a:xfrm>
              <a:off x="2500249" y="1717650"/>
              <a:ext cx="1533476" cy="373700"/>
            </a:xfrm>
            <a:prstGeom prst="rect">
              <a:avLst/>
            </a:prstGeom>
            <a:noFill/>
            <a:ln>
              <a:noFill/>
            </a:ln>
          </p:spPr>
        </p:pic>
        <p:grpSp>
          <p:nvGrpSpPr>
            <p:cNvPr id="323" name="Google Shape;323;p32"/>
            <p:cNvGrpSpPr/>
            <p:nvPr/>
          </p:nvGrpSpPr>
          <p:grpSpPr>
            <a:xfrm>
              <a:off x="2331675" y="2196576"/>
              <a:ext cx="1778247" cy="853487"/>
              <a:chOff x="4268150" y="2243901"/>
              <a:chExt cx="1778247" cy="853487"/>
            </a:xfrm>
          </p:grpSpPr>
          <p:grpSp>
            <p:nvGrpSpPr>
              <p:cNvPr id="324" name="Google Shape;324;p32"/>
              <p:cNvGrpSpPr/>
              <p:nvPr/>
            </p:nvGrpSpPr>
            <p:grpSpPr>
              <a:xfrm>
                <a:off x="4268150" y="2243901"/>
                <a:ext cx="1778247" cy="853487"/>
                <a:chOff x="5299754" y="2942018"/>
                <a:chExt cx="1809000" cy="1163100"/>
              </a:xfrm>
            </p:grpSpPr>
            <p:sp>
              <p:nvSpPr>
                <p:cNvPr id="325" name="Google Shape;325;p32"/>
                <p:cNvSpPr/>
                <p:nvPr/>
              </p:nvSpPr>
              <p:spPr>
                <a:xfrm>
                  <a:off x="5299754" y="2942018"/>
                  <a:ext cx="1809000" cy="11631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26" name="Google Shape;326;p32"/>
                <p:cNvGrpSpPr/>
                <p:nvPr/>
              </p:nvGrpSpPr>
              <p:grpSpPr>
                <a:xfrm>
                  <a:off x="5391728" y="3144898"/>
                  <a:ext cx="1648530" cy="856448"/>
                  <a:chOff x="332550" y="2569512"/>
                  <a:chExt cx="3423739" cy="1515300"/>
                </a:xfrm>
              </p:grpSpPr>
              <p:cxnSp>
                <p:nvCxnSpPr>
                  <p:cNvPr id="327" name="Google Shape;327;p32"/>
                  <p:cNvCxnSpPr/>
                  <p:nvPr/>
                </p:nvCxnSpPr>
                <p:spPr>
                  <a:xfrm flipH="1">
                    <a:off x="2019969" y="2569512"/>
                    <a:ext cx="9000" cy="1515300"/>
                  </a:xfrm>
                  <a:prstGeom prst="straightConnector1">
                    <a:avLst/>
                  </a:prstGeom>
                  <a:noFill/>
                  <a:ln cap="flat" cmpd="sng" w="9525">
                    <a:solidFill>
                      <a:schemeClr val="dk2"/>
                    </a:solidFill>
                    <a:prstDash val="solid"/>
                    <a:round/>
                    <a:headEnd len="med" w="med" type="none"/>
                    <a:tailEnd len="med" w="med" type="none"/>
                  </a:ln>
                </p:spPr>
              </p:cxnSp>
              <p:cxnSp>
                <p:nvCxnSpPr>
                  <p:cNvPr id="328" name="Google Shape;328;p32"/>
                  <p:cNvCxnSpPr/>
                  <p:nvPr/>
                </p:nvCxnSpPr>
                <p:spPr>
                  <a:xfrm flipH="1" rot="10800000">
                    <a:off x="332550" y="3412405"/>
                    <a:ext cx="3395700" cy="7800"/>
                  </a:xfrm>
                  <a:prstGeom prst="straightConnector1">
                    <a:avLst/>
                  </a:prstGeom>
                  <a:noFill/>
                  <a:ln cap="flat" cmpd="sng" w="9525">
                    <a:solidFill>
                      <a:schemeClr val="dk2"/>
                    </a:solidFill>
                    <a:prstDash val="solid"/>
                    <a:round/>
                    <a:headEnd len="med" w="med" type="none"/>
                    <a:tailEnd len="med" w="med" type="none"/>
                  </a:ln>
                </p:spPr>
              </p:cxnSp>
              <p:sp>
                <p:nvSpPr>
                  <p:cNvPr id="329" name="Google Shape;329;p32"/>
                  <p:cNvSpPr txBox="1"/>
                  <p:nvPr/>
                </p:nvSpPr>
                <p:spPr>
                  <a:xfrm>
                    <a:off x="3296389" y="3119858"/>
                    <a:ext cx="459900" cy="81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z</a:t>
                    </a:r>
                    <a:endParaRPr sz="1000">
                      <a:solidFill>
                        <a:schemeClr val="dk2"/>
                      </a:solidFill>
                    </a:endParaRPr>
                  </a:p>
                </p:txBody>
              </p:sp>
            </p:grpSp>
          </p:grpSp>
          <p:cxnSp>
            <p:nvCxnSpPr>
              <p:cNvPr id="330" name="Google Shape;330;p32"/>
              <p:cNvCxnSpPr/>
              <p:nvPr/>
            </p:nvCxnSpPr>
            <p:spPr>
              <a:xfrm flipH="1" rot="10800000">
                <a:off x="4456375" y="2746925"/>
                <a:ext cx="715800" cy="5700"/>
              </a:xfrm>
              <a:prstGeom prst="straightConnector1">
                <a:avLst/>
              </a:prstGeom>
              <a:noFill/>
              <a:ln cap="flat" cmpd="sng" w="19050">
                <a:solidFill>
                  <a:srgbClr val="FF00FF"/>
                </a:solidFill>
                <a:prstDash val="solid"/>
                <a:round/>
                <a:headEnd len="med" w="med" type="none"/>
                <a:tailEnd len="med" w="med" type="none"/>
              </a:ln>
            </p:spPr>
          </p:cxnSp>
          <p:cxnSp>
            <p:nvCxnSpPr>
              <p:cNvPr id="331" name="Google Shape;331;p32"/>
              <p:cNvCxnSpPr/>
              <p:nvPr/>
            </p:nvCxnSpPr>
            <p:spPr>
              <a:xfrm flipH="1">
                <a:off x="5172100" y="2421300"/>
                <a:ext cx="497100" cy="325200"/>
              </a:xfrm>
              <a:prstGeom prst="straightConnector1">
                <a:avLst/>
              </a:prstGeom>
              <a:noFill/>
              <a:ln cap="flat" cmpd="sng" w="19050">
                <a:solidFill>
                  <a:srgbClr val="FF00FF"/>
                </a:solidFill>
                <a:prstDash val="solid"/>
                <a:round/>
                <a:headEnd len="med" w="med" type="none"/>
                <a:tailEnd len="med" w="med" type="none"/>
              </a:ln>
            </p:spPr>
          </p:cxnSp>
        </p:grpSp>
      </p:grpSp>
      <p:grpSp>
        <p:nvGrpSpPr>
          <p:cNvPr id="332" name="Google Shape;332;p32"/>
          <p:cNvGrpSpPr/>
          <p:nvPr/>
        </p:nvGrpSpPr>
        <p:grpSpPr>
          <a:xfrm>
            <a:off x="4913825" y="1279050"/>
            <a:ext cx="2092800" cy="3701050"/>
            <a:chOff x="4913825" y="1279050"/>
            <a:chExt cx="2092800" cy="3701050"/>
          </a:xfrm>
        </p:grpSpPr>
        <p:sp>
          <p:nvSpPr>
            <p:cNvPr id="333" name="Google Shape;333;p32"/>
            <p:cNvSpPr/>
            <p:nvPr/>
          </p:nvSpPr>
          <p:spPr>
            <a:xfrm>
              <a:off x="4913825" y="1339000"/>
              <a:ext cx="2092800" cy="3641100"/>
            </a:xfrm>
            <a:prstGeom prst="rect">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4" name="Google Shape;334;p32"/>
            <p:cNvSpPr txBox="1"/>
            <p:nvPr/>
          </p:nvSpPr>
          <p:spPr>
            <a:xfrm>
              <a:off x="4913825" y="1279050"/>
              <a:ext cx="2092800" cy="514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44">
                  <a:solidFill>
                    <a:schemeClr val="dk1"/>
                  </a:solidFill>
                  <a:latin typeface="Staatliches"/>
                  <a:ea typeface="Staatliches"/>
                  <a:cs typeface="Staatliches"/>
                  <a:sym typeface="Staatliches"/>
                </a:rPr>
                <a:t>leaky </a:t>
              </a:r>
              <a:r>
                <a:rPr lang="en" sz="2144">
                  <a:solidFill>
                    <a:schemeClr val="dk1"/>
                  </a:solidFill>
                  <a:latin typeface="Staatliches"/>
                  <a:ea typeface="Staatliches"/>
                  <a:cs typeface="Staatliches"/>
                  <a:sym typeface="Staatliches"/>
                </a:rPr>
                <a:t>relu</a:t>
              </a:r>
              <a:endParaRPr/>
            </a:p>
          </p:txBody>
        </p:sp>
        <p:sp>
          <p:nvSpPr>
            <p:cNvPr id="335" name="Google Shape;335;p32"/>
            <p:cNvSpPr txBox="1"/>
            <p:nvPr/>
          </p:nvSpPr>
          <p:spPr>
            <a:xfrm>
              <a:off x="4913825" y="3219400"/>
              <a:ext cx="2092800" cy="68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44">
                  <a:solidFill>
                    <a:schemeClr val="dk1"/>
                  </a:solidFill>
                  <a:latin typeface="Staatliches"/>
                  <a:ea typeface="Staatliches"/>
                  <a:cs typeface="Staatliches"/>
                  <a:sym typeface="Staatliches"/>
                </a:rPr>
                <a:t>advantages</a:t>
              </a:r>
              <a:endParaRPr sz="2144">
                <a:solidFill>
                  <a:schemeClr val="dk1"/>
                </a:solidFill>
                <a:latin typeface="Staatliches"/>
                <a:ea typeface="Staatliches"/>
                <a:cs typeface="Staatliches"/>
                <a:sym typeface="Staatliches"/>
              </a:endParaRPr>
            </a:p>
            <a:p>
              <a:pPr indent="0" lvl="0" marL="0" rtl="0" algn="ctr">
                <a:spcBef>
                  <a:spcPts val="0"/>
                </a:spcBef>
                <a:spcAft>
                  <a:spcPts val="0"/>
                </a:spcAft>
                <a:buNone/>
              </a:pPr>
              <a:r>
                <a:rPr lang="en" sz="1100">
                  <a:solidFill>
                    <a:schemeClr val="dk1"/>
                  </a:solidFill>
                </a:rPr>
                <a:t>solves dying ReLU</a:t>
              </a:r>
              <a:endParaRPr sz="1100">
                <a:solidFill>
                  <a:schemeClr val="dk1"/>
                </a:solidFill>
              </a:endParaRPr>
            </a:p>
          </p:txBody>
        </p:sp>
        <p:sp>
          <p:nvSpPr>
            <p:cNvPr id="336" name="Google Shape;336;p32"/>
            <p:cNvSpPr txBox="1"/>
            <p:nvPr/>
          </p:nvSpPr>
          <p:spPr>
            <a:xfrm>
              <a:off x="4913825" y="4064500"/>
              <a:ext cx="2092800" cy="68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44">
                  <a:solidFill>
                    <a:schemeClr val="dk1"/>
                  </a:solidFill>
                  <a:latin typeface="Staatliches"/>
                  <a:ea typeface="Staatliches"/>
                  <a:cs typeface="Staatliches"/>
                  <a:sym typeface="Staatliches"/>
                </a:rPr>
                <a:t>disadvantages</a:t>
              </a:r>
              <a:endParaRPr sz="2144">
                <a:solidFill>
                  <a:schemeClr val="dk1"/>
                </a:solidFill>
                <a:latin typeface="Staatliches"/>
                <a:ea typeface="Staatliches"/>
                <a:cs typeface="Staatliches"/>
                <a:sym typeface="Staatliches"/>
              </a:endParaRPr>
            </a:p>
            <a:p>
              <a:pPr indent="0" lvl="0" marL="0" rtl="0" algn="ctr">
                <a:spcBef>
                  <a:spcPts val="0"/>
                </a:spcBef>
                <a:spcAft>
                  <a:spcPts val="0"/>
                </a:spcAft>
                <a:buNone/>
              </a:pPr>
              <a:r>
                <a:rPr lang="en" sz="1100">
                  <a:solidFill>
                    <a:schemeClr val="dk1"/>
                  </a:solidFill>
                </a:rPr>
                <a:t>lacks symmetry</a:t>
              </a:r>
              <a:endParaRPr sz="1100">
                <a:solidFill>
                  <a:schemeClr val="dk1"/>
                </a:solidFill>
              </a:endParaRPr>
            </a:p>
          </p:txBody>
        </p:sp>
        <p:pic>
          <p:nvPicPr>
            <p:cNvPr id="337" name="Google Shape;337;p32" title="Screenshot 2025-04-14 at 8.02.46 AM.png"/>
            <p:cNvPicPr preferRelativeResize="0"/>
            <p:nvPr/>
          </p:nvPicPr>
          <p:blipFill rotWithShape="1">
            <a:blip r:embed="rId4">
              <a:alphaModFix/>
            </a:blip>
            <a:srcRect b="0" l="0" r="0" t="13852"/>
            <a:stretch/>
          </p:blipFill>
          <p:spPr>
            <a:xfrm>
              <a:off x="5139400" y="1644992"/>
              <a:ext cx="1638625" cy="557483"/>
            </a:xfrm>
            <a:prstGeom prst="rect">
              <a:avLst/>
            </a:prstGeom>
            <a:noFill/>
            <a:ln>
              <a:noFill/>
            </a:ln>
          </p:spPr>
        </p:pic>
        <p:grpSp>
          <p:nvGrpSpPr>
            <p:cNvPr id="338" name="Google Shape;338;p32"/>
            <p:cNvGrpSpPr/>
            <p:nvPr/>
          </p:nvGrpSpPr>
          <p:grpSpPr>
            <a:xfrm>
              <a:off x="5069588" y="2196591"/>
              <a:ext cx="1778247" cy="853483"/>
              <a:chOff x="6004550" y="2319166"/>
              <a:chExt cx="1778247" cy="853483"/>
            </a:xfrm>
          </p:grpSpPr>
          <p:grpSp>
            <p:nvGrpSpPr>
              <p:cNvPr id="339" name="Google Shape;339;p32"/>
              <p:cNvGrpSpPr/>
              <p:nvPr/>
            </p:nvGrpSpPr>
            <p:grpSpPr>
              <a:xfrm>
                <a:off x="6004550" y="2319166"/>
                <a:ext cx="1778247" cy="853483"/>
                <a:chOff x="4268150" y="2243891"/>
                <a:chExt cx="1778247" cy="853483"/>
              </a:xfrm>
            </p:grpSpPr>
            <p:grpSp>
              <p:nvGrpSpPr>
                <p:cNvPr id="340" name="Google Shape;340;p32"/>
                <p:cNvGrpSpPr/>
                <p:nvPr/>
              </p:nvGrpSpPr>
              <p:grpSpPr>
                <a:xfrm>
                  <a:off x="4268150" y="2243891"/>
                  <a:ext cx="1778247" cy="853483"/>
                  <a:chOff x="5299754" y="2942018"/>
                  <a:chExt cx="1809000" cy="1163100"/>
                </a:xfrm>
              </p:grpSpPr>
              <p:sp>
                <p:nvSpPr>
                  <p:cNvPr id="341" name="Google Shape;341;p32"/>
                  <p:cNvSpPr/>
                  <p:nvPr/>
                </p:nvSpPr>
                <p:spPr>
                  <a:xfrm>
                    <a:off x="5299754" y="2942018"/>
                    <a:ext cx="1809000" cy="11631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42" name="Google Shape;342;p32"/>
                  <p:cNvGrpSpPr/>
                  <p:nvPr/>
                </p:nvGrpSpPr>
                <p:grpSpPr>
                  <a:xfrm>
                    <a:off x="5391728" y="3144898"/>
                    <a:ext cx="1648530" cy="856448"/>
                    <a:chOff x="332550" y="2569512"/>
                    <a:chExt cx="3423739" cy="1515300"/>
                  </a:xfrm>
                </p:grpSpPr>
                <p:cxnSp>
                  <p:nvCxnSpPr>
                    <p:cNvPr id="343" name="Google Shape;343;p32"/>
                    <p:cNvCxnSpPr/>
                    <p:nvPr/>
                  </p:nvCxnSpPr>
                  <p:spPr>
                    <a:xfrm flipH="1">
                      <a:off x="2019969" y="2569512"/>
                      <a:ext cx="9000" cy="1515300"/>
                    </a:xfrm>
                    <a:prstGeom prst="straightConnector1">
                      <a:avLst/>
                    </a:prstGeom>
                    <a:noFill/>
                    <a:ln cap="flat" cmpd="sng" w="9525">
                      <a:solidFill>
                        <a:schemeClr val="dk2"/>
                      </a:solidFill>
                      <a:prstDash val="solid"/>
                      <a:round/>
                      <a:headEnd len="med" w="med" type="none"/>
                      <a:tailEnd len="med" w="med" type="none"/>
                    </a:ln>
                  </p:spPr>
                </p:cxnSp>
                <p:cxnSp>
                  <p:nvCxnSpPr>
                    <p:cNvPr id="344" name="Google Shape;344;p32"/>
                    <p:cNvCxnSpPr/>
                    <p:nvPr/>
                  </p:nvCxnSpPr>
                  <p:spPr>
                    <a:xfrm flipH="1" rot="10800000">
                      <a:off x="332550" y="3412405"/>
                      <a:ext cx="3395700" cy="7800"/>
                    </a:xfrm>
                    <a:prstGeom prst="straightConnector1">
                      <a:avLst/>
                    </a:prstGeom>
                    <a:noFill/>
                    <a:ln cap="flat" cmpd="sng" w="9525">
                      <a:solidFill>
                        <a:schemeClr val="dk2"/>
                      </a:solidFill>
                      <a:prstDash val="solid"/>
                      <a:round/>
                      <a:headEnd len="med" w="med" type="none"/>
                      <a:tailEnd len="med" w="med" type="none"/>
                    </a:ln>
                  </p:spPr>
                </p:cxnSp>
                <p:sp>
                  <p:nvSpPr>
                    <p:cNvPr id="345" name="Google Shape;345;p32"/>
                    <p:cNvSpPr txBox="1"/>
                    <p:nvPr/>
                  </p:nvSpPr>
                  <p:spPr>
                    <a:xfrm>
                      <a:off x="3296389" y="3119858"/>
                      <a:ext cx="459900" cy="81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z</a:t>
                      </a:r>
                      <a:endParaRPr sz="1000">
                        <a:solidFill>
                          <a:schemeClr val="dk2"/>
                        </a:solidFill>
                      </a:endParaRPr>
                    </a:p>
                  </p:txBody>
                </p:sp>
              </p:grpSp>
            </p:grpSp>
            <p:cxnSp>
              <p:nvCxnSpPr>
                <p:cNvPr id="346" name="Google Shape;346;p32"/>
                <p:cNvCxnSpPr/>
                <p:nvPr/>
              </p:nvCxnSpPr>
              <p:spPr>
                <a:xfrm flipH="1" rot="10800000">
                  <a:off x="4477500" y="2746925"/>
                  <a:ext cx="694800" cy="103200"/>
                </a:xfrm>
                <a:prstGeom prst="straightConnector1">
                  <a:avLst/>
                </a:prstGeom>
                <a:noFill/>
                <a:ln cap="flat" cmpd="sng" w="19050">
                  <a:solidFill>
                    <a:srgbClr val="FF00FF"/>
                  </a:solidFill>
                  <a:prstDash val="solid"/>
                  <a:round/>
                  <a:headEnd len="med" w="med" type="none"/>
                  <a:tailEnd len="med" w="med" type="none"/>
                </a:ln>
              </p:spPr>
            </p:cxnSp>
            <p:cxnSp>
              <p:nvCxnSpPr>
                <p:cNvPr id="347" name="Google Shape;347;p32"/>
                <p:cNvCxnSpPr/>
                <p:nvPr/>
              </p:nvCxnSpPr>
              <p:spPr>
                <a:xfrm flipH="1">
                  <a:off x="5172100" y="2421300"/>
                  <a:ext cx="497100" cy="325200"/>
                </a:xfrm>
                <a:prstGeom prst="straightConnector1">
                  <a:avLst/>
                </a:prstGeom>
                <a:noFill/>
                <a:ln cap="flat" cmpd="sng" w="19050">
                  <a:solidFill>
                    <a:srgbClr val="FF00FF"/>
                  </a:solidFill>
                  <a:prstDash val="solid"/>
                  <a:round/>
                  <a:headEnd len="med" w="med" type="none"/>
                  <a:tailEnd len="med" w="med" type="none"/>
                </a:ln>
              </p:spPr>
            </p:cxnSp>
          </p:grpSp>
          <p:sp>
            <p:nvSpPr>
              <p:cNvPr id="348" name="Google Shape;348;p32"/>
              <p:cNvSpPr txBox="1"/>
              <p:nvPr/>
            </p:nvSpPr>
            <p:spPr>
              <a:xfrm>
                <a:off x="6081883" y="2319175"/>
                <a:ext cx="838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ɑ = 0.5</a:t>
                </a:r>
                <a:endParaRPr sz="1000">
                  <a:solidFill>
                    <a:schemeClr val="dk2"/>
                  </a:solidFill>
                </a:endParaRPr>
              </a:p>
            </p:txBody>
          </p:sp>
        </p:grpSp>
      </p:grpSp>
      <p:grpSp>
        <p:nvGrpSpPr>
          <p:cNvPr id="349" name="Google Shape;349;p32"/>
          <p:cNvGrpSpPr/>
          <p:nvPr/>
        </p:nvGrpSpPr>
        <p:grpSpPr>
          <a:xfrm>
            <a:off x="382325" y="1952300"/>
            <a:ext cx="1646907" cy="1197000"/>
            <a:chOff x="382325" y="1952300"/>
            <a:chExt cx="1646907" cy="1197000"/>
          </a:xfrm>
        </p:grpSpPr>
        <p:sp>
          <p:nvSpPr>
            <p:cNvPr id="350" name="Google Shape;350;p32"/>
            <p:cNvSpPr txBox="1"/>
            <p:nvPr/>
          </p:nvSpPr>
          <p:spPr>
            <a:xfrm>
              <a:off x="382325" y="1952300"/>
              <a:ext cx="1533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most commonly used</a:t>
              </a:r>
              <a:endParaRPr/>
            </a:p>
          </p:txBody>
        </p:sp>
        <p:sp>
          <p:nvSpPr>
            <p:cNvPr id="351" name="Google Shape;351;p32"/>
            <p:cNvSpPr/>
            <p:nvPr/>
          </p:nvSpPr>
          <p:spPr>
            <a:xfrm>
              <a:off x="945507" y="2378325"/>
              <a:ext cx="1083725" cy="770975"/>
            </a:xfrm>
            <a:custGeom>
              <a:rect b="b" l="l" r="r" t="t"/>
              <a:pathLst>
                <a:path extrusionOk="0" h="30839" w="43349">
                  <a:moveTo>
                    <a:pt x="652" y="0"/>
                  </a:moveTo>
                  <a:cubicBezTo>
                    <a:pt x="1254" y="5036"/>
                    <a:pt x="-2851" y="26823"/>
                    <a:pt x="4265" y="30217"/>
                  </a:cubicBezTo>
                  <a:cubicBezTo>
                    <a:pt x="11381" y="33611"/>
                    <a:pt x="36836" y="22006"/>
                    <a:pt x="43350" y="20364"/>
                  </a:cubicBezTo>
                </a:path>
              </a:pathLst>
            </a:custGeom>
            <a:noFill/>
            <a:ln cap="flat" cmpd="sng" w="9525">
              <a:solidFill>
                <a:schemeClr val="dk2"/>
              </a:solidFill>
              <a:prstDash val="solid"/>
              <a:round/>
              <a:headEnd len="med" w="med" type="none"/>
              <a:tailEnd len="med" w="med" type="stealth"/>
            </a:ln>
          </p:spPr>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355" name="Shape 355"/>
        <p:cNvGrpSpPr/>
        <p:nvPr/>
      </p:nvGrpSpPr>
      <p:grpSpPr>
        <a:xfrm>
          <a:off x="0" y="0"/>
          <a:ext cx="0" cy="0"/>
          <a:chOff x="0" y="0"/>
          <a:chExt cx="0" cy="0"/>
        </a:xfrm>
      </p:grpSpPr>
      <p:sp>
        <p:nvSpPr>
          <p:cNvPr id="356" name="Google Shape;356;p33"/>
          <p:cNvSpPr txBox="1"/>
          <p:nvPr/>
        </p:nvSpPr>
        <p:spPr>
          <a:xfrm>
            <a:off x="640725" y="318125"/>
            <a:ext cx="6930000" cy="10650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5750">
                <a:solidFill>
                  <a:schemeClr val="lt1"/>
                </a:solidFill>
                <a:latin typeface="Staatliches"/>
                <a:ea typeface="Staatliches"/>
                <a:cs typeface="Staatliches"/>
                <a:sym typeface="Staatliches"/>
              </a:rPr>
              <a:t>HW9#1</a:t>
            </a:r>
            <a:endParaRPr>
              <a:solidFill>
                <a:schemeClr val="lt1"/>
              </a:solidFill>
            </a:endParaRPr>
          </a:p>
          <a:p>
            <a:pPr indent="0" lvl="0" marL="0" rtl="0" algn="l">
              <a:lnSpc>
                <a:spcPct val="80000"/>
              </a:lnSpc>
              <a:spcBef>
                <a:spcPts val="0"/>
              </a:spcBef>
              <a:spcAft>
                <a:spcPts val="0"/>
              </a:spcAft>
              <a:buNone/>
            </a:pPr>
            <a:r>
              <a:rPr lang="en">
                <a:solidFill>
                  <a:schemeClr val="lt1"/>
                </a:solidFill>
              </a:rPr>
              <a:t>Try to answer the following questions</a:t>
            </a:r>
            <a:endParaRPr>
              <a:solidFill>
                <a:schemeClr val="lt1"/>
              </a:solidFill>
            </a:endParaRPr>
          </a:p>
        </p:txBody>
      </p:sp>
      <p:pic>
        <p:nvPicPr>
          <p:cNvPr id="357" name="Google Shape;357;p33" title="Screenshot 2025-04-14 at 1.54.02 PM.png"/>
          <p:cNvPicPr preferRelativeResize="0"/>
          <p:nvPr/>
        </p:nvPicPr>
        <p:blipFill>
          <a:blip r:embed="rId3">
            <a:alphaModFix/>
          </a:blip>
          <a:stretch>
            <a:fillRect/>
          </a:stretch>
        </p:blipFill>
        <p:spPr>
          <a:xfrm>
            <a:off x="597550" y="1383125"/>
            <a:ext cx="7337752" cy="3333326"/>
          </a:xfrm>
          <a:prstGeom prst="rect">
            <a:avLst/>
          </a:prstGeom>
          <a:noFill/>
          <a:ln>
            <a:noFill/>
          </a:ln>
        </p:spPr>
      </p:pic>
      <p:pic>
        <p:nvPicPr>
          <p:cNvPr descr="5 Minute Timer Relaxing Music Lofi Fish Background&#10;&#10;&#10;&#10;&#10;&#10;&#10;TAGS&#10;5 minute&#10;5 minute countdown&#10;5 minute lo-fi hiphop timer&#10;5 minute timer&#10;countdown&#10;lo-fi music&#10;lofi study song&#10;study music&#10;study timer&#10;time&#10;timer&#10;working music&#10;5 minute timer with music&#10;5 minute clock&#10;lofi hiphop&#10;relaxing timers&#10;relaxing music&#10;relaxing lofi timer&#10;nature timer&#10;meditation&#10;meditation music&#10;relaxing sleep music&#10;school timer&#10;sleep timer&#10;chill timer&#10;chill music&#10;lofi timer&#10;lofi hiphop timer&#10;lofi hip hop" id="358" name="Google Shape;358;p33" title="5 Minute Timer Relaxing Music Lofi Fish Background">
            <a:hlinkClick r:id="rId4"/>
          </p:cNvPr>
          <p:cNvPicPr preferRelativeResize="0"/>
          <p:nvPr/>
        </p:nvPicPr>
        <p:blipFill>
          <a:blip r:embed="rId5">
            <a:alphaModFix/>
          </a:blip>
          <a:stretch>
            <a:fillRect/>
          </a:stretch>
        </p:blipFill>
        <p:spPr>
          <a:xfrm>
            <a:off x="8183000" y="4419475"/>
            <a:ext cx="723650" cy="407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4"/>
          <p:cNvSpPr txBox="1"/>
          <p:nvPr/>
        </p:nvSpPr>
        <p:spPr>
          <a:xfrm>
            <a:off x="913525" y="1215375"/>
            <a:ext cx="12678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input layer</a:t>
            </a:r>
            <a:endParaRPr b="1">
              <a:solidFill>
                <a:schemeClr val="dk1"/>
              </a:solidFill>
            </a:endParaRPr>
          </a:p>
        </p:txBody>
      </p:sp>
      <p:cxnSp>
        <p:nvCxnSpPr>
          <p:cNvPr id="364" name="Google Shape;364;p34"/>
          <p:cNvCxnSpPr>
            <a:stCxn id="365" idx="2"/>
          </p:cNvCxnSpPr>
          <p:nvPr/>
        </p:nvCxnSpPr>
        <p:spPr>
          <a:xfrm flipH="1">
            <a:off x="1053125" y="1965325"/>
            <a:ext cx="403800" cy="4800"/>
          </a:xfrm>
          <a:prstGeom prst="straightConnector1">
            <a:avLst/>
          </a:prstGeom>
          <a:noFill/>
          <a:ln cap="flat" cmpd="sng" w="28575">
            <a:solidFill>
              <a:schemeClr val="dk1"/>
            </a:solidFill>
            <a:prstDash val="solid"/>
            <a:round/>
            <a:headEnd len="med" w="med" type="none"/>
            <a:tailEnd len="med" w="med" type="oval"/>
          </a:ln>
        </p:spPr>
      </p:cxnSp>
      <p:cxnSp>
        <p:nvCxnSpPr>
          <p:cNvPr id="366" name="Google Shape;366;p34"/>
          <p:cNvCxnSpPr>
            <a:stCxn id="367" idx="2"/>
          </p:cNvCxnSpPr>
          <p:nvPr/>
        </p:nvCxnSpPr>
        <p:spPr>
          <a:xfrm flipH="1">
            <a:off x="1077725" y="2618625"/>
            <a:ext cx="379200" cy="300"/>
          </a:xfrm>
          <a:prstGeom prst="straightConnector1">
            <a:avLst/>
          </a:prstGeom>
          <a:noFill/>
          <a:ln cap="flat" cmpd="sng" w="28575">
            <a:solidFill>
              <a:schemeClr val="dk1"/>
            </a:solidFill>
            <a:prstDash val="solid"/>
            <a:round/>
            <a:headEnd len="med" w="med" type="none"/>
            <a:tailEnd len="med" w="med" type="oval"/>
          </a:ln>
        </p:spPr>
      </p:cxnSp>
      <p:cxnSp>
        <p:nvCxnSpPr>
          <p:cNvPr id="368" name="Google Shape;368;p34"/>
          <p:cNvCxnSpPr>
            <a:stCxn id="369" idx="2"/>
          </p:cNvCxnSpPr>
          <p:nvPr/>
        </p:nvCxnSpPr>
        <p:spPr>
          <a:xfrm flipH="1">
            <a:off x="1053125" y="3271925"/>
            <a:ext cx="403800" cy="12000"/>
          </a:xfrm>
          <a:prstGeom prst="straightConnector1">
            <a:avLst/>
          </a:prstGeom>
          <a:noFill/>
          <a:ln cap="flat" cmpd="sng" w="28575">
            <a:solidFill>
              <a:schemeClr val="dk1"/>
            </a:solidFill>
            <a:prstDash val="solid"/>
            <a:round/>
            <a:headEnd len="med" w="med" type="none"/>
            <a:tailEnd len="med" w="med" type="oval"/>
          </a:ln>
        </p:spPr>
      </p:cxnSp>
      <p:cxnSp>
        <p:nvCxnSpPr>
          <p:cNvPr id="370" name="Google Shape;370;p34"/>
          <p:cNvCxnSpPr>
            <a:stCxn id="371" idx="2"/>
          </p:cNvCxnSpPr>
          <p:nvPr/>
        </p:nvCxnSpPr>
        <p:spPr>
          <a:xfrm flipH="1">
            <a:off x="1045025" y="3925225"/>
            <a:ext cx="411900" cy="7500"/>
          </a:xfrm>
          <a:prstGeom prst="straightConnector1">
            <a:avLst/>
          </a:prstGeom>
          <a:noFill/>
          <a:ln cap="flat" cmpd="sng" w="28575">
            <a:solidFill>
              <a:schemeClr val="dk1"/>
            </a:solidFill>
            <a:prstDash val="solid"/>
            <a:round/>
            <a:headEnd len="med" w="med" type="none"/>
            <a:tailEnd len="med" w="med" type="oval"/>
          </a:ln>
        </p:spPr>
      </p:cxnSp>
      <p:sp>
        <p:nvSpPr>
          <p:cNvPr id="372" name="Google Shape;372;p34"/>
          <p:cNvSpPr/>
          <p:nvPr/>
        </p:nvSpPr>
        <p:spPr>
          <a:xfrm>
            <a:off x="3056725" y="4337825"/>
            <a:ext cx="478800" cy="46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1</a:t>
            </a:r>
            <a:endParaRPr/>
          </a:p>
        </p:txBody>
      </p:sp>
      <p:grpSp>
        <p:nvGrpSpPr>
          <p:cNvPr id="373" name="Google Shape;373;p34"/>
          <p:cNvGrpSpPr/>
          <p:nvPr/>
        </p:nvGrpSpPr>
        <p:grpSpPr>
          <a:xfrm>
            <a:off x="2897125" y="1218300"/>
            <a:ext cx="2459100" cy="3031800"/>
            <a:chOff x="3201925" y="1446900"/>
            <a:chExt cx="2459100" cy="3031800"/>
          </a:xfrm>
        </p:grpSpPr>
        <p:sp>
          <p:nvSpPr>
            <p:cNvPr id="374" name="Google Shape;374;p34"/>
            <p:cNvSpPr txBox="1"/>
            <p:nvPr/>
          </p:nvSpPr>
          <p:spPr>
            <a:xfrm>
              <a:off x="3201925" y="1446900"/>
              <a:ext cx="24591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hidden</a:t>
              </a:r>
              <a:r>
                <a:rPr b="1" lang="en">
                  <a:solidFill>
                    <a:schemeClr val="dk1"/>
                  </a:solidFill>
                </a:rPr>
                <a:t> layer</a:t>
              </a:r>
              <a:endParaRPr b="1">
                <a:solidFill>
                  <a:schemeClr val="dk1"/>
                </a:solidFill>
              </a:endParaRPr>
            </a:p>
          </p:txBody>
        </p:sp>
        <p:sp>
          <p:nvSpPr>
            <p:cNvPr id="375" name="Google Shape;375;p34"/>
            <p:cNvSpPr/>
            <p:nvPr/>
          </p:nvSpPr>
          <p:spPr>
            <a:xfrm>
              <a:off x="4038350" y="211772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376" name="Google Shape;376;p34"/>
            <p:cNvSpPr/>
            <p:nvPr/>
          </p:nvSpPr>
          <p:spPr>
            <a:xfrm>
              <a:off x="4038350" y="2861350"/>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377" name="Google Shape;377;p34"/>
            <p:cNvSpPr/>
            <p:nvPr/>
          </p:nvSpPr>
          <p:spPr>
            <a:xfrm>
              <a:off x="4038350" y="36554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378" name="Google Shape;378;p34"/>
            <p:cNvSpPr/>
            <p:nvPr/>
          </p:nvSpPr>
          <p:spPr>
            <a:xfrm>
              <a:off x="4925525" y="2117725"/>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sp>
          <p:nvSpPr>
            <p:cNvPr id="379" name="Google Shape;379;p34"/>
            <p:cNvSpPr/>
            <p:nvPr/>
          </p:nvSpPr>
          <p:spPr>
            <a:xfrm>
              <a:off x="4925525" y="2861350"/>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sp>
          <p:nvSpPr>
            <p:cNvPr id="380" name="Google Shape;380;p34"/>
            <p:cNvSpPr/>
            <p:nvPr/>
          </p:nvSpPr>
          <p:spPr>
            <a:xfrm>
              <a:off x="4925525" y="3645125"/>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grpSp>
      <p:grpSp>
        <p:nvGrpSpPr>
          <p:cNvPr id="381" name="Google Shape;381;p34"/>
          <p:cNvGrpSpPr/>
          <p:nvPr/>
        </p:nvGrpSpPr>
        <p:grpSpPr>
          <a:xfrm>
            <a:off x="5703500" y="1215375"/>
            <a:ext cx="2459100" cy="3031800"/>
            <a:chOff x="6008300" y="1443975"/>
            <a:chExt cx="2459100" cy="3031800"/>
          </a:xfrm>
        </p:grpSpPr>
        <p:sp>
          <p:nvSpPr>
            <p:cNvPr id="382" name="Google Shape;382;p34"/>
            <p:cNvSpPr txBox="1"/>
            <p:nvPr/>
          </p:nvSpPr>
          <p:spPr>
            <a:xfrm>
              <a:off x="6008300" y="1443975"/>
              <a:ext cx="24591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output</a:t>
              </a:r>
              <a:r>
                <a:rPr b="1" lang="en">
                  <a:solidFill>
                    <a:schemeClr val="dk1"/>
                  </a:solidFill>
                </a:rPr>
                <a:t> layer</a:t>
              </a:r>
              <a:endParaRPr b="1">
                <a:solidFill>
                  <a:schemeClr val="dk1"/>
                </a:solidFill>
              </a:endParaRPr>
            </a:p>
          </p:txBody>
        </p:sp>
        <p:sp>
          <p:nvSpPr>
            <p:cNvPr id="383" name="Google Shape;383;p34"/>
            <p:cNvSpPr/>
            <p:nvPr/>
          </p:nvSpPr>
          <p:spPr>
            <a:xfrm>
              <a:off x="6785500" y="28070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grpSp>
      <p:sp>
        <p:nvSpPr>
          <p:cNvPr id="384" name="Google Shape;384;p34"/>
          <p:cNvSpPr/>
          <p:nvPr/>
        </p:nvSpPr>
        <p:spPr>
          <a:xfrm>
            <a:off x="7287350" y="2724875"/>
            <a:ext cx="168000" cy="169500"/>
          </a:xfrm>
          <a:prstGeom prst="ellipse">
            <a:avLst/>
          </a:prstGeom>
          <a:solidFill>
            <a:srgbClr val="949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85" name="Google Shape;385;p34"/>
          <p:cNvSpPr txBox="1"/>
          <p:nvPr/>
        </p:nvSpPr>
        <p:spPr>
          <a:xfrm>
            <a:off x="974625" y="500675"/>
            <a:ext cx="801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A small </a:t>
            </a:r>
            <a:r>
              <a:rPr b="1" lang="en">
                <a:solidFill>
                  <a:schemeClr val="dk2"/>
                </a:solidFill>
              </a:rPr>
              <a:t>neural</a:t>
            </a:r>
            <a:r>
              <a:rPr b="1" lang="en">
                <a:solidFill>
                  <a:schemeClr val="dk2"/>
                </a:solidFill>
              </a:rPr>
              <a:t> network for a binary classifier with four inputs and one hidden layer</a:t>
            </a:r>
            <a:endParaRPr b="1">
              <a:solidFill>
                <a:schemeClr val="dk2"/>
              </a:solidFill>
            </a:endParaRPr>
          </a:p>
        </p:txBody>
      </p:sp>
      <p:sp>
        <p:nvSpPr>
          <p:cNvPr id="365" name="Google Shape;365;p34"/>
          <p:cNvSpPr/>
          <p:nvPr/>
        </p:nvSpPr>
        <p:spPr>
          <a:xfrm>
            <a:off x="1456925" y="17341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1</a:t>
            </a:r>
            <a:endParaRPr>
              <a:solidFill>
                <a:schemeClr val="dk1"/>
              </a:solidFill>
            </a:endParaRPr>
          </a:p>
        </p:txBody>
      </p:sp>
      <p:sp>
        <p:nvSpPr>
          <p:cNvPr id="367" name="Google Shape;367;p34"/>
          <p:cNvSpPr/>
          <p:nvPr/>
        </p:nvSpPr>
        <p:spPr>
          <a:xfrm>
            <a:off x="1456925" y="23874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2</a:t>
            </a:r>
            <a:endParaRPr>
              <a:solidFill>
                <a:schemeClr val="dk1"/>
              </a:solidFill>
            </a:endParaRPr>
          </a:p>
        </p:txBody>
      </p:sp>
      <p:sp>
        <p:nvSpPr>
          <p:cNvPr id="369" name="Google Shape;369;p34"/>
          <p:cNvSpPr/>
          <p:nvPr/>
        </p:nvSpPr>
        <p:spPr>
          <a:xfrm>
            <a:off x="1456925" y="30407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3</a:t>
            </a:r>
            <a:endParaRPr>
              <a:solidFill>
                <a:schemeClr val="dk1"/>
              </a:solidFill>
            </a:endParaRPr>
          </a:p>
        </p:txBody>
      </p:sp>
      <p:sp>
        <p:nvSpPr>
          <p:cNvPr id="371" name="Google Shape;371;p34"/>
          <p:cNvSpPr/>
          <p:nvPr/>
        </p:nvSpPr>
        <p:spPr>
          <a:xfrm>
            <a:off x="1456925" y="36940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4</a:t>
            </a:r>
            <a:endParaRPr>
              <a:solidFill>
                <a:schemeClr val="dk1"/>
              </a:solidFill>
            </a:endParaRPr>
          </a:p>
        </p:txBody>
      </p:sp>
      <p:grpSp>
        <p:nvGrpSpPr>
          <p:cNvPr id="386" name="Google Shape;386;p34"/>
          <p:cNvGrpSpPr/>
          <p:nvPr/>
        </p:nvGrpSpPr>
        <p:grpSpPr>
          <a:xfrm>
            <a:off x="1935650" y="1965325"/>
            <a:ext cx="1797975" cy="1959900"/>
            <a:chOff x="2240450" y="2193925"/>
            <a:chExt cx="1797975" cy="1959900"/>
          </a:xfrm>
        </p:grpSpPr>
        <p:cxnSp>
          <p:nvCxnSpPr>
            <p:cNvPr id="387" name="Google Shape;387;p34"/>
            <p:cNvCxnSpPr>
              <a:stCxn id="365" idx="6"/>
              <a:endCxn id="375" idx="2"/>
            </p:cNvCxnSpPr>
            <p:nvPr/>
          </p:nvCxnSpPr>
          <p:spPr>
            <a:xfrm>
              <a:off x="2240525" y="2193925"/>
              <a:ext cx="1797900" cy="155100"/>
            </a:xfrm>
            <a:prstGeom prst="straightConnector1">
              <a:avLst/>
            </a:prstGeom>
            <a:noFill/>
            <a:ln cap="flat" cmpd="sng" w="9525">
              <a:solidFill>
                <a:schemeClr val="dk2"/>
              </a:solidFill>
              <a:prstDash val="solid"/>
              <a:round/>
              <a:headEnd len="med" w="med" type="none"/>
              <a:tailEnd len="med" w="med" type="none"/>
            </a:ln>
          </p:spPr>
        </p:cxnSp>
        <p:cxnSp>
          <p:nvCxnSpPr>
            <p:cNvPr id="388" name="Google Shape;388;p34"/>
            <p:cNvCxnSpPr>
              <a:endCxn id="375" idx="2"/>
            </p:cNvCxnSpPr>
            <p:nvPr/>
          </p:nvCxnSpPr>
          <p:spPr>
            <a:xfrm flipH="1" rot="10800000">
              <a:off x="2240450" y="2348875"/>
              <a:ext cx="1797900" cy="498300"/>
            </a:xfrm>
            <a:prstGeom prst="straightConnector1">
              <a:avLst/>
            </a:prstGeom>
            <a:noFill/>
            <a:ln cap="flat" cmpd="sng" w="9525">
              <a:solidFill>
                <a:schemeClr val="dk2"/>
              </a:solidFill>
              <a:prstDash val="solid"/>
              <a:round/>
              <a:headEnd len="med" w="med" type="none"/>
              <a:tailEnd len="med" w="med" type="none"/>
            </a:ln>
          </p:spPr>
        </p:cxnSp>
        <p:cxnSp>
          <p:nvCxnSpPr>
            <p:cNvPr id="389" name="Google Shape;389;p34"/>
            <p:cNvCxnSpPr>
              <a:stCxn id="369" idx="6"/>
              <a:endCxn id="375" idx="2"/>
            </p:cNvCxnSpPr>
            <p:nvPr/>
          </p:nvCxnSpPr>
          <p:spPr>
            <a:xfrm flipH="1" rot="10800000">
              <a:off x="2240525" y="2348825"/>
              <a:ext cx="1797900" cy="1151700"/>
            </a:xfrm>
            <a:prstGeom prst="straightConnector1">
              <a:avLst/>
            </a:prstGeom>
            <a:noFill/>
            <a:ln cap="flat" cmpd="sng" w="9525">
              <a:solidFill>
                <a:schemeClr val="dk2"/>
              </a:solidFill>
              <a:prstDash val="solid"/>
              <a:round/>
              <a:headEnd len="med" w="med" type="none"/>
              <a:tailEnd len="med" w="med" type="none"/>
            </a:ln>
          </p:spPr>
        </p:cxnSp>
        <p:cxnSp>
          <p:nvCxnSpPr>
            <p:cNvPr id="390" name="Google Shape;390;p34"/>
            <p:cNvCxnSpPr>
              <a:stCxn id="371" idx="6"/>
              <a:endCxn id="375" idx="2"/>
            </p:cNvCxnSpPr>
            <p:nvPr/>
          </p:nvCxnSpPr>
          <p:spPr>
            <a:xfrm flipH="1" rot="10800000">
              <a:off x="2240525" y="2349025"/>
              <a:ext cx="1797900" cy="1804800"/>
            </a:xfrm>
            <a:prstGeom prst="straightConnector1">
              <a:avLst/>
            </a:prstGeom>
            <a:noFill/>
            <a:ln cap="flat" cmpd="sng" w="9525">
              <a:solidFill>
                <a:schemeClr val="dk2"/>
              </a:solidFill>
              <a:prstDash val="solid"/>
              <a:round/>
              <a:headEnd len="med" w="med" type="none"/>
              <a:tailEnd len="med" w="med" type="none"/>
            </a:ln>
          </p:spPr>
        </p:cxnSp>
      </p:grpSp>
      <p:grpSp>
        <p:nvGrpSpPr>
          <p:cNvPr id="391" name="Google Shape;391;p34"/>
          <p:cNvGrpSpPr/>
          <p:nvPr/>
        </p:nvGrpSpPr>
        <p:grpSpPr>
          <a:xfrm>
            <a:off x="1935725" y="1965325"/>
            <a:ext cx="1797900" cy="1959900"/>
            <a:chOff x="2240525" y="2193925"/>
            <a:chExt cx="1797900" cy="1959900"/>
          </a:xfrm>
        </p:grpSpPr>
        <p:cxnSp>
          <p:nvCxnSpPr>
            <p:cNvPr id="392" name="Google Shape;392;p34"/>
            <p:cNvCxnSpPr>
              <a:stCxn id="365" idx="6"/>
              <a:endCxn id="376" idx="2"/>
            </p:cNvCxnSpPr>
            <p:nvPr/>
          </p:nvCxnSpPr>
          <p:spPr>
            <a:xfrm>
              <a:off x="2240525" y="2193925"/>
              <a:ext cx="1797900" cy="898500"/>
            </a:xfrm>
            <a:prstGeom prst="straightConnector1">
              <a:avLst/>
            </a:prstGeom>
            <a:noFill/>
            <a:ln cap="flat" cmpd="sng" w="9525">
              <a:solidFill>
                <a:schemeClr val="dk2"/>
              </a:solidFill>
              <a:prstDash val="solid"/>
              <a:round/>
              <a:headEnd len="med" w="med" type="none"/>
              <a:tailEnd len="med" w="med" type="none"/>
            </a:ln>
          </p:spPr>
        </p:cxnSp>
        <p:cxnSp>
          <p:nvCxnSpPr>
            <p:cNvPr id="393" name="Google Shape;393;p34"/>
            <p:cNvCxnSpPr>
              <a:stCxn id="367" idx="6"/>
              <a:endCxn id="376" idx="2"/>
            </p:cNvCxnSpPr>
            <p:nvPr/>
          </p:nvCxnSpPr>
          <p:spPr>
            <a:xfrm>
              <a:off x="2240525" y="2847225"/>
              <a:ext cx="1797900" cy="245400"/>
            </a:xfrm>
            <a:prstGeom prst="straightConnector1">
              <a:avLst/>
            </a:prstGeom>
            <a:noFill/>
            <a:ln cap="flat" cmpd="sng" w="9525">
              <a:solidFill>
                <a:schemeClr val="dk2"/>
              </a:solidFill>
              <a:prstDash val="solid"/>
              <a:round/>
              <a:headEnd len="med" w="med" type="none"/>
              <a:tailEnd len="med" w="med" type="none"/>
            </a:ln>
          </p:spPr>
        </p:cxnSp>
        <p:cxnSp>
          <p:nvCxnSpPr>
            <p:cNvPr id="394" name="Google Shape;394;p34"/>
            <p:cNvCxnSpPr>
              <a:stCxn id="369" idx="6"/>
              <a:endCxn id="376" idx="2"/>
            </p:cNvCxnSpPr>
            <p:nvPr/>
          </p:nvCxnSpPr>
          <p:spPr>
            <a:xfrm flipH="1" rot="10800000">
              <a:off x="2240525" y="3092525"/>
              <a:ext cx="1797900" cy="408000"/>
            </a:xfrm>
            <a:prstGeom prst="straightConnector1">
              <a:avLst/>
            </a:prstGeom>
            <a:noFill/>
            <a:ln cap="flat" cmpd="sng" w="9525">
              <a:solidFill>
                <a:schemeClr val="dk2"/>
              </a:solidFill>
              <a:prstDash val="solid"/>
              <a:round/>
              <a:headEnd len="med" w="med" type="none"/>
              <a:tailEnd len="med" w="med" type="none"/>
            </a:ln>
          </p:spPr>
        </p:cxnSp>
        <p:cxnSp>
          <p:nvCxnSpPr>
            <p:cNvPr id="395" name="Google Shape;395;p34"/>
            <p:cNvCxnSpPr>
              <a:stCxn id="371" idx="6"/>
              <a:endCxn id="376" idx="2"/>
            </p:cNvCxnSpPr>
            <p:nvPr/>
          </p:nvCxnSpPr>
          <p:spPr>
            <a:xfrm flipH="1" rot="10800000">
              <a:off x="2240525" y="3092425"/>
              <a:ext cx="1797900" cy="1061400"/>
            </a:xfrm>
            <a:prstGeom prst="straightConnector1">
              <a:avLst/>
            </a:prstGeom>
            <a:noFill/>
            <a:ln cap="flat" cmpd="sng" w="9525">
              <a:solidFill>
                <a:schemeClr val="dk2"/>
              </a:solidFill>
              <a:prstDash val="solid"/>
              <a:round/>
              <a:headEnd len="med" w="med" type="none"/>
              <a:tailEnd len="med" w="med" type="none"/>
            </a:ln>
          </p:spPr>
        </p:cxnSp>
      </p:grpSp>
      <p:grpSp>
        <p:nvGrpSpPr>
          <p:cNvPr id="396" name="Google Shape;396;p34"/>
          <p:cNvGrpSpPr/>
          <p:nvPr/>
        </p:nvGrpSpPr>
        <p:grpSpPr>
          <a:xfrm>
            <a:off x="1935725" y="1965325"/>
            <a:ext cx="1797900" cy="1959900"/>
            <a:chOff x="2240525" y="2193925"/>
            <a:chExt cx="1797900" cy="1959900"/>
          </a:xfrm>
        </p:grpSpPr>
        <p:cxnSp>
          <p:nvCxnSpPr>
            <p:cNvPr id="397" name="Google Shape;397;p34"/>
            <p:cNvCxnSpPr>
              <a:stCxn id="365" idx="6"/>
              <a:endCxn id="377" idx="2"/>
            </p:cNvCxnSpPr>
            <p:nvPr/>
          </p:nvCxnSpPr>
          <p:spPr>
            <a:xfrm>
              <a:off x="2240525" y="2193925"/>
              <a:ext cx="1797900" cy="1692600"/>
            </a:xfrm>
            <a:prstGeom prst="straightConnector1">
              <a:avLst/>
            </a:prstGeom>
            <a:noFill/>
            <a:ln cap="flat" cmpd="sng" w="9525">
              <a:solidFill>
                <a:schemeClr val="dk2"/>
              </a:solidFill>
              <a:prstDash val="solid"/>
              <a:round/>
              <a:headEnd len="med" w="med" type="none"/>
              <a:tailEnd len="med" w="med" type="none"/>
            </a:ln>
          </p:spPr>
        </p:cxnSp>
        <p:cxnSp>
          <p:nvCxnSpPr>
            <p:cNvPr id="398" name="Google Shape;398;p34"/>
            <p:cNvCxnSpPr>
              <a:stCxn id="367" idx="6"/>
              <a:endCxn id="377" idx="2"/>
            </p:cNvCxnSpPr>
            <p:nvPr/>
          </p:nvCxnSpPr>
          <p:spPr>
            <a:xfrm>
              <a:off x="2240525" y="2847225"/>
              <a:ext cx="1797900" cy="1039500"/>
            </a:xfrm>
            <a:prstGeom prst="straightConnector1">
              <a:avLst/>
            </a:prstGeom>
            <a:noFill/>
            <a:ln cap="flat" cmpd="sng" w="9525">
              <a:solidFill>
                <a:schemeClr val="dk2"/>
              </a:solidFill>
              <a:prstDash val="solid"/>
              <a:round/>
              <a:headEnd len="med" w="med" type="none"/>
              <a:tailEnd len="med" w="med" type="none"/>
            </a:ln>
          </p:spPr>
        </p:cxnSp>
        <p:cxnSp>
          <p:nvCxnSpPr>
            <p:cNvPr id="399" name="Google Shape;399;p34"/>
            <p:cNvCxnSpPr>
              <a:stCxn id="369" idx="6"/>
              <a:endCxn id="377" idx="2"/>
            </p:cNvCxnSpPr>
            <p:nvPr/>
          </p:nvCxnSpPr>
          <p:spPr>
            <a:xfrm>
              <a:off x="2240525" y="3500525"/>
              <a:ext cx="1797900" cy="386100"/>
            </a:xfrm>
            <a:prstGeom prst="straightConnector1">
              <a:avLst/>
            </a:prstGeom>
            <a:noFill/>
            <a:ln cap="flat" cmpd="sng" w="9525">
              <a:solidFill>
                <a:schemeClr val="dk2"/>
              </a:solidFill>
              <a:prstDash val="solid"/>
              <a:round/>
              <a:headEnd len="med" w="med" type="none"/>
              <a:tailEnd len="med" w="med" type="none"/>
            </a:ln>
          </p:spPr>
        </p:cxnSp>
        <p:cxnSp>
          <p:nvCxnSpPr>
            <p:cNvPr id="400" name="Google Shape;400;p34"/>
            <p:cNvCxnSpPr>
              <a:stCxn id="371" idx="6"/>
              <a:endCxn id="377" idx="2"/>
            </p:cNvCxnSpPr>
            <p:nvPr/>
          </p:nvCxnSpPr>
          <p:spPr>
            <a:xfrm flipH="1" rot="10800000">
              <a:off x="2240525" y="3886525"/>
              <a:ext cx="1797900" cy="267300"/>
            </a:xfrm>
            <a:prstGeom prst="straightConnector1">
              <a:avLst/>
            </a:prstGeom>
            <a:noFill/>
            <a:ln cap="flat" cmpd="sng" w="9525">
              <a:solidFill>
                <a:schemeClr val="dk2"/>
              </a:solidFill>
              <a:prstDash val="solid"/>
              <a:round/>
              <a:headEnd len="med" w="med" type="none"/>
              <a:tailEnd len="med" w="med" type="none"/>
            </a:ln>
          </p:spPr>
        </p:cxnSp>
      </p:grpSp>
      <p:grpSp>
        <p:nvGrpSpPr>
          <p:cNvPr id="401" name="Google Shape;401;p34"/>
          <p:cNvGrpSpPr/>
          <p:nvPr/>
        </p:nvGrpSpPr>
        <p:grpSpPr>
          <a:xfrm>
            <a:off x="3296125" y="2120275"/>
            <a:ext cx="437425" cy="2217600"/>
            <a:chOff x="3600925" y="2348875"/>
            <a:chExt cx="437425" cy="2217600"/>
          </a:xfrm>
        </p:grpSpPr>
        <p:cxnSp>
          <p:nvCxnSpPr>
            <p:cNvPr id="402" name="Google Shape;402;p34"/>
            <p:cNvCxnSpPr>
              <a:stCxn id="372" idx="0"/>
              <a:endCxn id="377" idx="2"/>
            </p:cNvCxnSpPr>
            <p:nvPr/>
          </p:nvCxnSpPr>
          <p:spPr>
            <a:xfrm flipH="1" rot="10800000">
              <a:off x="3600925" y="3886625"/>
              <a:ext cx="437400" cy="679800"/>
            </a:xfrm>
            <a:prstGeom prst="straightConnector1">
              <a:avLst/>
            </a:prstGeom>
            <a:noFill/>
            <a:ln cap="flat" cmpd="sng" w="9525">
              <a:solidFill>
                <a:schemeClr val="dk2"/>
              </a:solidFill>
              <a:prstDash val="solid"/>
              <a:round/>
              <a:headEnd len="med" w="med" type="none"/>
              <a:tailEnd len="med" w="med" type="none"/>
            </a:ln>
          </p:spPr>
        </p:cxnSp>
        <p:cxnSp>
          <p:nvCxnSpPr>
            <p:cNvPr id="403" name="Google Shape;403;p34"/>
            <p:cNvCxnSpPr>
              <a:stCxn id="376" idx="2"/>
              <a:endCxn id="372" idx="0"/>
            </p:cNvCxnSpPr>
            <p:nvPr/>
          </p:nvCxnSpPr>
          <p:spPr>
            <a:xfrm flipH="1">
              <a:off x="3600950" y="3092500"/>
              <a:ext cx="437400" cy="1473900"/>
            </a:xfrm>
            <a:prstGeom prst="straightConnector1">
              <a:avLst/>
            </a:prstGeom>
            <a:noFill/>
            <a:ln cap="flat" cmpd="sng" w="9525">
              <a:solidFill>
                <a:schemeClr val="dk2"/>
              </a:solidFill>
              <a:prstDash val="solid"/>
              <a:round/>
              <a:headEnd len="med" w="med" type="none"/>
              <a:tailEnd len="med" w="med" type="none"/>
            </a:ln>
          </p:spPr>
        </p:cxnSp>
        <p:cxnSp>
          <p:nvCxnSpPr>
            <p:cNvPr id="404" name="Google Shape;404;p34"/>
            <p:cNvCxnSpPr>
              <a:stCxn id="375" idx="2"/>
              <a:endCxn id="372" idx="0"/>
            </p:cNvCxnSpPr>
            <p:nvPr/>
          </p:nvCxnSpPr>
          <p:spPr>
            <a:xfrm flipH="1">
              <a:off x="3600950" y="2348875"/>
              <a:ext cx="437400" cy="2217600"/>
            </a:xfrm>
            <a:prstGeom prst="straightConnector1">
              <a:avLst/>
            </a:prstGeom>
            <a:noFill/>
            <a:ln cap="flat" cmpd="sng" w="9525">
              <a:solidFill>
                <a:schemeClr val="dk2"/>
              </a:solidFill>
              <a:prstDash val="solid"/>
              <a:round/>
              <a:headEnd len="med" w="med" type="none"/>
              <a:tailEnd len="med" w="med" type="none"/>
            </a:ln>
          </p:spPr>
        </p:cxnSp>
      </p:grpSp>
      <p:grpSp>
        <p:nvGrpSpPr>
          <p:cNvPr id="405" name="Google Shape;405;p34"/>
          <p:cNvGrpSpPr/>
          <p:nvPr/>
        </p:nvGrpSpPr>
        <p:grpSpPr>
          <a:xfrm>
            <a:off x="4212350" y="2120275"/>
            <a:ext cx="408300" cy="1537750"/>
            <a:chOff x="4517150" y="2348875"/>
            <a:chExt cx="408300" cy="1537750"/>
          </a:xfrm>
        </p:grpSpPr>
        <p:cxnSp>
          <p:nvCxnSpPr>
            <p:cNvPr id="406" name="Google Shape;406;p34"/>
            <p:cNvCxnSpPr>
              <a:stCxn id="375" idx="6"/>
              <a:endCxn id="378" idx="2"/>
            </p:cNvCxnSpPr>
            <p:nvPr/>
          </p:nvCxnSpPr>
          <p:spPr>
            <a:xfrm>
              <a:off x="4517150" y="2348875"/>
              <a:ext cx="408300" cy="0"/>
            </a:xfrm>
            <a:prstGeom prst="straightConnector1">
              <a:avLst/>
            </a:prstGeom>
            <a:noFill/>
            <a:ln cap="flat" cmpd="sng" w="9525">
              <a:solidFill>
                <a:schemeClr val="dk2"/>
              </a:solidFill>
              <a:prstDash val="solid"/>
              <a:round/>
              <a:headEnd len="med" w="med" type="none"/>
              <a:tailEnd len="med" w="med" type="none"/>
            </a:ln>
          </p:spPr>
        </p:cxnSp>
        <p:cxnSp>
          <p:nvCxnSpPr>
            <p:cNvPr id="407" name="Google Shape;407;p34"/>
            <p:cNvCxnSpPr>
              <a:stCxn id="376" idx="6"/>
              <a:endCxn id="379" idx="2"/>
            </p:cNvCxnSpPr>
            <p:nvPr/>
          </p:nvCxnSpPr>
          <p:spPr>
            <a:xfrm>
              <a:off x="4517150" y="3092500"/>
              <a:ext cx="408300" cy="0"/>
            </a:xfrm>
            <a:prstGeom prst="straightConnector1">
              <a:avLst/>
            </a:prstGeom>
            <a:noFill/>
            <a:ln cap="flat" cmpd="sng" w="9525">
              <a:solidFill>
                <a:schemeClr val="dk2"/>
              </a:solidFill>
              <a:prstDash val="solid"/>
              <a:round/>
              <a:headEnd len="med" w="med" type="none"/>
              <a:tailEnd len="med" w="med" type="none"/>
            </a:ln>
          </p:spPr>
        </p:cxnSp>
        <p:cxnSp>
          <p:nvCxnSpPr>
            <p:cNvPr id="408" name="Google Shape;408;p34"/>
            <p:cNvCxnSpPr>
              <a:stCxn id="377" idx="6"/>
              <a:endCxn id="380" idx="2"/>
            </p:cNvCxnSpPr>
            <p:nvPr/>
          </p:nvCxnSpPr>
          <p:spPr>
            <a:xfrm flipH="1" rot="10800000">
              <a:off x="4517150" y="3876125"/>
              <a:ext cx="408300" cy="10500"/>
            </a:xfrm>
            <a:prstGeom prst="straightConnector1">
              <a:avLst/>
            </a:prstGeom>
            <a:noFill/>
            <a:ln cap="flat" cmpd="sng" w="9525">
              <a:solidFill>
                <a:schemeClr val="dk2"/>
              </a:solidFill>
              <a:prstDash val="solid"/>
              <a:round/>
              <a:headEnd len="med" w="med" type="none"/>
              <a:tailEnd len="med" w="med" type="none"/>
            </a:ln>
          </p:spPr>
        </p:cxnSp>
      </p:grpSp>
      <p:grpSp>
        <p:nvGrpSpPr>
          <p:cNvPr id="409" name="Google Shape;409;p34"/>
          <p:cNvGrpSpPr/>
          <p:nvPr/>
        </p:nvGrpSpPr>
        <p:grpSpPr>
          <a:xfrm>
            <a:off x="5099525" y="2120275"/>
            <a:ext cx="1381200" cy="2679850"/>
            <a:chOff x="5404325" y="2348875"/>
            <a:chExt cx="1381200" cy="2679850"/>
          </a:xfrm>
        </p:grpSpPr>
        <p:sp>
          <p:nvSpPr>
            <p:cNvPr id="410" name="Google Shape;410;p34"/>
            <p:cNvSpPr/>
            <p:nvPr/>
          </p:nvSpPr>
          <p:spPr>
            <a:xfrm>
              <a:off x="5935150" y="4566425"/>
              <a:ext cx="478800" cy="46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1</a:t>
              </a:r>
              <a:endParaRPr/>
            </a:p>
          </p:txBody>
        </p:sp>
        <p:cxnSp>
          <p:nvCxnSpPr>
            <p:cNvPr id="411" name="Google Shape;411;p34"/>
            <p:cNvCxnSpPr>
              <a:stCxn id="378" idx="6"/>
              <a:endCxn id="383" idx="2"/>
            </p:cNvCxnSpPr>
            <p:nvPr/>
          </p:nvCxnSpPr>
          <p:spPr>
            <a:xfrm>
              <a:off x="5404325" y="2348875"/>
              <a:ext cx="1381200" cy="689400"/>
            </a:xfrm>
            <a:prstGeom prst="straightConnector1">
              <a:avLst/>
            </a:prstGeom>
            <a:noFill/>
            <a:ln cap="flat" cmpd="sng" w="9525">
              <a:solidFill>
                <a:schemeClr val="dk2"/>
              </a:solidFill>
              <a:prstDash val="solid"/>
              <a:round/>
              <a:headEnd len="med" w="med" type="none"/>
              <a:tailEnd len="med" w="med" type="none"/>
            </a:ln>
          </p:spPr>
        </p:cxnSp>
        <p:cxnSp>
          <p:nvCxnSpPr>
            <p:cNvPr id="412" name="Google Shape;412;p34"/>
            <p:cNvCxnSpPr>
              <a:stCxn id="379" idx="6"/>
              <a:endCxn id="383" idx="2"/>
            </p:cNvCxnSpPr>
            <p:nvPr/>
          </p:nvCxnSpPr>
          <p:spPr>
            <a:xfrm flipH="1" rot="10800000">
              <a:off x="5404325" y="3038200"/>
              <a:ext cx="1381200" cy="54300"/>
            </a:xfrm>
            <a:prstGeom prst="straightConnector1">
              <a:avLst/>
            </a:prstGeom>
            <a:noFill/>
            <a:ln cap="flat" cmpd="sng" w="9525">
              <a:solidFill>
                <a:schemeClr val="dk2"/>
              </a:solidFill>
              <a:prstDash val="solid"/>
              <a:round/>
              <a:headEnd len="med" w="med" type="none"/>
              <a:tailEnd len="med" w="med" type="none"/>
            </a:ln>
          </p:spPr>
        </p:cxnSp>
        <p:cxnSp>
          <p:nvCxnSpPr>
            <p:cNvPr id="413" name="Google Shape;413;p34"/>
            <p:cNvCxnSpPr>
              <a:stCxn id="380" idx="6"/>
              <a:endCxn id="383" idx="2"/>
            </p:cNvCxnSpPr>
            <p:nvPr/>
          </p:nvCxnSpPr>
          <p:spPr>
            <a:xfrm flipH="1" rot="10800000">
              <a:off x="5404325" y="3038375"/>
              <a:ext cx="1381200" cy="837900"/>
            </a:xfrm>
            <a:prstGeom prst="straightConnector1">
              <a:avLst/>
            </a:prstGeom>
            <a:noFill/>
            <a:ln cap="flat" cmpd="sng" w="9525">
              <a:solidFill>
                <a:schemeClr val="dk2"/>
              </a:solidFill>
              <a:prstDash val="solid"/>
              <a:round/>
              <a:headEnd len="med" w="med" type="none"/>
              <a:tailEnd len="med" w="med" type="none"/>
            </a:ln>
          </p:spPr>
        </p:cxnSp>
        <p:cxnSp>
          <p:nvCxnSpPr>
            <p:cNvPr id="414" name="Google Shape;414;p34"/>
            <p:cNvCxnSpPr>
              <a:stCxn id="410" idx="7"/>
              <a:endCxn id="383" idx="2"/>
            </p:cNvCxnSpPr>
            <p:nvPr/>
          </p:nvCxnSpPr>
          <p:spPr>
            <a:xfrm flipH="1" rot="10800000">
              <a:off x="6343831" y="3038127"/>
              <a:ext cx="441600" cy="1596000"/>
            </a:xfrm>
            <a:prstGeom prst="straightConnector1">
              <a:avLst/>
            </a:prstGeom>
            <a:noFill/>
            <a:ln cap="flat" cmpd="sng" w="9525">
              <a:solidFill>
                <a:schemeClr val="dk2"/>
              </a:solidFill>
              <a:prstDash val="solid"/>
              <a:round/>
              <a:headEnd len="med" w="med" type="none"/>
              <a:tailEnd len="med" w="med" type="none"/>
            </a:ln>
          </p:spPr>
        </p:cxnSp>
      </p:grpSp>
      <p:cxnSp>
        <p:nvCxnSpPr>
          <p:cNvPr id="415" name="Google Shape;415;p34"/>
          <p:cNvCxnSpPr>
            <a:stCxn id="383" idx="6"/>
            <a:endCxn id="416" idx="2"/>
          </p:cNvCxnSpPr>
          <p:nvPr/>
        </p:nvCxnSpPr>
        <p:spPr>
          <a:xfrm>
            <a:off x="6959500" y="2809625"/>
            <a:ext cx="3672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0" name="Shape 420"/>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421" name="Google Shape;421;p35"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
        <p:nvSpPr>
          <p:cNvPr id="422" name="Google Shape;422;p35"/>
          <p:cNvSpPr/>
          <p:nvPr/>
        </p:nvSpPr>
        <p:spPr>
          <a:xfrm>
            <a:off x="2166300" y="1146750"/>
            <a:ext cx="4811400" cy="2850000"/>
          </a:xfrm>
          <a:prstGeom prst="roundRect">
            <a:avLst>
              <a:gd fmla="val 16667" name="adj"/>
            </a:avLst>
          </a:prstGeom>
          <a:solidFill>
            <a:srgbClr val="9D9F24"/>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 sz="4950">
                <a:solidFill>
                  <a:schemeClr val="dk1"/>
                </a:solidFill>
                <a:latin typeface="Staatliches"/>
                <a:ea typeface="Staatliches"/>
                <a:cs typeface="Staatliches"/>
                <a:sym typeface="Staatliches"/>
              </a:rPr>
              <a:t>Machine Learning</a:t>
            </a:r>
            <a:endParaRPr sz="495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2538">
                <a:solidFill>
                  <a:schemeClr val="dk1"/>
                </a:solidFill>
                <a:latin typeface="Staatliches"/>
                <a:ea typeface="Staatliches"/>
                <a:cs typeface="Staatliches"/>
                <a:sym typeface="Staatliches"/>
              </a:rPr>
              <a:t>With python</a:t>
            </a:r>
            <a:endParaRPr sz="2538">
              <a:solidFill>
                <a:schemeClr val="dk1"/>
              </a:solidFill>
              <a:latin typeface="Staatliches"/>
              <a:ea typeface="Staatliches"/>
              <a:cs typeface="Staatliches"/>
              <a:sym typeface="Staatliches"/>
            </a:endParaRPr>
          </a:p>
          <a:p>
            <a:pPr indent="0" lvl="0" marL="0" rtl="0" algn="l">
              <a:lnSpc>
                <a:spcPct val="80000"/>
              </a:lnSpc>
              <a:spcBef>
                <a:spcPts val="0"/>
              </a:spcBef>
              <a:spcAft>
                <a:spcPts val="0"/>
              </a:spcAft>
              <a:buClr>
                <a:schemeClr val="dk1"/>
              </a:buClr>
              <a:buSzPts val="1100"/>
              <a:buFont typeface="Arial"/>
              <a:buNone/>
            </a:pPr>
            <a:r>
              <a:t/>
            </a:r>
            <a:endParaRPr sz="400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4422">
                <a:solidFill>
                  <a:schemeClr val="lt1"/>
                </a:solidFill>
                <a:latin typeface="Staatliches"/>
                <a:ea typeface="Staatliches"/>
                <a:cs typeface="Staatliches"/>
                <a:sym typeface="Staatliches"/>
              </a:rPr>
              <a:t>NN</a:t>
            </a:r>
            <a:r>
              <a:rPr b="1" lang="en" sz="4422">
                <a:solidFill>
                  <a:schemeClr val="lt1"/>
                </a:solidFill>
                <a:latin typeface="Source Code Pro"/>
                <a:ea typeface="Source Code Pro"/>
                <a:cs typeface="Source Code Pro"/>
                <a:sym typeface="Source Code Pro"/>
              </a:rPr>
              <a:t>2</a:t>
            </a:r>
            <a:r>
              <a:rPr lang="en" sz="4422">
                <a:solidFill>
                  <a:schemeClr val="dk1"/>
                </a:solidFill>
                <a:latin typeface="Staatliches"/>
                <a:ea typeface="Staatliches"/>
                <a:cs typeface="Staatliches"/>
                <a:sym typeface="Staatliches"/>
              </a:rPr>
              <a:t>: Neural Nets</a:t>
            </a:r>
            <a:r>
              <a:rPr lang="en" sz="3222">
                <a:solidFill>
                  <a:schemeClr val="dk1"/>
                </a:solidFill>
                <a:latin typeface="Staatliches"/>
                <a:ea typeface="Staatliches"/>
                <a:cs typeface="Staatliches"/>
                <a:sym typeface="Staatliches"/>
              </a:rPr>
              <a:t> </a:t>
            </a:r>
            <a:endParaRPr sz="3222">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a:solidFill>
                  <a:schemeClr val="dk1"/>
                </a:solidFill>
              </a:rPr>
              <a:t>architecture</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6"/>
          <p:cNvSpPr txBox="1"/>
          <p:nvPr/>
        </p:nvSpPr>
        <p:spPr>
          <a:xfrm>
            <a:off x="151525" y="1215375"/>
            <a:ext cx="12678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input layer</a:t>
            </a:r>
            <a:endParaRPr b="1">
              <a:solidFill>
                <a:schemeClr val="dk1"/>
              </a:solidFill>
            </a:endParaRPr>
          </a:p>
        </p:txBody>
      </p:sp>
      <p:cxnSp>
        <p:nvCxnSpPr>
          <p:cNvPr id="428" name="Google Shape;428;p36"/>
          <p:cNvCxnSpPr>
            <a:stCxn id="429" idx="2"/>
          </p:cNvCxnSpPr>
          <p:nvPr/>
        </p:nvCxnSpPr>
        <p:spPr>
          <a:xfrm flipH="1">
            <a:off x="291125" y="1965325"/>
            <a:ext cx="403800" cy="4800"/>
          </a:xfrm>
          <a:prstGeom prst="straightConnector1">
            <a:avLst/>
          </a:prstGeom>
          <a:noFill/>
          <a:ln cap="flat" cmpd="sng" w="28575">
            <a:solidFill>
              <a:schemeClr val="dk1"/>
            </a:solidFill>
            <a:prstDash val="solid"/>
            <a:round/>
            <a:headEnd len="med" w="med" type="none"/>
            <a:tailEnd len="med" w="med" type="oval"/>
          </a:ln>
        </p:spPr>
      </p:cxnSp>
      <p:cxnSp>
        <p:nvCxnSpPr>
          <p:cNvPr id="430" name="Google Shape;430;p36"/>
          <p:cNvCxnSpPr>
            <a:stCxn id="431" idx="2"/>
          </p:cNvCxnSpPr>
          <p:nvPr/>
        </p:nvCxnSpPr>
        <p:spPr>
          <a:xfrm flipH="1">
            <a:off x="315725" y="2618625"/>
            <a:ext cx="379200" cy="300"/>
          </a:xfrm>
          <a:prstGeom prst="straightConnector1">
            <a:avLst/>
          </a:prstGeom>
          <a:noFill/>
          <a:ln cap="flat" cmpd="sng" w="28575">
            <a:solidFill>
              <a:schemeClr val="dk1"/>
            </a:solidFill>
            <a:prstDash val="solid"/>
            <a:round/>
            <a:headEnd len="med" w="med" type="none"/>
            <a:tailEnd len="med" w="med" type="oval"/>
          </a:ln>
        </p:spPr>
      </p:cxnSp>
      <p:cxnSp>
        <p:nvCxnSpPr>
          <p:cNvPr id="432" name="Google Shape;432;p36"/>
          <p:cNvCxnSpPr>
            <a:stCxn id="433" idx="2"/>
          </p:cNvCxnSpPr>
          <p:nvPr/>
        </p:nvCxnSpPr>
        <p:spPr>
          <a:xfrm flipH="1">
            <a:off x="291125" y="3271925"/>
            <a:ext cx="403800" cy="12000"/>
          </a:xfrm>
          <a:prstGeom prst="straightConnector1">
            <a:avLst/>
          </a:prstGeom>
          <a:noFill/>
          <a:ln cap="flat" cmpd="sng" w="28575">
            <a:solidFill>
              <a:schemeClr val="dk1"/>
            </a:solidFill>
            <a:prstDash val="solid"/>
            <a:round/>
            <a:headEnd len="med" w="med" type="none"/>
            <a:tailEnd len="med" w="med" type="oval"/>
          </a:ln>
        </p:spPr>
      </p:cxnSp>
      <p:cxnSp>
        <p:nvCxnSpPr>
          <p:cNvPr id="434" name="Google Shape;434;p36"/>
          <p:cNvCxnSpPr>
            <a:stCxn id="435" idx="2"/>
          </p:cNvCxnSpPr>
          <p:nvPr/>
        </p:nvCxnSpPr>
        <p:spPr>
          <a:xfrm flipH="1">
            <a:off x="283025" y="3925225"/>
            <a:ext cx="411900" cy="7500"/>
          </a:xfrm>
          <a:prstGeom prst="straightConnector1">
            <a:avLst/>
          </a:prstGeom>
          <a:noFill/>
          <a:ln cap="flat" cmpd="sng" w="28575">
            <a:solidFill>
              <a:schemeClr val="dk1"/>
            </a:solidFill>
            <a:prstDash val="solid"/>
            <a:round/>
            <a:headEnd len="med" w="med" type="none"/>
            <a:tailEnd len="med" w="med" type="oval"/>
          </a:ln>
        </p:spPr>
      </p:cxnSp>
      <p:sp>
        <p:nvSpPr>
          <p:cNvPr id="436" name="Google Shape;436;p36"/>
          <p:cNvSpPr/>
          <p:nvPr/>
        </p:nvSpPr>
        <p:spPr>
          <a:xfrm>
            <a:off x="1737650" y="4337875"/>
            <a:ext cx="478800" cy="46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37" name="Google Shape;437;p36"/>
          <p:cNvGrpSpPr/>
          <p:nvPr/>
        </p:nvGrpSpPr>
        <p:grpSpPr>
          <a:xfrm>
            <a:off x="2097025" y="1218300"/>
            <a:ext cx="2192400" cy="3031800"/>
            <a:chOff x="3468625" y="1446900"/>
            <a:chExt cx="2192400" cy="3031800"/>
          </a:xfrm>
        </p:grpSpPr>
        <p:sp>
          <p:nvSpPr>
            <p:cNvPr id="438" name="Google Shape;438;p36"/>
            <p:cNvSpPr txBox="1"/>
            <p:nvPr/>
          </p:nvSpPr>
          <p:spPr>
            <a:xfrm>
              <a:off x="3468625" y="1446900"/>
              <a:ext cx="21924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hidden layer 1</a:t>
              </a:r>
              <a:endParaRPr b="1">
                <a:solidFill>
                  <a:schemeClr val="dk1"/>
                </a:solidFill>
              </a:endParaRPr>
            </a:p>
          </p:txBody>
        </p:sp>
        <p:sp>
          <p:nvSpPr>
            <p:cNvPr id="439" name="Google Shape;439;p36"/>
            <p:cNvSpPr/>
            <p:nvPr/>
          </p:nvSpPr>
          <p:spPr>
            <a:xfrm>
              <a:off x="4038350" y="211772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440" name="Google Shape;440;p36"/>
            <p:cNvSpPr/>
            <p:nvPr/>
          </p:nvSpPr>
          <p:spPr>
            <a:xfrm>
              <a:off x="4038350" y="2861350"/>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441" name="Google Shape;441;p36"/>
            <p:cNvSpPr/>
            <p:nvPr/>
          </p:nvSpPr>
          <p:spPr>
            <a:xfrm>
              <a:off x="4038350" y="36554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442" name="Google Shape;442;p36"/>
            <p:cNvSpPr/>
            <p:nvPr/>
          </p:nvSpPr>
          <p:spPr>
            <a:xfrm>
              <a:off x="4925525" y="2117725"/>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h</a:t>
              </a:r>
              <a:endParaRPr>
                <a:solidFill>
                  <a:schemeClr val="dk1"/>
                </a:solidFill>
              </a:endParaRPr>
            </a:p>
          </p:txBody>
        </p:sp>
        <p:sp>
          <p:nvSpPr>
            <p:cNvPr id="443" name="Google Shape;443;p36"/>
            <p:cNvSpPr/>
            <p:nvPr/>
          </p:nvSpPr>
          <p:spPr>
            <a:xfrm>
              <a:off x="4925525" y="2861350"/>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sp>
          <p:nvSpPr>
            <p:cNvPr id="444" name="Google Shape;444;p36"/>
            <p:cNvSpPr/>
            <p:nvPr/>
          </p:nvSpPr>
          <p:spPr>
            <a:xfrm>
              <a:off x="4925525" y="3645125"/>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grpSp>
      <p:grpSp>
        <p:nvGrpSpPr>
          <p:cNvPr id="445" name="Google Shape;445;p36"/>
          <p:cNvGrpSpPr/>
          <p:nvPr/>
        </p:nvGrpSpPr>
        <p:grpSpPr>
          <a:xfrm>
            <a:off x="6992425" y="1215375"/>
            <a:ext cx="1855800" cy="3031800"/>
            <a:chOff x="6611425" y="1443975"/>
            <a:chExt cx="1855800" cy="3031800"/>
          </a:xfrm>
        </p:grpSpPr>
        <p:sp>
          <p:nvSpPr>
            <p:cNvPr id="446" name="Google Shape;446;p36"/>
            <p:cNvSpPr txBox="1"/>
            <p:nvPr/>
          </p:nvSpPr>
          <p:spPr>
            <a:xfrm>
              <a:off x="6611425" y="1443975"/>
              <a:ext cx="18558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output layer</a:t>
              </a:r>
              <a:endParaRPr b="1">
                <a:solidFill>
                  <a:schemeClr val="dk1"/>
                </a:solidFill>
              </a:endParaRPr>
            </a:p>
          </p:txBody>
        </p:sp>
        <p:sp>
          <p:nvSpPr>
            <p:cNvPr id="447" name="Google Shape;447;p36"/>
            <p:cNvSpPr/>
            <p:nvPr/>
          </p:nvSpPr>
          <p:spPr>
            <a:xfrm>
              <a:off x="6785500" y="28070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grpSp>
      <p:sp>
        <p:nvSpPr>
          <p:cNvPr id="448" name="Google Shape;448;p36"/>
          <p:cNvSpPr/>
          <p:nvPr/>
        </p:nvSpPr>
        <p:spPr>
          <a:xfrm>
            <a:off x="8329250" y="2681124"/>
            <a:ext cx="271800" cy="251100"/>
          </a:xfrm>
          <a:prstGeom prst="ellipse">
            <a:avLst/>
          </a:prstGeom>
          <a:solidFill>
            <a:srgbClr val="949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29" name="Google Shape;429;p36"/>
          <p:cNvSpPr/>
          <p:nvPr/>
        </p:nvSpPr>
        <p:spPr>
          <a:xfrm>
            <a:off x="694925" y="17341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1</a:t>
            </a:r>
            <a:endParaRPr>
              <a:solidFill>
                <a:schemeClr val="dk1"/>
              </a:solidFill>
            </a:endParaRPr>
          </a:p>
        </p:txBody>
      </p:sp>
      <p:sp>
        <p:nvSpPr>
          <p:cNvPr id="431" name="Google Shape;431;p36"/>
          <p:cNvSpPr/>
          <p:nvPr/>
        </p:nvSpPr>
        <p:spPr>
          <a:xfrm>
            <a:off x="694925" y="23874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2</a:t>
            </a:r>
            <a:endParaRPr>
              <a:solidFill>
                <a:schemeClr val="dk1"/>
              </a:solidFill>
            </a:endParaRPr>
          </a:p>
        </p:txBody>
      </p:sp>
      <p:sp>
        <p:nvSpPr>
          <p:cNvPr id="433" name="Google Shape;433;p36"/>
          <p:cNvSpPr/>
          <p:nvPr/>
        </p:nvSpPr>
        <p:spPr>
          <a:xfrm>
            <a:off x="694925" y="30407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3</a:t>
            </a:r>
            <a:endParaRPr>
              <a:solidFill>
                <a:schemeClr val="dk1"/>
              </a:solidFill>
            </a:endParaRPr>
          </a:p>
        </p:txBody>
      </p:sp>
      <p:sp>
        <p:nvSpPr>
          <p:cNvPr id="435" name="Google Shape;435;p36"/>
          <p:cNvSpPr/>
          <p:nvPr/>
        </p:nvSpPr>
        <p:spPr>
          <a:xfrm>
            <a:off x="694925" y="36940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4</a:t>
            </a:r>
            <a:endParaRPr>
              <a:solidFill>
                <a:schemeClr val="dk1"/>
              </a:solidFill>
            </a:endParaRPr>
          </a:p>
        </p:txBody>
      </p:sp>
      <p:grpSp>
        <p:nvGrpSpPr>
          <p:cNvPr id="449" name="Google Shape;449;p36"/>
          <p:cNvGrpSpPr/>
          <p:nvPr/>
        </p:nvGrpSpPr>
        <p:grpSpPr>
          <a:xfrm>
            <a:off x="1173725" y="1965325"/>
            <a:ext cx="1493100" cy="1959900"/>
            <a:chOff x="2545325" y="2193925"/>
            <a:chExt cx="1493100" cy="1959900"/>
          </a:xfrm>
        </p:grpSpPr>
        <p:cxnSp>
          <p:nvCxnSpPr>
            <p:cNvPr id="450" name="Google Shape;450;p36"/>
            <p:cNvCxnSpPr>
              <a:stCxn id="429" idx="6"/>
              <a:endCxn id="439" idx="2"/>
            </p:cNvCxnSpPr>
            <p:nvPr/>
          </p:nvCxnSpPr>
          <p:spPr>
            <a:xfrm>
              <a:off x="2545325" y="2193925"/>
              <a:ext cx="1493100" cy="155100"/>
            </a:xfrm>
            <a:prstGeom prst="straightConnector1">
              <a:avLst/>
            </a:prstGeom>
            <a:noFill/>
            <a:ln cap="flat" cmpd="sng" w="9525">
              <a:solidFill>
                <a:schemeClr val="dk2"/>
              </a:solidFill>
              <a:prstDash val="solid"/>
              <a:round/>
              <a:headEnd len="med" w="med" type="none"/>
              <a:tailEnd len="med" w="med" type="none"/>
            </a:ln>
          </p:spPr>
        </p:cxnSp>
        <p:cxnSp>
          <p:nvCxnSpPr>
            <p:cNvPr id="451" name="Google Shape;451;p36"/>
            <p:cNvCxnSpPr>
              <a:stCxn id="431" idx="6"/>
              <a:endCxn id="439" idx="2"/>
            </p:cNvCxnSpPr>
            <p:nvPr/>
          </p:nvCxnSpPr>
          <p:spPr>
            <a:xfrm flipH="1" rot="10800000">
              <a:off x="2545325" y="2348925"/>
              <a:ext cx="1493100" cy="498300"/>
            </a:xfrm>
            <a:prstGeom prst="straightConnector1">
              <a:avLst/>
            </a:prstGeom>
            <a:noFill/>
            <a:ln cap="flat" cmpd="sng" w="9525">
              <a:solidFill>
                <a:schemeClr val="dk2"/>
              </a:solidFill>
              <a:prstDash val="solid"/>
              <a:round/>
              <a:headEnd len="med" w="med" type="none"/>
              <a:tailEnd len="med" w="med" type="none"/>
            </a:ln>
          </p:spPr>
        </p:cxnSp>
        <p:cxnSp>
          <p:nvCxnSpPr>
            <p:cNvPr id="452" name="Google Shape;452;p36"/>
            <p:cNvCxnSpPr>
              <a:stCxn id="433" idx="6"/>
              <a:endCxn id="439" idx="2"/>
            </p:cNvCxnSpPr>
            <p:nvPr/>
          </p:nvCxnSpPr>
          <p:spPr>
            <a:xfrm flipH="1" rot="10800000">
              <a:off x="2545325" y="2348825"/>
              <a:ext cx="1493100" cy="1151700"/>
            </a:xfrm>
            <a:prstGeom prst="straightConnector1">
              <a:avLst/>
            </a:prstGeom>
            <a:noFill/>
            <a:ln cap="flat" cmpd="sng" w="9525">
              <a:solidFill>
                <a:schemeClr val="dk2"/>
              </a:solidFill>
              <a:prstDash val="solid"/>
              <a:round/>
              <a:headEnd len="med" w="med" type="none"/>
              <a:tailEnd len="med" w="med" type="none"/>
            </a:ln>
          </p:spPr>
        </p:cxnSp>
        <p:cxnSp>
          <p:nvCxnSpPr>
            <p:cNvPr id="453" name="Google Shape;453;p36"/>
            <p:cNvCxnSpPr>
              <a:stCxn id="435" idx="6"/>
              <a:endCxn id="439" idx="2"/>
            </p:cNvCxnSpPr>
            <p:nvPr/>
          </p:nvCxnSpPr>
          <p:spPr>
            <a:xfrm flipH="1" rot="10800000">
              <a:off x="2545325" y="2349025"/>
              <a:ext cx="1493100" cy="1804800"/>
            </a:xfrm>
            <a:prstGeom prst="straightConnector1">
              <a:avLst/>
            </a:prstGeom>
            <a:noFill/>
            <a:ln cap="flat" cmpd="sng" w="9525">
              <a:solidFill>
                <a:schemeClr val="dk2"/>
              </a:solidFill>
              <a:prstDash val="solid"/>
              <a:round/>
              <a:headEnd len="med" w="med" type="none"/>
              <a:tailEnd len="med" w="med" type="none"/>
            </a:ln>
          </p:spPr>
        </p:cxnSp>
      </p:grpSp>
      <p:grpSp>
        <p:nvGrpSpPr>
          <p:cNvPr id="454" name="Google Shape;454;p36"/>
          <p:cNvGrpSpPr/>
          <p:nvPr/>
        </p:nvGrpSpPr>
        <p:grpSpPr>
          <a:xfrm>
            <a:off x="1173725" y="1965325"/>
            <a:ext cx="1493100" cy="1959900"/>
            <a:chOff x="2545325" y="2193925"/>
            <a:chExt cx="1493100" cy="1959900"/>
          </a:xfrm>
        </p:grpSpPr>
        <p:cxnSp>
          <p:nvCxnSpPr>
            <p:cNvPr id="455" name="Google Shape;455;p36"/>
            <p:cNvCxnSpPr>
              <a:stCxn id="429" idx="6"/>
              <a:endCxn id="440" idx="2"/>
            </p:cNvCxnSpPr>
            <p:nvPr/>
          </p:nvCxnSpPr>
          <p:spPr>
            <a:xfrm>
              <a:off x="2545325" y="2193925"/>
              <a:ext cx="1493100" cy="898500"/>
            </a:xfrm>
            <a:prstGeom prst="straightConnector1">
              <a:avLst/>
            </a:prstGeom>
            <a:noFill/>
            <a:ln cap="flat" cmpd="sng" w="9525">
              <a:solidFill>
                <a:schemeClr val="dk2"/>
              </a:solidFill>
              <a:prstDash val="solid"/>
              <a:round/>
              <a:headEnd len="med" w="med" type="none"/>
              <a:tailEnd len="med" w="med" type="none"/>
            </a:ln>
          </p:spPr>
        </p:cxnSp>
        <p:cxnSp>
          <p:nvCxnSpPr>
            <p:cNvPr id="456" name="Google Shape;456;p36"/>
            <p:cNvCxnSpPr>
              <a:stCxn id="431" idx="6"/>
              <a:endCxn id="440" idx="2"/>
            </p:cNvCxnSpPr>
            <p:nvPr/>
          </p:nvCxnSpPr>
          <p:spPr>
            <a:xfrm>
              <a:off x="2545325" y="2847225"/>
              <a:ext cx="1493100" cy="245400"/>
            </a:xfrm>
            <a:prstGeom prst="straightConnector1">
              <a:avLst/>
            </a:prstGeom>
            <a:noFill/>
            <a:ln cap="flat" cmpd="sng" w="9525">
              <a:solidFill>
                <a:schemeClr val="dk2"/>
              </a:solidFill>
              <a:prstDash val="solid"/>
              <a:round/>
              <a:headEnd len="med" w="med" type="none"/>
              <a:tailEnd len="med" w="med" type="none"/>
            </a:ln>
          </p:spPr>
        </p:cxnSp>
        <p:cxnSp>
          <p:nvCxnSpPr>
            <p:cNvPr id="457" name="Google Shape;457;p36"/>
            <p:cNvCxnSpPr>
              <a:stCxn id="433" idx="6"/>
              <a:endCxn id="440" idx="2"/>
            </p:cNvCxnSpPr>
            <p:nvPr/>
          </p:nvCxnSpPr>
          <p:spPr>
            <a:xfrm flipH="1" rot="10800000">
              <a:off x="2545325" y="3092525"/>
              <a:ext cx="1493100" cy="408000"/>
            </a:xfrm>
            <a:prstGeom prst="straightConnector1">
              <a:avLst/>
            </a:prstGeom>
            <a:noFill/>
            <a:ln cap="flat" cmpd="sng" w="9525">
              <a:solidFill>
                <a:schemeClr val="dk2"/>
              </a:solidFill>
              <a:prstDash val="solid"/>
              <a:round/>
              <a:headEnd len="med" w="med" type="none"/>
              <a:tailEnd len="med" w="med" type="none"/>
            </a:ln>
          </p:spPr>
        </p:cxnSp>
        <p:cxnSp>
          <p:nvCxnSpPr>
            <p:cNvPr id="458" name="Google Shape;458;p36"/>
            <p:cNvCxnSpPr>
              <a:stCxn id="435" idx="6"/>
              <a:endCxn id="440" idx="2"/>
            </p:cNvCxnSpPr>
            <p:nvPr/>
          </p:nvCxnSpPr>
          <p:spPr>
            <a:xfrm flipH="1" rot="10800000">
              <a:off x="2545325" y="3092425"/>
              <a:ext cx="1493100" cy="1061400"/>
            </a:xfrm>
            <a:prstGeom prst="straightConnector1">
              <a:avLst/>
            </a:prstGeom>
            <a:noFill/>
            <a:ln cap="flat" cmpd="sng" w="9525">
              <a:solidFill>
                <a:schemeClr val="dk2"/>
              </a:solidFill>
              <a:prstDash val="solid"/>
              <a:round/>
              <a:headEnd len="med" w="med" type="none"/>
              <a:tailEnd len="med" w="med" type="none"/>
            </a:ln>
          </p:spPr>
        </p:cxnSp>
      </p:grpSp>
      <p:grpSp>
        <p:nvGrpSpPr>
          <p:cNvPr id="459" name="Google Shape;459;p36"/>
          <p:cNvGrpSpPr/>
          <p:nvPr/>
        </p:nvGrpSpPr>
        <p:grpSpPr>
          <a:xfrm>
            <a:off x="1173725" y="1965325"/>
            <a:ext cx="1493100" cy="1959900"/>
            <a:chOff x="2545325" y="2193925"/>
            <a:chExt cx="1493100" cy="1959900"/>
          </a:xfrm>
        </p:grpSpPr>
        <p:cxnSp>
          <p:nvCxnSpPr>
            <p:cNvPr id="460" name="Google Shape;460;p36"/>
            <p:cNvCxnSpPr>
              <a:stCxn id="429" idx="6"/>
              <a:endCxn id="441" idx="2"/>
            </p:cNvCxnSpPr>
            <p:nvPr/>
          </p:nvCxnSpPr>
          <p:spPr>
            <a:xfrm>
              <a:off x="2545325" y="2193925"/>
              <a:ext cx="1493100" cy="1692600"/>
            </a:xfrm>
            <a:prstGeom prst="straightConnector1">
              <a:avLst/>
            </a:prstGeom>
            <a:noFill/>
            <a:ln cap="flat" cmpd="sng" w="9525">
              <a:solidFill>
                <a:schemeClr val="dk2"/>
              </a:solidFill>
              <a:prstDash val="solid"/>
              <a:round/>
              <a:headEnd len="med" w="med" type="none"/>
              <a:tailEnd len="med" w="med" type="none"/>
            </a:ln>
          </p:spPr>
        </p:cxnSp>
        <p:cxnSp>
          <p:nvCxnSpPr>
            <p:cNvPr id="461" name="Google Shape;461;p36"/>
            <p:cNvCxnSpPr>
              <a:stCxn id="431" idx="6"/>
              <a:endCxn id="441" idx="2"/>
            </p:cNvCxnSpPr>
            <p:nvPr/>
          </p:nvCxnSpPr>
          <p:spPr>
            <a:xfrm>
              <a:off x="2545325" y="2847225"/>
              <a:ext cx="1493100" cy="1039500"/>
            </a:xfrm>
            <a:prstGeom prst="straightConnector1">
              <a:avLst/>
            </a:prstGeom>
            <a:noFill/>
            <a:ln cap="flat" cmpd="sng" w="9525">
              <a:solidFill>
                <a:schemeClr val="dk2"/>
              </a:solidFill>
              <a:prstDash val="solid"/>
              <a:round/>
              <a:headEnd len="med" w="med" type="none"/>
              <a:tailEnd len="med" w="med" type="none"/>
            </a:ln>
          </p:spPr>
        </p:cxnSp>
        <p:cxnSp>
          <p:nvCxnSpPr>
            <p:cNvPr id="462" name="Google Shape;462;p36"/>
            <p:cNvCxnSpPr>
              <a:stCxn id="433" idx="6"/>
              <a:endCxn id="441" idx="2"/>
            </p:cNvCxnSpPr>
            <p:nvPr/>
          </p:nvCxnSpPr>
          <p:spPr>
            <a:xfrm>
              <a:off x="2545325" y="3500525"/>
              <a:ext cx="1493100" cy="386100"/>
            </a:xfrm>
            <a:prstGeom prst="straightConnector1">
              <a:avLst/>
            </a:prstGeom>
            <a:noFill/>
            <a:ln cap="flat" cmpd="sng" w="9525">
              <a:solidFill>
                <a:schemeClr val="dk2"/>
              </a:solidFill>
              <a:prstDash val="solid"/>
              <a:round/>
              <a:headEnd len="med" w="med" type="none"/>
              <a:tailEnd len="med" w="med" type="none"/>
            </a:ln>
          </p:spPr>
        </p:cxnSp>
        <p:cxnSp>
          <p:nvCxnSpPr>
            <p:cNvPr id="463" name="Google Shape;463;p36"/>
            <p:cNvCxnSpPr>
              <a:stCxn id="435" idx="6"/>
              <a:endCxn id="441" idx="2"/>
            </p:cNvCxnSpPr>
            <p:nvPr/>
          </p:nvCxnSpPr>
          <p:spPr>
            <a:xfrm flipH="1" rot="10800000">
              <a:off x="2545325" y="3886525"/>
              <a:ext cx="1493100" cy="267300"/>
            </a:xfrm>
            <a:prstGeom prst="straightConnector1">
              <a:avLst/>
            </a:prstGeom>
            <a:noFill/>
            <a:ln cap="flat" cmpd="sng" w="9525">
              <a:solidFill>
                <a:schemeClr val="dk2"/>
              </a:solidFill>
              <a:prstDash val="solid"/>
              <a:round/>
              <a:headEnd len="med" w="med" type="none"/>
              <a:tailEnd len="med" w="med" type="none"/>
            </a:ln>
          </p:spPr>
        </p:cxnSp>
      </p:grpSp>
      <p:grpSp>
        <p:nvGrpSpPr>
          <p:cNvPr id="464" name="Google Shape;464;p36"/>
          <p:cNvGrpSpPr/>
          <p:nvPr/>
        </p:nvGrpSpPr>
        <p:grpSpPr>
          <a:xfrm>
            <a:off x="1977050" y="2120275"/>
            <a:ext cx="689700" cy="2217600"/>
            <a:chOff x="3348650" y="2348875"/>
            <a:chExt cx="689700" cy="2217600"/>
          </a:xfrm>
        </p:grpSpPr>
        <p:cxnSp>
          <p:nvCxnSpPr>
            <p:cNvPr id="465" name="Google Shape;465;p36"/>
            <p:cNvCxnSpPr>
              <a:stCxn id="436" idx="0"/>
              <a:endCxn id="441" idx="2"/>
            </p:cNvCxnSpPr>
            <p:nvPr/>
          </p:nvCxnSpPr>
          <p:spPr>
            <a:xfrm flipH="1" rot="10800000">
              <a:off x="3348650" y="3886675"/>
              <a:ext cx="689700" cy="679800"/>
            </a:xfrm>
            <a:prstGeom prst="straightConnector1">
              <a:avLst/>
            </a:prstGeom>
            <a:noFill/>
            <a:ln cap="flat" cmpd="sng" w="9525">
              <a:solidFill>
                <a:schemeClr val="dk2"/>
              </a:solidFill>
              <a:prstDash val="solid"/>
              <a:round/>
              <a:headEnd len="med" w="med" type="none"/>
              <a:tailEnd len="med" w="med" type="none"/>
            </a:ln>
          </p:spPr>
        </p:cxnSp>
        <p:cxnSp>
          <p:nvCxnSpPr>
            <p:cNvPr id="466" name="Google Shape;466;p36"/>
            <p:cNvCxnSpPr>
              <a:stCxn id="440" idx="2"/>
              <a:endCxn id="436" idx="0"/>
            </p:cNvCxnSpPr>
            <p:nvPr/>
          </p:nvCxnSpPr>
          <p:spPr>
            <a:xfrm flipH="1">
              <a:off x="3348650" y="3092500"/>
              <a:ext cx="689700" cy="1473900"/>
            </a:xfrm>
            <a:prstGeom prst="straightConnector1">
              <a:avLst/>
            </a:prstGeom>
            <a:noFill/>
            <a:ln cap="flat" cmpd="sng" w="9525">
              <a:solidFill>
                <a:schemeClr val="dk2"/>
              </a:solidFill>
              <a:prstDash val="solid"/>
              <a:round/>
              <a:headEnd len="med" w="med" type="none"/>
              <a:tailEnd len="med" w="med" type="none"/>
            </a:ln>
          </p:spPr>
        </p:cxnSp>
        <p:cxnSp>
          <p:nvCxnSpPr>
            <p:cNvPr id="467" name="Google Shape;467;p36"/>
            <p:cNvCxnSpPr>
              <a:stCxn id="439" idx="2"/>
              <a:endCxn id="436" idx="0"/>
            </p:cNvCxnSpPr>
            <p:nvPr/>
          </p:nvCxnSpPr>
          <p:spPr>
            <a:xfrm flipH="1">
              <a:off x="3348650" y="2348875"/>
              <a:ext cx="689700" cy="2217600"/>
            </a:xfrm>
            <a:prstGeom prst="straightConnector1">
              <a:avLst/>
            </a:prstGeom>
            <a:noFill/>
            <a:ln cap="flat" cmpd="sng" w="9525">
              <a:solidFill>
                <a:schemeClr val="dk2"/>
              </a:solidFill>
              <a:prstDash val="solid"/>
              <a:round/>
              <a:headEnd len="med" w="med" type="none"/>
              <a:tailEnd len="med" w="med" type="none"/>
            </a:ln>
          </p:spPr>
        </p:cxnSp>
      </p:grpSp>
      <p:grpSp>
        <p:nvGrpSpPr>
          <p:cNvPr id="468" name="Google Shape;468;p36"/>
          <p:cNvGrpSpPr/>
          <p:nvPr/>
        </p:nvGrpSpPr>
        <p:grpSpPr>
          <a:xfrm>
            <a:off x="3151571" y="2120275"/>
            <a:ext cx="403809" cy="1537900"/>
            <a:chOff x="4517225" y="2348875"/>
            <a:chExt cx="408300" cy="1537900"/>
          </a:xfrm>
        </p:grpSpPr>
        <p:cxnSp>
          <p:nvCxnSpPr>
            <p:cNvPr id="469" name="Google Shape;469;p36"/>
            <p:cNvCxnSpPr/>
            <p:nvPr/>
          </p:nvCxnSpPr>
          <p:spPr>
            <a:xfrm>
              <a:off x="4517225" y="2348875"/>
              <a:ext cx="408300" cy="0"/>
            </a:xfrm>
            <a:prstGeom prst="straightConnector1">
              <a:avLst/>
            </a:prstGeom>
            <a:noFill/>
            <a:ln cap="flat" cmpd="sng" w="9525">
              <a:solidFill>
                <a:schemeClr val="dk2"/>
              </a:solidFill>
              <a:prstDash val="solid"/>
              <a:round/>
              <a:headEnd len="med" w="med" type="none"/>
              <a:tailEnd len="med" w="med" type="none"/>
            </a:ln>
          </p:spPr>
        </p:cxnSp>
        <p:cxnSp>
          <p:nvCxnSpPr>
            <p:cNvPr id="470" name="Google Shape;470;p36"/>
            <p:cNvCxnSpPr/>
            <p:nvPr/>
          </p:nvCxnSpPr>
          <p:spPr>
            <a:xfrm>
              <a:off x="4517225" y="3092500"/>
              <a:ext cx="408300" cy="0"/>
            </a:xfrm>
            <a:prstGeom prst="straightConnector1">
              <a:avLst/>
            </a:prstGeom>
            <a:noFill/>
            <a:ln cap="flat" cmpd="sng" w="9525">
              <a:solidFill>
                <a:schemeClr val="dk2"/>
              </a:solidFill>
              <a:prstDash val="solid"/>
              <a:round/>
              <a:headEnd len="med" w="med" type="none"/>
              <a:tailEnd len="med" w="med" type="none"/>
            </a:ln>
          </p:spPr>
        </p:cxnSp>
        <p:cxnSp>
          <p:nvCxnSpPr>
            <p:cNvPr id="471" name="Google Shape;471;p36"/>
            <p:cNvCxnSpPr/>
            <p:nvPr/>
          </p:nvCxnSpPr>
          <p:spPr>
            <a:xfrm flipH="1" rot="10800000">
              <a:off x="4517225" y="3876275"/>
              <a:ext cx="408300" cy="10500"/>
            </a:xfrm>
            <a:prstGeom prst="straightConnector1">
              <a:avLst/>
            </a:prstGeom>
            <a:noFill/>
            <a:ln cap="flat" cmpd="sng" w="9525">
              <a:solidFill>
                <a:schemeClr val="dk2"/>
              </a:solidFill>
              <a:prstDash val="solid"/>
              <a:round/>
              <a:headEnd len="med" w="med" type="none"/>
              <a:tailEnd len="med" w="med" type="none"/>
            </a:ln>
          </p:spPr>
        </p:cxnSp>
      </p:grpSp>
      <p:sp>
        <p:nvSpPr>
          <p:cNvPr id="472" name="Google Shape;472;p36"/>
          <p:cNvSpPr txBox="1"/>
          <p:nvPr/>
        </p:nvSpPr>
        <p:spPr>
          <a:xfrm>
            <a:off x="-39550" y="489675"/>
            <a:ext cx="1921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input values</a:t>
            </a:r>
            <a:endParaRPr>
              <a:solidFill>
                <a:schemeClr val="dk2"/>
              </a:solidFill>
            </a:endParaRPr>
          </a:p>
          <a:p>
            <a:pPr indent="0" lvl="0" marL="0" rtl="0" algn="ctr">
              <a:spcBef>
                <a:spcPts val="0"/>
              </a:spcBef>
              <a:spcAft>
                <a:spcPts val="0"/>
              </a:spcAft>
              <a:buNone/>
            </a:pPr>
            <a:r>
              <a:rPr b="1" lang="en">
                <a:solidFill>
                  <a:schemeClr val="dk2"/>
                </a:solidFill>
              </a:rPr>
              <a:t>X = (</a:t>
            </a:r>
            <a:r>
              <a:rPr b="1" lang="en">
                <a:solidFill>
                  <a:srgbClr val="BCBD21"/>
                </a:solidFill>
              </a:rPr>
              <a:t>x</a:t>
            </a:r>
            <a:r>
              <a:rPr b="1" lang="en" sz="900">
                <a:solidFill>
                  <a:srgbClr val="BCBD21"/>
                </a:solidFill>
              </a:rPr>
              <a:t>1</a:t>
            </a:r>
            <a:r>
              <a:rPr b="1" lang="en">
                <a:solidFill>
                  <a:schemeClr val="dk2"/>
                </a:solidFill>
              </a:rPr>
              <a:t>,</a:t>
            </a:r>
            <a:r>
              <a:rPr b="1" lang="en">
                <a:solidFill>
                  <a:srgbClr val="BCBD21"/>
                </a:solidFill>
              </a:rPr>
              <a:t>x</a:t>
            </a:r>
            <a:r>
              <a:rPr b="1" lang="en" sz="900">
                <a:solidFill>
                  <a:srgbClr val="BCBD21"/>
                </a:solidFill>
              </a:rPr>
              <a:t>2</a:t>
            </a:r>
            <a:r>
              <a:rPr b="1" lang="en" sz="900">
                <a:solidFill>
                  <a:schemeClr val="dk2"/>
                </a:solidFill>
              </a:rPr>
              <a:t>, </a:t>
            </a:r>
            <a:r>
              <a:rPr b="1" lang="en">
                <a:solidFill>
                  <a:schemeClr val="dk2"/>
                </a:solidFill>
              </a:rPr>
              <a:t>…, </a:t>
            </a:r>
            <a:r>
              <a:rPr b="1" lang="en">
                <a:solidFill>
                  <a:srgbClr val="BCBD21"/>
                </a:solidFill>
              </a:rPr>
              <a:t>x</a:t>
            </a:r>
            <a:r>
              <a:rPr b="1" lang="en" sz="900">
                <a:solidFill>
                  <a:srgbClr val="BCBD21"/>
                </a:solidFill>
              </a:rPr>
              <a:t>n</a:t>
            </a:r>
            <a:r>
              <a:rPr b="1" lang="en">
                <a:solidFill>
                  <a:schemeClr val="dk2"/>
                </a:solidFill>
              </a:rPr>
              <a:t>)</a:t>
            </a:r>
            <a:endParaRPr/>
          </a:p>
        </p:txBody>
      </p:sp>
      <p:sp>
        <p:nvSpPr>
          <p:cNvPr id="473" name="Google Shape;473;p36"/>
          <p:cNvSpPr txBox="1"/>
          <p:nvPr/>
        </p:nvSpPr>
        <p:spPr>
          <a:xfrm>
            <a:off x="2100300" y="4214900"/>
            <a:ext cx="22656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values at first hidden layer, before activation</a:t>
            </a:r>
            <a:endParaRPr>
              <a:solidFill>
                <a:schemeClr val="dk2"/>
              </a:solidFill>
            </a:endParaRPr>
          </a:p>
          <a:p>
            <a:pPr indent="0" lvl="0" marL="0" rtl="0" algn="ctr">
              <a:spcBef>
                <a:spcPts val="0"/>
              </a:spcBef>
              <a:spcAft>
                <a:spcPts val="0"/>
              </a:spcAft>
              <a:buNone/>
            </a:pPr>
            <a:r>
              <a:rPr b="1" lang="en">
                <a:solidFill>
                  <a:schemeClr val="dk2"/>
                </a:solidFill>
              </a:rPr>
              <a:t>Z</a:t>
            </a:r>
            <a:r>
              <a:rPr lang="en">
                <a:solidFill>
                  <a:schemeClr val="dk2"/>
                </a:solidFill>
              </a:rPr>
              <a:t> </a:t>
            </a:r>
            <a:r>
              <a:rPr baseline="30000" lang="en">
                <a:solidFill>
                  <a:schemeClr val="dk2"/>
                </a:solidFill>
              </a:rPr>
              <a:t>(1)</a:t>
            </a:r>
            <a:r>
              <a:rPr b="1" lang="en">
                <a:solidFill>
                  <a:schemeClr val="dk2"/>
                </a:solidFill>
              </a:rPr>
              <a:t> </a:t>
            </a:r>
            <a:r>
              <a:rPr lang="en">
                <a:solidFill>
                  <a:schemeClr val="dk2"/>
                </a:solidFill>
              </a:rPr>
              <a:t>= (</a:t>
            </a:r>
            <a:r>
              <a:rPr b="1" lang="en">
                <a:solidFill>
                  <a:srgbClr val="1B91CA"/>
                </a:solidFill>
              </a:rPr>
              <a:t>Z</a:t>
            </a:r>
            <a:r>
              <a:rPr baseline="-25000" lang="en">
                <a:solidFill>
                  <a:srgbClr val="1B91CA"/>
                </a:solidFill>
              </a:rPr>
              <a:t>1</a:t>
            </a:r>
            <a:r>
              <a:rPr baseline="30000" lang="en">
                <a:solidFill>
                  <a:srgbClr val="1B91CA"/>
                </a:solidFill>
              </a:rPr>
              <a:t>(1)</a:t>
            </a:r>
            <a:r>
              <a:rPr lang="en">
                <a:solidFill>
                  <a:schemeClr val="dk2"/>
                </a:solidFill>
              </a:rPr>
              <a:t>, </a:t>
            </a:r>
            <a:r>
              <a:rPr b="1" lang="en">
                <a:solidFill>
                  <a:srgbClr val="1B91CA"/>
                </a:solidFill>
              </a:rPr>
              <a:t>Z</a:t>
            </a:r>
            <a:r>
              <a:rPr baseline="-25000" lang="en">
                <a:solidFill>
                  <a:srgbClr val="1B91CA"/>
                </a:solidFill>
              </a:rPr>
              <a:t>2</a:t>
            </a:r>
            <a:r>
              <a:rPr baseline="30000" lang="en">
                <a:solidFill>
                  <a:srgbClr val="1B91CA"/>
                </a:solidFill>
              </a:rPr>
              <a:t>(1)</a:t>
            </a:r>
            <a:r>
              <a:rPr lang="en">
                <a:solidFill>
                  <a:schemeClr val="dk2"/>
                </a:solidFill>
              </a:rPr>
              <a:t>, </a:t>
            </a:r>
            <a:r>
              <a:rPr b="1" lang="en">
                <a:solidFill>
                  <a:srgbClr val="1B91CA"/>
                </a:solidFill>
              </a:rPr>
              <a:t>Z</a:t>
            </a:r>
            <a:r>
              <a:rPr baseline="-25000" lang="en">
                <a:solidFill>
                  <a:srgbClr val="1B91CA"/>
                </a:solidFill>
              </a:rPr>
              <a:t>3</a:t>
            </a:r>
            <a:r>
              <a:rPr baseline="30000" lang="en">
                <a:solidFill>
                  <a:srgbClr val="1B91CA"/>
                </a:solidFill>
              </a:rPr>
              <a:t>(1)</a:t>
            </a:r>
            <a:r>
              <a:rPr lang="en">
                <a:solidFill>
                  <a:schemeClr val="dk2"/>
                </a:solidFill>
              </a:rPr>
              <a:t>)</a:t>
            </a:r>
            <a:endParaRPr/>
          </a:p>
        </p:txBody>
      </p:sp>
      <p:grpSp>
        <p:nvGrpSpPr>
          <p:cNvPr id="474" name="Google Shape;474;p36"/>
          <p:cNvGrpSpPr/>
          <p:nvPr/>
        </p:nvGrpSpPr>
        <p:grpSpPr>
          <a:xfrm>
            <a:off x="6666088" y="2809677"/>
            <a:ext cx="500481" cy="1929998"/>
            <a:chOff x="7343550" y="3166427"/>
            <a:chExt cx="500481" cy="1929998"/>
          </a:xfrm>
        </p:grpSpPr>
        <p:sp>
          <p:nvSpPr>
            <p:cNvPr id="475" name="Google Shape;475;p36"/>
            <p:cNvSpPr/>
            <p:nvPr/>
          </p:nvSpPr>
          <p:spPr>
            <a:xfrm>
              <a:off x="7343550" y="4634125"/>
              <a:ext cx="478800" cy="46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76" name="Google Shape;476;p36"/>
            <p:cNvCxnSpPr>
              <a:stCxn id="475" idx="7"/>
              <a:endCxn id="447" idx="2"/>
            </p:cNvCxnSpPr>
            <p:nvPr/>
          </p:nvCxnSpPr>
          <p:spPr>
            <a:xfrm flipH="1" rot="10800000">
              <a:off x="7752231" y="3166427"/>
              <a:ext cx="91800" cy="1535400"/>
            </a:xfrm>
            <a:prstGeom prst="straightConnector1">
              <a:avLst/>
            </a:prstGeom>
            <a:noFill/>
            <a:ln cap="flat" cmpd="sng" w="9525">
              <a:solidFill>
                <a:schemeClr val="dk2"/>
              </a:solidFill>
              <a:prstDash val="solid"/>
              <a:round/>
              <a:headEnd len="med" w="med" type="none"/>
              <a:tailEnd len="med" w="med" type="none"/>
            </a:ln>
          </p:spPr>
        </p:cxnSp>
      </p:grpSp>
      <p:sp>
        <p:nvSpPr>
          <p:cNvPr id="477" name="Google Shape;477;p36"/>
          <p:cNvSpPr txBox="1"/>
          <p:nvPr/>
        </p:nvSpPr>
        <p:spPr>
          <a:xfrm>
            <a:off x="2074675" y="418575"/>
            <a:ext cx="22656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values at first hidden layer, after activation</a:t>
            </a:r>
            <a:endParaRPr>
              <a:solidFill>
                <a:schemeClr val="dk2"/>
              </a:solidFill>
            </a:endParaRPr>
          </a:p>
          <a:p>
            <a:pPr indent="0" lvl="0" marL="0" rtl="0" algn="ctr">
              <a:spcBef>
                <a:spcPts val="0"/>
              </a:spcBef>
              <a:spcAft>
                <a:spcPts val="0"/>
              </a:spcAft>
              <a:buNone/>
            </a:pPr>
            <a:r>
              <a:rPr b="1" lang="en">
                <a:solidFill>
                  <a:schemeClr val="dk2"/>
                </a:solidFill>
              </a:rPr>
              <a:t>h</a:t>
            </a:r>
            <a:r>
              <a:rPr lang="en">
                <a:solidFill>
                  <a:schemeClr val="dk2"/>
                </a:solidFill>
              </a:rPr>
              <a:t> </a:t>
            </a:r>
            <a:r>
              <a:rPr baseline="30000" lang="en">
                <a:solidFill>
                  <a:schemeClr val="dk2"/>
                </a:solidFill>
              </a:rPr>
              <a:t>(1)</a:t>
            </a:r>
            <a:r>
              <a:rPr b="1" lang="en">
                <a:solidFill>
                  <a:schemeClr val="dk2"/>
                </a:solidFill>
              </a:rPr>
              <a:t> </a:t>
            </a:r>
            <a:r>
              <a:rPr lang="en">
                <a:solidFill>
                  <a:schemeClr val="dk2"/>
                </a:solidFill>
              </a:rPr>
              <a:t>= (</a:t>
            </a:r>
            <a:r>
              <a:rPr b="1" lang="en">
                <a:solidFill>
                  <a:srgbClr val="FF00FF"/>
                </a:solidFill>
              </a:rPr>
              <a:t>h</a:t>
            </a:r>
            <a:r>
              <a:rPr baseline="-25000" lang="en">
                <a:solidFill>
                  <a:srgbClr val="FF00FF"/>
                </a:solidFill>
              </a:rPr>
              <a:t>1</a:t>
            </a:r>
            <a:r>
              <a:rPr baseline="30000" lang="en">
                <a:solidFill>
                  <a:srgbClr val="FF00FF"/>
                </a:solidFill>
              </a:rPr>
              <a:t>(1)</a:t>
            </a:r>
            <a:r>
              <a:rPr lang="en">
                <a:solidFill>
                  <a:schemeClr val="dk2"/>
                </a:solidFill>
              </a:rPr>
              <a:t>, </a:t>
            </a:r>
            <a:r>
              <a:rPr b="1" lang="en">
                <a:solidFill>
                  <a:srgbClr val="FF00FF"/>
                </a:solidFill>
              </a:rPr>
              <a:t>h</a:t>
            </a:r>
            <a:r>
              <a:rPr baseline="-25000" lang="en">
                <a:solidFill>
                  <a:srgbClr val="FF00FF"/>
                </a:solidFill>
              </a:rPr>
              <a:t>2</a:t>
            </a:r>
            <a:r>
              <a:rPr baseline="30000" lang="en">
                <a:solidFill>
                  <a:srgbClr val="FF00FF"/>
                </a:solidFill>
              </a:rPr>
              <a:t>(1)</a:t>
            </a:r>
            <a:r>
              <a:rPr lang="en">
                <a:solidFill>
                  <a:schemeClr val="dk2"/>
                </a:solidFill>
              </a:rPr>
              <a:t>, </a:t>
            </a:r>
            <a:r>
              <a:rPr b="1" lang="en">
                <a:solidFill>
                  <a:srgbClr val="FF00FF"/>
                </a:solidFill>
              </a:rPr>
              <a:t>h</a:t>
            </a:r>
            <a:r>
              <a:rPr baseline="-25000" lang="en">
                <a:solidFill>
                  <a:srgbClr val="FF00FF"/>
                </a:solidFill>
              </a:rPr>
              <a:t>3</a:t>
            </a:r>
            <a:r>
              <a:rPr baseline="30000" lang="en">
                <a:solidFill>
                  <a:srgbClr val="FF00FF"/>
                </a:solidFill>
              </a:rPr>
              <a:t>(1)</a:t>
            </a:r>
            <a:r>
              <a:rPr lang="en">
                <a:solidFill>
                  <a:schemeClr val="dk2"/>
                </a:solidFill>
              </a:rPr>
              <a:t>)</a:t>
            </a:r>
            <a:endParaRPr/>
          </a:p>
        </p:txBody>
      </p:sp>
      <p:grpSp>
        <p:nvGrpSpPr>
          <p:cNvPr id="478" name="Google Shape;478;p36"/>
          <p:cNvGrpSpPr/>
          <p:nvPr/>
        </p:nvGrpSpPr>
        <p:grpSpPr>
          <a:xfrm>
            <a:off x="4587575" y="1183100"/>
            <a:ext cx="2192400" cy="3031800"/>
            <a:chOff x="3468775" y="1446913"/>
            <a:chExt cx="2192400" cy="3031800"/>
          </a:xfrm>
        </p:grpSpPr>
        <p:sp>
          <p:nvSpPr>
            <p:cNvPr id="479" name="Google Shape;479;p36"/>
            <p:cNvSpPr txBox="1"/>
            <p:nvPr/>
          </p:nvSpPr>
          <p:spPr>
            <a:xfrm>
              <a:off x="3468775" y="1446913"/>
              <a:ext cx="21924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hidden layer 2</a:t>
              </a:r>
              <a:endParaRPr b="1">
                <a:solidFill>
                  <a:schemeClr val="dk1"/>
                </a:solidFill>
              </a:endParaRPr>
            </a:p>
          </p:txBody>
        </p:sp>
        <p:sp>
          <p:nvSpPr>
            <p:cNvPr id="480" name="Google Shape;480;p36"/>
            <p:cNvSpPr/>
            <p:nvPr/>
          </p:nvSpPr>
          <p:spPr>
            <a:xfrm>
              <a:off x="3962150" y="2404150"/>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481" name="Google Shape;481;p36"/>
            <p:cNvSpPr/>
            <p:nvPr/>
          </p:nvSpPr>
          <p:spPr>
            <a:xfrm>
              <a:off x="3962150" y="32744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482" name="Google Shape;482;p36"/>
            <p:cNvSpPr/>
            <p:nvPr/>
          </p:nvSpPr>
          <p:spPr>
            <a:xfrm>
              <a:off x="4849325" y="2404150"/>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sp>
          <p:nvSpPr>
            <p:cNvPr id="483" name="Google Shape;483;p36"/>
            <p:cNvSpPr/>
            <p:nvPr/>
          </p:nvSpPr>
          <p:spPr>
            <a:xfrm>
              <a:off x="4849325" y="3264125"/>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grpSp>
      <p:grpSp>
        <p:nvGrpSpPr>
          <p:cNvPr id="484" name="Google Shape;484;p36"/>
          <p:cNvGrpSpPr/>
          <p:nvPr/>
        </p:nvGrpSpPr>
        <p:grpSpPr>
          <a:xfrm>
            <a:off x="5559750" y="2371488"/>
            <a:ext cx="408300" cy="870325"/>
            <a:chOff x="4288550" y="2635300"/>
            <a:chExt cx="408300" cy="870325"/>
          </a:xfrm>
        </p:grpSpPr>
        <p:cxnSp>
          <p:nvCxnSpPr>
            <p:cNvPr id="485" name="Google Shape;485;p36"/>
            <p:cNvCxnSpPr>
              <a:stCxn id="480" idx="6"/>
              <a:endCxn id="482" idx="2"/>
            </p:cNvCxnSpPr>
            <p:nvPr/>
          </p:nvCxnSpPr>
          <p:spPr>
            <a:xfrm>
              <a:off x="4288550" y="2635300"/>
              <a:ext cx="408300" cy="0"/>
            </a:xfrm>
            <a:prstGeom prst="straightConnector1">
              <a:avLst/>
            </a:prstGeom>
            <a:noFill/>
            <a:ln cap="flat" cmpd="sng" w="9525">
              <a:solidFill>
                <a:schemeClr val="dk2"/>
              </a:solidFill>
              <a:prstDash val="solid"/>
              <a:round/>
              <a:headEnd len="med" w="med" type="none"/>
              <a:tailEnd len="med" w="med" type="none"/>
            </a:ln>
          </p:spPr>
        </p:cxnSp>
        <p:cxnSp>
          <p:nvCxnSpPr>
            <p:cNvPr id="486" name="Google Shape;486;p36"/>
            <p:cNvCxnSpPr>
              <a:stCxn id="481" idx="6"/>
              <a:endCxn id="483" idx="2"/>
            </p:cNvCxnSpPr>
            <p:nvPr/>
          </p:nvCxnSpPr>
          <p:spPr>
            <a:xfrm flipH="1" rot="10800000">
              <a:off x="4288550" y="3495125"/>
              <a:ext cx="408300" cy="10500"/>
            </a:xfrm>
            <a:prstGeom prst="straightConnector1">
              <a:avLst/>
            </a:prstGeom>
            <a:noFill/>
            <a:ln cap="flat" cmpd="sng" w="9525">
              <a:solidFill>
                <a:schemeClr val="dk2"/>
              </a:solidFill>
              <a:prstDash val="solid"/>
              <a:round/>
              <a:headEnd len="med" w="med" type="none"/>
              <a:tailEnd len="med" w="med" type="none"/>
            </a:ln>
          </p:spPr>
        </p:cxnSp>
      </p:grpSp>
      <p:cxnSp>
        <p:nvCxnSpPr>
          <p:cNvPr id="487" name="Google Shape;487;p36"/>
          <p:cNvCxnSpPr>
            <a:stCxn id="442" idx="6"/>
            <a:endCxn id="480" idx="2"/>
          </p:cNvCxnSpPr>
          <p:nvPr/>
        </p:nvCxnSpPr>
        <p:spPr>
          <a:xfrm>
            <a:off x="4032725" y="2120275"/>
            <a:ext cx="1048200" cy="251100"/>
          </a:xfrm>
          <a:prstGeom prst="straightConnector1">
            <a:avLst/>
          </a:prstGeom>
          <a:noFill/>
          <a:ln cap="flat" cmpd="sng" w="9525">
            <a:solidFill>
              <a:schemeClr val="dk2"/>
            </a:solidFill>
            <a:prstDash val="solid"/>
            <a:round/>
            <a:headEnd len="med" w="med" type="none"/>
            <a:tailEnd len="med" w="med" type="none"/>
          </a:ln>
        </p:spPr>
      </p:cxnSp>
      <p:cxnSp>
        <p:nvCxnSpPr>
          <p:cNvPr id="488" name="Google Shape;488;p36"/>
          <p:cNvCxnSpPr>
            <a:stCxn id="443" idx="6"/>
            <a:endCxn id="480" idx="2"/>
          </p:cNvCxnSpPr>
          <p:nvPr/>
        </p:nvCxnSpPr>
        <p:spPr>
          <a:xfrm flipH="1" rot="10800000">
            <a:off x="4032725" y="2371600"/>
            <a:ext cx="1048200" cy="492300"/>
          </a:xfrm>
          <a:prstGeom prst="straightConnector1">
            <a:avLst/>
          </a:prstGeom>
          <a:noFill/>
          <a:ln cap="flat" cmpd="sng" w="9525">
            <a:solidFill>
              <a:schemeClr val="dk2"/>
            </a:solidFill>
            <a:prstDash val="solid"/>
            <a:round/>
            <a:headEnd len="med" w="med" type="none"/>
            <a:tailEnd len="med" w="med" type="none"/>
          </a:ln>
        </p:spPr>
      </p:cxnSp>
      <p:cxnSp>
        <p:nvCxnSpPr>
          <p:cNvPr id="489" name="Google Shape;489;p36"/>
          <p:cNvCxnSpPr>
            <a:stCxn id="444" idx="6"/>
            <a:endCxn id="480" idx="2"/>
          </p:cNvCxnSpPr>
          <p:nvPr/>
        </p:nvCxnSpPr>
        <p:spPr>
          <a:xfrm flipH="1" rot="10800000">
            <a:off x="4032725" y="2371475"/>
            <a:ext cx="1048200" cy="1276200"/>
          </a:xfrm>
          <a:prstGeom prst="straightConnector1">
            <a:avLst/>
          </a:prstGeom>
          <a:noFill/>
          <a:ln cap="flat" cmpd="sng" w="9525">
            <a:solidFill>
              <a:schemeClr val="dk2"/>
            </a:solidFill>
            <a:prstDash val="solid"/>
            <a:round/>
            <a:headEnd len="med" w="med" type="none"/>
            <a:tailEnd len="med" w="med" type="none"/>
          </a:ln>
        </p:spPr>
      </p:cxnSp>
      <p:cxnSp>
        <p:nvCxnSpPr>
          <p:cNvPr id="490" name="Google Shape;490;p36"/>
          <p:cNvCxnSpPr>
            <a:stCxn id="442" idx="6"/>
            <a:endCxn id="481" idx="2"/>
          </p:cNvCxnSpPr>
          <p:nvPr/>
        </p:nvCxnSpPr>
        <p:spPr>
          <a:xfrm>
            <a:off x="4032725" y="2120275"/>
            <a:ext cx="1048200" cy="1121400"/>
          </a:xfrm>
          <a:prstGeom prst="straightConnector1">
            <a:avLst/>
          </a:prstGeom>
          <a:noFill/>
          <a:ln cap="flat" cmpd="sng" w="9525">
            <a:solidFill>
              <a:schemeClr val="dk2"/>
            </a:solidFill>
            <a:prstDash val="solid"/>
            <a:round/>
            <a:headEnd len="med" w="med" type="none"/>
            <a:tailEnd len="med" w="med" type="none"/>
          </a:ln>
        </p:spPr>
      </p:cxnSp>
      <p:cxnSp>
        <p:nvCxnSpPr>
          <p:cNvPr id="491" name="Google Shape;491;p36"/>
          <p:cNvCxnSpPr>
            <a:stCxn id="443" idx="6"/>
            <a:endCxn id="481" idx="2"/>
          </p:cNvCxnSpPr>
          <p:nvPr/>
        </p:nvCxnSpPr>
        <p:spPr>
          <a:xfrm>
            <a:off x="4032725" y="2863900"/>
            <a:ext cx="1048200" cy="378000"/>
          </a:xfrm>
          <a:prstGeom prst="straightConnector1">
            <a:avLst/>
          </a:prstGeom>
          <a:noFill/>
          <a:ln cap="flat" cmpd="sng" w="9525">
            <a:solidFill>
              <a:schemeClr val="dk2"/>
            </a:solidFill>
            <a:prstDash val="solid"/>
            <a:round/>
            <a:headEnd len="med" w="med" type="none"/>
            <a:tailEnd len="med" w="med" type="none"/>
          </a:ln>
        </p:spPr>
      </p:cxnSp>
      <p:cxnSp>
        <p:nvCxnSpPr>
          <p:cNvPr id="492" name="Google Shape;492;p36"/>
          <p:cNvCxnSpPr>
            <a:stCxn id="444" idx="6"/>
            <a:endCxn id="481" idx="2"/>
          </p:cNvCxnSpPr>
          <p:nvPr/>
        </p:nvCxnSpPr>
        <p:spPr>
          <a:xfrm flipH="1" rot="10800000">
            <a:off x="4032725" y="3241775"/>
            <a:ext cx="1048200" cy="405900"/>
          </a:xfrm>
          <a:prstGeom prst="straightConnector1">
            <a:avLst/>
          </a:prstGeom>
          <a:noFill/>
          <a:ln cap="flat" cmpd="sng" w="9525">
            <a:solidFill>
              <a:schemeClr val="dk2"/>
            </a:solidFill>
            <a:prstDash val="solid"/>
            <a:round/>
            <a:headEnd len="med" w="med" type="none"/>
            <a:tailEnd len="med" w="med" type="none"/>
          </a:ln>
        </p:spPr>
      </p:cxnSp>
      <p:cxnSp>
        <p:nvCxnSpPr>
          <p:cNvPr id="493" name="Google Shape;493;p36"/>
          <p:cNvCxnSpPr>
            <a:stCxn id="482" idx="6"/>
            <a:endCxn id="447" idx="2"/>
          </p:cNvCxnSpPr>
          <p:nvPr/>
        </p:nvCxnSpPr>
        <p:spPr>
          <a:xfrm>
            <a:off x="6446925" y="2371488"/>
            <a:ext cx="719700" cy="438000"/>
          </a:xfrm>
          <a:prstGeom prst="straightConnector1">
            <a:avLst/>
          </a:prstGeom>
          <a:noFill/>
          <a:ln cap="flat" cmpd="sng" w="9525">
            <a:solidFill>
              <a:schemeClr val="dk2"/>
            </a:solidFill>
            <a:prstDash val="solid"/>
            <a:round/>
            <a:headEnd len="med" w="med" type="none"/>
            <a:tailEnd len="med" w="med" type="none"/>
          </a:ln>
        </p:spPr>
      </p:cxnSp>
      <p:cxnSp>
        <p:nvCxnSpPr>
          <p:cNvPr id="494" name="Google Shape;494;p36"/>
          <p:cNvCxnSpPr>
            <a:stCxn id="483" idx="6"/>
            <a:endCxn id="447" idx="2"/>
          </p:cNvCxnSpPr>
          <p:nvPr/>
        </p:nvCxnSpPr>
        <p:spPr>
          <a:xfrm flipH="1" rot="10800000">
            <a:off x="6446925" y="2809663"/>
            <a:ext cx="719700" cy="421800"/>
          </a:xfrm>
          <a:prstGeom prst="straightConnector1">
            <a:avLst/>
          </a:prstGeom>
          <a:noFill/>
          <a:ln cap="flat" cmpd="sng" w="9525">
            <a:solidFill>
              <a:schemeClr val="dk2"/>
            </a:solidFill>
            <a:prstDash val="solid"/>
            <a:round/>
            <a:headEnd len="med" w="med" type="none"/>
            <a:tailEnd len="med" w="med" type="none"/>
          </a:ln>
        </p:spPr>
      </p:cxnSp>
      <p:grpSp>
        <p:nvGrpSpPr>
          <p:cNvPr id="495" name="Google Shape;495;p36"/>
          <p:cNvGrpSpPr/>
          <p:nvPr/>
        </p:nvGrpSpPr>
        <p:grpSpPr>
          <a:xfrm>
            <a:off x="4160714" y="3241911"/>
            <a:ext cx="920247" cy="1518763"/>
            <a:chOff x="7233911" y="3088393"/>
            <a:chExt cx="1114776" cy="1922485"/>
          </a:xfrm>
        </p:grpSpPr>
        <p:sp>
          <p:nvSpPr>
            <p:cNvPr id="496" name="Google Shape;496;p36"/>
            <p:cNvSpPr/>
            <p:nvPr/>
          </p:nvSpPr>
          <p:spPr>
            <a:xfrm>
              <a:off x="7233911" y="4425577"/>
              <a:ext cx="579900" cy="585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97" name="Google Shape;497;p36"/>
            <p:cNvCxnSpPr>
              <a:stCxn id="496" idx="7"/>
              <a:endCxn id="481" idx="2"/>
            </p:cNvCxnSpPr>
            <p:nvPr/>
          </p:nvCxnSpPr>
          <p:spPr>
            <a:xfrm flipH="1" rot="10800000">
              <a:off x="7728887" y="3088393"/>
              <a:ext cx="619800" cy="1422900"/>
            </a:xfrm>
            <a:prstGeom prst="straightConnector1">
              <a:avLst/>
            </a:prstGeom>
            <a:noFill/>
            <a:ln cap="flat" cmpd="sng" w="9525">
              <a:solidFill>
                <a:schemeClr val="dk2"/>
              </a:solidFill>
              <a:prstDash val="solid"/>
              <a:round/>
              <a:headEnd len="med" w="med" type="none"/>
              <a:tailEnd len="med" w="med" type="none"/>
            </a:ln>
          </p:spPr>
        </p:cxnSp>
      </p:grpSp>
      <p:cxnSp>
        <p:nvCxnSpPr>
          <p:cNvPr id="498" name="Google Shape;498;p36"/>
          <p:cNvCxnSpPr>
            <a:stCxn id="496" idx="7"/>
            <a:endCxn id="480" idx="2"/>
          </p:cNvCxnSpPr>
          <p:nvPr/>
        </p:nvCxnSpPr>
        <p:spPr>
          <a:xfrm flipH="1" rot="10800000">
            <a:off x="4569316" y="2371602"/>
            <a:ext cx="511500" cy="1994400"/>
          </a:xfrm>
          <a:prstGeom prst="straightConnector1">
            <a:avLst/>
          </a:prstGeom>
          <a:noFill/>
          <a:ln cap="flat" cmpd="sng" w="9525">
            <a:solidFill>
              <a:schemeClr val="dk2"/>
            </a:solidFill>
            <a:prstDash val="solid"/>
            <a:round/>
            <a:headEnd len="med" w="med" type="none"/>
            <a:tailEnd len="med" w="med" type="none"/>
          </a:ln>
        </p:spPr>
      </p:cxnSp>
      <p:sp>
        <p:nvSpPr>
          <p:cNvPr id="499" name="Google Shape;499;p36"/>
          <p:cNvSpPr txBox="1"/>
          <p:nvPr/>
        </p:nvSpPr>
        <p:spPr>
          <a:xfrm>
            <a:off x="4533313" y="418575"/>
            <a:ext cx="22656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values at second hidden layer, after activation</a:t>
            </a:r>
            <a:endParaRPr>
              <a:solidFill>
                <a:schemeClr val="dk2"/>
              </a:solidFill>
            </a:endParaRPr>
          </a:p>
          <a:p>
            <a:pPr indent="0" lvl="0" marL="0" rtl="0" algn="ctr">
              <a:spcBef>
                <a:spcPts val="0"/>
              </a:spcBef>
              <a:spcAft>
                <a:spcPts val="0"/>
              </a:spcAft>
              <a:buNone/>
            </a:pPr>
            <a:r>
              <a:rPr b="1" lang="en">
                <a:solidFill>
                  <a:schemeClr val="dk2"/>
                </a:solidFill>
              </a:rPr>
              <a:t>h</a:t>
            </a:r>
            <a:r>
              <a:rPr lang="en">
                <a:solidFill>
                  <a:schemeClr val="dk2"/>
                </a:solidFill>
              </a:rPr>
              <a:t> </a:t>
            </a:r>
            <a:r>
              <a:rPr baseline="30000" lang="en">
                <a:solidFill>
                  <a:schemeClr val="dk2"/>
                </a:solidFill>
              </a:rPr>
              <a:t>(2)</a:t>
            </a:r>
            <a:r>
              <a:rPr b="1" lang="en">
                <a:solidFill>
                  <a:schemeClr val="dk2"/>
                </a:solidFill>
              </a:rPr>
              <a:t> </a:t>
            </a:r>
            <a:r>
              <a:rPr lang="en">
                <a:solidFill>
                  <a:schemeClr val="dk2"/>
                </a:solidFill>
              </a:rPr>
              <a:t>= (</a:t>
            </a:r>
            <a:r>
              <a:rPr b="1" lang="en">
                <a:solidFill>
                  <a:srgbClr val="FF00FF"/>
                </a:solidFill>
              </a:rPr>
              <a:t>h</a:t>
            </a:r>
            <a:r>
              <a:rPr baseline="-25000" lang="en">
                <a:solidFill>
                  <a:srgbClr val="FF00FF"/>
                </a:solidFill>
              </a:rPr>
              <a:t>1</a:t>
            </a:r>
            <a:r>
              <a:rPr baseline="30000" lang="en">
                <a:solidFill>
                  <a:srgbClr val="FF00FF"/>
                </a:solidFill>
              </a:rPr>
              <a:t>(2)</a:t>
            </a:r>
            <a:r>
              <a:rPr lang="en">
                <a:solidFill>
                  <a:schemeClr val="dk2"/>
                </a:solidFill>
              </a:rPr>
              <a:t>, </a:t>
            </a:r>
            <a:r>
              <a:rPr b="1" lang="en">
                <a:solidFill>
                  <a:srgbClr val="FF00FF"/>
                </a:solidFill>
              </a:rPr>
              <a:t>h</a:t>
            </a:r>
            <a:r>
              <a:rPr baseline="-25000" lang="en">
                <a:solidFill>
                  <a:srgbClr val="FF00FF"/>
                </a:solidFill>
              </a:rPr>
              <a:t>2</a:t>
            </a:r>
            <a:r>
              <a:rPr baseline="30000" lang="en">
                <a:solidFill>
                  <a:srgbClr val="FF00FF"/>
                </a:solidFill>
              </a:rPr>
              <a:t>(2)</a:t>
            </a:r>
            <a:r>
              <a:rPr lang="en">
                <a:solidFill>
                  <a:schemeClr val="dk2"/>
                </a:solidFill>
              </a:rPr>
              <a:t>)</a:t>
            </a:r>
            <a:endParaRPr/>
          </a:p>
        </p:txBody>
      </p:sp>
      <p:sp>
        <p:nvSpPr>
          <p:cNvPr id="500" name="Google Shape;500;p36"/>
          <p:cNvSpPr txBox="1"/>
          <p:nvPr/>
        </p:nvSpPr>
        <p:spPr>
          <a:xfrm>
            <a:off x="4512200" y="4214900"/>
            <a:ext cx="22656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values at second hidden layer, before activation</a:t>
            </a:r>
            <a:endParaRPr>
              <a:solidFill>
                <a:schemeClr val="dk2"/>
              </a:solidFill>
            </a:endParaRPr>
          </a:p>
          <a:p>
            <a:pPr indent="0" lvl="0" marL="0" rtl="0" algn="ctr">
              <a:spcBef>
                <a:spcPts val="0"/>
              </a:spcBef>
              <a:spcAft>
                <a:spcPts val="0"/>
              </a:spcAft>
              <a:buNone/>
            </a:pPr>
            <a:r>
              <a:rPr b="1" lang="en">
                <a:solidFill>
                  <a:schemeClr val="dk2"/>
                </a:solidFill>
              </a:rPr>
              <a:t>Z</a:t>
            </a:r>
            <a:r>
              <a:rPr lang="en">
                <a:solidFill>
                  <a:schemeClr val="dk2"/>
                </a:solidFill>
              </a:rPr>
              <a:t> </a:t>
            </a:r>
            <a:r>
              <a:rPr baseline="30000" lang="en">
                <a:solidFill>
                  <a:schemeClr val="dk2"/>
                </a:solidFill>
              </a:rPr>
              <a:t>(2)</a:t>
            </a:r>
            <a:r>
              <a:rPr b="1" lang="en">
                <a:solidFill>
                  <a:schemeClr val="dk2"/>
                </a:solidFill>
              </a:rPr>
              <a:t> </a:t>
            </a:r>
            <a:r>
              <a:rPr lang="en">
                <a:solidFill>
                  <a:schemeClr val="dk2"/>
                </a:solidFill>
              </a:rPr>
              <a:t>= (</a:t>
            </a:r>
            <a:r>
              <a:rPr b="1" lang="en">
                <a:solidFill>
                  <a:srgbClr val="1B91CA"/>
                </a:solidFill>
              </a:rPr>
              <a:t>Z</a:t>
            </a:r>
            <a:r>
              <a:rPr baseline="-25000" lang="en">
                <a:solidFill>
                  <a:srgbClr val="1B91CA"/>
                </a:solidFill>
              </a:rPr>
              <a:t>1</a:t>
            </a:r>
            <a:r>
              <a:rPr baseline="30000" lang="en">
                <a:solidFill>
                  <a:srgbClr val="1B91CA"/>
                </a:solidFill>
              </a:rPr>
              <a:t>(2)</a:t>
            </a:r>
            <a:r>
              <a:rPr lang="en">
                <a:solidFill>
                  <a:schemeClr val="dk2"/>
                </a:solidFill>
              </a:rPr>
              <a:t>, </a:t>
            </a:r>
            <a:r>
              <a:rPr b="1" lang="en">
                <a:solidFill>
                  <a:srgbClr val="1B91CA"/>
                </a:solidFill>
              </a:rPr>
              <a:t>Z</a:t>
            </a:r>
            <a:r>
              <a:rPr baseline="-25000" lang="en">
                <a:solidFill>
                  <a:srgbClr val="1B91CA"/>
                </a:solidFill>
              </a:rPr>
              <a:t>2</a:t>
            </a:r>
            <a:r>
              <a:rPr baseline="30000" lang="en">
                <a:solidFill>
                  <a:srgbClr val="1B91CA"/>
                </a:solidFill>
              </a:rPr>
              <a:t>(2)</a:t>
            </a:r>
            <a:r>
              <a:rPr lang="en">
                <a:solidFill>
                  <a:schemeClr val="dk2"/>
                </a:solidFill>
              </a:rPr>
              <a:t>)</a:t>
            </a:r>
            <a:endParaRPr/>
          </a:p>
        </p:txBody>
      </p:sp>
      <p:cxnSp>
        <p:nvCxnSpPr>
          <p:cNvPr id="501" name="Google Shape;501;p36"/>
          <p:cNvCxnSpPr>
            <a:endCxn id="448" idx="2"/>
          </p:cNvCxnSpPr>
          <p:nvPr/>
        </p:nvCxnSpPr>
        <p:spPr>
          <a:xfrm flipH="1" rot="10800000">
            <a:off x="7645250" y="2806674"/>
            <a:ext cx="684000" cy="3000"/>
          </a:xfrm>
          <a:prstGeom prst="straightConnector1">
            <a:avLst/>
          </a:prstGeom>
          <a:noFill/>
          <a:ln cap="flat" cmpd="sng" w="9525">
            <a:solidFill>
              <a:schemeClr val="dk2"/>
            </a:solidFill>
            <a:prstDash val="solid"/>
            <a:round/>
            <a:headEnd len="med" w="med" type="none"/>
            <a:tailEnd len="med" w="med" type="none"/>
          </a:ln>
        </p:spPr>
      </p:cxnSp>
      <p:sp>
        <p:nvSpPr>
          <p:cNvPr id="502" name="Google Shape;502;p36"/>
          <p:cNvSpPr txBox="1"/>
          <p:nvPr/>
        </p:nvSpPr>
        <p:spPr>
          <a:xfrm>
            <a:off x="6839563" y="489675"/>
            <a:ext cx="22656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output value; </a:t>
            </a:r>
            <a:endParaRPr>
              <a:solidFill>
                <a:schemeClr val="dk2"/>
              </a:solidFill>
            </a:endParaRPr>
          </a:p>
          <a:p>
            <a:pPr indent="0" lvl="0" marL="0" rtl="0" algn="ctr">
              <a:spcBef>
                <a:spcPts val="0"/>
              </a:spcBef>
              <a:spcAft>
                <a:spcPts val="0"/>
              </a:spcAft>
              <a:buNone/>
            </a:pPr>
            <a:r>
              <a:rPr lang="en">
                <a:solidFill>
                  <a:schemeClr val="dk2"/>
                </a:solidFill>
              </a:rPr>
              <a:t>prediction </a:t>
            </a:r>
            <a:r>
              <a:rPr b="1" lang="en">
                <a:solidFill>
                  <a:srgbClr val="949AF8"/>
                </a:solidFill>
              </a:rPr>
              <a:t>ŷ</a:t>
            </a:r>
            <a:endParaRPr>
              <a:solidFill>
                <a:srgbClr val="949AF8"/>
              </a:solidFill>
            </a:endParaRPr>
          </a:p>
        </p:txBody>
      </p:sp>
      <p:sp>
        <p:nvSpPr>
          <p:cNvPr id="503" name="Google Shape;503;p36"/>
          <p:cNvSpPr txBox="1"/>
          <p:nvPr/>
        </p:nvSpPr>
        <p:spPr>
          <a:xfrm>
            <a:off x="1779938" y="4368925"/>
            <a:ext cx="43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b</a:t>
            </a:r>
            <a:r>
              <a:rPr baseline="30000" lang="en">
                <a:solidFill>
                  <a:schemeClr val="dk1"/>
                </a:solidFill>
              </a:rPr>
              <a:t>(</a:t>
            </a:r>
            <a:r>
              <a:rPr b="1" baseline="30000" lang="en">
                <a:solidFill>
                  <a:srgbClr val="949AF8"/>
                </a:solidFill>
              </a:rPr>
              <a:t>1</a:t>
            </a:r>
            <a:r>
              <a:rPr baseline="30000" lang="en">
                <a:solidFill>
                  <a:schemeClr val="dk1"/>
                </a:solidFill>
              </a:rPr>
              <a:t>)</a:t>
            </a:r>
            <a:endParaRPr/>
          </a:p>
        </p:txBody>
      </p:sp>
      <p:sp>
        <p:nvSpPr>
          <p:cNvPr id="504" name="Google Shape;504;p36"/>
          <p:cNvSpPr txBox="1"/>
          <p:nvPr/>
        </p:nvSpPr>
        <p:spPr>
          <a:xfrm>
            <a:off x="4223025" y="4347375"/>
            <a:ext cx="43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b</a:t>
            </a:r>
            <a:r>
              <a:rPr baseline="30000" lang="en">
                <a:solidFill>
                  <a:schemeClr val="dk1"/>
                </a:solidFill>
              </a:rPr>
              <a:t>(</a:t>
            </a:r>
            <a:r>
              <a:rPr b="1" baseline="30000" lang="en">
                <a:solidFill>
                  <a:srgbClr val="949AF8"/>
                </a:solidFill>
              </a:rPr>
              <a:t>2</a:t>
            </a:r>
            <a:r>
              <a:rPr baseline="30000" lang="en">
                <a:solidFill>
                  <a:schemeClr val="dk1"/>
                </a:solidFill>
              </a:rPr>
              <a:t>)</a:t>
            </a:r>
            <a:endParaRPr/>
          </a:p>
        </p:txBody>
      </p:sp>
      <p:sp>
        <p:nvSpPr>
          <p:cNvPr id="505" name="Google Shape;505;p36"/>
          <p:cNvSpPr txBox="1"/>
          <p:nvPr/>
        </p:nvSpPr>
        <p:spPr>
          <a:xfrm>
            <a:off x="6730063" y="4332100"/>
            <a:ext cx="43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b</a:t>
            </a:r>
            <a:r>
              <a:rPr baseline="30000" lang="en">
                <a:solidFill>
                  <a:schemeClr val="dk1"/>
                </a:solidFill>
              </a:rPr>
              <a:t>(</a:t>
            </a:r>
            <a:r>
              <a:rPr b="1" baseline="30000" lang="en">
                <a:solidFill>
                  <a:srgbClr val="949AF8"/>
                </a:solidFill>
              </a:rPr>
              <a:t>3</a:t>
            </a:r>
            <a:r>
              <a:rPr baseline="30000" lang="en">
                <a:solidFill>
                  <a:schemeClr val="dk1"/>
                </a:solidFill>
              </a:rPr>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grpSp>
        <p:nvGrpSpPr>
          <p:cNvPr id="510" name="Google Shape;510;p37"/>
          <p:cNvGrpSpPr/>
          <p:nvPr/>
        </p:nvGrpSpPr>
        <p:grpSpPr>
          <a:xfrm>
            <a:off x="8362059" y="2953600"/>
            <a:ext cx="601091" cy="1098893"/>
            <a:chOff x="8438259" y="3182200"/>
            <a:chExt cx="601091" cy="1098893"/>
          </a:xfrm>
        </p:grpSpPr>
        <p:sp>
          <p:nvSpPr>
            <p:cNvPr id="511" name="Google Shape;511;p37"/>
            <p:cNvSpPr txBox="1"/>
            <p:nvPr/>
          </p:nvSpPr>
          <p:spPr>
            <a:xfrm>
              <a:off x="8477150" y="3182200"/>
              <a:ext cx="562200" cy="108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b</a:t>
              </a:r>
              <a:r>
                <a:rPr b="1" baseline="-25000" lang="en">
                  <a:solidFill>
                    <a:srgbClr val="0000FF"/>
                  </a:solidFill>
                </a:rPr>
                <a:t>1</a:t>
              </a:r>
              <a:r>
                <a:rPr baseline="30000" lang="en">
                  <a:solidFill>
                    <a:schemeClr val="dk1"/>
                  </a:solidFill>
                </a:rPr>
                <a:t>(</a:t>
              </a:r>
              <a:r>
                <a:rPr b="1" baseline="30000" lang="en">
                  <a:solidFill>
                    <a:srgbClr val="949AF8"/>
                  </a:solidFill>
                </a:rPr>
                <a:t>1</a:t>
              </a:r>
              <a:r>
                <a:rPr baseline="30000" lang="en">
                  <a:solidFill>
                    <a:schemeClr val="dk1"/>
                  </a:solidFill>
                </a:rPr>
                <a:t>)</a:t>
              </a:r>
              <a:endParaRPr baseline="30000">
                <a:solidFill>
                  <a:schemeClr val="dk1"/>
                </a:solidFill>
              </a:endParaRPr>
            </a:p>
            <a:p>
              <a:pPr indent="0" lvl="0" marL="0" rtl="0" algn="l">
                <a:spcBef>
                  <a:spcPts val="1000"/>
                </a:spcBef>
                <a:spcAft>
                  <a:spcPts val="0"/>
                </a:spcAft>
                <a:buNone/>
              </a:pPr>
              <a:r>
                <a:rPr b="1" lang="en">
                  <a:solidFill>
                    <a:schemeClr val="dk1"/>
                  </a:solidFill>
                </a:rPr>
                <a:t>b</a:t>
              </a:r>
              <a:r>
                <a:rPr b="1" baseline="-25000" lang="en">
                  <a:solidFill>
                    <a:srgbClr val="0000FF"/>
                  </a:solidFill>
                </a:rPr>
                <a:t>2</a:t>
              </a:r>
              <a:r>
                <a:rPr baseline="30000" lang="en">
                  <a:solidFill>
                    <a:schemeClr val="dk1"/>
                  </a:solidFill>
                </a:rPr>
                <a:t>(</a:t>
              </a:r>
              <a:r>
                <a:rPr b="1" baseline="30000" lang="en">
                  <a:solidFill>
                    <a:srgbClr val="949AF8"/>
                  </a:solidFill>
                </a:rPr>
                <a:t>1</a:t>
              </a:r>
              <a:r>
                <a:rPr baseline="30000" lang="en">
                  <a:solidFill>
                    <a:schemeClr val="dk1"/>
                  </a:solidFill>
                </a:rPr>
                <a:t>)</a:t>
              </a:r>
              <a:endParaRPr baseline="30000">
                <a:solidFill>
                  <a:schemeClr val="dk1"/>
                </a:solidFill>
              </a:endParaRPr>
            </a:p>
            <a:p>
              <a:pPr indent="0" lvl="0" marL="0" rtl="0" algn="l">
                <a:spcBef>
                  <a:spcPts val="1000"/>
                </a:spcBef>
                <a:spcAft>
                  <a:spcPts val="1000"/>
                </a:spcAft>
                <a:buNone/>
              </a:pPr>
              <a:r>
                <a:rPr b="1" lang="en">
                  <a:solidFill>
                    <a:schemeClr val="dk1"/>
                  </a:solidFill>
                </a:rPr>
                <a:t>b</a:t>
              </a:r>
              <a:r>
                <a:rPr b="1" baseline="-25000" lang="en">
                  <a:solidFill>
                    <a:srgbClr val="0000FF"/>
                  </a:solidFill>
                </a:rPr>
                <a:t>3</a:t>
              </a:r>
              <a:r>
                <a:rPr baseline="30000" lang="en">
                  <a:solidFill>
                    <a:schemeClr val="dk1"/>
                  </a:solidFill>
                </a:rPr>
                <a:t>(</a:t>
              </a:r>
              <a:r>
                <a:rPr b="1" baseline="30000" lang="en">
                  <a:solidFill>
                    <a:srgbClr val="949AF8"/>
                  </a:solidFill>
                </a:rPr>
                <a:t>1</a:t>
              </a:r>
              <a:r>
                <a:rPr baseline="30000" lang="en">
                  <a:solidFill>
                    <a:schemeClr val="dk1"/>
                  </a:solidFill>
                </a:rPr>
                <a:t>)</a:t>
              </a:r>
              <a:endParaRPr baseline="30000">
                <a:solidFill>
                  <a:schemeClr val="dk1"/>
                </a:solidFill>
              </a:endParaRPr>
            </a:p>
          </p:txBody>
        </p:sp>
        <p:grpSp>
          <p:nvGrpSpPr>
            <p:cNvPr id="512" name="Google Shape;512;p37"/>
            <p:cNvGrpSpPr/>
            <p:nvPr/>
          </p:nvGrpSpPr>
          <p:grpSpPr>
            <a:xfrm>
              <a:off x="8438259" y="3193339"/>
              <a:ext cx="528673" cy="1087753"/>
              <a:chOff x="4723298" y="1783100"/>
              <a:chExt cx="528673" cy="972250"/>
            </a:xfrm>
          </p:grpSpPr>
          <p:sp>
            <p:nvSpPr>
              <p:cNvPr id="513" name="Google Shape;513;p37"/>
              <p:cNvSpPr/>
              <p:nvPr/>
            </p:nvSpPr>
            <p:spPr>
              <a:xfrm>
                <a:off x="4723298" y="1783100"/>
                <a:ext cx="186350" cy="972250"/>
              </a:xfrm>
              <a:custGeom>
                <a:rect b="b" l="l" r="r" t="t"/>
                <a:pathLst>
                  <a:path extrusionOk="0" h="38890" w="7454">
                    <a:moveTo>
                      <a:pt x="5686" y="0"/>
                    </a:moveTo>
                    <a:cubicBezTo>
                      <a:pt x="4795" y="1252"/>
                      <a:pt x="1067" y="2000"/>
                      <a:pt x="337" y="7511"/>
                    </a:cubicBezTo>
                    <a:cubicBezTo>
                      <a:pt x="-393" y="13022"/>
                      <a:pt x="122" y="27837"/>
                      <a:pt x="1308" y="33067"/>
                    </a:cubicBezTo>
                    <a:cubicBezTo>
                      <a:pt x="2494" y="38297"/>
                      <a:pt x="6430" y="37920"/>
                      <a:pt x="7454" y="38890"/>
                    </a:cubicBezTo>
                  </a:path>
                </a:pathLst>
              </a:custGeom>
              <a:noFill/>
              <a:ln cap="flat" cmpd="sng" w="9525">
                <a:solidFill>
                  <a:schemeClr val="dk2"/>
                </a:solidFill>
                <a:prstDash val="solid"/>
                <a:round/>
                <a:headEnd len="med" w="med" type="none"/>
                <a:tailEnd len="med" w="med" type="none"/>
              </a:ln>
            </p:spPr>
          </p:sp>
          <p:sp>
            <p:nvSpPr>
              <p:cNvPr id="514" name="Google Shape;514;p37"/>
              <p:cNvSpPr/>
              <p:nvPr/>
            </p:nvSpPr>
            <p:spPr>
              <a:xfrm flipH="1">
                <a:off x="5065621" y="1783100"/>
                <a:ext cx="186350" cy="972250"/>
              </a:xfrm>
              <a:custGeom>
                <a:rect b="b" l="l" r="r" t="t"/>
                <a:pathLst>
                  <a:path extrusionOk="0" h="38890" w="7454">
                    <a:moveTo>
                      <a:pt x="5686" y="0"/>
                    </a:moveTo>
                    <a:cubicBezTo>
                      <a:pt x="4795" y="1252"/>
                      <a:pt x="1067" y="2000"/>
                      <a:pt x="337" y="7511"/>
                    </a:cubicBezTo>
                    <a:cubicBezTo>
                      <a:pt x="-393" y="13022"/>
                      <a:pt x="122" y="27837"/>
                      <a:pt x="1308" y="33067"/>
                    </a:cubicBezTo>
                    <a:cubicBezTo>
                      <a:pt x="2494" y="38297"/>
                      <a:pt x="6430" y="37920"/>
                      <a:pt x="7454" y="38890"/>
                    </a:cubicBezTo>
                  </a:path>
                </a:pathLst>
              </a:custGeom>
              <a:noFill/>
              <a:ln cap="flat" cmpd="sng" w="9525">
                <a:solidFill>
                  <a:schemeClr val="dk2"/>
                </a:solidFill>
                <a:prstDash val="solid"/>
                <a:round/>
                <a:headEnd len="med" w="med" type="none"/>
                <a:tailEnd len="med" w="med" type="none"/>
              </a:ln>
            </p:spPr>
          </p:sp>
        </p:grpSp>
      </p:grpSp>
      <p:sp>
        <p:nvSpPr>
          <p:cNvPr id="515" name="Google Shape;515;p37"/>
          <p:cNvSpPr txBox="1"/>
          <p:nvPr/>
        </p:nvSpPr>
        <p:spPr>
          <a:xfrm>
            <a:off x="151525" y="1291575"/>
            <a:ext cx="12678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input layer</a:t>
            </a:r>
            <a:endParaRPr b="1">
              <a:solidFill>
                <a:schemeClr val="dk1"/>
              </a:solidFill>
            </a:endParaRPr>
          </a:p>
        </p:txBody>
      </p:sp>
      <p:cxnSp>
        <p:nvCxnSpPr>
          <p:cNvPr id="516" name="Google Shape;516;p37"/>
          <p:cNvCxnSpPr>
            <a:stCxn id="517" idx="2"/>
          </p:cNvCxnSpPr>
          <p:nvPr/>
        </p:nvCxnSpPr>
        <p:spPr>
          <a:xfrm flipH="1">
            <a:off x="291125" y="2041525"/>
            <a:ext cx="403800" cy="4800"/>
          </a:xfrm>
          <a:prstGeom prst="straightConnector1">
            <a:avLst/>
          </a:prstGeom>
          <a:noFill/>
          <a:ln cap="flat" cmpd="sng" w="28575">
            <a:solidFill>
              <a:schemeClr val="dk1"/>
            </a:solidFill>
            <a:prstDash val="solid"/>
            <a:round/>
            <a:headEnd len="med" w="med" type="none"/>
            <a:tailEnd len="med" w="med" type="oval"/>
          </a:ln>
        </p:spPr>
      </p:cxnSp>
      <p:cxnSp>
        <p:nvCxnSpPr>
          <p:cNvPr id="518" name="Google Shape;518;p37"/>
          <p:cNvCxnSpPr>
            <a:stCxn id="519" idx="2"/>
          </p:cNvCxnSpPr>
          <p:nvPr/>
        </p:nvCxnSpPr>
        <p:spPr>
          <a:xfrm flipH="1">
            <a:off x="315725" y="2694825"/>
            <a:ext cx="379200" cy="300"/>
          </a:xfrm>
          <a:prstGeom prst="straightConnector1">
            <a:avLst/>
          </a:prstGeom>
          <a:noFill/>
          <a:ln cap="flat" cmpd="sng" w="28575">
            <a:solidFill>
              <a:schemeClr val="dk1"/>
            </a:solidFill>
            <a:prstDash val="solid"/>
            <a:round/>
            <a:headEnd len="med" w="med" type="none"/>
            <a:tailEnd len="med" w="med" type="oval"/>
          </a:ln>
        </p:spPr>
      </p:cxnSp>
      <p:cxnSp>
        <p:nvCxnSpPr>
          <p:cNvPr id="520" name="Google Shape;520;p37"/>
          <p:cNvCxnSpPr>
            <a:stCxn id="521" idx="2"/>
          </p:cNvCxnSpPr>
          <p:nvPr/>
        </p:nvCxnSpPr>
        <p:spPr>
          <a:xfrm flipH="1">
            <a:off x="291125" y="3348125"/>
            <a:ext cx="403800" cy="12000"/>
          </a:xfrm>
          <a:prstGeom prst="straightConnector1">
            <a:avLst/>
          </a:prstGeom>
          <a:noFill/>
          <a:ln cap="flat" cmpd="sng" w="28575">
            <a:solidFill>
              <a:schemeClr val="dk1"/>
            </a:solidFill>
            <a:prstDash val="solid"/>
            <a:round/>
            <a:headEnd len="med" w="med" type="none"/>
            <a:tailEnd len="med" w="med" type="oval"/>
          </a:ln>
        </p:spPr>
      </p:cxnSp>
      <p:cxnSp>
        <p:nvCxnSpPr>
          <p:cNvPr id="522" name="Google Shape;522;p37"/>
          <p:cNvCxnSpPr>
            <a:stCxn id="523" idx="2"/>
          </p:cNvCxnSpPr>
          <p:nvPr/>
        </p:nvCxnSpPr>
        <p:spPr>
          <a:xfrm flipH="1">
            <a:off x="283025" y="4001425"/>
            <a:ext cx="411900" cy="7500"/>
          </a:xfrm>
          <a:prstGeom prst="straightConnector1">
            <a:avLst/>
          </a:prstGeom>
          <a:noFill/>
          <a:ln cap="flat" cmpd="sng" w="28575">
            <a:solidFill>
              <a:schemeClr val="dk1"/>
            </a:solidFill>
            <a:prstDash val="solid"/>
            <a:round/>
            <a:headEnd len="med" w="med" type="none"/>
            <a:tailEnd len="med" w="med" type="oval"/>
          </a:ln>
        </p:spPr>
      </p:cxnSp>
      <p:sp>
        <p:nvSpPr>
          <p:cNvPr id="524" name="Google Shape;524;p37"/>
          <p:cNvSpPr/>
          <p:nvPr/>
        </p:nvSpPr>
        <p:spPr>
          <a:xfrm>
            <a:off x="1737650" y="4414075"/>
            <a:ext cx="478800" cy="46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25" name="Google Shape;525;p37"/>
          <p:cNvGrpSpPr/>
          <p:nvPr/>
        </p:nvGrpSpPr>
        <p:grpSpPr>
          <a:xfrm>
            <a:off x="2097025" y="1294500"/>
            <a:ext cx="2192400" cy="3031800"/>
            <a:chOff x="3468625" y="1446900"/>
            <a:chExt cx="2192400" cy="3031800"/>
          </a:xfrm>
        </p:grpSpPr>
        <p:sp>
          <p:nvSpPr>
            <p:cNvPr id="526" name="Google Shape;526;p37"/>
            <p:cNvSpPr txBox="1"/>
            <p:nvPr/>
          </p:nvSpPr>
          <p:spPr>
            <a:xfrm>
              <a:off x="3468625" y="1446900"/>
              <a:ext cx="21924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hidden layer </a:t>
              </a:r>
              <a:r>
                <a:rPr b="1" lang="en">
                  <a:solidFill>
                    <a:srgbClr val="949AF8"/>
                  </a:solidFill>
                </a:rPr>
                <a:t>1</a:t>
              </a:r>
              <a:endParaRPr b="1">
                <a:solidFill>
                  <a:srgbClr val="949AF8"/>
                </a:solidFill>
              </a:endParaRPr>
            </a:p>
          </p:txBody>
        </p:sp>
        <p:sp>
          <p:nvSpPr>
            <p:cNvPr id="527" name="Google Shape;527;p37"/>
            <p:cNvSpPr/>
            <p:nvPr/>
          </p:nvSpPr>
          <p:spPr>
            <a:xfrm>
              <a:off x="4038350" y="211772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528" name="Google Shape;528;p37"/>
            <p:cNvSpPr/>
            <p:nvPr/>
          </p:nvSpPr>
          <p:spPr>
            <a:xfrm>
              <a:off x="4038350" y="2861350"/>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29" name="Google Shape;529;p37"/>
            <p:cNvSpPr/>
            <p:nvPr/>
          </p:nvSpPr>
          <p:spPr>
            <a:xfrm>
              <a:off x="4038350" y="36554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30" name="Google Shape;530;p37"/>
            <p:cNvSpPr/>
            <p:nvPr/>
          </p:nvSpPr>
          <p:spPr>
            <a:xfrm>
              <a:off x="4925525" y="2117725"/>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31" name="Google Shape;531;p37"/>
            <p:cNvSpPr/>
            <p:nvPr/>
          </p:nvSpPr>
          <p:spPr>
            <a:xfrm>
              <a:off x="4925525" y="2861350"/>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532" name="Google Shape;532;p37"/>
            <p:cNvSpPr/>
            <p:nvPr/>
          </p:nvSpPr>
          <p:spPr>
            <a:xfrm>
              <a:off x="4925525" y="3645125"/>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grpSp>
      <p:sp>
        <p:nvSpPr>
          <p:cNvPr id="517" name="Google Shape;517;p37"/>
          <p:cNvSpPr/>
          <p:nvPr/>
        </p:nvSpPr>
        <p:spPr>
          <a:xfrm>
            <a:off x="694925" y="18103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1</a:t>
            </a:r>
            <a:endParaRPr>
              <a:solidFill>
                <a:schemeClr val="dk1"/>
              </a:solidFill>
            </a:endParaRPr>
          </a:p>
        </p:txBody>
      </p:sp>
      <p:sp>
        <p:nvSpPr>
          <p:cNvPr id="519" name="Google Shape;519;p37"/>
          <p:cNvSpPr/>
          <p:nvPr/>
        </p:nvSpPr>
        <p:spPr>
          <a:xfrm>
            <a:off x="694925" y="24636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2</a:t>
            </a:r>
            <a:endParaRPr>
              <a:solidFill>
                <a:schemeClr val="dk1"/>
              </a:solidFill>
            </a:endParaRPr>
          </a:p>
        </p:txBody>
      </p:sp>
      <p:sp>
        <p:nvSpPr>
          <p:cNvPr id="521" name="Google Shape;521;p37"/>
          <p:cNvSpPr/>
          <p:nvPr/>
        </p:nvSpPr>
        <p:spPr>
          <a:xfrm>
            <a:off x="694925" y="31169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3</a:t>
            </a:r>
            <a:endParaRPr>
              <a:solidFill>
                <a:schemeClr val="dk1"/>
              </a:solidFill>
            </a:endParaRPr>
          </a:p>
        </p:txBody>
      </p:sp>
      <p:sp>
        <p:nvSpPr>
          <p:cNvPr id="523" name="Google Shape;523;p37"/>
          <p:cNvSpPr/>
          <p:nvPr/>
        </p:nvSpPr>
        <p:spPr>
          <a:xfrm>
            <a:off x="694925" y="37702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4</a:t>
            </a:r>
            <a:endParaRPr>
              <a:solidFill>
                <a:schemeClr val="dk1"/>
              </a:solidFill>
            </a:endParaRPr>
          </a:p>
        </p:txBody>
      </p:sp>
      <p:grpSp>
        <p:nvGrpSpPr>
          <p:cNvPr id="533" name="Google Shape;533;p37"/>
          <p:cNvGrpSpPr/>
          <p:nvPr/>
        </p:nvGrpSpPr>
        <p:grpSpPr>
          <a:xfrm>
            <a:off x="1173725" y="2041525"/>
            <a:ext cx="1493100" cy="1959900"/>
            <a:chOff x="2545325" y="2193925"/>
            <a:chExt cx="1493100" cy="1959900"/>
          </a:xfrm>
        </p:grpSpPr>
        <p:cxnSp>
          <p:nvCxnSpPr>
            <p:cNvPr id="534" name="Google Shape;534;p37"/>
            <p:cNvCxnSpPr>
              <a:stCxn id="517" idx="6"/>
              <a:endCxn id="527" idx="2"/>
            </p:cNvCxnSpPr>
            <p:nvPr/>
          </p:nvCxnSpPr>
          <p:spPr>
            <a:xfrm>
              <a:off x="2545325" y="2193925"/>
              <a:ext cx="1493100" cy="155100"/>
            </a:xfrm>
            <a:prstGeom prst="straightConnector1">
              <a:avLst/>
            </a:prstGeom>
            <a:noFill/>
            <a:ln cap="flat" cmpd="sng" w="19050">
              <a:solidFill>
                <a:srgbClr val="1B91CA"/>
              </a:solidFill>
              <a:prstDash val="solid"/>
              <a:round/>
              <a:headEnd len="med" w="med" type="none"/>
              <a:tailEnd len="med" w="med" type="none"/>
            </a:ln>
          </p:spPr>
        </p:cxnSp>
        <p:cxnSp>
          <p:nvCxnSpPr>
            <p:cNvPr id="535" name="Google Shape;535;p37"/>
            <p:cNvCxnSpPr>
              <a:stCxn id="519" idx="6"/>
              <a:endCxn id="527" idx="2"/>
            </p:cNvCxnSpPr>
            <p:nvPr/>
          </p:nvCxnSpPr>
          <p:spPr>
            <a:xfrm flipH="1" rot="10800000">
              <a:off x="2545325" y="2348925"/>
              <a:ext cx="1493100" cy="498300"/>
            </a:xfrm>
            <a:prstGeom prst="straightConnector1">
              <a:avLst/>
            </a:prstGeom>
            <a:noFill/>
            <a:ln cap="flat" cmpd="sng" w="9525">
              <a:solidFill>
                <a:schemeClr val="dk2"/>
              </a:solidFill>
              <a:prstDash val="solid"/>
              <a:round/>
              <a:headEnd len="med" w="med" type="none"/>
              <a:tailEnd len="med" w="med" type="none"/>
            </a:ln>
          </p:spPr>
        </p:cxnSp>
        <p:cxnSp>
          <p:nvCxnSpPr>
            <p:cNvPr id="536" name="Google Shape;536;p37"/>
            <p:cNvCxnSpPr>
              <a:stCxn id="521" idx="6"/>
              <a:endCxn id="527" idx="2"/>
            </p:cNvCxnSpPr>
            <p:nvPr/>
          </p:nvCxnSpPr>
          <p:spPr>
            <a:xfrm flipH="1" rot="10800000">
              <a:off x="2545325" y="2348825"/>
              <a:ext cx="1493100" cy="1151700"/>
            </a:xfrm>
            <a:prstGeom prst="straightConnector1">
              <a:avLst/>
            </a:prstGeom>
            <a:noFill/>
            <a:ln cap="flat" cmpd="sng" w="9525">
              <a:solidFill>
                <a:schemeClr val="dk2"/>
              </a:solidFill>
              <a:prstDash val="solid"/>
              <a:round/>
              <a:headEnd len="med" w="med" type="none"/>
              <a:tailEnd len="med" w="med" type="none"/>
            </a:ln>
          </p:spPr>
        </p:cxnSp>
        <p:cxnSp>
          <p:nvCxnSpPr>
            <p:cNvPr id="537" name="Google Shape;537;p37"/>
            <p:cNvCxnSpPr>
              <a:stCxn id="523" idx="6"/>
              <a:endCxn id="527" idx="2"/>
            </p:cNvCxnSpPr>
            <p:nvPr/>
          </p:nvCxnSpPr>
          <p:spPr>
            <a:xfrm flipH="1" rot="10800000">
              <a:off x="2545325" y="2349025"/>
              <a:ext cx="1493100" cy="1804800"/>
            </a:xfrm>
            <a:prstGeom prst="straightConnector1">
              <a:avLst/>
            </a:prstGeom>
            <a:noFill/>
            <a:ln cap="flat" cmpd="sng" w="9525">
              <a:solidFill>
                <a:schemeClr val="dk2"/>
              </a:solidFill>
              <a:prstDash val="solid"/>
              <a:round/>
              <a:headEnd len="med" w="med" type="none"/>
              <a:tailEnd len="med" w="med" type="none"/>
            </a:ln>
          </p:spPr>
        </p:cxnSp>
      </p:grpSp>
      <p:grpSp>
        <p:nvGrpSpPr>
          <p:cNvPr id="538" name="Google Shape;538;p37"/>
          <p:cNvGrpSpPr/>
          <p:nvPr/>
        </p:nvGrpSpPr>
        <p:grpSpPr>
          <a:xfrm>
            <a:off x="1173725" y="2041525"/>
            <a:ext cx="1493100" cy="1959900"/>
            <a:chOff x="2545325" y="2193925"/>
            <a:chExt cx="1493100" cy="1959900"/>
          </a:xfrm>
        </p:grpSpPr>
        <p:cxnSp>
          <p:nvCxnSpPr>
            <p:cNvPr id="539" name="Google Shape;539;p37"/>
            <p:cNvCxnSpPr>
              <a:stCxn id="517" idx="6"/>
              <a:endCxn id="528" idx="2"/>
            </p:cNvCxnSpPr>
            <p:nvPr/>
          </p:nvCxnSpPr>
          <p:spPr>
            <a:xfrm>
              <a:off x="2545325" y="2193925"/>
              <a:ext cx="1493100" cy="898500"/>
            </a:xfrm>
            <a:prstGeom prst="straightConnector1">
              <a:avLst/>
            </a:prstGeom>
            <a:noFill/>
            <a:ln cap="flat" cmpd="sng" w="9525">
              <a:solidFill>
                <a:schemeClr val="dk2"/>
              </a:solidFill>
              <a:prstDash val="solid"/>
              <a:round/>
              <a:headEnd len="med" w="med" type="none"/>
              <a:tailEnd len="med" w="med" type="none"/>
            </a:ln>
          </p:spPr>
        </p:cxnSp>
        <p:cxnSp>
          <p:nvCxnSpPr>
            <p:cNvPr id="540" name="Google Shape;540;p37"/>
            <p:cNvCxnSpPr>
              <a:stCxn id="519" idx="6"/>
              <a:endCxn id="528" idx="2"/>
            </p:cNvCxnSpPr>
            <p:nvPr/>
          </p:nvCxnSpPr>
          <p:spPr>
            <a:xfrm>
              <a:off x="2545325" y="2847225"/>
              <a:ext cx="1493100" cy="245400"/>
            </a:xfrm>
            <a:prstGeom prst="straightConnector1">
              <a:avLst/>
            </a:prstGeom>
            <a:noFill/>
            <a:ln cap="flat" cmpd="sng" w="9525">
              <a:solidFill>
                <a:schemeClr val="dk2"/>
              </a:solidFill>
              <a:prstDash val="solid"/>
              <a:round/>
              <a:headEnd len="med" w="med" type="none"/>
              <a:tailEnd len="med" w="med" type="none"/>
            </a:ln>
          </p:spPr>
        </p:cxnSp>
        <p:cxnSp>
          <p:nvCxnSpPr>
            <p:cNvPr id="541" name="Google Shape;541;p37"/>
            <p:cNvCxnSpPr>
              <a:stCxn id="521" idx="6"/>
              <a:endCxn id="528" idx="2"/>
            </p:cNvCxnSpPr>
            <p:nvPr/>
          </p:nvCxnSpPr>
          <p:spPr>
            <a:xfrm flipH="1" rot="10800000">
              <a:off x="2545325" y="3092525"/>
              <a:ext cx="1493100" cy="408000"/>
            </a:xfrm>
            <a:prstGeom prst="straightConnector1">
              <a:avLst/>
            </a:prstGeom>
            <a:noFill/>
            <a:ln cap="flat" cmpd="sng" w="9525">
              <a:solidFill>
                <a:schemeClr val="dk2"/>
              </a:solidFill>
              <a:prstDash val="solid"/>
              <a:round/>
              <a:headEnd len="med" w="med" type="none"/>
              <a:tailEnd len="med" w="med" type="none"/>
            </a:ln>
          </p:spPr>
        </p:cxnSp>
        <p:cxnSp>
          <p:nvCxnSpPr>
            <p:cNvPr id="542" name="Google Shape;542;p37"/>
            <p:cNvCxnSpPr>
              <a:stCxn id="523" idx="6"/>
              <a:endCxn id="528" idx="2"/>
            </p:cNvCxnSpPr>
            <p:nvPr/>
          </p:nvCxnSpPr>
          <p:spPr>
            <a:xfrm flipH="1" rot="10800000">
              <a:off x="2545325" y="3092425"/>
              <a:ext cx="1493100" cy="1061400"/>
            </a:xfrm>
            <a:prstGeom prst="straightConnector1">
              <a:avLst/>
            </a:prstGeom>
            <a:noFill/>
            <a:ln cap="flat" cmpd="sng" w="9525">
              <a:solidFill>
                <a:schemeClr val="dk2"/>
              </a:solidFill>
              <a:prstDash val="solid"/>
              <a:round/>
              <a:headEnd len="med" w="med" type="none"/>
              <a:tailEnd len="med" w="med" type="none"/>
            </a:ln>
          </p:spPr>
        </p:cxnSp>
      </p:grpSp>
      <p:grpSp>
        <p:nvGrpSpPr>
          <p:cNvPr id="543" name="Google Shape;543;p37"/>
          <p:cNvGrpSpPr/>
          <p:nvPr/>
        </p:nvGrpSpPr>
        <p:grpSpPr>
          <a:xfrm>
            <a:off x="1173725" y="2041525"/>
            <a:ext cx="1496100" cy="1959900"/>
            <a:chOff x="2545325" y="2193925"/>
            <a:chExt cx="1496100" cy="1959900"/>
          </a:xfrm>
        </p:grpSpPr>
        <p:cxnSp>
          <p:nvCxnSpPr>
            <p:cNvPr id="544" name="Google Shape;544;p37"/>
            <p:cNvCxnSpPr>
              <a:stCxn id="517" idx="6"/>
              <a:endCxn id="529" idx="2"/>
            </p:cNvCxnSpPr>
            <p:nvPr/>
          </p:nvCxnSpPr>
          <p:spPr>
            <a:xfrm>
              <a:off x="2545325" y="2193925"/>
              <a:ext cx="1493100" cy="1692600"/>
            </a:xfrm>
            <a:prstGeom prst="straightConnector1">
              <a:avLst/>
            </a:prstGeom>
            <a:noFill/>
            <a:ln cap="flat" cmpd="sng" w="9525">
              <a:solidFill>
                <a:schemeClr val="dk2"/>
              </a:solidFill>
              <a:prstDash val="solid"/>
              <a:round/>
              <a:headEnd len="med" w="med" type="none"/>
              <a:tailEnd len="med" w="med" type="none"/>
            </a:ln>
          </p:spPr>
        </p:cxnSp>
        <p:cxnSp>
          <p:nvCxnSpPr>
            <p:cNvPr id="545" name="Google Shape;545;p37"/>
            <p:cNvCxnSpPr>
              <a:stCxn id="519" idx="6"/>
              <a:endCxn id="529" idx="2"/>
            </p:cNvCxnSpPr>
            <p:nvPr/>
          </p:nvCxnSpPr>
          <p:spPr>
            <a:xfrm>
              <a:off x="2545325" y="2847225"/>
              <a:ext cx="1493100" cy="1039500"/>
            </a:xfrm>
            <a:prstGeom prst="straightConnector1">
              <a:avLst/>
            </a:prstGeom>
            <a:noFill/>
            <a:ln cap="flat" cmpd="sng" w="9525">
              <a:solidFill>
                <a:schemeClr val="dk2"/>
              </a:solidFill>
              <a:prstDash val="solid"/>
              <a:round/>
              <a:headEnd len="med" w="med" type="none"/>
              <a:tailEnd len="med" w="med" type="none"/>
            </a:ln>
          </p:spPr>
        </p:cxnSp>
        <p:cxnSp>
          <p:nvCxnSpPr>
            <p:cNvPr id="546" name="Google Shape;546;p37"/>
            <p:cNvCxnSpPr>
              <a:stCxn id="521" idx="6"/>
              <a:endCxn id="529" idx="2"/>
            </p:cNvCxnSpPr>
            <p:nvPr/>
          </p:nvCxnSpPr>
          <p:spPr>
            <a:xfrm>
              <a:off x="2545325" y="3500525"/>
              <a:ext cx="1493100" cy="386100"/>
            </a:xfrm>
            <a:prstGeom prst="straightConnector1">
              <a:avLst/>
            </a:prstGeom>
            <a:noFill/>
            <a:ln cap="flat" cmpd="sng" w="9525">
              <a:solidFill>
                <a:schemeClr val="dk2"/>
              </a:solidFill>
              <a:prstDash val="solid"/>
              <a:round/>
              <a:headEnd len="med" w="med" type="none"/>
              <a:tailEnd len="med" w="med" type="none"/>
            </a:ln>
          </p:spPr>
        </p:cxnSp>
        <p:cxnSp>
          <p:nvCxnSpPr>
            <p:cNvPr id="547" name="Google Shape;547;p37"/>
            <p:cNvCxnSpPr>
              <a:stCxn id="523" idx="6"/>
              <a:endCxn id="548" idx="1"/>
            </p:cNvCxnSpPr>
            <p:nvPr/>
          </p:nvCxnSpPr>
          <p:spPr>
            <a:xfrm flipH="1" rot="10800000">
              <a:off x="2545325" y="3931825"/>
              <a:ext cx="1496100" cy="222000"/>
            </a:xfrm>
            <a:prstGeom prst="straightConnector1">
              <a:avLst/>
            </a:prstGeom>
            <a:noFill/>
            <a:ln cap="flat" cmpd="sng" w="28575">
              <a:solidFill>
                <a:srgbClr val="1B91CA"/>
              </a:solidFill>
              <a:prstDash val="solid"/>
              <a:round/>
              <a:headEnd len="med" w="med" type="none"/>
              <a:tailEnd len="med" w="med" type="none"/>
            </a:ln>
          </p:spPr>
        </p:cxnSp>
      </p:grpSp>
      <p:grpSp>
        <p:nvGrpSpPr>
          <p:cNvPr id="549" name="Google Shape;549;p37"/>
          <p:cNvGrpSpPr/>
          <p:nvPr/>
        </p:nvGrpSpPr>
        <p:grpSpPr>
          <a:xfrm>
            <a:off x="1977050" y="2196475"/>
            <a:ext cx="692713" cy="2217600"/>
            <a:chOff x="3348650" y="2348875"/>
            <a:chExt cx="692713" cy="2217600"/>
          </a:xfrm>
        </p:grpSpPr>
        <p:cxnSp>
          <p:nvCxnSpPr>
            <p:cNvPr id="550" name="Google Shape;550;p37"/>
            <p:cNvCxnSpPr>
              <a:stCxn id="524" idx="0"/>
              <a:endCxn id="548" idx="1"/>
            </p:cNvCxnSpPr>
            <p:nvPr/>
          </p:nvCxnSpPr>
          <p:spPr>
            <a:xfrm flipH="1" rot="10800000">
              <a:off x="3348650" y="3931675"/>
              <a:ext cx="692700" cy="634800"/>
            </a:xfrm>
            <a:prstGeom prst="straightConnector1">
              <a:avLst/>
            </a:prstGeom>
            <a:noFill/>
            <a:ln cap="flat" cmpd="sng" w="28575">
              <a:solidFill>
                <a:schemeClr val="accent4"/>
              </a:solidFill>
              <a:prstDash val="solid"/>
              <a:round/>
              <a:headEnd len="med" w="med" type="none"/>
              <a:tailEnd len="med" w="med" type="none"/>
            </a:ln>
          </p:spPr>
        </p:cxnSp>
        <p:cxnSp>
          <p:nvCxnSpPr>
            <p:cNvPr id="551" name="Google Shape;551;p37"/>
            <p:cNvCxnSpPr>
              <a:stCxn id="552" idx="1"/>
              <a:endCxn id="524" idx="0"/>
            </p:cNvCxnSpPr>
            <p:nvPr/>
          </p:nvCxnSpPr>
          <p:spPr>
            <a:xfrm flipH="1">
              <a:off x="3348663" y="3150950"/>
              <a:ext cx="692700" cy="1415400"/>
            </a:xfrm>
            <a:prstGeom prst="straightConnector1">
              <a:avLst/>
            </a:prstGeom>
            <a:noFill/>
            <a:ln cap="flat" cmpd="sng" w="9525">
              <a:solidFill>
                <a:schemeClr val="dk2"/>
              </a:solidFill>
              <a:prstDash val="solid"/>
              <a:round/>
              <a:headEnd len="med" w="med" type="none"/>
              <a:tailEnd len="med" w="med" type="none"/>
            </a:ln>
          </p:spPr>
        </p:cxnSp>
        <p:cxnSp>
          <p:nvCxnSpPr>
            <p:cNvPr id="553" name="Google Shape;553;p37"/>
            <p:cNvCxnSpPr>
              <a:stCxn id="527" idx="2"/>
              <a:endCxn id="524" idx="0"/>
            </p:cNvCxnSpPr>
            <p:nvPr/>
          </p:nvCxnSpPr>
          <p:spPr>
            <a:xfrm flipH="1">
              <a:off x="3348650" y="2348875"/>
              <a:ext cx="689700" cy="2217600"/>
            </a:xfrm>
            <a:prstGeom prst="straightConnector1">
              <a:avLst/>
            </a:prstGeom>
            <a:noFill/>
            <a:ln cap="flat" cmpd="sng" w="9525">
              <a:solidFill>
                <a:schemeClr val="dk2"/>
              </a:solidFill>
              <a:prstDash val="solid"/>
              <a:round/>
              <a:headEnd len="med" w="med" type="none"/>
              <a:tailEnd len="med" w="med" type="none"/>
            </a:ln>
          </p:spPr>
        </p:cxnSp>
      </p:grpSp>
      <p:grpSp>
        <p:nvGrpSpPr>
          <p:cNvPr id="554" name="Google Shape;554;p37"/>
          <p:cNvGrpSpPr/>
          <p:nvPr/>
        </p:nvGrpSpPr>
        <p:grpSpPr>
          <a:xfrm>
            <a:off x="3151571" y="2196475"/>
            <a:ext cx="403809" cy="1537900"/>
            <a:chOff x="4517225" y="2348875"/>
            <a:chExt cx="408300" cy="1537900"/>
          </a:xfrm>
        </p:grpSpPr>
        <p:cxnSp>
          <p:nvCxnSpPr>
            <p:cNvPr id="555" name="Google Shape;555;p37"/>
            <p:cNvCxnSpPr/>
            <p:nvPr/>
          </p:nvCxnSpPr>
          <p:spPr>
            <a:xfrm>
              <a:off x="4517225" y="2348875"/>
              <a:ext cx="408300" cy="0"/>
            </a:xfrm>
            <a:prstGeom prst="straightConnector1">
              <a:avLst/>
            </a:prstGeom>
            <a:noFill/>
            <a:ln cap="flat" cmpd="sng" w="9525">
              <a:solidFill>
                <a:schemeClr val="dk2"/>
              </a:solidFill>
              <a:prstDash val="solid"/>
              <a:round/>
              <a:headEnd len="med" w="med" type="none"/>
              <a:tailEnd len="med" w="med" type="none"/>
            </a:ln>
          </p:spPr>
        </p:cxnSp>
        <p:cxnSp>
          <p:nvCxnSpPr>
            <p:cNvPr id="556" name="Google Shape;556;p37"/>
            <p:cNvCxnSpPr/>
            <p:nvPr/>
          </p:nvCxnSpPr>
          <p:spPr>
            <a:xfrm>
              <a:off x="4517225" y="3092500"/>
              <a:ext cx="408300" cy="0"/>
            </a:xfrm>
            <a:prstGeom prst="straightConnector1">
              <a:avLst/>
            </a:prstGeom>
            <a:noFill/>
            <a:ln cap="flat" cmpd="sng" w="9525">
              <a:solidFill>
                <a:schemeClr val="dk2"/>
              </a:solidFill>
              <a:prstDash val="solid"/>
              <a:round/>
              <a:headEnd len="med" w="med" type="none"/>
              <a:tailEnd len="med" w="med" type="none"/>
            </a:ln>
          </p:spPr>
        </p:cxnSp>
        <p:cxnSp>
          <p:nvCxnSpPr>
            <p:cNvPr id="557" name="Google Shape;557;p37"/>
            <p:cNvCxnSpPr/>
            <p:nvPr/>
          </p:nvCxnSpPr>
          <p:spPr>
            <a:xfrm flipH="1" rot="10800000">
              <a:off x="4517225" y="3876275"/>
              <a:ext cx="408300" cy="10500"/>
            </a:xfrm>
            <a:prstGeom prst="straightConnector1">
              <a:avLst/>
            </a:prstGeom>
            <a:noFill/>
            <a:ln cap="flat" cmpd="sng" w="9525">
              <a:solidFill>
                <a:schemeClr val="dk2"/>
              </a:solidFill>
              <a:prstDash val="solid"/>
              <a:round/>
              <a:headEnd len="med" w="med" type="none"/>
              <a:tailEnd len="med" w="med" type="none"/>
            </a:ln>
          </p:spPr>
        </p:cxnSp>
      </p:grpSp>
      <p:sp>
        <p:nvSpPr>
          <p:cNvPr id="558" name="Google Shape;558;p37"/>
          <p:cNvSpPr txBox="1"/>
          <p:nvPr/>
        </p:nvSpPr>
        <p:spPr>
          <a:xfrm>
            <a:off x="4752475" y="412100"/>
            <a:ext cx="4062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w</a:t>
            </a:r>
            <a:r>
              <a:rPr baseline="-25000" lang="en">
                <a:solidFill>
                  <a:schemeClr val="dk1"/>
                </a:solidFill>
              </a:rPr>
              <a:t>i,j</a:t>
            </a:r>
            <a:r>
              <a:rPr baseline="30000" lang="en">
                <a:solidFill>
                  <a:schemeClr val="dk1"/>
                </a:solidFill>
              </a:rPr>
              <a:t>(</a:t>
            </a:r>
            <a:r>
              <a:rPr b="1" baseline="30000" lang="en">
                <a:solidFill>
                  <a:srgbClr val="949AF8"/>
                </a:solidFill>
              </a:rPr>
              <a:t>1</a:t>
            </a:r>
            <a:r>
              <a:rPr baseline="30000" lang="en">
                <a:solidFill>
                  <a:schemeClr val="dk1"/>
                </a:solidFill>
              </a:rPr>
              <a:t>)</a:t>
            </a:r>
            <a:r>
              <a:rPr b="1" lang="en">
                <a:solidFill>
                  <a:schemeClr val="dk1"/>
                </a:solidFill>
              </a:rPr>
              <a:t> </a:t>
            </a:r>
            <a:r>
              <a:rPr lang="en">
                <a:solidFill>
                  <a:schemeClr val="dk1"/>
                </a:solidFill>
              </a:rPr>
              <a:t>is the weight of connection from input layer j to </a:t>
            </a:r>
            <a:r>
              <a:rPr b="1" lang="en">
                <a:solidFill>
                  <a:schemeClr val="dk1"/>
                </a:solidFill>
              </a:rPr>
              <a:t>neuron i </a:t>
            </a:r>
            <a:r>
              <a:rPr lang="en">
                <a:solidFill>
                  <a:schemeClr val="dk1"/>
                </a:solidFill>
              </a:rPr>
              <a:t>at hidden layer </a:t>
            </a:r>
            <a:r>
              <a:rPr b="1" lang="en">
                <a:solidFill>
                  <a:srgbClr val="949AF8"/>
                </a:solidFill>
              </a:rPr>
              <a:t>1</a:t>
            </a:r>
            <a:r>
              <a:rPr lang="en">
                <a:solidFill>
                  <a:schemeClr val="dk1"/>
                </a:solidFill>
              </a:rPr>
              <a:t> </a:t>
            </a:r>
            <a:endParaRPr>
              <a:solidFill>
                <a:schemeClr val="dk1"/>
              </a:solidFill>
            </a:endParaRPr>
          </a:p>
        </p:txBody>
      </p:sp>
      <p:sp>
        <p:nvSpPr>
          <p:cNvPr id="559" name="Google Shape;559;p37"/>
          <p:cNvSpPr txBox="1"/>
          <p:nvPr/>
        </p:nvSpPr>
        <p:spPr>
          <a:xfrm>
            <a:off x="4752475" y="1027700"/>
            <a:ext cx="4045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b</a:t>
            </a:r>
            <a:r>
              <a:rPr baseline="-25000" lang="en">
                <a:solidFill>
                  <a:schemeClr val="dk1"/>
                </a:solidFill>
              </a:rPr>
              <a:t>i</a:t>
            </a:r>
            <a:r>
              <a:rPr baseline="30000" lang="en">
                <a:solidFill>
                  <a:schemeClr val="dk1"/>
                </a:solidFill>
              </a:rPr>
              <a:t>(</a:t>
            </a:r>
            <a:r>
              <a:rPr b="1" baseline="30000" lang="en">
                <a:solidFill>
                  <a:srgbClr val="949AF8"/>
                </a:solidFill>
              </a:rPr>
              <a:t>1</a:t>
            </a:r>
            <a:r>
              <a:rPr baseline="30000" lang="en">
                <a:solidFill>
                  <a:schemeClr val="dk1"/>
                </a:solidFill>
              </a:rPr>
              <a:t>)</a:t>
            </a:r>
            <a:r>
              <a:rPr b="1" lang="en">
                <a:solidFill>
                  <a:schemeClr val="dk1"/>
                </a:solidFill>
              </a:rPr>
              <a:t> </a:t>
            </a:r>
            <a:r>
              <a:rPr lang="en">
                <a:solidFill>
                  <a:schemeClr val="dk1"/>
                </a:solidFill>
              </a:rPr>
              <a:t>is the bias of </a:t>
            </a:r>
            <a:r>
              <a:rPr b="1" lang="en">
                <a:solidFill>
                  <a:schemeClr val="dk1"/>
                </a:solidFill>
              </a:rPr>
              <a:t>neuron i</a:t>
            </a:r>
            <a:r>
              <a:rPr lang="en">
                <a:solidFill>
                  <a:schemeClr val="dk1"/>
                </a:solidFill>
              </a:rPr>
              <a:t> at hidden layer </a:t>
            </a:r>
            <a:r>
              <a:rPr b="1" lang="en">
                <a:solidFill>
                  <a:srgbClr val="949AF8"/>
                </a:solidFill>
              </a:rPr>
              <a:t>1</a:t>
            </a:r>
            <a:r>
              <a:rPr lang="en">
                <a:solidFill>
                  <a:schemeClr val="dk1"/>
                </a:solidFill>
              </a:rPr>
              <a:t> </a:t>
            </a:r>
            <a:endParaRPr>
              <a:solidFill>
                <a:schemeClr val="dk1"/>
              </a:solidFill>
            </a:endParaRPr>
          </a:p>
        </p:txBody>
      </p:sp>
      <p:sp>
        <p:nvSpPr>
          <p:cNvPr id="560" name="Google Shape;560;p37"/>
          <p:cNvSpPr txBox="1"/>
          <p:nvPr/>
        </p:nvSpPr>
        <p:spPr>
          <a:xfrm>
            <a:off x="4447675" y="1762050"/>
            <a:ext cx="460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z</a:t>
            </a:r>
            <a:r>
              <a:rPr b="1" baseline="-25000" lang="en">
                <a:solidFill>
                  <a:srgbClr val="0000FF"/>
                </a:solidFill>
              </a:rPr>
              <a:t>1</a:t>
            </a:r>
            <a:r>
              <a:rPr baseline="30000" lang="en">
                <a:solidFill>
                  <a:schemeClr val="dk1"/>
                </a:solidFill>
              </a:rPr>
              <a:t>(</a:t>
            </a:r>
            <a:r>
              <a:rPr b="1" baseline="30000" lang="en">
                <a:solidFill>
                  <a:srgbClr val="949AF8"/>
                </a:solidFill>
              </a:rPr>
              <a:t>1</a:t>
            </a:r>
            <a:r>
              <a:rPr baseline="30000" lang="en">
                <a:solidFill>
                  <a:schemeClr val="dk1"/>
                </a:solidFill>
              </a:rPr>
              <a:t>)</a:t>
            </a:r>
            <a:r>
              <a:rPr b="1" lang="en">
                <a:solidFill>
                  <a:schemeClr val="dk1"/>
                </a:solidFill>
              </a:rPr>
              <a:t>   </a:t>
            </a:r>
            <a:r>
              <a:rPr lang="en">
                <a:solidFill>
                  <a:schemeClr val="dk1"/>
                </a:solidFill>
              </a:rPr>
              <a:t>=</a:t>
            </a:r>
            <a:r>
              <a:rPr b="1" lang="en">
                <a:solidFill>
                  <a:schemeClr val="dk1"/>
                </a:solidFill>
              </a:rPr>
              <a:t>  </a:t>
            </a:r>
            <a:r>
              <a:rPr lang="en">
                <a:solidFill>
                  <a:schemeClr val="dk1"/>
                </a:solidFill>
              </a:rPr>
              <a:t> </a:t>
            </a:r>
            <a:r>
              <a:rPr b="1" lang="en">
                <a:solidFill>
                  <a:schemeClr val="dk1"/>
                </a:solidFill>
              </a:rPr>
              <a:t>w</a:t>
            </a:r>
            <a:r>
              <a:rPr b="1" baseline="-25000" lang="en">
                <a:solidFill>
                  <a:srgbClr val="0000FF"/>
                </a:solidFill>
              </a:rPr>
              <a:t>1</a:t>
            </a:r>
            <a:r>
              <a:rPr baseline="-25000" lang="en">
                <a:solidFill>
                  <a:schemeClr val="dk1"/>
                </a:solidFill>
              </a:rPr>
              <a:t>,1</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rgbClr val="BCBD21"/>
                </a:solidFill>
              </a:rPr>
              <a:t>x</a:t>
            </a:r>
            <a:r>
              <a:rPr b="1" lang="en" sz="900">
                <a:solidFill>
                  <a:srgbClr val="BCBD21"/>
                </a:solidFill>
              </a:rPr>
              <a:t>1 </a:t>
            </a:r>
            <a:r>
              <a:rPr b="1" lang="en">
                <a:solidFill>
                  <a:schemeClr val="dk1"/>
                </a:solidFill>
              </a:rPr>
              <a:t>+ w</a:t>
            </a:r>
            <a:r>
              <a:rPr b="1" baseline="-25000" lang="en">
                <a:solidFill>
                  <a:srgbClr val="0000FF"/>
                </a:solidFill>
              </a:rPr>
              <a:t>1</a:t>
            </a:r>
            <a:r>
              <a:rPr baseline="-25000" lang="en">
                <a:solidFill>
                  <a:schemeClr val="dk1"/>
                </a:solidFill>
              </a:rPr>
              <a:t>,2</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rgbClr val="BCBD21"/>
                </a:solidFill>
              </a:rPr>
              <a:t>x</a:t>
            </a:r>
            <a:r>
              <a:rPr b="1" lang="en" sz="900">
                <a:solidFill>
                  <a:srgbClr val="BCBD21"/>
                </a:solidFill>
              </a:rPr>
              <a:t>2</a:t>
            </a:r>
            <a:r>
              <a:rPr b="1" lang="en" sz="900">
                <a:solidFill>
                  <a:srgbClr val="BCBD21"/>
                </a:solidFill>
              </a:rPr>
              <a:t> </a:t>
            </a:r>
            <a:r>
              <a:rPr b="1" lang="en">
                <a:solidFill>
                  <a:schemeClr val="dk1"/>
                </a:solidFill>
              </a:rPr>
              <a:t>+ w</a:t>
            </a:r>
            <a:r>
              <a:rPr b="1" baseline="-25000" lang="en">
                <a:solidFill>
                  <a:srgbClr val="0000FF"/>
                </a:solidFill>
              </a:rPr>
              <a:t>1</a:t>
            </a:r>
            <a:r>
              <a:rPr baseline="-25000" lang="en">
                <a:solidFill>
                  <a:schemeClr val="dk1"/>
                </a:solidFill>
              </a:rPr>
              <a:t>,3</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rgbClr val="BCBD21"/>
                </a:solidFill>
              </a:rPr>
              <a:t>x</a:t>
            </a:r>
            <a:r>
              <a:rPr b="1" lang="en" sz="900">
                <a:solidFill>
                  <a:srgbClr val="BCBD21"/>
                </a:solidFill>
              </a:rPr>
              <a:t>3</a:t>
            </a:r>
            <a:r>
              <a:rPr b="1" lang="en">
                <a:solidFill>
                  <a:schemeClr val="dk1"/>
                </a:solidFill>
              </a:rPr>
              <a:t> </a:t>
            </a:r>
            <a:r>
              <a:rPr b="1" lang="en">
                <a:solidFill>
                  <a:schemeClr val="dk1"/>
                </a:solidFill>
              </a:rPr>
              <a:t>+ w</a:t>
            </a:r>
            <a:r>
              <a:rPr b="1" baseline="-25000" lang="en">
                <a:solidFill>
                  <a:srgbClr val="0000FF"/>
                </a:solidFill>
              </a:rPr>
              <a:t>1</a:t>
            </a:r>
            <a:r>
              <a:rPr baseline="-25000" lang="en">
                <a:solidFill>
                  <a:schemeClr val="dk1"/>
                </a:solidFill>
              </a:rPr>
              <a:t>,4</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rgbClr val="BCBD21"/>
                </a:solidFill>
              </a:rPr>
              <a:t>x</a:t>
            </a:r>
            <a:r>
              <a:rPr b="1" lang="en" sz="900">
                <a:solidFill>
                  <a:srgbClr val="BCBD21"/>
                </a:solidFill>
              </a:rPr>
              <a:t>4</a:t>
            </a:r>
            <a:r>
              <a:rPr b="1" lang="en" sz="900">
                <a:solidFill>
                  <a:srgbClr val="BCBD21"/>
                </a:solidFill>
              </a:rPr>
              <a:t> </a:t>
            </a:r>
            <a:r>
              <a:rPr b="1" lang="en">
                <a:solidFill>
                  <a:schemeClr val="dk1"/>
                </a:solidFill>
              </a:rPr>
              <a:t>  </a:t>
            </a:r>
            <a:r>
              <a:rPr b="1" lang="en">
                <a:solidFill>
                  <a:schemeClr val="dk1"/>
                </a:solidFill>
              </a:rPr>
              <a:t>+</a:t>
            </a:r>
            <a:r>
              <a:rPr b="1" lang="en">
                <a:solidFill>
                  <a:schemeClr val="dk1"/>
                </a:solidFill>
              </a:rPr>
              <a:t>  </a:t>
            </a:r>
            <a:r>
              <a:rPr b="1" lang="en">
                <a:solidFill>
                  <a:schemeClr val="dk1"/>
                </a:solidFill>
              </a:rPr>
              <a:t> b</a:t>
            </a:r>
            <a:r>
              <a:rPr b="1" baseline="-25000" lang="en">
                <a:solidFill>
                  <a:srgbClr val="0000FF"/>
                </a:solidFill>
              </a:rPr>
              <a:t>1</a:t>
            </a:r>
            <a:r>
              <a:rPr baseline="30000" lang="en">
                <a:solidFill>
                  <a:schemeClr val="dk1"/>
                </a:solidFill>
              </a:rPr>
              <a:t>(</a:t>
            </a:r>
            <a:r>
              <a:rPr b="1" baseline="30000" lang="en">
                <a:solidFill>
                  <a:srgbClr val="949AF8"/>
                </a:solidFill>
              </a:rPr>
              <a:t>1</a:t>
            </a:r>
            <a:r>
              <a:rPr baseline="30000" lang="en">
                <a:solidFill>
                  <a:schemeClr val="dk1"/>
                </a:solidFill>
              </a:rPr>
              <a:t>)</a:t>
            </a:r>
            <a:endParaRPr>
              <a:solidFill>
                <a:schemeClr val="dk1"/>
              </a:solidFill>
            </a:endParaRPr>
          </a:p>
        </p:txBody>
      </p:sp>
      <p:sp>
        <p:nvSpPr>
          <p:cNvPr id="561" name="Google Shape;561;p37"/>
          <p:cNvSpPr txBox="1"/>
          <p:nvPr/>
        </p:nvSpPr>
        <p:spPr>
          <a:xfrm>
            <a:off x="1575425" y="1734175"/>
            <a:ext cx="689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w</a:t>
            </a:r>
            <a:r>
              <a:rPr b="1" baseline="-25000" lang="en">
                <a:solidFill>
                  <a:srgbClr val="0000FF"/>
                </a:solidFill>
              </a:rPr>
              <a:t>1</a:t>
            </a:r>
            <a:r>
              <a:rPr baseline="-25000" lang="en">
                <a:solidFill>
                  <a:schemeClr val="dk1"/>
                </a:solidFill>
              </a:rPr>
              <a:t>,1</a:t>
            </a:r>
            <a:r>
              <a:rPr baseline="30000" lang="en">
                <a:solidFill>
                  <a:schemeClr val="dk1"/>
                </a:solidFill>
              </a:rPr>
              <a:t>(</a:t>
            </a:r>
            <a:r>
              <a:rPr b="1" baseline="30000" lang="en">
                <a:solidFill>
                  <a:srgbClr val="949AF8"/>
                </a:solidFill>
              </a:rPr>
              <a:t>1</a:t>
            </a:r>
            <a:r>
              <a:rPr baseline="30000" lang="en">
                <a:solidFill>
                  <a:schemeClr val="dk1"/>
                </a:solidFill>
              </a:rPr>
              <a:t>)</a:t>
            </a:r>
            <a:endParaRPr/>
          </a:p>
        </p:txBody>
      </p:sp>
      <p:sp>
        <p:nvSpPr>
          <p:cNvPr id="562" name="Google Shape;562;p37"/>
          <p:cNvSpPr txBox="1"/>
          <p:nvPr/>
        </p:nvSpPr>
        <p:spPr>
          <a:xfrm>
            <a:off x="2669763" y="1971450"/>
            <a:ext cx="47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z</a:t>
            </a:r>
            <a:r>
              <a:rPr b="1" baseline="-25000" lang="en">
                <a:solidFill>
                  <a:schemeClr val="lt1"/>
                </a:solidFill>
              </a:rPr>
              <a:t>1</a:t>
            </a:r>
            <a:r>
              <a:rPr baseline="30000" lang="en">
                <a:solidFill>
                  <a:schemeClr val="lt1"/>
                </a:solidFill>
              </a:rPr>
              <a:t>(</a:t>
            </a:r>
            <a:r>
              <a:rPr b="1" baseline="30000" lang="en">
                <a:solidFill>
                  <a:schemeClr val="lt1"/>
                </a:solidFill>
              </a:rPr>
              <a:t>1</a:t>
            </a:r>
            <a:r>
              <a:rPr baseline="30000" lang="en">
                <a:solidFill>
                  <a:schemeClr val="lt1"/>
                </a:solidFill>
              </a:rPr>
              <a:t>)</a:t>
            </a:r>
            <a:r>
              <a:rPr b="1" lang="en">
                <a:solidFill>
                  <a:schemeClr val="lt1"/>
                </a:solidFill>
              </a:rPr>
              <a:t> </a:t>
            </a:r>
            <a:endParaRPr>
              <a:solidFill>
                <a:schemeClr val="lt1"/>
              </a:solidFill>
            </a:endParaRPr>
          </a:p>
        </p:txBody>
      </p:sp>
      <p:sp>
        <p:nvSpPr>
          <p:cNvPr id="563" name="Google Shape;563;p37"/>
          <p:cNvSpPr txBox="1"/>
          <p:nvPr/>
        </p:nvSpPr>
        <p:spPr>
          <a:xfrm>
            <a:off x="1499225" y="3867775"/>
            <a:ext cx="689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w</a:t>
            </a:r>
            <a:r>
              <a:rPr b="1" baseline="-25000" lang="en">
                <a:solidFill>
                  <a:srgbClr val="0000FF"/>
                </a:solidFill>
              </a:rPr>
              <a:t>3</a:t>
            </a:r>
            <a:r>
              <a:rPr baseline="-25000" lang="en">
                <a:solidFill>
                  <a:schemeClr val="dk1"/>
                </a:solidFill>
              </a:rPr>
              <a:t>,4</a:t>
            </a:r>
            <a:r>
              <a:rPr baseline="30000" lang="en">
                <a:solidFill>
                  <a:schemeClr val="dk1"/>
                </a:solidFill>
              </a:rPr>
              <a:t>(</a:t>
            </a:r>
            <a:r>
              <a:rPr b="1" baseline="30000" lang="en">
                <a:solidFill>
                  <a:srgbClr val="949AF8"/>
                </a:solidFill>
              </a:rPr>
              <a:t>1</a:t>
            </a:r>
            <a:r>
              <a:rPr baseline="30000" lang="en">
                <a:solidFill>
                  <a:schemeClr val="dk1"/>
                </a:solidFill>
              </a:rPr>
              <a:t>)</a:t>
            </a:r>
            <a:endParaRPr/>
          </a:p>
        </p:txBody>
      </p:sp>
      <p:sp>
        <p:nvSpPr>
          <p:cNvPr id="552" name="Google Shape;552;p37"/>
          <p:cNvSpPr txBox="1"/>
          <p:nvPr/>
        </p:nvSpPr>
        <p:spPr>
          <a:xfrm>
            <a:off x="2669763" y="2798450"/>
            <a:ext cx="47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z</a:t>
            </a:r>
            <a:r>
              <a:rPr b="1" baseline="-25000" lang="en">
                <a:solidFill>
                  <a:schemeClr val="lt1"/>
                </a:solidFill>
              </a:rPr>
              <a:t>2</a:t>
            </a:r>
            <a:r>
              <a:rPr baseline="30000" lang="en">
                <a:solidFill>
                  <a:schemeClr val="lt1"/>
                </a:solidFill>
              </a:rPr>
              <a:t>(</a:t>
            </a:r>
            <a:r>
              <a:rPr b="1" baseline="30000" lang="en">
                <a:solidFill>
                  <a:schemeClr val="lt1"/>
                </a:solidFill>
              </a:rPr>
              <a:t>1</a:t>
            </a:r>
            <a:r>
              <a:rPr baseline="30000" lang="en">
                <a:solidFill>
                  <a:schemeClr val="lt1"/>
                </a:solidFill>
              </a:rPr>
              <a:t>)</a:t>
            </a:r>
            <a:r>
              <a:rPr b="1" lang="en">
                <a:solidFill>
                  <a:schemeClr val="lt1"/>
                </a:solidFill>
              </a:rPr>
              <a:t> </a:t>
            </a:r>
            <a:endParaRPr>
              <a:solidFill>
                <a:schemeClr val="lt1"/>
              </a:solidFill>
            </a:endParaRPr>
          </a:p>
        </p:txBody>
      </p:sp>
      <p:sp>
        <p:nvSpPr>
          <p:cNvPr id="548" name="Google Shape;548;p37"/>
          <p:cNvSpPr txBox="1"/>
          <p:nvPr/>
        </p:nvSpPr>
        <p:spPr>
          <a:xfrm>
            <a:off x="2669813" y="3579275"/>
            <a:ext cx="47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z</a:t>
            </a:r>
            <a:r>
              <a:rPr b="1" baseline="-25000" lang="en">
                <a:solidFill>
                  <a:schemeClr val="lt1"/>
                </a:solidFill>
              </a:rPr>
              <a:t>3</a:t>
            </a:r>
            <a:r>
              <a:rPr baseline="30000" lang="en">
                <a:solidFill>
                  <a:schemeClr val="lt1"/>
                </a:solidFill>
              </a:rPr>
              <a:t>(</a:t>
            </a:r>
            <a:r>
              <a:rPr b="1" baseline="30000" lang="en">
                <a:solidFill>
                  <a:schemeClr val="lt1"/>
                </a:solidFill>
              </a:rPr>
              <a:t>1</a:t>
            </a:r>
            <a:r>
              <a:rPr baseline="30000" lang="en">
                <a:solidFill>
                  <a:schemeClr val="lt1"/>
                </a:solidFill>
              </a:rPr>
              <a:t>)</a:t>
            </a:r>
            <a:r>
              <a:rPr b="1" lang="en">
                <a:solidFill>
                  <a:schemeClr val="lt1"/>
                </a:solidFill>
              </a:rPr>
              <a:t> </a:t>
            </a:r>
            <a:endParaRPr>
              <a:solidFill>
                <a:schemeClr val="lt1"/>
              </a:solidFill>
            </a:endParaRPr>
          </a:p>
        </p:txBody>
      </p:sp>
      <p:sp>
        <p:nvSpPr>
          <p:cNvPr id="564" name="Google Shape;564;p37"/>
          <p:cNvSpPr txBox="1"/>
          <p:nvPr/>
        </p:nvSpPr>
        <p:spPr>
          <a:xfrm>
            <a:off x="3553227" y="1971450"/>
            <a:ext cx="562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h</a:t>
            </a:r>
            <a:r>
              <a:rPr b="1" baseline="-25000" lang="en">
                <a:solidFill>
                  <a:schemeClr val="lt1"/>
                </a:solidFill>
              </a:rPr>
              <a:t>1</a:t>
            </a:r>
            <a:r>
              <a:rPr baseline="30000" lang="en">
                <a:solidFill>
                  <a:schemeClr val="lt1"/>
                </a:solidFill>
              </a:rPr>
              <a:t>(</a:t>
            </a:r>
            <a:r>
              <a:rPr b="1" baseline="30000" lang="en">
                <a:solidFill>
                  <a:schemeClr val="lt1"/>
                </a:solidFill>
              </a:rPr>
              <a:t>1</a:t>
            </a:r>
            <a:r>
              <a:rPr baseline="30000" lang="en">
                <a:solidFill>
                  <a:schemeClr val="lt1"/>
                </a:solidFill>
              </a:rPr>
              <a:t>)</a:t>
            </a:r>
            <a:r>
              <a:rPr b="1" lang="en">
                <a:solidFill>
                  <a:schemeClr val="lt1"/>
                </a:solidFill>
              </a:rPr>
              <a:t> </a:t>
            </a:r>
            <a:endParaRPr>
              <a:solidFill>
                <a:schemeClr val="lt1"/>
              </a:solidFill>
            </a:endParaRPr>
          </a:p>
        </p:txBody>
      </p:sp>
      <p:sp>
        <p:nvSpPr>
          <p:cNvPr id="565" name="Google Shape;565;p37"/>
          <p:cNvSpPr txBox="1"/>
          <p:nvPr/>
        </p:nvSpPr>
        <p:spPr>
          <a:xfrm>
            <a:off x="3553227" y="2733450"/>
            <a:ext cx="562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h</a:t>
            </a:r>
            <a:r>
              <a:rPr b="1" baseline="-25000" lang="en">
                <a:solidFill>
                  <a:schemeClr val="lt1"/>
                </a:solidFill>
              </a:rPr>
              <a:t>2</a:t>
            </a:r>
            <a:r>
              <a:rPr baseline="30000" lang="en">
                <a:solidFill>
                  <a:schemeClr val="lt1"/>
                </a:solidFill>
              </a:rPr>
              <a:t>(</a:t>
            </a:r>
            <a:r>
              <a:rPr b="1" baseline="30000" lang="en">
                <a:solidFill>
                  <a:schemeClr val="lt1"/>
                </a:solidFill>
              </a:rPr>
              <a:t>1</a:t>
            </a:r>
            <a:r>
              <a:rPr baseline="30000" lang="en">
                <a:solidFill>
                  <a:schemeClr val="lt1"/>
                </a:solidFill>
              </a:rPr>
              <a:t>)</a:t>
            </a:r>
            <a:r>
              <a:rPr b="1" lang="en">
                <a:solidFill>
                  <a:schemeClr val="lt1"/>
                </a:solidFill>
              </a:rPr>
              <a:t> </a:t>
            </a:r>
            <a:endParaRPr>
              <a:solidFill>
                <a:schemeClr val="lt1"/>
              </a:solidFill>
            </a:endParaRPr>
          </a:p>
        </p:txBody>
      </p:sp>
      <p:sp>
        <p:nvSpPr>
          <p:cNvPr id="566" name="Google Shape;566;p37"/>
          <p:cNvSpPr txBox="1"/>
          <p:nvPr/>
        </p:nvSpPr>
        <p:spPr>
          <a:xfrm>
            <a:off x="3553227" y="3495450"/>
            <a:ext cx="562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h</a:t>
            </a:r>
            <a:r>
              <a:rPr b="1" baseline="-25000" lang="en">
                <a:solidFill>
                  <a:schemeClr val="lt1"/>
                </a:solidFill>
              </a:rPr>
              <a:t>3</a:t>
            </a:r>
            <a:r>
              <a:rPr baseline="30000" lang="en">
                <a:solidFill>
                  <a:schemeClr val="lt1"/>
                </a:solidFill>
              </a:rPr>
              <a:t>(</a:t>
            </a:r>
            <a:r>
              <a:rPr b="1" baseline="30000" lang="en">
                <a:solidFill>
                  <a:schemeClr val="lt1"/>
                </a:solidFill>
              </a:rPr>
              <a:t>1</a:t>
            </a:r>
            <a:r>
              <a:rPr baseline="30000" lang="en">
                <a:solidFill>
                  <a:schemeClr val="lt1"/>
                </a:solidFill>
              </a:rPr>
              <a:t>)</a:t>
            </a:r>
            <a:r>
              <a:rPr b="1" lang="en">
                <a:solidFill>
                  <a:schemeClr val="lt1"/>
                </a:solidFill>
              </a:rPr>
              <a:t> </a:t>
            </a:r>
            <a:endParaRPr>
              <a:solidFill>
                <a:schemeClr val="lt1"/>
              </a:solidFill>
            </a:endParaRPr>
          </a:p>
        </p:txBody>
      </p:sp>
      <p:sp>
        <p:nvSpPr>
          <p:cNvPr id="567" name="Google Shape;567;p37"/>
          <p:cNvSpPr txBox="1"/>
          <p:nvPr/>
        </p:nvSpPr>
        <p:spPr>
          <a:xfrm>
            <a:off x="1852825" y="806525"/>
            <a:ext cx="2436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2"/>
                </a:solidFill>
              </a:rPr>
              <a:t>Z</a:t>
            </a:r>
            <a:r>
              <a:rPr lang="en">
                <a:solidFill>
                  <a:schemeClr val="dk2"/>
                </a:solidFill>
              </a:rPr>
              <a:t> </a:t>
            </a:r>
            <a:r>
              <a:rPr baseline="30000" lang="en">
                <a:solidFill>
                  <a:schemeClr val="dk2"/>
                </a:solidFill>
              </a:rPr>
              <a:t>(1)</a:t>
            </a:r>
            <a:r>
              <a:rPr b="1" lang="en">
                <a:solidFill>
                  <a:schemeClr val="dk2"/>
                </a:solidFill>
              </a:rPr>
              <a:t> </a:t>
            </a:r>
            <a:r>
              <a:rPr lang="en">
                <a:solidFill>
                  <a:schemeClr val="dk2"/>
                </a:solidFill>
              </a:rPr>
              <a:t>= (</a:t>
            </a:r>
            <a:r>
              <a:rPr b="1" lang="en">
                <a:solidFill>
                  <a:srgbClr val="1B91CA"/>
                </a:solidFill>
              </a:rPr>
              <a:t>z</a:t>
            </a:r>
            <a:r>
              <a:rPr baseline="-25000" lang="en">
                <a:solidFill>
                  <a:srgbClr val="1B91CA"/>
                </a:solidFill>
              </a:rPr>
              <a:t>1</a:t>
            </a:r>
            <a:r>
              <a:rPr baseline="30000" lang="en">
                <a:solidFill>
                  <a:srgbClr val="1B91CA"/>
                </a:solidFill>
              </a:rPr>
              <a:t>(1)</a:t>
            </a:r>
            <a:r>
              <a:rPr lang="en">
                <a:solidFill>
                  <a:schemeClr val="dk2"/>
                </a:solidFill>
              </a:rPr>
              <a:t>, </a:t>
            </a:r>
            <a:r>
              <a:rPr b="1" lang="en">
                <a:solidFill>
                  <a:srgbClr val="1B91CA"/>
                </a:solidFill>
              </a:rPr>
              <a:t>z</a:t>
            </a:r>
            <a:r>
              <a:rPr baseline="-25000" lang="en">
                <a:solidFill>
                  <a:srgbClr val="1B91CA"/>
                </a:solidFill>
              </a:rPr>
              <a:t>2</a:t>
            </a:r>
            <a:r>
              <a:rPr baseline="30000" lang="en">
                <a:solidFill>
                  <a:srgbClr val="1B91CA"/>
                </a:solidFill>
              </a:rPr>
              <a:t>(1)</a:t>
            </a:r>
            <a:r>
              <a:rPr lang="en">
                <a:solidFill>
                  <a:schemeClr val="dk2"/>
                </a:solidFill>
              </a:rPr>
              <a:t>, </a:t>
            </a:r>
            <a:r>
              <a:rPr b="1" lang="en">
                <a:solidFill>
                  <a:srgbClr val="1B91CA"/>
                </a:solidFill>
              </a:rPr>
              <a:t>z</a:t>
            </a:r>
            <a:r>
              <a:rPr baseline="-25000" lang="en">
                <a:solidFill>
                  <a:srgbClr val="1B91CA"/>
                </a:solidFill>
              </a:rPr>
              <a:t>3</a:t>
            </a:r>
            <a:r>
              <a:rPr baseline="30000" lang="en">
                <a:solidFill>
                  <a:srgbClr val="1B91CA"/>
                </a:solidFill>
              </a:rPr>
              <a:t>(1)</a:t>
            </a:r>
            <a:r>
              <a:rPr lang="en">
                <a:solidFill>
                  <a:schemeClr val="dk2"/>
                </a:solidFill>
              </a:rPr>
              <a:t>)</a:t>
            </a:r>
            <a:endParaRPr/>
          </a:p>
        </p:txBody>
      </p:sp>
      <p:sp>
        <p:nvSpPr>
          <p:cNvPr id="568" name="Google Shape;568;p37"/>
          <p:cNvSpPr txBox="1"/>
          <p:nvPr/>
        </p:nvSpPr>
        <p:spPr>
          <a:xfrm>
            <a:off x="0" y="838200"/>
            <a:ext cx="157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2"/>
                </a:solidFill>
              </a:rPr>
              <a:t>X = (</a:t>
            </a:r>
            <a:r>
              <a:rPr b="1" lang="en">
                <a:solidFill>
                  <a:srgbClr val="BCBD21"/>
                </a:solidFill>
              </a:rPr>
              <a:t>x</a:t>
            </a:r>
            <a:r>
              <a:rPr b="1" lang="en" sz="900">
                <a:solidFill>
                  <a:srgbClr val="BCBD21"/>
                </a:solidFill>
              </a:rPr>
              <a:t>1</a:t>
            </a:r>
            <a:r>
              <a:rPr b="1" lang="en">
                <a:solidFill>
                  <a:schemeClr val="dk2"/>
                </a:solidFill>
              </a:rPr>
              <a:t>,</a:t>
            </a:r>
            <a:r>
              <a:rPr b="1" lang="en">
                <a:solidFill>
                  <a:srgbClr val="BCBD21"/>
                </a:solidFill>
              </a:rPr>
              <a:t>x</a:t>
            </a:r>
            <a:r>
              <a:rPr b="1" lang="en" sz="900">
                <a:solidFill>
                  <a:srgbClr val="BCBD21"/>
                </a:solidFill>
              </a:rPr>
              <a:t>2</a:t>
            </a:r>
            <a:r>
              <a:rPr b="1" lang="en" sz="900">
                <a:solidFill>
                  <a:schemeClr val="dk2"/>
                </a:solidFill>
              </a:rPr>
              <a:t>, </a:t>
            </a:r>
            <a:r>
              <a:rPr b="1" lang="en">
                <a:solidFill>
                  <a:schemeClr val="dk2"/>
                </a:solidFill>
              </a:rPr>
              <a:t>…, </a:t>
            </a:r>
            <a:r>
              <a:rPr b="1" lang="en">
                <a:solidFill>
                  <a:srgbClr val="BCBD21"/>
                </a:solidFill>
              </a:rPr>
              <a:t>x</a:t>
            </a:r>
            <a:r>
              <a:rPr b="1" lang="en" sz="900">
                <a:solidFill>
                  <a:srgbClr val="BCBD21"/>
                </a:solidFill>
              </a:rPr>
              <a:t>n</a:t>
            </a:r>
            <a:r>
              <a:rPr b="1" lang="en">
                <a:solidFill>
                  <a:schemeClr val="dk2"/>
                </a:solidFill>
              </a:rPr>
              <a:t>)</a:t>
            </a:r>
            <a:endParaRPr/>
          </a:p>
        </p:txBody>
      </p:sp>
      <p:sp>
        <p:nvSpPr>
          <p:cNvPr id="569" name="Google Shape;569;p37"/>
          <p:cNvSpPr txBox="1"/>
          <p:nvPr/>
        </p:nvSpPr>
        <p:spPr>
          <a:xfrm>
            <a:off x="1944625" y="438000"/>
            <a:ext cx="2192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2"/>
                </a:solidFill>
              </a:rPr>
              <a:t>h</a:t>
            </a:r>
            <a:r>
              <a:rPr lang="en">
                <a:solidFill>
                  <a:schemeClr val="dk2"/>
                </a:solidFill>
              </a:rPr>
              <a:t> </a:t>
            </a:r>
            <a:r>
              <a:rPr baseline="30000" lang="en">
                <a:solidFill>
                  <a:schemeClr val="dk2"/>
                </a:solidFill>
              </a:rPr>
              <a:t>(1)</a:t>
            </a:r>
            <a:r>
              <a:rPr b="1" lang="en">
                <a:solidFill>
                  <a:schemeClr val="dk2"/>
                </a:solidFill>
              </a:rPr>
              <a:t> </a:t>
            </a:r>
            <a:r>
              <a:rPr lang="en">
                <a:solidFill>
                  <a:schemeClr val="dk2"/>
                </a:solidFill>
              </a:rPr>
              <a:t>= (</a:t>
            </a:r>
            <a:r>
              <a:rPr b="1" lang="en">
                <a:solidFill>
                  <a:srgbClr val="FF00FF"/>
                </a:solidFill>
              </a:rPr>
              <a:t>h</a:t>
            </a:r>
            <a:r>
              <a:rPr baseline="-25000" lang="en">
                <a:solidFill>
                  <a:srgbClr val="FF00FF"/>
                </a:solidFill>
              </a:rPr>
              <a:t>1</a:t>
            </a:r>
            <a:r>
              <a:rPr baseline="30000" lang="en">
                <a:solidFill>
                  <a:srgbClr val="FF00FF"/>
                </a:solidFill>
              </a:rPr>
              <a:t>(1)</a:t>
            </a:r>
            <a:r>
              <a:rPr lang="en">
                <a:solidFill>
                  <a:schemeClr val="dk2"/>
                </a:solidFill>
              </a:rPr>
              <a:t>, </a:t>
            </a:r>
            <a:r>
              <a:rPr b="1" lang="en">
                <a:solidFill>
                  <a:srgbClr val="FF00FF"/>
                </a:solidFill>
              </a:rPr>
              <a:t>h</a:t>
            </a:r>
            <a:r>
              <a:rPr baseline="-25000" lang="en">
                <a:solidFill>
                  <a:srgbClr val="FF00FF"/>
                </a:solidFill>
              </a:rPr>
              <a:t>2</a:t>
            </a:r>
            <a:r>
              <a:rPr baseline="30000" lang="en">
                <a:solidFill>
                  <a:srgbClr val="FF00FF"/>
                </a:solidFill>
              </a:rPr>
              <a:t>(1)</a:t>
            </a:r>
            <a:r>
              <a:rPr lang="en">
                <a:solidFill>
                  <a:schemeClr val="dk2"/>
                </a:solidFill>
              </a:rPr>
              <a:t>, </a:t>
            </a:r>
            <a:r>
              <a:rPr b="1" lang="en">
                <a:solidFill>
                  <a:srgbClr val="FF00FF"/>
                </a:solidFill>
              </a:rPr>
              <a:t>h</a:t>
            </a:r>
            <a:r>
              <a:rPr baseline="-25000" lang="en">
                <a:solidFill>
                  <a:srgbClr val="FF00FF"/>
                </a:solidFill>
              </a:rPr>
              <a:t>3</a:t>
            </a:r>
            <a:r>
              <a:rPr baseline="30000" lang="en">
                <a:solidFill>
                  <a:srgbClr val="FF00FF"/>
                </a:solidFill>
              </a:rPr>
              <a:t>(1)</a:t>
            </a:r>
            <a:r>
              <a:rPr lang="en">
                <a:solidFill>
                  <a:schemeClr val="dk2"/>
                </a:solidFill>
              </a:rPr>
              <a:t>)</a:t>
            </a:r>
            <a:endParaRPr/>
          </a:p>
        </p:txBody>
      </p:sp>
      <p:sp>
        <p:nvSpPr>
          <p:cNvPr id="570" name="Google Shape;570;p37"/>
          <p:cNvSpPr txBox="1"/>
          <p:nvPr/>
        </p:nvSpPr>
        <p:spPr>
          <a:xfrm>
            <a:off x="2192625" y="4001425"/>
            <a:ext cx="562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b</a:t>
            </a:r>
            <a:r>
              <a:rPr baseline="-25000" lang="en">
                <a:solidFill>
                  <a:schemeClr val="dk1"/>
                </a:solidFill>
              </a:rPr>
              <a:t>3</a:t>
            </a:r>
            <a:r>
              <a:rPr baseline="30000" lang="en">
                <a:solidFill>
                  <a:schemeClr val="dk1"/>
                </a:solidFill>
              </a:rPr>
              <a:t>(</a:t>
            </a:r>
            <a:r>
              <a:rPr b="1" baseline="30000" lang="en">
                <a:solidFill>
                  <a:srgbClr val="949AF8"/>
                </a:solidFill>
              </a:rPr>
              <a:t>1</a:t>
            </a:r>
            <a:r>
              <a:rPr baseline="30000" lang="en">
                <a:solidFill>
                  <a:schemeClr val="dk1"/>
                </a:solidFill>
              </a:rPr>
              <a:t>)</a:t>
            </a:r>
            <a:endParaRPr/>
          </a:p>
        </p:txBody>
      </p:sp>
      <p:sp>
        <p:nvSpPr>
          <p:cNvPr id="571" name="Google Shape;571;p37"/>
          <p:cNvSpPr txBox="1"/>
          <p:nvPr/>
        </p:nvSpPr>
        <p:spPr>
          <a:xfrm>
            <a:off x="4447675" y="2066850"/>
            <a:ext cx="460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z</a:t>
            </a:r>
            <a:r>
              <a:rPr b="1" baseline="-25000" lang="en">
                <a:solidFill>
                  <a:srgbClr val="0000FF"/>
                </a:solidFill>
              </a:rPr>
              <a:t>2</a:t>
            </a:r>
            <a:r>
              <a:rPr baseline="30000" lang="en">
                <a:solidFill>
                  <a:schemeClr val="dk1"/>
                </a:solidFill>
              </a:rPr>
              <a:t>(</a:t>
            </a:r>
            <a:r>
              <a:rPr b="1" baseline="30000" lang="en">
                <a:solidFill>
                  <a:srgbClr val="949AF8"/>
                </a:solidFill>
              </a:rPr>
              <a:t>1</a:t>
            </a:r>
            <a:r>
              <a:rPr baseline="30000" lang="en">
                <a:solidFill>
                  <a:schemeClr val="dk1"/>
                </a:solidFill>
              </a:rPr>
              <a:t>)</a:t>
            </a:r>
            <a:r>
              <a:rPr b="1" lang="en">
                <a:solidFill>
                  <a:schemeClr val="dk1"/>
                </a:solidFill>
              </a:rPr>
              <a:t>   </a:t>
            </a:r>
            <a:r>
              <a:rPr lang="en">
                <a:solidFill>
                  <a:schemeClr val="dk1"/>
                </a:solidFill>
              </a:rPr>
              <a:t>=</a:t>
            </a:r>
            <a:r>
              <a:rPr b="1" lang="en">
                <a:solidFill>
                  <a:schemeClr val="dk1"/>
                </a:solidFill>
              </a:rPr>
              <a:t>  </a:t>
            </a:r>
            <a:r>
              <a:rPr lang="en">
                <a:solidFill>
                  <a:schemeClr val="dk1"/>
                </a:solidFill>
              </a:rPr>
              <a:t> </a:t>
            </a:r>
            <a:r>
              <a:rPr b="1" lang="en">
                <a:solidFill>
                  <a:schemeClr val="dk1"/>
                </a:solidFill>
              </a:rPr>
              <a:t>w</a:t>
            </a:r>
            <a:r>
              <a:rPr b="1" baseline="-25000" lang="en">
                <a:solidFill>
                  <a:srgbClr val="0000FF"/>
                </a:solidFill>
              </a:rPr>
              <a:t>2</a:t>
            </a:r>
            <a:r>
              <a:rPr baseline="-25000" lang="en">
                <a:solidFill>
                  <a:schemeClr val="dk1"/>
                </a:solidFill>
              </a:rPr>
              <a:t>,1</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rgbClr val="BCBD21"/>
                </a:solidFill>
              </a:rPr>
              <a:t>x</a:t>
            </a:r>
            <a:r>
              <a:rPr b="1" lang="en" sz="900">
                <a:solidFill>
                  <a:srgbClr val="BCBD21"/>
                </a:solidFill>
              </a:rPr>
              <a:t>1 </a:t>
            </a:r>
            <a:r>
              <a:rPr b="1" lang="en">
                <a:solidFill>
                  <a:schemeClr val="dk1"/>
                </a:solidFill>
              </a:rPr>
              <a:t>+ w</a:t>
            </a:r>
            <a:r>
              <a:rPr b="1" baseline="-25000" lang="en">
                <a:solidFill>
                  <a:srgbClr val="0000FF"/>
                </a:solidFill>
              </a:rPr>
              <a:t>2</a:t>
            </a:r>
            <a:r>
              <a:rPr baseline="-25000" lang="en">
                <a:solidFill>
                  <a:schemeClr val="dk1"/>
                </a:solidFill>
              </a:rPr>
              <a:t>,2</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rgbClr val="BCBD21"/>
                </a:solidFill>
              </a:rPr>
              <a:t>x</a:t>
            </a:r>
            <a:r>
              <a:rPr b="1" lang="en" sz="900">
                <a:solidFill>
                  <a:srgbClr val="BCBD21"/>
                </a:solidFill>
              </a:rPr>
              <a:t>2 </a:t>
            </a:r>
            <a:r>
              <a:rPr b="1" lang="en">
                <a:solidFill>
                  <a:schemeClr val="dk1"/>
                </a:solidFill>
              </a:rPr>
              <a:t>+ w</a:t>
            </a:r>
            <a:r>
              <a:rPr b="1" baseline="-25000" lang="en">
                <a:solidFill>
                  <a:srgbClr val="0000FF"/>
                </a:solidFill>
              </a:rPr>
              <a:t>2</a:t>
            </a:r>
            <a:r>
              <a:rPr baseline="-25000" lang="en">
                <a:solidFill>
                  <a:schemeClr val="dk1"/>
                </a:solidFill>
              </a:rPr>
              <a:t>,3</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rgbClr val="BCBD21"/>
                </a:solidFill>
              </a:rPr>
              <a:t>x</a:t>
            </a:r>
            <a:r>
              <a:rPr b="1" lang="en" sz="900">
                <a:solidFill>
                  <a:srgbClr val="BCBD21"/>
                </a:solidFill>
              </a:rPr>
              <a:t>3</a:t>
            </a:r>
            <a:r>
              <a:rPr b="1" lang="en">
                <a:solidFill>
                  <a:schemeClr val="dk1"/>
                </a:solidFill>
              </a:rPr>
              <a:t> + w</a:t>
            </a:r>
            <a:r>
              <a:rPr b="1" baseline="-25000" lang="en">
                <a:solidFill>
                  <a:srgbClr val="0000FF"/>
                </a:solidFill>
              </a:rPr>
              <a:t>2</a:t>
            </a:r>
            <a:r>
              <a:rPr baseline="-25000" lang="en">
                <a:solidFill>
                  <a:schemeClr val="dk1"/>
                </a:solidFill>
              </a:rPr>
              <a:t>,4</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rgbClr val="BCBD21"/>
                </a:solidFill>
              </a:rPr>
              <a:t>x</a:t>
            </a:r>
            <a:r>
              <a:rPr b="1" lang="en" sz="900">
                <a:solidFill>
                  <a:srgbClr val="BCBD21"/>
                </a:solidFill>
              </a:rPr>
              <a:t>4 </a:t>
            </a:r>
            <a:r>
              <a:rPr b="1" lang="en">
                <a:solidFill>
                  <a:schemeClr val="dk1"/>
                </a:solidFill>
              </a:rPr>
              <a:t>  +   b</a:t>
            </a:r>
            <a:r>
              <a:rPr b="1" baseline="-25000" lang="en">
                <a:solidFill>
                  <a:srgbClr val="0000FF"/>
                </a:solidFill>
              </a:rPr>
              <a:t>2</a:t>
            </a:r>
            <a:r>
              <a:rPr baseline="30000" lang="en">
                <a:solidFill>
                  <a:schemeClr val="dk1"/>
                </a:solidFill>
              </a:rPr>
              <a:t>(</a:t>
            </a:r>
            <a:r>
              <a:rPr b="1" baseline="30000" lang="en">
                <a:solidFill>
                  <a:srgbClr val="949AF8"/>
                </a:solidFill>
              </a:rPr>
              <a:t>1</a:t>
            </a:r>
            <a:r>
              <a:rPr baseline="30000" lang="en">
                <a:solidFill>
                  <a:schemeClr val="dk1"/>
                </a:solidFill>
              </a:rPr>
              <a:t>)</a:t>
            </a:r>
            <a:endParaRPr>
              <a:solidFill>
                <a:schemeClr val="dk1"/>
              </a:solidFill>
            </a:endParaRPr>
          </a:p>
        </p:txBody>
      </p:sp>
      <p:sp>
        <p:nvSpPr>
          <p:cNvPr id="572" name="Google Shape;572;p37"/>
          <p:cNvSpPr txBox="1"/>
          <p:nvPr/>
        </p:nvSpPr>
        <p:spPr>
          <a:xfrm>
            <a:off x="4447675" y="2371650"/>
            <a:ext cx="460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z</a:t>
            </a:r>
            <a:r>
              <a:rPr b="1" baseline="-25000" lang="en">
                <a:solidFill>
                  <a:srgbClr val="0000FF"/>
                </a:solidFill>
              </a:rPr>
              <a:t>3</a:t>
            </a:r>
            <a:r>
              <a:rPr baseline="30000" lang="en">
                <a:solidFill>
                  <a:schemeClr val="dk1"/>
                </a:solidFill>
              </a:rPr>
              <a:t>(</a:t>
            </a:r>
            <a:r>
              <a:rPr b="1" baseline="30000" lang="en">
                <a:solidFill>
                  <a:srgbClr val="949AF8"/>
                </a:solidFill>
              </a:rPr>
              <a:t>1</a:t>
            </a:r>
            <a:r>
              <a:rPr baseline="30000" lang="en">
                <a:solidFill>
                  <a:schemeClr val="dk1"/>
                </a:solidFill>
              </a:rPr>
              <a:t>)</a:t>
            </a:r>
            <a:r>
              <a:rPr b="1" lang="en">
                <a:solidFill>
                  <a:schemeClr val="dk1"/>
                </a:solidFill>
              </a:rPr>
              <a:t>   </a:t>
            </a:r>
            <a:r>
              <a:rPr lang="en">
                <a:solidFill>
                  <a:schemeClr val="dk1"/>
                </a:solidFill>
              </a:rPr>
              <a:t>=</a:t>
            </a:r>
            <a:r>
              <a:rPr b="1" lang="en">
                <a:solidFill>
                  <a:schemeClr val="dk1"/>
                </a:solidFill>
              </a:rPr>
              <a:t>  </a:t>
            </a:r>
            <a:r>
              <a:rPr lang="en">
                <a:solidFill>
                  <a:schemeClr val="dk1"/>
                </a:solidFill>
              </a:rPr>
              <a:t> </a:t>
            </a:r>
            <a:r>
              <a:rPr b="1" lang="en">
                <a:solidFill>
                  <a:schemeClr val="dk1"/>
                </a:solidFill>
              </a:rPr>
              <a:t>w</a:t>
            </a:r>
            <a:r>
              <a:rPr b="1" baseline="-25000" lang="en">
                <a:solidFill>
                  <a:srgbClr val="0000FF"/>
                </a:solidFill>
              </a:rPr>
              <a:t>3</a:t>
            </a:r>
            <a:r>
              <a:rPr baseline="-25000" lang="en">
                <a:solidFill>
                  <a:schemeClr val="dk1"/>
                </a:solidFill>
              </a:rPr>
              <a:t>,1</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rgbClr val="BCBD21"/>
                </a:solidFill>
              </a:rPr>
              <a:t>x</a:t>
            </a:r>
            <a:r>
              <a:rPr b="1" lang="en" sz="900">
                <a:solidFill>
                  <a:srgbClr val="BCBD21"/>
                </a:solidFill>
              </a:rPr>
              <a:t>1 </a:t>
            </a:r>
            <a:r>
              <a:rPr b="1" lang="en">
                <a:solidFill>
                  <a:schemeClr val="dk1"/>
                </a:solidFill>
              </a:rPr>
              <a:t>+ w</a:t>
            </a:r>
            <a:r>
              <a:rPr b="1" baseline="-25000" lang="en">
                <a:solidFill>
                  <a:srgbClr val="0000FF"/>
                </a:solidFill>
              </a:rPr>
              <a:t>3</a:t>
            </a:r>
            <a:r>
              <a:rPr baseline="-25000" lang="en">
                <a:solidFill>
                  <a:schemeClr val="dk1"/>
                </a:solidFill>
              </a:rPr>
              <a:t>,2</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rgbClr val="BCBD21"/>
                </a:solidFill>
              </a:rPr>
              <a:t>x</a:t>
            </a:r>
            <a:r>
              <a:rPr b="1" lang="en" sz="900">
                <a:solidFill>
                  <a:srgbClr val="BCBD21"/>
                </a:solidFill>
              </a:rPr>
              <a:t>2 </a:t>
            </a:r>
            <a:r>
              <a:rPr b="1" lang="en">
                <a:solidFill>
                  <a:schemeClr val="dk1"/>
                </a:solidFill>
              </a:rPr>
              <a:t>+ w</a:t>
            </a:r>
            <a:r>
              <a:rPr b="1" baseline="-25000" lang="en">
                <a:solidFill>
                  <a:srgbClr val="0000FF"/>
                </a:solidFill>
              </a:rPr>
              <a:t>3</a:t>
            </a:r>
            <a:r>
              <a:rPr baseline="-25000" lang="en">
                <a:solidFill>
                  <a:schemeClr val="dk1"/>
                </a:solidFill>
              </a:rPr>
              <a:t>,3</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rgbClr val="BCBD21"/>
                </a:solidFill>
              </a:rPr>
              <a:t>x</a:t>
            </a:r>
            <a:r>
              <a:rPr b="1" lang="en" sz="900">
                <a:solidFill>
                  <a:srgbClr val="BCBD21"/>
                </a:solidFill>
              </a:rPr>
              <a:t>3</a:t>
            </a:r>
            <a:r>
              <a:rPr b="1" lang="en">
                <a:solidFill>
                  <a:schemeClr val="dk1"/>
                </a:solidFill>
              </a:rPr>
              <a:t> + w</a:t>
            </a:r>
            <a:r>
              <a:rPr b="1" baseline="-25000" lang="en">
                <a:solidFill>
                  <a:srgbClr val="0000FF"/>
                </a:solidFill>
              </a:rPr>
              <a:t>3</a:t>
            </a:r>
            <a:r>
              <a:rPr baseline="-25000" lang="en">
                <a:solidFill>
                  <a:schemeClr val="dk1"/>
                </a:solidFill>
              </a:rPr>
              <a:t>,4</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rgbClr val="BCBD21"/>
                </a:solidFill>
              </a:rPr>
              <a:t>x</a:t>
            </a:r>
            <a:r>
              <a:rPr b="1" lang="en" sz="900">
                <a:solidFill>
                  <a:srgbClr val="BCBD21"/>
                </a:solidFill>
              </a:rPr>
              <a:t>4 </a:t>
            </a:r>
            <a:r>
              <a:rPr b="1" lang="en">
                <a:solidFill>
                  <a:schemeClr val="dk1"/>
                </a:solidFill>
              </a:rPr>
              <a:t>  +   b</a:t>
            </a:r>
            <a:r>
              <a:rPr b="1" baseline="-25000" lang="en">
                <a:solidFill>
                  <a:srgbClr val="0000FF"/>
                </a:solidFill>
              </a:rPr>
              <a:t>3</a:t>
            </a:r>
            <a:r>
              <a:rPr baseline="30000" lang="en">
                <a:solidFill>
                  <a:schemeClr val="dk1"/>
                </a:solidFill>
              </a:rPr>
              <a:t>(</a:t>
            </a:r>
            <a:r>
              <a:rPr b="1" baseline="30000" lang="en">
                <a:solidFill>
                  <a:srgbClr val="949AF8"/>
                </a:solidFill>
              </a:rPr>
              <a:t>1</a:t>
            </a:r>
            <a:r>
              <a:rPr baseline="30000" lang="en">
                <a:solidFill>
                  <a:schemeClr val="dk1"/>
                </a:solidFill>
              </a:rPr>
              <a:t>)</a:t>
            </a:r>
            <a:endParaRPr>
              <a:solidFill>
                <a:schemeClr val="dk1"/>
              </a:solidFill>
            </a:endParaRPr>
          </a:p>
        </p:txBody>
      </p:sp>
      <p:grpSp>
        <p:nvGrpSpPr>
          <p:cNvPr id="573" name="Google Shape;573;p37"/>
          <p:cNvGrpSpPr/>
          <p:nvPr/>
        </p:nvGrpSpPr>
        <p:grpSpPr>
          <a:xfrm>
            <a:off x="4399023" y="1824500"/>
            <a:ext cx="528673" cy="972250"/>
            <a:chOff x="4723298" y="1783100"/>
            <a:chExt cx="528673" cy="972250"/>
          </a:xfrm>
        </p:grpSpPr>
        <p:sp>
          <p:nvSpPr>
            <p:cNvPr id="574" name="Google Shape;574;p37"/>
            <p:cNvSpPr/>
            <p:nvPr/>
          </p:nvSpPr>
          <p:spPr>
            <a:xfrm>
              <a:off x="4723298" y="1783100"/>
              <a:ext cx="186350" cy="972250"/>
            </a:xfrm>
            <a:custGeom>
              <a:rect b="b" l="l" r="r" t="t"/>
              <a:pathLst>
                <a:path extrusionOk="0" h="38890" w="7454">
                  <a:moveTo>
                    <a:pt x="5686" y="0"/>
                  </a:moveTo>
                  <a:cubicBezTo>
                    <a:pt x="4795" y="1252"/>
                    <a:pt x="1067" y="2000"/>
                    <a:pt x="337" y="7511"/>
                  </a:cubicBezTo>
                  <a:cubicBezTo>
                    <a:pt x="-393" y="13022"/>
                    <a:pt x="122" y="27837"/>
                    <a:pt x="1308" y="33067"/>
                  </a:cubicBezTo>
                  <a:cubicBezTo>
                    <a:pt x="2494" y="38297"/>
                    <a:pt x="6430" y="37920"/>
                    <a:pt x="7454" y="38890"/>
                  </a:cubicBezTo>
                </a:path>
              </a:pathLst>
            </a:custGeom>
            <a:noFill/>
            <a:ln cap="flat" cmpd="sng" w="9525">
              <a:solidFill>
                <a:schemeClr val="dk2"/>
              </a:solidFill>
              <a:prstDash val="solid"/>
              <a:round/>
              <a:headEnd len="med" w="med" type="none"/>
              <a:tailEnd len="med" w="med" type="none"/>
            </a:ln>
          </p:spPr>
        </p:sp>
        <p:sp>
          <p:nvSpPr>
            <p:cNvPr id="575" name="Google Shape;575;p37"/>
            <p:cNvSpPr/>
            <p:nvPr/>
          </p:nvSpPr>
          <p:spPr>
            <a:xfrm flipH="1">
              <a:off x="5065621" y="1783100"/>
              <a:ext cx="186350" cy="972250"/>
            </a:xfrm>
            <a:custGeom>
              <a:rect b="b" l="l" r="r" t="t"/>
              <a:pathLst>
                <a:path extrusionOk="0" h="38890" w="7454">
                  <a:moveTo>
                    <a:pt x="5686" y="0"/>
                  </a:moveTo>
                  <a:cubicBezTo>
                    <a:pt x="4795" y="1252"/>
                    <a:pt x="1067" y="2000"/>
                    <a:pt x="337" y="7511"/>
                  </a:cubicBezTo>
                  <a:cubicBezTo>
                    <a:pt x="-393" y="13022"/>
                    <a:pt x="122" y="27837"/>
                    <a:pt x="1308" y="33067"/>
                  </a:cubicBezTo>
                  <a:cubicBezTo>
                    <a:pt x="2494" y="38297"/>
                    <a:pt x="6430" y="37920"/>
                    <a:pt x="7454" y="38890"/>
                  </a:cubicBezTo>
                </a:path>
              </a:pathLst>
            </a:custGeom>
            <a:noFill/>
            <a:ln cap="flat" cmpd="sng" w="9525">
              <a:solidFill>
                <a:schemeClr val="dk2"/>
              </a:solidFill>
              <a:prstDash val="solid"/>
              <a:round/>
              <a:headEnd len="med" w="med" type="none"/>
              <a:tailEnd len="med" w="med" type="none"/>
            </a:ln>
          </p:spPr>
        </p:sp>
      </p:grpSp>
      <p:grpSp>
        <p:nvGrpSpPr>
          <p:cNvPr id="576" name="Google Shape;576;p37"/>
          <p:cNvGrpSpPr/>
          <p:nvPr/>
        </p:nvGrpSpPr>
        <p:grpSpPr>
          <a:xfrm>
            <a:off x="5123423" y="1824500"/>
            <a:ext cx="3195673" cy="972250"/>
            <a:chOff x="4723298" y="1783100"/>
            <a:chExt cx="3195673" cy="972250"/>
          </a:xfrm>
        </p:grpSpPr>
        <p:sp>
          <p:nvSpPr>
            <p:cNvPr id="577" name="Google Shape;577;p37"/>
            <p:cNvSpPr/>
            <p:nvPr/>
          </p:nvSpPr>
          <p:spPr>
            <a:xfrm>
              <a:off x="4723298" y="1783100"/>
              <a:ext cx="186350" cy="972250"/>
            </a:xfrm>
            <a:custGeom>
              <a:rect b="b" l="l" r="r" t="t"/>
              <a:pathLst>
                <a:path extrusionOk="0" h="38890" w="7454">
                  <a:moveTo>
                    <a:pt x="5686" y="0"/>
                  </a:moveTo>
                  <a:cubicBezTo>
                    <a:pt x="4795" y="1252"/>
                    <a:pt x="1067" y="2000"/>
                    <a:pt x="337" y="7511"/>
                  </a:cubicBezTo>
                  <a:cubicBezTo>
                    <a:pt x="-393" y="13022"/>
                    <a:pt x="122" y="27837"/>
                    <a:pt x="1308" y="33067"/>
                  </a:cubicBezTo>
                  <a:cubicBezTo>
                    <a:pt x="2494" y="38297"/>
                    <a:pt x="6430" y="37920"/>
                    <a:pt x="7454" y="38890"/>
                  </a:cubicBezTo>
                </a:path>
              </a:pathLst>
            </a:custGeom>
            <a:noFill/>
            <a:ln cap="flat" cmpd="sng" w="9525">
              <a:solidFill>
                <a:schemeClr val="dk2"/>
              </a:solidFill>
              <a:prstDash val="solid"/>
              <a:round/>
              <a:headEnd len="med" w="med" type="none"/>
              <a:tailEnd len="med" w="med" type="none"/>
            </a:ln>
          </p:spPr>
        </p:sp>
        <p:sp>
          <p:nvSpPr>
            <p:cNvPr id="578" name="Google Shape;578;p37"/>
            <p:cNvSpPr/>
            <p:nvPr/>
          </p:nvSpPr>
          <p:spPr>
            <a:xfrm flipH="1">
              <a:off x="7732621" y="1783100"/>
              <a:ext cx="186350" cy="972250"/>
            </a:xfrm>
            <a:custGeom>
              <a:rect b="b" l="l" r="r" t="t"/>
              <a:pathLst>
                <a:path extrusionOk="0" h="38890" w="7454">
                  <a:moveTo>
                    <a:pt x="5686" y="0"/>
                  </a:moveTo>
                  <a:cubicBezTo>
                    <a:pt x="4795" y="1252"/>
                    <a:pt x="1067" y="2000"/>
                    <a:pt x="337" y="7511"/>
                  </a:cubicBezTo>
                  <a:cubicBezTo>
                    <a:pt x="-393" y="13022"/>
                    <a:pt x="122" y="27837"/>
                    <a:pt x="1308" y="33067"/>
                  </a:cubicBezTo>
                  <a:cubicBezTo>
                    <a:pt x="2494" y="38297"/>
                    <a:pt x="6430" y="37920"/>
                    <a:pt x="7454" y="38890"/>
                  </a:cubicBezTo>
                </a:path>
              </a:pathLst>
            </a:custGeom>
            <a:noFill/>
            <a:ln cap="flat" cmpd="sng" w="9525">
              <a:solidFill>
                <a:schemeClr val="dk2"/>
              </a:solidFill>
              <a:prstDash val="solid"/>
              <a:round/>
              <a:headEnd len="med" w="med" type="none"/>
              <a:tailEnd len="med" w="med" type="none"/>
            </a:ln>
          </p:spPr>
        </p:sp>
      </p:grpSp>
      <p:grpSp>
        <p:nvGrpSpPr>
          <p:cNvPr id="579" name="Google Shape;579;p37"/>
          <p:cNvGrpSpPr/>
          <p:nvPr/>
        </p:nvGrpSpPr>
        <p:grpSpPr>
          <a:xfrm>
            <a:off x="8514823" y="1824500"/>
            <a:ext cx="528673" cy="972250"/>
            <a:chOff x="4723298" y="1783100"/>
            <a:chExt cx="528673" cy="972250"/>
          </a:xfrm>
        </p:grpSpPr>
        <p:sp>
          <p:nvSpPr>
            <p:cNvPr id="580" name="Google Shape;580;p37"/>
            <p:cNvSpPr/>
            <p:nvPr/>
          </p:nvSpPr>
          <p:spPr>
            <a:xfrm>
              <a:off x="4723298" y="1783100"/>
              <a:ext cx="186350" cy="972250"/>
            </a:xfrm>
            <a:custGeom>
              <a:rect b="b" l="l" r="r" t="t"/>
              <a:pathLst>
                <a:path extrusionOk="0" h="38890" w="7454">
                  <a:moveTo>
                    <a:pt x="5686" y="0"/>
                  </a:moveTo>
                  <a:cubicBezTo>
                    <a:pt x="4795" y="1252"/>
                    <a:pt x="1067" y="2000"/>
                    <a:pt x="337" y="7511"/>
                  </a:cubicBezTo>
                  <a:cubicBezTo>
                    <a:pt x="-393" y="13022"/>
                    <a:pt x="122" y="27837"/>
                    <a:pt x="1308" y="33067"/>
                  </a:cubicBezTo>
                  <a:cubicBezTo>
                    <a:pt x="2494" y="38297"/>
                    <a:pt x="6430" y="37920"/>
                    <a:pt x="7454" y="38890"/>
                  </a:cubicBezTo>
                </a:path>
              </a:pathLst>
            </a:custGeom>
            <a:noFill/>
            <a:ln cap="flat" cmpd="sng" w="9525">
              <a:solidFill>
                <a:schemeClr val="dk2"/>
              </a:solidFill>
              <a:prstDash val="solid"/>
              <a:round/>
              <a:headEnd len="med" w="med" type="none"/>
              <a:tailEnd len="med" w="med" type="none"/>
            </a:ln>
          </p:spPr>
        </p:sp>
        <p:sp>
          <p:nvSpPr>
            <p:cNvPr id="581" name="Google Shape;581;p37"/>
            <p:cNvSpPr/>
            <p:nvPr/>
          </p:nvSpPr>
          <p:spPr>
            <a:xfrm flipH="1">
              <a:off x="5065621" y="1783100"/>
              <a:ext cx="186350" cy="972250"/>
            </a:xfrm>
            <a:custGeom>
              <a:rect b="b" l="l" r="r" t="t"/>
              <a:pathLst>
                <a:path extrusionOk="0" h="38890" w="7454">
                  <a:moveTo>
                    <a:pt x="5686" y="0"/>
                  </a:moveTo>
                  <a:cubicBezTo>
                    <a:pt x="4795" y="1252"/>
                    <a:pt x="1067" y="2000"/>
                    <a:pt x="337" y="7511"/>
                  </a:cubicBezTo>
                  <a:cubicBezTo>
                    <a:pt x="-393" y="13022"/>
                    <a:pt x="122" y="27837"/>
                    <a:pt x="1308" y="33067"/>
                  </a:cubicBezTo>
                  <a:cubicBezTo>
                    <a:pt x="2494" y="38297"/>
                    <a:pt x="6430" y="37920"/>
                    <a:pt x="7454" y="38890"/>
                  </a:cubicBezTo>
                </a:path>
              </a:pathLst>
            </a:custGeom>
            <a:noFill/>
            <a:ln cap="flat" cmpd="sng" w="9525">
              <a:solidFill>
                <a:schemeClr val="dk2"/>
              </a:solidFill>
              <a:prstDash val="solid"/>
              <a:round/>
              <a:headEnd len="med" w="med" type="none"/>
              <a:tailEnd len="med" w="med" type="none"/>
            </a:ln>
          </p:spPr>
        </p:sp>
      </p:grpSp>
      <p:grpSp>
        <p:nvGrpSpPr>
          <p:cNvPr id="582" name="Google Shape;582;p37"/>
          <p:cNvGrpSpPr/>
          <p:nvPr/>
        </p:nvGrpSpPr>
        <p:grpSpPr>
          <a:xfrm>
            <a:off x="5199625" y="2955600"/>
            <a:ext cx="2436875" cy="1122015"/>
            <a:chOff x="5199625" y="2955600"/>
            <a:chExt cx="2436875" cy="1122015"/>
          </a:xfrm>
        </p:grpSpPr>
        <p:sp>
          <p:nvSpPr>
            <p:cNvPr id="583" name="Google Shape;583;p37"/>
            <p:cNvSpPr txBox="1"/>
            <p:nvPr/>
          </p:nvSpPr>
          <p:spPr>
            <a:xfrm>
              <a:off x="5199625" y="2955600"/>
              <a:ext cx="2425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w</a:t>
              </a:r>
              <a:r>
                <a:rPr b="1" baseline="-25000" lang="en">
                  <a:solidFill>
                    <a:srgbClr val="0000FF"/>
                  </a:solidFill>
                </a:rPr>
                <a:t>1</a:t>
              </a:r>
              <a:r>
                <a:rPr baseline="-25000" lang="en">
                  <a:solidFill>
                    <a:schemeClr val="dk1"/>
                  </a:solidFill>
                </a:rPr>
                <a:t>,1</a:t>
              </a:r>
              <a:r>
                <a:rPr baseline="30000" lang="en">
                  <a:solidFill>
                    <a:schemeClr val="dk1"/>
                  </a:solidFill>
                </a:rPr>
                <a:t>(</a:t>
              </a:r>
              <a:r>
                <a:rPr b="1" baseline="30000" lang="en">
                  <a:solidFill>
                    <a:srgbClr val="949AF8"/>
                  </a:solidFill>
                </a:rPr>
                <a:t>1</a:t>
              </a:r>
              <a:r>
                <a:rPr baseline="30000" lang="en">
                  <a:solidFill>
                    <a:schemeClr val="dk1"/>
                  </a:solidFill>
                </a:rPr>
                <a:t>) </a:t>
              </a:r>
              <a:r>
                <a:rPr b="1" lang="en" sz="900">
                  <a:solidFill>
                    <a:srgbClr val="BCBD21"/>
                  </a:solidFill>
                </a:rPr>
                <a:t> </a:t>
              </a:r>
              <a:r>
                <a:rPr b="1" lang="en">
                  <a:solidFill>
                    <a:schemeClr val="dk1"/>
                  </a:solidFill>
                </a:rPr>
                <a:t> w</a:t>
              </a:r>
              <a:r>
                <a:rPr b="1" baseline="-25000" lang="en">
                  <a:solidFill>
                    <a:srgbClr val="0000FF"/>
                  </a:solidFill>
                </a:rPr>
                <a:t>1</a:t>
              </a:r>
              <a:r>
                <a:rPr baseline="-25000" lang="en">
                  <a:solidFill>
                    <a:schemeClr val="dk1"/>
                  </a:solidFill>
                </a:rPr>
                <a:t>,2</a:t>
              </a:r>
              <a:r>
                <a:rPr baseline="30000" lang="en">
                  <a:solidFill>
                    <a:schemeClr val="dk1"/>
                  </a:solidFill>
                </a:rPr>
                <a:t>(</a:t>
              </a:r>
              <a:r>
                <a:rPr b="1" baseline="30000" lang="en">
                  <a:solidFill>
                    <a:srgbClr val="949AF8"/>
                  </a:solidFill>
                </a:rPr>
                <a:t>1</a:t>
              </a:r>
              <a:r>
                <a:rPr baseline="30000" lang="en">
                  <a:solidFill>
                    <a:schemeClr val="dk1"/>
                  </a:solidFill>
                </a:rPr>
                <a:t>) </a:t>
              </a:r>
              <a:r>
                <a:rPr b="1" lang="en" sz="900">
                  <a:solidFill>
                    <a:srgbClr val="BCBD21"/>
                  </a:solidFill>
                </a:rPr>
                <a:t> </a:t>
              </a:r>
              <a:r>
                <a:rPr b="1" lang="en">
                  <a:solidFill>
                    <a:schemeClr val="dk1"/>
                  </a:solidFill>
                </a:rPr>
                <a:t> w</a:t>
              </a:r>
              <a:r>
                <a:rPr b="1" baseline="-25000" lang="en">
                  <a:solidFill>
                    <a:srgbClr val="0000FF"/>
                  </a:solidFill>
                </a:rPr>
                <a:t>1</a:t>
              </a:r>
              <a:r>
                <a:rPr baseline="-25000" lang="en">
                  <a:solidFill>
                    <a:schemeClr val="dk1"/>
                  </a:solidFill>
                </a:rPr>
                <a:t>,3</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chemeClr val="dk1"/>
                  </a:solidFill>
                </a:rPr>
                <a:t>   w</a:t>
              </a:r>
              <a:r>
                <a:rPr b="1" baseline="-25000" lang="en">
                  <a:solidFill>
                    <a:srgbClr val="0000FF"/>
                  </a:solidFill>
                </a:rPr>
                <a:t>1</a:t>
              </a:r>
              <a:r>
                <a:rPr baseline="-25000" lang="en">
                  <a:solidFill>
                    <a:schemeClr val="dk1"/>
                  </a:solidFill>
                </a:rPr>
                <a:t>,4</a:t>
              </a:r>
              <a:r>
                <a:rPr baseline="30000" lang="en">
                  <a:solidFill>
                    <a:schemeClr val="dk1"/>
                  </a:solidFill>
                </a:rPr>
                <a:t>(</a:t>
              </a:r>
              <a:r>
                <a:rPr b="1" baseline="30000" lang="en">
                  <a:solidFill>
                    <a:srgbClr val="949AF8"/>
                  </a:solidFill>
                </a:rPr>
                <a:t>1</a:t>
              </a:r>
              <a:r>
                <a:rPr baseline="30000" lang="en">
                  <a:solidFill>
                    <a:schemeClr val="dk1"/>
                  </a:solidFill>
                </a:rPr>
                <a:t>) </a:t>
              </a:r>
              <a:r>
                <a:rPr b="1" lang="en" sz="900">
                  <a:solidFill>
                    <a:srgbClr val="BCBD21"/>
                  </a:solidFill>
                </a:rPr>
                <a:t> </a:t>
              </a:r>
              <a:r>
                <a:rPr b="1" lang="en">
                  <a:solidFill>
                    <a:schemeClr val="dk1"/>
                  </a:solidFill>
                </a:rPr>
                <a:t> 	                  </a:t>
              </a:r>
              <a:endParaRPr>
                <a:solidFill>
                  <a:schemeClr val="dk1"/>
                </a:solidFill>
              </a:endParaRPr>
            </a:p>
          </p:txBody>
        </p:sp>
        <p:sp>
          <p:nvSpPr>
            <p:cNvPr id="584" name="Google Shape;584;p37"/>
            <p:cNvSpPr txBox="1"/>
            <p:nvPr/>
          </p:nvSpPr>
          <p:spPr>
            <a:xfrm>
              <a:off x="5199900" y="3269550"/>
              <a:ext cx="243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w</a:t>
              </a:r>
              <a:r>
                <a:rPr b="1" baseline="-25000" lang="en">
                  <a:solidFill>
                    <a:srgbClr val="0000FF"/>
                  </a:solidFill>
                </a:rPr>
                <a:t>2</a:t>
              </a:r>
              <a:r>
                <a:rPr baseline="-25000" lang="en">
                  <a:solidFill>
                    <a:schemeClr val="dk1"/>
                  </a:solidFill>
                </a:rPr>
                <a:t>,1</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chemeClr val="dk1"/>
                  </a:solidFill>
                </a:rPr>
                <a:t>  w</a:t>
              </a:r>
              <a:r>
                <a:rPr b="1" baseline="-25000" lang="en">
                  <a:solidFill>
                    <a:srgbClr val="0000FF"/>
                  </a:solidFill>
                </a:rPr>
                <a:t>2</a:t>
              </a:r>
              <a:r>
                <a:rPr baseline="-25000" lang="en">
                  <a:solidFill>
                    <a:schemeClr val="dk1"/>
                  </a:solidFill>
                </a:rPr>
                <a:t>,2</a:t>
              </a:r>
              <a:r>
                <a:rPr baseline="30000" lang="en">
                  <a:solidFill>
                    <a:schemeClr val="dk1"/>
                  </a:solidFill>
                </a:rPr>
                <a:t>(</a:t>
              </a:r>
              <a:r>
                <a:rPr b="1" baseline="30000" lang="en">
                  <a:solidFill>
                    <a:srgbClr val="949AF8"/>
                  </a:solidFill>
                </a:rPr>
                <a:t>1</a:t>
              </a:r>
              <a:r>
                <a:rPr baseline="30000" lang="en">
                  <a:solidFill>
                    <a:schemeClr val="dk1"/>
                  </a:solidFill>
                </a:rPr>
                <a:t>) </a:t>
              </a:r>
              <a:r>
                <a:rPr b="1" lang="en" sz="900">
                  <a:solidFill>
                    <a:srgbClr val="BCBD21"/>
                  </a:solidFill>
                </a:rPr>
                <a:t> </a:t>
              </a:r>
              <a:r>
                <a:rPr b="1" lang="en">
                  <a:solidFill>
                    <a:schemeClr val="dk1"/>
                  </a:solidFill>
                </a:rPr>
                <a:t> w</a:t>
              </a:r>
              <a:r>
                <a:rPr b="1" baseline="-25000" lang="en">
                  <a:solidFill>
                    <a:srgbClr val="0000FF"/>
                  </a:solidFill>
                </a:rPr>
                <a:t>2</a:t>
              </a:r>
              <a:r>
                <a:rPr baseline="-25000" lang="en">
                  <a:solidFill>
                    <a:schemeClr val="dk1"/>
                  </a:solidFill>
                </a:rPr>
                <a:t>,3</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rgbClr val="BCBD21"/>
                  </a:solidFill>
                </a:rPr>
                <a:t>  </a:t>
              </a:r>
              <a:r>
                <a:rPr b="1" lang="en">
                  <a:solidFill>
                    <a:schemeClr val="dk1"/>
                  </a:solidFill>
                </a:rPr>
                <a:t>w</a:t>
              </a:r>
              <a:r>
                <a:rPr b="1" baseline="-25000" lang="en">
                  <a:solidFill>
                    <a:srgbClr val="0000FF"/>
                  </a:solidFill>
                </a:rPr>
                <a:t>2</a:t>
              </a:r>
              <a:r>
                <a:rPr baseline="-25000" lang="en">
                  <a:solidFill>
                    <a:schemeClr val="dk1"/>
                  </a:solidFill>
                </a:rPr>
                <a:t>,4</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chemeClr val="dk1"/>
                  </a:solidFill>
                </a:rPr>
                <a:t> </a:t>
              </a:r>
              <a:endParaRPr>
                <a:solidFill>
                  <a:schemeClr val="dk1"/>
                </a:solidFill>
              </a:endParaRPr>
            </a:p>
          </p:txBody>
        </p:sp>
        <p:sp>
          <p:nvSpPr>
            <p:cNvPr id="585" name="Google Shape;585;p37"/>
            <p:cNvSpPr txBox="1"/>
            <p:nvPr/>
          </p:nvSpPr>
          <p:spPr>
            <a:xfrm>
              <a:off x="5211100" y="3590850"/>
              <a:ext cx="2425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w</a:t>
              </a:r>
              <a:r>
                <a:rPr b="1" baseline="-25000" lang="en">
                  <a:solidFill>
                    <a:srgbClr val="0000FF"/>
                  </a:solidFill>
                </a:rPr>
                <a:t>3</a:t>
              </a:r>
              <a:r>
                <a:rPr baseline="-25000" lang="en">
                  <a:solidFill>
                    <a:schemeClr val="dk1"/>
                  </a:solidFill>
                </a:rPr>
                <a:t>,1</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rgbClr val="BCBD21"/>
                  </a:solidFill>
                </a:rPr>
                <a:t>  </a:t>
              </a:r>
              <a:r>
                <a:rPr b="1" lang="en">
                  <a:solidFill>
                    <a:schemeClr val="dk1"/>
                  </a:solidFill>
                </a:rPr>
                <a:t>w</a:t>
              </a:r>
              <a:r>
                <a:rPr b="1" baseline="-25000" lang="en">
                  <a:solidFill>
                    <a:srgbClr val="0000FF"/>
                  </a:solidFill>
                </a:rPr>
                <a:t>3</a:t>
              </a:r>
              <a:r>
                <a:rPr baseline="-25000" lang="en">
                  <a:solidFill>
                    <a:schemeClr val="dk1"/>
                  </a:solidFill>
                </a:rPr>
                <a:t>,2</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rgbClr val="BCBD21"/>
                  </a:solidFill>
                </a:rPr>
                <a:t>  </a:t>
              </a:r>
              <a:r>
                <a:rPr b="1" lang="en">
                  <a:solidFill>
                    <a:schemeClr val="dk1"/>
                  </a:solidFill>
                </a:rPr>
                <a:t>w</a:t>
              </a:r>
              <a:r>
                <a:rPr b="1" baseline="-25000" lang="en">
                  <a:solidFill>
                    <a:srgbClr val="0000FF"/>
                  </a:solidFill>
                </a:rPr>
                <a:t>3</a:t>
              </a:r>
              <a:r>
                <a:rPr baseline="-25000" lang="en">
                  <a:solidFill>
                    <a:schemeClr val="dk1"/>
                  </a:solidFill>
                </a:rPr>
                <a:t>,3</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rgbClr val="BCBD21"/>
                  </a:solidFill>
                </a:rPr>
                <a:t>  </a:t>
              </a:r>
              <a:r>
                <a:rPr b="1" lang="en">
                  <a:solidFill>
                    <a:schemeClr val="dk1"/>
                  </a:solidFill>
                </a:rPr>
                <a:t>w</a:t>
              </a:r>
              <a:r>
                <a:rPr b="1" baseline="-25000" lang="en">
                  <a:solidFill>
                    <a:srgbClr val="0000FF"/>
                  </a:solidFill>
                </a:rPr>
                <a:t>3</a:t>
              </a:r>
              <a:r>
                <a:rPr baseline="-25000" lang="en">
                  <a:solidFill>
                    <a:schemeClr val="dk1"/>
                  </a:solidFill>
                </a:rPr>
                <a:t>,4</a:t>
              </a:r>
              <a:r>
                <a:rPr baseline="30000" lang="en">
                  <a:solidFill>
                    <a:schemeClr val="dk1"/>
                  </a:solidFill>
                </a:rPr>
                <a:t>(</a:t>
              </a:r>
              <a:r>
                <a:rPr b="1" baseline="30000" lang="en">
                  <a:solidFill>
                    <a:srgbClr val="949AF8"/>
                  </a:solidFill>
                </a:rPr>
                <a:t>1</a:t>
              </a:r>
              <a:r>
                <a:rPr baseline="30000" lang="en">
                  <a:solidFill>
                    <a:schemeClr val="dk1"/>
                  </a:solidFill>
                </a:rPr>
                <a:t>) </a:t>
              </a:r>
              <a:endParaRPr>
                <a:solidFill>
                  <a:schemeClr val="dk1"/>
                </a:solidFill>
              </a:endParaRPr>
            </a:p>
          </p:txBody>
        </p:sp>
        <p:grpSp>
          <p:nvGrpSpPr>
            <p:cNvPr id="586" name="Google Shape;586;p37"/>
            <p:cNvGrpSpPr/>
            <p:nvPr/>
          </p:nvGrpSpPr>
          <p:grpSpPr>
            <a:xfrm>
              <a:off x="5199625" y="2967500"/>
              <a:ext cx="2281275" cy="1110115"/>
              <a:chOff x="4799500" y="1783100"/>
              <a:chExt cx="2281275" cy="1110115"/>
            </a:xfrm>
          </p:grpSpPr>
          <p:sp>
            <p:nvSpPr>
              <p:cNvPr id="587" name="Google Shape;587;p37"/>
              <p:cNvSpPr/>
              <p:nvPr/>
            </p:nvSpPr>
            <p:spPr>
              <a:xfrm>
                <a:off x="4799500" y="1783100"/>
                <a:ext cx="186350" cy="1087753"/>
              </a:xfrm>
              <a:custGeom>
                <a:rect b="b" l="l" r="r" t="t"/>
                <a:pathLst>
                  <a:path extrusionOk="0" h="38890" w="7454">
                    <a:moveTo>
                      <a:pt x="5686" y="0"/>
                    </a:moveTo>
                    <a:cubicBezTo>
                      <a:pt x="4795" y="1252"/>
                      <a:pt x="1067" y="2000"/>
                      <a:pt x="337" y="7511"/>
                    </a:cubicBezTo>
                    <a:cubicBezTo>
                      <a:pt x="-393" y="13022"/>
                      <a:pt x="122" y="27837"/>
                      <a:pt x="1308" y="33067"/>
                    </a:cubicBezTo>
                    <a:cubicBezTo>
                      <a:pt x="2494" y="38297"/>
                      <a:pt x="6430" y="37920"/>
                      <a:pt x="7454" y="38890"/>
                    </a:cubicBezTo>
                  </a:path>
                </a:pathLst>
              </a:custGeom>
              <a:noFill/>
              <a:ln cap="flat" cmpd="sng" w="9525">
                <a:solidFill>
                  <a:schemeClr val="dk2"/>
                </a:solidFill>
                <a:prstDash val="solid"/>
                <a:round/>
                <a:headEnd len="med" w="med" type="none"/>
                <a:tailEnd len="med" w="med" type="none"/>
              </a:ln>
            </p:spPr>
          </p:sp>
          <p:sp>
            <p:nvSpPr>
              <p:cNvPr id="588" name="Google Shape;588;p37"/>
              <p:cNvSpPr/>
              <p:nvPr/>
            </p:nvSpPr>
            <p:spPr>
              <a:xfrm flipH="1">
                <a:off x="6894425" y="1783100"/>
                <a:ext cx="186350" cy="1110115"/>
              </a:xfrm>
              <a:custGeom>
                <a:rect b="b" l="l" r="r" t="t"/>
                <a:pathLst>
                  <a:path extrusionOk="0" h="38890" w="7454">
                    <a:moveTo>
                      <a:pt x="5686" y="0"/>
                    </a:moveTo>
                    <a:cubicBezTo>
                      <a:pt x="4795" y="1252"/>
                      <a:pt x="1067" y="2000"/>
                      <a:pt x="337" y="7511"/>
                    </a:cubicBezTo>
                    <a:cubicBezTo>
                      <a:pt x="-393" y="13022"/>
                      <a:pt x="122" y="27837"/>
                      <a:pt x="1308" y="33067"/>
                    </a:cubicBezTo>
                    <a:cubicBezTo>
                      <a:pt x="2494" y="38297"/>
                      <a:pt x="6430" y="37920"/>
                      <a:pt x="7454" y="38890"/>
                    </a:cubicBezTo>
                  </a:path>
                </a:pathLst>
              </a:custGeom>
              <a:noFill/>
              <a:ln cap="flat" cmpd="sng" w="9525">
                <a:solidFill>
                  <a:schemeClr val="dk2"/>
                </a:solidFill>
                <a:prstDash val="solid"/>
                <a:round/>
                <a:headEnd len="med" w="med" type="none"/>
                <a:tailEnd len="med" w="med" type="none"/>
              </a:ln>
            </p:spPr>
          </p:sp>
        </p:grpSp>
      </p:grpSp>
      <p:grpSp>
        <p:nvGrpSpPr>
          <p:cNvPr id="589" name="Google Shape;589;p37"/>
          <p:cNvGrpSpPr/>
          <p:nvPr/>
        </p:nvGrpSpPr>
        <p:grpSpPr>
          <a:xfrm>
            <a:off x="7567473" y="2909450"/>
            <a:ext cx="528673" cy="1056900"/>
            <a:chOff x="7600423" y="2896600"/>
            <a:chExt cx="528673" cy="1056900"/>
          </a:xfrm>
        </p:grpSpPr>
        <p:sp>
          <p:nvSpPr>
            <p:cNvPr id="590" name="Google Shape;590;p37"/>
            <p:cNvSpPr txBox="1"/>
            <p:nvPr/>
          </p:nvSpPr>
          <p:spPr>
            <a:xfrm>
              <a:off x="7694650" y="2896600"/>
              <a:ext cx="379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BCBD21"/>
                  </a:solidFill>
                </a:rPr>
                <a:t>x</a:t>
              </a:r>
              <a:r>
                <a:rPr b="1" lang="en" sz="900">
                  <a:solidFill>
                    <a:srgbClr val="BCBD21"/>
                  </a:solidFill>
                </a:rPr>
                <a:t>1</a:t>
              </a:r>
              <a:endParaRPr b="1" sz="900">
                <a:solidFill>
                  <a:srgbClr val="BCBD21"/>
                </a:solidFill>
              </a:endParaRPr>
            </a:p>
            <a:p>
              <a:pPr indent="0" lvl="0" marL="0" rtl="0" algn="l">
                <a:spcBef>
                  <a:spcPts val="0"/>
                </a:spcBef>
                <a:spcAft>
                  <a:spcPts val="0"/>
                </a:spcAft>
                <a:buNone/>
              </a:pPr>
              <a:r>
                <a:rPr b="1" lang="en">
                  <a:solidFill>
                    <a:srgbClr val="BCBD21"/>
                  </a:solidFill>
                </a:rPr>
                <a:t>x</a:t>
              </a:r>
              <a:r>
                <a:rPr b="1" lang="en" sz="900">
                  <a:solidFill>
                    <a:srgbClr val="BCBD21"/>
                  </a:solidFill>
                </a:rPr>
                <a:t>2</a:t>
              </a:r>
              <a:endParaRPr b="1" sz="900">
                <a:solidFill>
                  <a:srgbClr val="BCBD21"/>
                </a:solidFill>
              </a:endParaRPr>
            </a:p>
            <a:p>
              <a:pPr indent="0" lvl="0" marL="0" rtl="0" algn="l">
                <a:spcBef>
                  <a:spcPts val="0"/>
                </a:spcBef>
                <a:spcAft>
                  <a:spcPts val="0"/>
                </a:spcAft>
                <a:buNone/>
              </a:pPr>
              <a:r>
                <a:rPr b="1" lang="en">
                  <a:solidFill>
                    <a:srgbClr val="BCBD21"/>
                  </a:solidFill>
                </a:rPr>
                <a:t>x</a:t>
              </a:r>
              <a:r>
                <a:rPr b="1" lang="en" sz="900">
                  <a:solidFill>
                    <a:srgbClr val="BCBD21"/>
                  </a:solidFill>
                </a:rPr>
                <a:t>3</a:t>
              </a:r>
              <a:endParaRPr b="1" sz="900">
                <a:solidFill>
                  <a:srgbClr val="BCBD21"/>
                </a:solidFill>
              </a:endParaRPr>
            </a:p>
            <a:p>
              <a:pPr indent="0" lvl="0" marL="0" rtl="0" algn="l">
                <a:spcBef>
                  <a:spcPts val="0"/>
                </a:spcBef>
                <a:spcAft>
                  <a:spcPts val="0"/>
                </a:spcAft>
                <a:buNone/>
              </a:pPr>
              <a:r>
                <a:rPr b="1" lang="en">
                  <a:solidFill>
                    <a:srgbClr val="BCBD21"/>
                  </a:solidFill>
                </a:rPr>
                <a:t>x</a:t>
              </a:r>
              <a:r>
                <a:rPr b="1" lang="en" sz="900">
                  <a:solidFill>
                    <a:srgbClr val="BCBD21"/>
                  </a:solidFill>
                </a:rPr>
                <a:t>4</a:t>
              </a:r>
              <a:endParaRPr b="1" sz="900">
                <a:solidFill>
                  <a:srgbClr val="BCBD21"/>
                </a:solidFill>
              </a:endParaRPr>
            </a:p>
          </p:txBody>
        </p:sp>
        <p:grpSp>
          <p:nvGrpSpPr>
            <p:cNvPr id="591" name="Google Shape;591;p37"/>
            <p:cNvGrpSpPr/>
            <p:nvPr/>
          </p:nvGrpSpPr>
          <p:grpSpPr>
            <a:xfrm>
              <a:off x="7600423" y="2981250"/>
              <a:ext cx="528673" cy="972250"/>
              <a:chOff x="4723298" y="1783100"/>
              <a:chExt cx="528673" cy="972250"/>
            </a:xfrm>
          </p:grpSpPr>
          <p:sp>
            <p:nvSpPr>
              <p:cNvPr id="592" name="Google Shape;592;p37"/>
              <p:cNvSpPr/>
              <p:nvPr/>
            </p:nvSpPr>
            <p:spPr>
              <a:xfrm>
                <a:off x="4723298" y="1783100"/>
                <a:ext cx="186350" cy="972250"/>
              </a:xfrm>
              <a:custGeom>
                <a:rect b="b" l="l" r="r" t="t"/>
                <a:pathLst>
                  <a:path extrusionOk="0" h="38890" w="7454">
                    <a:moveTo>
                      <a:pt x="5686" y="0"/>
                    </a:moveTo>
                    <a:cubicBezTo>
                      <a:pt x="4795" y="1252"/>
                      <a:pt x="1067" y="2000"/>
                      <a:pt x="337" y="7511"/>
                    </a:cubicBezTo>
                    <a:cubicBezTo>
                      <a:pt x="-393" y="13022"/>
                      <a:pt x="122" y="27837"/>
                      <a:pt x="1308" y="33067"/>
                    </a:cubicBezTo>
                    <a:cubicBezTo>
                      <a:pt x="2494" y="38297"/>
                      <a:pt x="6430" y="37920"/>
                      <a:pt x="7454" y="38890"/>
                    </a:cubicBezTo>
                  </a:path>
                </a:pathLst>
              </a:custGeom>
              <a:noFill/>
              <a:ln cap="flat" cmpd="sng" w="9525">
                <a:solidFill>
                  <a:schemeClr val="dk2"/>
                </a:solidFill>
                <a:prstDash val="solid"/>
                <a:round/>
                <a:headEnd len="med" w="med" type="none"/>
                <a:tailEnd len="med" w="med" type="none"/>
              </a:ln>
            </p:spPr>
          </p:sp>
          <p:sp>
            <p:nvSpPr>
              <p:cNvPr id="593" name="Google Shape;593;p37"/>
              <p:cNvSpPr/>
              <p:nvPr/>
            </p:nvSpPr>
            <p:spPr>
              <a:xfrm flipH="1">
                <a:off x="5065621" y="1783100"/>
                <a:ext cx="186350" cy="972250"/>
              </a:xfrm>
              <a:custGeom>
                <a:rect b="b" l="l" r="r" t="t"/>
                <a:pathLst>
                  <a:path extrusionOk="0" h="38890" w="7454">
                    <a:moveTo>
                      <a:pt x="5686" y="0"/>
                    </a:moveTo>
                    <a:cubicBezTo>
                      <a:pt x="4795" y="1252"/>
                      <a:pt x="1067" y="2000"/>
                      <a:pt x="337" y="7511"/>
                    </a:cubicBezTo>
                    <a:cubicBezTo>
                      <a:pt x="-393" y="13022"/>
                      <a:pt x="122" y="27837"/>
                      <a:pt x="1308" y="33067"/>
                    </a:cubicBezTo>
                    <a:cubicBezTo>
                      <a:pt x="2494" y="38297"/>
                      <a:pt x="6430" y="37920"/>
                      <a:pt x="7454" y="38890"/>
                    </a:cubicBezTo>
                  </a:path>
                </a:pathLst>
              </a:custGeom>
              <a:noFill/>
              <a:ln cap="flat" cmpd="sng" w="9525">
                <a:solidFill>
                  <a:schemeClr val="dk2"/>
                </a:solidFill>
                <a:prstDash val="solid"/>
                <a:round/>
                <a:headEnd len="med" w="med" type="none"/>
                <a:tailEnd len="med" w="med" type="none"/>
              </a:ln>
            </p:spPr>
          </p:sp>
        </p:grpSp>
      </p:grpSp>
      <p:sp>
        <p:nvSpPr>
          <p:cNvPr id="594" name="Google Shape;594;p37"/>
          <p:cNvSpPr txBox="1"/>
          <p:nvPr/>
        </p:nvSpPr>
        <p:spPr>
          <a:xfrm>
            <a:off x="8096150" y="3277600"/>
            <a:ext cx="41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a:t>
            </a:r>
            <a:endParaRPr/>
          </a:p>
        </p:txBody>
      </p:sp>
      <p:sp>
        <p:nvSpPr>
          <p:cNvPr id="595" name="Google Shape;595;p37"/>
          <p:cNvSpPr txBox="1"/>
          <p:nvPr/>
        </p:nvSpPr>
        <p:spPr>
          <a:xfrm>
            <a:off x="4904875" y="3277600"/>
            <a:ext cx="40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t>
            </a:r>
            <a:endParaRPr/>
          </a:p>
        </p:txBody>
      </p:sp>
      <p:sp>
        <p:nvSpPr>
          <p:cNvPr id="596" name="Google Shape;596;p37"/>
          <p:cNvSpPr txBox="1"/>
          <p:nvPr/>
        </p:nvSpPr>
        <p:spPr>
          <a:xfrm>
            <a:off x="5389674" y="4368925"/>
            <a:ext cx="47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Z</a:t>
            </a:r>
            <a:r>
              <a:rPr baseline="30000" lang="en">
                <a:solidFill>
                  <a:schemeClr val="dk1"/>
                </a:solidFill>
              </a:rPr>
              <a:t>(</a:t>
            </a:r>
            <a:r>
              <a:rPr b="1" baseline="30000" lang="en">
                <a:solidFill>
                  <a:srgbClr val="949AF8"/>
                </a:solidFill>
              </a:rPr>
              <a:t>1</a:t>
            </a:r>
            <a:r>
              <a:rPr baseline="30000" lang="en">
                <a:solidFill>
                  <a:schemeClr val="dk1"/>
                </a:solidFill>
              </a:rPr>
              <a:t>)</a:t>
            </a:r>
            <a:endParaRPr/>
          </a:p>
        </p:txBody>
      </p:sp>
      <p:sp>
        <p:nvSpPr>
          <p:cNvPr id="597" name="Google Shape;597;p37"/>
          <p:cNvSpPr txBox="1"/>
          <p:nvPr/>
        </p:nvSpPr>
        <p:spPr>
          <a:xfrm>
            <a:off x="5819275" y="4344400"/>
            <a:ext cx="40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t>
            </a:r>
            <a:endParaRPr/>
          </a:p>
        </p:txBody>
      </p:sp>
      <p:sp>
        <p:nvSpPr>
          <p:cNvPr id="598" name="Google Shape;598;p37"/>
          <p:cNvSpPr txBox="1"/>
          <p:nvPr/>
        </p:nvSpPr>
        <p:spPr>
          <a:xfrm>
            <a:off x="6151675" y="4368925"/>
            <a:ext cx="689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W</a:t>
            </a:r>
            <a:r>
              <a:rPr baseline="30000" lang="en">
                <a:solidFill>
                  <a:schemeClr val="dk1"/>
                </a:solidFill>
              </a:rPr>
              <a:t>(</a:t>
            </a:r>
            <a:r>
              <a:rPr b="1" baseline="30000" lang="en">
                <a:solidFill>
                  <a:srgbClr val="949AF8"/>
                </a:solidFill>
              </a:rPr>
              <a:t>1</a:t>
            </a:r>
            <a:r>
              <a:rPr baseline="30000" lang="en">
                <a:solidFill>
                  <a:schemeClr val="dk1"/>
                </a:solidFill>
              </a:rPr>
              <a:t>)</a:t>
            </a:r>
            <a:endParaRPr/>
          </a:p>
        </p:txBody>
      </p:sp>
      <p:sp>
        <p:nvSpPr>
          <p:cNvPr id="599" name="Google Shape;599;p37"/>
          <p:cNvSpPr txBox="1"/>
          <p:nvPr/>
        </p:nvSpPr>
        <p:spPr>
          <a:xfrm>
            <a:off x="6577700" y="4368925"/>
            <a:ext cx="32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BCBD21"/>
                </a:solidFill>
              </a:rPr>
              <a:t>X</a:t>
            </a:r>
            <a:endParaRPr/>
          </a:p>
        </p:txBody>
      </p:sp>
      <p:sp>
        <p:nvSpPr>
          <p:cNvPr id="600" name="Google Shape;600;p37"/>
          <p:cNvSpPr txBox="1"/>
          <p:nvPr/>
        </p:nvSpPr>
        <p:spPr>
          <a:xfrm>
            <a:off x="6899000" y="4344400"/>
            <a:ext cx="41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a:t>
            </a:r>
            <a:endParaRPr/>
          </a:p>
        </p:txBody>
      </p:sp>
      <p:sp>
        <p:nvSpPr>
          <p:cNvPr id="601" name="Google Shape;601;p37"/>
          <p:cNvSpPr txBox="1"/>
          <p:nvPr/>
        </p:nvSpPr>
        <p:spPr>
          <a:xfrm>
            <a:off x="7177425" y="4368925"/>
            <a:ext cx="562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en">
                <a:solidFill>
                  <a:schemeClr val="dk1"/>
                </a:solidFill>
              </a:rPr>
              <a:t>b</a:t>
            </a:r>
            <a:r>
              <a:rPr baseline="30000" lang="en">
                <a:solidFill>
                  <a:schemeClr val="dk1"/>
                </a:solidFill>
              </a:rPr>
              <a:t>(</a:t>
            </a:r>
            <a:r>
              <a:rPr b="1" baseline="30000" lang="en">
                <a:solidFill>
                  <a:srgbClr val="949AF8"/>
                </a:solidFill>
              </a:rPr>
              <a:t>1</a:t>
            </a:r>
            <a:r>
              <a:rPr baseline="30000" lang="en">
                <a:solidFill>
                  <a:schemeClr val="dk1"/>
                </a:solidFill>
              </a:rPr>
              <a:t>)</a:t>
            </a:r>
            <a:endParaRPr/>
          </a:p>
        </p:txBody>
      </p:sp>
      <p:grpSp>
        <p:nvGrpSpPr>
          <p:cNvPr id="602" name="Google Shape;602;p37"/>
          <p:cNvGrpSpPr/>
          <p:nvPr/>
        </p:nvGrpSpPr>
        <p:grpSpPr>
          <a:xfrm>
            <a:off x="5244850" y="4209350"/>
            <a:ext cx="4070075" cy="980600"/>
            <a:chOff x="5244850" y="4209350"/>
            <a:chExt cx="4070075" cy="980600"/>
          </a:xfrm>
        </p:grpSpPr>
        <p:sp>
          <p:nvSpPr>
            <p:cNvPr id="603" name="Google Shape;603;p37"/>
            <p:cNvSpPr/>
            <p:nvPr/>
          </p:nvSpPr>
          <p:spPr>
            <a:xfrm>
              <a:off x="5244850" y="4310750"/>
              <a:ext cx="24366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4" name="Google Shape;604;p37"/>
            <p:cNvSpPr txBox="1"/>
            <p:nvPr/>
          </p:nvSpPr>
          <p:spPr>
            <a:xfrm>
              <a:off x="6782400" y="4789750"/>
              <a:ext cx="157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matrix of weights</a:t>
              </a:r>
              <a:endParaRPr/>
            </a:p>
          </p:txBody>
        </p:sp>
        <p:sp>
          <p:nvSpPr>
            <p:cNvPr id="605" name="Google Shape;605;p37"/>
            <p:cNvSpPr txBox="1"/>
            <p:nvPr/>
          </p:nvSpPr>
          <p:spPr>
            <a:xfrm>
              <a:off x="7739625" y="4209350"/>
              <a:ext cx="157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bias vector</a:t>
              </a:r>
              <a:endParaRPr/>
            </a:p>
          </p:txBody>
        </p:sp>
        <p:sp>
          <p:nvSpPr>
            <p:cNvPr id="606" name="Google Shape;606;p37"/>
            <p:cNvSpPr/>
            <p:nvPr/>
          </p:nvSpPr>
          <p:spPr>
            <a:xfrm>
              <a:off x="6252270" y="4717750"/>
              <a:ext cx="627850" cy="311000"/>
            </a:xfrm>
            <a:custGeom>
              <a:rect b="b" l="l" r="r" t="t"/>
              <a:pathLst>
                <a:path extrusionOk="0" h="12440" w="25114">
                  <a:moveTo>
                    <a:pt x="25114" y="12440"/>
                  </a:moveTo>
                  <a:cubicBezTo>
                    <a:pt x="21162" y="12181"/>
                    <a:pt x="5092" y="12958"/>
                    <a:pt x="1399" y="10885"/>
                  </a:cubicBezTo>
                  <a:cubicBezTo>
                    <a:pt x="-2294" y="8812"/>
                    <a:pt x="2695" y="1814"/>
                    <a:pt x="2954" y="0"/>
                  </a:cubicBezTo>
                </a:path>
              </a:pathLst>
            </a:custGeom>
            <a:noFill/>
            <a:ln cap="flat" cmpd="sng" w="9525">
              <a:solidFill>
                <a:schemeClr val="dk2"/>
              </a:solidFill>
              <a:prstDash val="solid"/>
              <a:round/>
              <a:headEnd len="med" w="med" type="none"/>
              <a:tailEnd len="med" w="med" type="stealth"/>
            </a:ln>
          </p:spPr>
        </p:sp>
        <p:sp>
          <p:nvSpPr>
            <p:cNvPr id="607" name="Google Shape;607;p37"/>
            <p:cNvSpPr/>
            <p:nvPr/>
          </p:nvSpPr>
          <p:spPr>
            <a:xfrm>
              <a:off x="7511900" y="4523350"/>
              <a:ext cx="526750" cy="189925"/>
            </a:xfrm>
            <a:custGeom>
              <a:rect b="b" l="l" r="r" t="t"/>
              <a:pathLst>
                <a:path extrusionOk="0" h="7597" w="21070">
                  <a:moveTo>
                    <a:pt x="19827" y="0"/>
                  </a:moveTo>
                  <a:cubicBezTo>
                    <a:pt x="19762" y="1231"/>
                    <a:pt x="22743" y="6545"/>
                    <a:pt x="19438" y="7387"/>
                  </a:cubicBezTo>
                  <a:cubicBezTo>
                    <a:pt x="16134" y="8229"/>
                    <a:pt x="3240" y="5443"/>
                    <a:pt x="0" y="5054"/>
                  </a:cubicBezTo>
                </a:path>
              </a:pathLst>
            </a:custGeom>
            <a:noFill/>
            <a:ln cap="flat" cmpd="sng" w="9525">
              <a:solidFill>
                <a:schemeClr val="dk2"/>
              </a:solidFill>
              <a:prstDash val="solid"/>
              <a:round/>
              <a:headEnd len="med" w="med" type="none"/>
              <a:tailEnd len="med" w="med" type="stealth"/>
            </a:ln>
          </p:spPr>
        </p:sp>
      </p:grpSp>
      <p:sp>
        <p:nvSpPr>
          <p:cNvPr id="608" name="Google Shape;608;p37"/>
          <p:cNvSpPr txBox="1"/>
          <p:nvPr/>
        </p:nvSpPr>
        <p:spPr>
          <a:xfrm>
            <a:off x="1772150" y="4445125"/>
            <a:ext cx="562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b</a:t>
            </a:r>
            <a:r>
              <a:rPr baseline="30000" lang="en">
                <a:solidFill>
                  <a:schemeClr val="dk1"/>
                </a:solidFill>
              </a:rPr>
              <a:t>(</a:t>
            </a:r>
            <a:r>
              <a:rPr b="1" baseline="30000" lang="en">
                <a:solidFill>
                  <a:srgbClr val="949AF8"/>
                </a:solidFill>
              </a:rPr>
              <a:t>1</a:t>
            </a:r>
            <a:r>
              <a:rPr baseline="30000" lang="en">
                <a:solidFill>
                  <a:schemeClr val="dk1"/>
                </a:solidFil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38"/>
          <p:cNvSpPr txBox="1"/>
          <p:nvPr/>
        </p:nvSpPr>
        <p:spPr>
          <a:xfrm>
            <a:off x="151525" y="1443975"/>
            <a:ext cx="12678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input layer</a:t>
            </a:r>
            <a:endParaRPr b="1">
              <a:solidFill>
                <a:schemeClr val="dk1"/>
              </a:solidFill>
            </a:endParaRPr>
          </a:p>
        </p:txBody>
      </p:sp>
      <p:cxnSp>
        <p:nvCxnSpPr>
          <p:cNvPr id="614" name="Google Shape;614;p38"/>
          <p:cNvCxnSpPr>
            <a:stCxn id="615" idx="2"/>
          </p:cNvCxnSpPr>
          <p:nvPr/>
        </p:nvCxnSpPr>
        <p:spPr>
          <a:xfrm flipH="1">
            <a:off x="291125" y="2193925"/>
            <a:ext cx="403800" cy="4800"/>
          </a:xfrm>
          <a:prstGeom prst="straightConnector1">
            <a:avLst/>
          </a:prstGeom>
          <a:noFill/>
          <a:ln cap="flat" cmpd="sng" w="28575">
            <a:solidFill>
              <a:schemeClr val="dk1"/>
            </a:solidFill>
            <a:prstDash val="solid"/>
            <a:round/>
            <a:headEnd len="med" w="med" type="none"/>
            <a:tailEnd len="med" w="med" type="oval"/>
          </a:ln>
        </p:spPr>
      </p:cxnSp>
      <p:cxnSp>
        <p:nvCxnSpPr>
          <p:cNvPr id="616" name="Google Shape;616;p38"/>
          <p:cNvCxnSpPr>
            <a:stCxn id="617" idx="2"/>
          </p:cNvCxnSpPr>
          <p:nvPr/>
        </p:nvCxnSpPr>
        <p:spPr>
          <a:xfrm flipH="1">
            <a:off x="315725" y="2847225"/>
            <a:ext cx="379200" cy="300"/>
          </a:xfrm>
          <a:prstGeom prst="straightConnector1">
            <a:avLst/>
          </a:prstGeom>
          <a:noFill/>
          <a:ln cap="flat" cmpd="sng" w="28575">
            <a:solidFill>
              <a:schemeClr val="dk1"/>
            </a:solidFill>
            <a:prstDash val="solid"/>
            <a:round/>
            <a:headEnd len="med" w="med" type="none"/>
            <a:tailEnd len="med" w="med" type="oval"/>
          </a:ln>
        </p:spPr>
      </p:cxnSp>
      <p:cxnSp>
        <p:nvCxnSpPr>
          <p:cNvPr id="618" name="Google Shape;618;p38"/>
          <p:cNvCxnSpPr>
            <a:stCxn id="619" idx="2"/>
          </p:cNvCxnSpPr>
          <p:nvPr/>
        </p:nvCxnSpPr>
        <p:spPr>
          <a:xfrm flipH="1">
            <a:off x="291125" y="3500525"/>
            <a:ext cx="403800" cy="12000"/>
          </a:xfrm>
          <a:prstGeom prst="straightConnector1">
            <a:avLst/>
          </a:prstGeom>
          <a:noFill/>
          <a:ln cap="flat" cmpd="sng" w="28575">
            <a:solidFill>
              <a:schemeClr val="dk1"/>
            </a:solidFill>
            <a:prstDash val="solid"/>
            <a:round/>
            <a:headEnd len="med" w="med" type="none"/>
            <a:tailEnd len="med" w="med" type="oval"/>
          </a:ln>
        </p:spPr>
      </p:cxnSp>
      <p:cxnSp>
        <p:nvCxnSpPr>
          <p:cNvPr id="620" name="Google Shape;620;p38"/>
          <p:cNvCxnSpPr>
            <a:stCxn id="621" idx="2"/>
          </p:cNvCxnSpPr>
          <p:nvPr/>
        </p:nvCxnSpPr>
        <p:spPr>
          <a:xfrm flipH="1">
            <a:off x="283025" y="4153825"/>
            <a:ext cx="411900" cy="7500"/>
          </a:xfrm>
          <a:prstGeom prst="straightConnector1">
            <a:avLst/>
          </a:prstGeom>
          <a:noFill/>
          <a:ln cap="flat" cmpd="sng" w="28575">
            <a:solidFill>
              <a:schemeClr val="dk1"/>
            </a:solidFill>
            <a:prstDash val="solid"/>
            <a:round/>
            <a:headEnd len="med" w="med" type="none"/>
            <a:tailEnd len="med" w="med" type="oval"/>
          </a:ln>
        </p:spPr>
      </p:cxnSp>
      <p:sp>
        <p:nvSpPr>
          <p:cNvPr id="622" name="Google Shape;622;p38"/>
          <p:cNvSpPr/>
          <p:nvPr/>
        </p:nvSpPr>
        <p:spPr>
          <a:xfrm>
            <a:off x="1737650" y="4566475"/>
            <a:ext cx="478800" cy="46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23" name="Google Shape;623;p38"/>
          <p:cNvGrpSpPr/>
          <p:nvPr/>
        </p:nvGrpSpPr>
        <p:grpSpPr>
          <a:xfrm>
            <a:off x="2097025" y="1446900"/>
            <a:ext cx="2192400" cy="3031800"/>
            <a:chOff x="3468625" y="1446900"/>
            <a:chExt cx="2192400" cy="3031800"/>
          </a:xfrm>
        </p:grpSpPr>
        <p:sp>
          <p:nvSpPr>
            <p:cNvPr id="624" name="Google Shape;624;p38"/>
            <p:cNvSpPr txBox="1"/>
            <p:nvPr/>
          </p:nvSpPr>
          <p:spPr>
            <a:xfrm>
              <a:off x="3468625" y="1446900"/>
              <a:ext cx="21924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hidden layer 1</a:t>
              </a:r>
              <a:endParaRPr b="1">
                <a:solidFill>
                  <a:schemeClr val="dk1"/>
                </a:solidFill>
              </a:endParaRPr>
            </a:p>
          </p:txBody>
        </p:sp>
        <p:sp>
          <p:nvSpPr>
            <p:cNvPr id="625" name="Google Shape;625;p38"/>
            <p:cNvSpPr/>
            <p:nvPr/>
          </p:nvSpPr>
          <p:spPr>
            <a:xfrm>
              <a:off x="4038350" y="211772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626" name="Google Shape;626;p38"/>
            <p:cNvSpPr/>
            <p:nvPr/>
          </p:nvSpPr>
          <p:spPr>
            <a:xfrm>
              <a:off x="4038350" y="2861350"/>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627" name="Google Shape;627;p38"/>
            <p:cNvSpPr/>
            <p:nvPr/>
          </p:nvSpPr>
          <p:spPr>
            <a:xfrm>
              <a:off x="4038350" y="36554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628" name="Google Shape;628;p38"/>
            <p:cNvSpPr/>
            <p:nvPr/>
          </p:nvSpPr>
          <p:spPr>
            <a:xfrm>
              <a:off x="4925525" y="2117725"/>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h</a:t>
              </a:r>
              <a:endParaRPr>
                <a:solidFill>
                  <a:schemeClr val="dk1"/>
                </a:solidFill>
              </a:endParaRPr>
            </a:p>
          </p:txBody>
        </p:sp>
        <p:sp>
          <p:nvSpPr>
            <p:cNvPr id="629" name="Google Shape;629;p38"/>
            <p:cNvSpPr/>
            <p:nvPr/>
          </p:nvSpPr>
          <p:spPr>
            <a:xfrm>
              <a:off x="4925525" y="2861350"/>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sp>
          <p:nvSpPr>
            <p:cNvPr id="630" name="Google Shape;630;p38"/>
            <p:cNvSpPr/>
            <p:nvPr/>
          </p:nvSpPr>
          <p:spPr>
            <a:xfrm>
              <a:off x="4925525" y="3645125"/>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grpSp>
      <p:grpSp>
        <p:nvGrpSpPr>
          <p:cNvPr id="631" name="Google Shape;631;p38"/>
          <p:cNvGrpSpPr/>
          <p:nvPr/>
        </p:nvGrpSpPr>
        <p:grpSpPr>
          <a:xfrm>
            <a:off x="6992425" y="1443975"/>
            <a:ext cx="1855800" cy="3031800"/>
            <a:chOff x="6611425" y="1443975"/>
            <a:chExt cx="1855800" cy="3031800"/>
          </a:xfrm>
        </p:grpSpPr>
        <p:sp>
          <p:nvSpPr>
            <p:cNvPr id="632" name="Google Shape;632;p38"/>
            <p:cNvSpPr txBox="1"/>
            <p:nvPr/>
          </p:nvSpPr>
          <p:spPr>
            <a:xfrm>
              <a:off x="6611425" y="1443975"/>
              <a:ext cx="18558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output layer</a:t>
              </a:r>
              <a:endParaRPr b="1">
                <a:solidFill>
                  <a:schemeClr val="dk1"/>
                </a:solidFill>
              </a:endParaRPr>
            </a:p>
          </p:txBody>
        </p:sp>
        <p:sp>
          <p:nvSpPr>
            <p:cNvPr id="633" name="Google Shape;633;p38"/>
            <p:cNvSpPr/>
            <p:nvPr/>
          </p:nvSpPr>
          <p:spPr>
            <a:xfrm>
              <a:off x="6785500" y="28070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grpSp>
      <p:sp>
        <p:nvSpPr>
          <p:cNvPr id="634" name="Google Shape;634;p38"/>
          <p:cNvSpPr/>
          <p:nvPr/>
        </p:nvSpPr>
        <p:spPr>
          <a:xfrm>
            <a:off x="8329250" y="2909724"/>
            <a:ext cx="271800" cy="251100"/>
          </a:xfrm>
          <a:prstGeom prst="ellipse">
            <a:avLst/>
          </a:prstGeom>
          <a:solidFill>
            <a:srgbClr val="949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15" name="Google Shape;615;p38"/>
          <p:cNvSpPr/>
          <p:nvPr/>
        </p:nvSpPr>
        <p:spPr>
          <a:xfrm>
            <a:off x="694925" y="19627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1</a:t>
            </a:r>
            <a:endParaRPr>
              <a:solidFill>
                <a:schemeClr val="dk1"/>
              </a:solidFill>
            </a:endParaRPr>
          </a:p>
        </p:txBody>
      </p:sp>
      <p:sp>
        <p:nvSpPr>
          <p:cNvPr id="617" name="Google Shape;617;p38"/>
          <p:cNvSpPr/>
          <p:nvPr/>
        </p:nvSpPr>
        <p:spPr>
          <a:xfrm>
            <a:off x="694925" y="26160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2</a:t>
            </a:r>
            <a:endParaRPr>
              <a:solidFill>
                <a:schemeClr val="dk1"/>
              </a:solidFill>
            </a:endParaRPr>
          </a:p>
        </p:txBody>
      </p:sp>
      <p:sp>
        <p:nvSpPr>
          <p:cNvPr id="619" name="Google Shape;619;p38"/>
          <p:cNvSpPr/>
          <p:nvPr/>
        </p:nvSpPr>
        <p:spPr>
          <a:xfrm>
            <a:off x="694925" y="32693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3</a:t>
            </a:r>
            <a:endParaRPr>
              <a:solidFill>
                <a:schemeClr val="dk1"/>
              </a:solidFill>
            </a:endParaRPr>
          </a:p>
        </p:txBody>
      </p:sp>
      <p:sp>
        <p:nvSpPr>
          <p:cNvPr id="621" name="Google Shape;621;p38"/>
          <p:cNvSpPr/>
          <p:nvPr/>
        </p:nvSpPr>
        <p:spPr>
          <a:xfrm>
            <a:off x="694925" y="39226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4</a:t>
            </a:r>
            <a:endParaRPr>
              <a:solidFill>
                <a:schemeClr val="dk1"/>
              </a:solidFill>
            </a:endParaRPr>
          </a:p>
        </p:txBody>
      </p:sp>
      <p:grpSp>
        <p:nvGrpSpPr>
          <p:cNvPr id="635" name="Google Shape;635;p38"/>
          <p:cNvGrpSpPr/>
          <p:nvPr/>
        </p:nvGrpSpPr>
        <p:grpSpPr>
          <a:xfrm>
            <a:off x="1173725" y="2193925"/>
            <a:ext cx="1493100" cy="1959900"/>
            <a:chOff x="2545325" y="2193925"/>
            <a:chExt cx="1493100" cy="1959900"/>
          </a:xfrm>
        </p:grpSpPr>
        <p:cxnSp>
          <p:nvCxnSpPr>
            <p:cNvPr id="636" name="Google Shape;636;p38"/>
            <p:cNvCxnSpPr>
              <a:stCxn id="615" idx="6"/>
              <a:endCxn id="625" idx="2"/>
            </p:cNvCxnSpPr>
            <p:nvPr/>
          </p:nvCxnSpPr>
          <p:spPr>
            <a:xfrm>
              <a:off x="2545325" y="2193925"/>
              <a:ext cx="1493100" cy="155100"/>
            </a:xfrm>
            <a:prstGeom prst="straightConnector1">
              <a:avLst/>
            </a:prstGeom>
            <a:noFill/>
            <a:ln cap="flat" cmpd="sng" w="9525">
              <a:solidFill>
                <a:schemeClr val="dk2"/>
              </a:solidFill>
              <a:prstDash val="solid"/>
              <a:round/>
              <a:headEnd len="med" w="med" type="none"/>
              <a:tailEnd len="med" w="med" type="none"/>
            </a:ln>
          </p:spPr>
        </p:cxnSp>
        <p:cxnSp>
          <p:nvCxnSpPr>
            <p:cNvPr id="637" name="Google Shape;637;p38"/>
            <p:cNvCxnSpPr>
              <a:stCxn id="617" idx="6"/>
              <a:endCxn id="625" idx="2"/>
            </p:cNvCxnSpPr>
            <p:nvPr/>
          </p:nvCxnSpPr>
          <p:spPr>
            <a:xfrm flipH="1" rot="10800000">
              <a:off x="2545325" y="2348925"/>
              <a:ext cx="1493100" cy="498300"/>
            </a:xfrm>
            <a:prstGeom prst="straightConnector1">
              <a:avLst/>
            </a:prstGeom>
            <a:noFill/>
            <a:ln cap="flat" cmpd="sng" w="9525">
              <a:solidFill>
                <a:schemeClr val="dk2"/>
              </a:solidFill>
              <a:prstDash val="solid"/>
              <a:round/>
              <a:headEnd len="med" w="med" type="none"/>
              <a:tailEnd len="med" w="med" type="none"/>
            </a:ln>
          </p:spPr>
        </p:cxnSp>
        <p:cxnSp>
          <p:nvCxnSpPr>
            <p:cNvPr id="638" name="Google Shape;638;p38"/>
            <p:cNvCxnSpPr>
              <a:stCxn id="619" idx="6"/>
              <a:endCxn id="625" idx="2"/>
            </p:cNvCxnSpPr>
            <p:nvPr/>
          </p:nvCxnSpPr>
          <p:spPr>
            <a:xfrm flipH="1" rot="10800000">
              <a:off x="2545325" y="2348825"/>
              <a:ext cx="1493100" cy="1151700"/>
            </a:xfrm>
            <a:prstGeom prst="straightConnector1">
              <a:avLst/>
            </a:prstGeom>
            <a:noFill/>
            <a:ln cap="flat" cmpd="sng" w="9525">
              <a:solidFill>
                <a:schemeClr val="dk2"/>
              </a:solidFill>
              <a:prstDash val="solid"/>
              <a:round/>
              <a:headEnd len="med" w="med" type="none"/>
              <a:tailEnd len="med" w="med" type="none"/>
            </a:ln>
          </p:spPr>
        </p:cxnSp>
        <p:cxnSp>
          <p:nvCxnSpPr>
            <p:cNvPr id="639" name="Google Shape;639;p38"/>
            <p:cNvCxnSpPr>
              <a:stCxn id="621" idx="6"/>
              <a:endCxn id="625" idx="2"/>
            </p:cNvCxnSpPr>
            <p:nvPr/>
          </p:nvCxnSpPr>
          <p:spPr>
            <a:xfrm flipH="1" rot="10800000">
              <a:off x="2545325" y="2349025"/>
              <a:ext cx="1493100" cy="1804800"/>
            </a:xfrm>
            <a:prstGeom prst="straightConnector1">
              <a:avLst/>
            </a:prstGeom>
            <a:noFill/>
            <a:ln cap="flat" cmpd="sng" w="9525">
              <a:solidFill>
                <a:schemeClr val="dk2"/>
              </a:solidFill>
              <a:prstDash val="solid"/>
              <a:round/>
              <a:headEnd len="med" w="med" type="none"/>
              <a:tailEnd len="med" w="med" type="none"/>
            </a:ln>
          </p:spPr>
        </p:cxnSp>
      </p:grpSp>
      <p:grpSp>
        <p:nvGrpSpPr>
          <p:cNvPr id="640" name="Google Shape;640;p38"/>
          <p:cNvGrpSpPr/>
          <p:nvPr/>
        </p:nvGrpSpPr>
        <p:grpSpPr>
          <a:xfrm>
            <a:off x="1173725" y="2193925"/>
            <a:ext cx="1493100" cy="1959900"/>
            <a:chOff x="2545325" y="2193925"/>
            <a:chExt cx="1493100" cy="1959900"/>
          </a:xfrm>
        </p:grpSpPr>
        <p:cxnSp>
          <p:nvCxnSpPr>
            <p:cNvPr id="641" name="Google Shape;641;p38"/>
            <p:cNvCxnSpPr>
              <a:stCxn id="615" idx="6"/>
              <a:endCxn id="626" idx="2"/>
            </p:cNvCxnSpPr>
            <p:nvPr/>
          </p:nvCxnSpPr>
          <p:spPr>
            <a:xfrm>
              <a:off x="2545325" y="2193925"/>
              <a:ext cx="1493100" cy="898500"/>
            </a:xfrm>
            <a:prstGeom prst="straightConnector1">
              <a:avLst/>
            </a:prstGeom>
            <a:noFill/>
            <a:ln cap="flat" cmpd="sng" w="9525">
              <a:solidFill>
                <a:schemeClr val="dk2"/>
              </a:solidFill>
              <a:prstDash val="solid"/>
              <a:round/>
              <a:headEnd len="med" w="med" type="none"/>
              <a:tailEnd len="med" w="med" type="none"/>
            </a:ln>
          </p:spPr>
        </p:cxnSp>
        <p:cxnSp>
          <p:nvCxnSpPr>
            <p:cNvPr id="642" name="Google Shape;642;p38"/>
            <p:cNvCxnSpPr>
              <a:stCxn id="617" idx="6"/>
              <a:endCxn id="626" idx="2"/>
            </p:cNvCxnSpPr>
            <p:nvPr/>
          </p:nvCxnSpPr>
          <p:spPr>
            <a:xfrm>
              <a:off x="2545325" y="2847225"/>
              <a:ext cx="1493100" cy="245400"/>
            </a:xfrm>
            <a:prstGeom prst="straightConnector1">
              <a:avLst/>
            </a:prstGeom>
            <a:noFill/>
            <a:ln cap="flat" cmpd="sng" w="9525">
              <a:solidFill>
                <a:schemeClr val="dk2"/>
              </a:solidFill>
              <a:prstDash val="solid"/>
              <a:round/>
              <a:headEnd len="med" w="med" type="none"/>
              <a:tailEnd len="med" w="med" type="none"/>
            </a:ln>
          </p:spPr>
        </p:cxnSp>
        <p:cxnSp>
          <p:nvCxnSpPr>
            <p:cNvPr id="643" name="Google Shape;643;p38"/>
            <p:cNvCxnSpPr>
              <a:stCxn id="619" idx="6"/>
              <a:endCxn id="626" idx="2"/>
            </p:cNvCxnSpPr>
            <p:nvPr/>
          </p:nvCxnSpPr>
          <p:spPr>
            <a:xfrm flipH="1" rot="10800000">
              <a:off x="2545325" y="3092525"/>
              <a:ext cx="1493100" cy="408000"/>
            </a:xfrm>
            <a:prstGeom prst="straightConnector1">
              <a:avLst/>
            </a:prstGeom>
            <a:noFill/>
            <a:ln cap="flat" cmpd="sng" w="9525">
              <a:solidFill>
                <a:schemeClr val="dk2"/>
              </a:solidFill>
              <a:prstDash val="solid"/>
              <a:round/>
              <a:headEnd len="med" w="med" type="none"/>
              <a:tailEnd len="med" w="med" type="none"/>
            </a:ln>
          </p:spPr>
        </p:cxnSp>
        <p:cxnSp>
          <p:nvCxnSpPr>
            <p:cNvPr id="644" name="Google Shape;644;p38"/>
            <p:cNvCxnSpPr>
              <a:stCxn id="621" idx="6"/>
              <a:endCxn id="626" idx="2"/>
            </p:cNvCxnSpPr>
            <p:nvPr/>
          </p:nvCxnSpPr>
          <p:spPr>
            <a:xfrm flipH="1" rot="10800000">
              <a:off x="2545325" y="3092425"/>
              <a:ext cx="1493100" cy="1061400"/>
            </a:xfrm>
            <a:prstGeom prst="straightConnector1">
              <a:avLst/>
            </a:prstGeom>
            <a:noFill/>
            <a:ln cap="flat" cmpd="sng" w="9525">
              <a:solidFill>
                <a:schemeClr val="dk2"/>
              </a:solidFill>
              <a:prstDash val="solid"/>
              <a:round/>
              <a:headEnd len="med" w="med" type="none"/>
              <a:tailEnd len="med" w="med" type="none"/>
            </a:ln>
          </p:spPr>
        </p:cxnSp>
      </p:grpSp>
      <p:grpSp>
        <p:nvGrpSpPr>
          <p:cNvPr id="645" name="Google Shape;645;p38"/>
          <p:cNvGrpSpPr/>
          <p:nvPr/>
        </p:nvGrpSpPr>
        <p:grpSpPr>
          <a:xfrm>
            <a:off x="1173725" y="2193925"/>
            <a:ext cx="1493100" cy="1959900"/>
            <a:chOff x="2545325" y="2193925"/>
            <a:chExt cx="1493100" cy="1959900"/>
          </a:xfrm>
        </p:grpSpPr>
        <p:cxnSp>
          <p:nvCxnSpPr>
            <p:cNvPr id="646" name="Google Shape;646;p38"/>
            <p:cNvCxnSpPr>
              <a:stCxn id="615" idx="6"/>
              <a:endCxn id="627" idx="2"/>
            </p:cNvCxnSpPr>
            <p:nvPr/>
          </p:nvCxnSpPr>
          <p:spPr>
            <a:xfrm>
              <a:off x="2545325" y="2193925"/>
              <a:ext cx="1493100" cy="1692600"/>
            </a:xfrm>
            <a:prstGeom prst="straightConnector1">
              <a:avLst/>
            </a:prstGeom>
            <a:noFill/>
            <a:ln cap="flat" cmpd="sng" w="9525">
              <a:solidFill>
                <a:schemeClr val="dk2"/>
              </a:solidFill>
              <a:prstDash val="solid"/>
              <a:round/>
              <a:headEnd len="med" w="med" type="none"/>
              <a:tailEnd len="med" w="med" type="none"/>
            </a:ln>
          </p:spPr>
        </p:cxnSp>
        <p:cxnSp>
          <p:nvCxnSpPr>
            <p:cNvPr id="647" name="Google Shape;647;p38"/>
            <p:cNvCxnSpPr>
              <a:stCxn id="617" idx="6"/>
              <a:endCxn id="627" idx="2"/>
            </p:cNvCxnSpPr>
            <p:nvPr/>
          </p:nvCxnSpPr>
          <p:spPr>
            <a:xfrm>
              <a:off x="2545325" y="2847225"/>
              <a:ext cx="1493100" cy="1039500"/>
            </a:xfrm>
            <a:prstGeom prst="straightConnector1">
              <a:avLst/>
            </a:prstGeom>
            <a:noFill/>
            <a:ln cap="flat" cmpd="sng" w="9525">
              <a:solidFill>
                <a:schemeClr val="dk2"/>
              </a:solidFill>
              <a:prstDash val="solid"/>
              <a:round/>
              <a:headEnd len="med" w="med" type="none"/>
              <a:tailEnd len="med" w="med" type="none"/>
            </a:ln>
          </p:spPr>
        </p:cxnSp>
        <p:cxnSp>
          <p:nvCxnSpPr>
            <p:cNvPr id="648" name="Google Shape;648;p38"/>
            <p:cNvCxnSpPr>
              <a:stCxn id="619" idx="6"/>
              <a:endCxn id="627" idx="2"/>
            </p:cNvCxnSpPr>
            <p:nvPr/>
          </p:nvCxnSpPr>
          <p:spPr>
            <a:xfrm>
              <a:off x="2545325" y="3500525"/>
              <a:ext cx="1493100" cy="386100"/>
            </a:xfrm>
            <a:prstGeom prst="straightConnector1">
              <a:avLst/>
            </a:prstGeom>
            <a:noFill/>
            <a:ln cap="flat" cmpd="sng" w="9525">
              <a:solidFill>
                <a:schemeClr val="dk2"/>
              </a:solidFill>
              <a:prstDash val="solid"/>
              <a:round/>
              <a:headEnd len="med" w="med" type="none"/>
              <a:tailEnd len="med" w="med" type="none"/>
            </a:ln>
          </p:spPr>
        </p:cxnSp>
        <p:cxnSp>
          <p:nvCxnSpPr>
            <p:cNvPr id="649" name="Google Shape;649;p38"/>
            <p:cNvCxnSpPr>
              <a:stCxn id="621" idx="6"/>
              <a:endCxn id="627" idx="2"/>
            </p:cNvCxnSpPr>
            <p:nvPr/>
          </p:nvCxnSpPr>
          <p:spPr>
            <a:xfrm flipH="1" rot="10800000">
              <a:off x="2545325" y="3886525"/>
              <a:ext cx="1493100" cy="267300"/>
            </a:xfrm>
            <a:prstGeom prst="straightConnector1">
              <a:avLst/>
            </a:prstGeom>
            <a:noFill/>
            <a:ln cap="flat" cmpd="sng" w="9525">
              <a:solidFill>
                <a:schemeClr val="dk2"/>
              </a:solidFill>
              <a:prstDash val="solid"/>
              <a:round/>
              <a:headEnd len="med" w="med" type="none"/>
              <a:tailEnd len="med" w="med" type="none"/>
            </a:ln>
          </p:spPr>
        </p:cxnSp>
      </p:grpSp>
      <p:grpSp>
        <p:nvGrpSpPr>
          <p:cNvPr id="650" name="Google Shape;650;p38"/>
          <p:cNvGrpSpPr/>
          <p:nvPr/>
        </p:nvGrpSpPr>
        <p:grpSpPr>
          <a:xfrm>
            <a:off x="1977050" y="2348875"/>
            <a:ext cx="689700" cy="2217600"/>
            <a:chOff x="3348650" y="2348875"/>
            <a:chExt cx="689700" cy="2217600"/>
          </a:xfrm>
        </p:grpSpPr>
        <p:cxnSp>
          <p:nvCxnSpPr>
            <p:cNvPr id="651" name="Google Shape;651;p38"/>
            <p:cNvCxnSpPr>
              <a:stCxn id="622" idx="0"/>
              <a:endCxn id="627" idx="2"/>
            </p:cNvCxnSpPr>
            <p:nvPr/>
          </p:nvCxnSpPr>
          <p:spPr>
            <a:xfrm flipH="1" rot="10800000">
              <a:off x="3348650" y="3886675"/>
              <a:ext cx="689700" cy="679800"/>
            </a:xfrm>
            <a:prstGeom prst="straightConnector1">
              <a:avLst/>
            </a:prstGeom>
            <a:noFill/>
            <a:ln cap="flat" cmpd="sng" w="9525">
              <a:solidFill>
                <a:schemeClr val="dk2"/>
              </a:solidFill>
              <a:prstDash val="solid"/>
              <a:round/>
              <a:headEnd len="med" w="med" type="none"/>
              <a:tailEnd len="med" w="med" type="none"/>
            </a:ln>
          </p:spPr>
        </p:cxnSp>
        <p:cxnSp>
          <p:nvCxnSpPr>
            <p:cNvPr id="652" name="Google Shape;652;p38"/>
            <p:cNvCxnSpPr>
              <a:stCxn id="626" idx="2"/>
              <a:endCxn id="622" idx="0"/>
            </p:cNvCxnSpPr>
            <p:nvPr/>
          </p:nvCxnSpPr>
          <p:spPr>
            <a:xfrm flipH="1">
              <a:off x="3348650" y="3092500"/>
              <a:ext cx="689700" cy="1473900"/>
            </a:xfrm>
            <a:prstGeom prst="straightConnector1">
              <a:avLst/>
            </a:prstGeom>
            <a:noFill/>
            <a:ln cap="flat" cmpd="sng" w="9525">
              <a:solidFill>
                <a:schemeClr val="dk2"/>
              </a:solidFill>
              <a:prstDash val="solid"/>
              <a:round/>
              <a:headEnd len="med" w="med" type="none"/>
              <a:tailEnd len="med" w="med" type="none"/>
            </a:ln>
          </p:spPr>
        </p:cxnSp>
        <p:cxnSp>
          <p:nvCxnSpPr>
            <p:cNvPr id="653" name="Google Shape;653;p38"/>
            <p:cNvCxnSpPr>
              <a:stCxn id="625" idx="2"/>
              <a:endCxn id="622" idx="0"/>
            </p:cNvCxnSpPr>
            <p:nvPr/>
          </p:nvCxnSpPr>
          <p:spPr>
            <a:xfrm flipH="1">
              <a:off x="3348650" y="2348875"/>
              <a:ext cx="689700" cy="2217600"/>
            </a:xfrm>
            <a:prstGeom prst="straightConnector1">
              <a:avLst/>
            </a:prstGeom>
            <a:noFill/>
            <a:ln cap="flat" cmpd="sng" w="9525">
              <a:solidFill>
                <a:schemeClr val="dk2"/>
              </a:solidFill>
              <a:prstDash val="solid"/>
              <a:round/>
              <a:headEnd len="med" w="med" type="none"/>
              <a:tailEnd len="med" w="med" type="none"/>
            </a:ln>
          </p:spPr>
        </p:cxnSp>
      </p:grpSp>
      <p:grpSp>
        <p:nvGrpSpPr>
          <p:cNvPr id="654" name="Google Shape;654;p38"/>
          <p:cNvGrpSpPr/>
          <p:nvPr/>
        </p:nvGrpSpPr>
        <p:grpSpPr>
          <a:xfrm>
            <a:off x="3151571" y="2348875"/>
            <a:ext cx="403809" cy="1537900"/>
            <a:chOff x="4517225" y="2348875"/>
            <a:chExt cx="408300" cy="1537900"/>
          </a:xfrm>
        </p:grpSpPr>
        <p:cxnSp>
          <p:nvCxnSpPr>
            <p:cNvPr id="655" name="Google Shape;655;p38"/>
            <p:cNvCxnSpPr/>
            <p:nvPr/>
          </p:nvCxnSpPr>
          <p:spPr>
            <a:xfrm>
              <a:off x="4517225" y="2348875"/>
              <a:ext cx="408300" cy="0"/>
            </a:xfrm>
            <a:prstGeom prst="straightConnector1">
              <a:avLst/>
            </a:prstGeom>
            <a:noFill/>
            <a:ln cap="flat" cmpd="sng" w="9525">
              <a:solidFill>
                <a:schemeClr val="dk2"/>
              </a:solidFill>
              <a:prstDash val="solid"/>
              <a:round/>
              <a:headEnd len="med" w="med" type="none"/>
              <a:tailEnd len="med" w="med" type="none"/>
            </a:ln>
          </p:spPr>
        </p:cxnSp>
        <p:cxnSp>
          <p:nvCxnSpPr>
            <p:cNvPr id="656" name="Google Shape;656;p38"/>
            <p:cNvCxnSpPr/>
            <p:nvPr/>
          </p:nvCxnSpPr>
          <p:spPr>
            <a:xfrm>
              <a:off x="4517225" y="3092500"/>
              <a:ext cx="408300" cy="0"/>
            </a:xfrm>
            <a:prstGeom prst="straightConnector1">
              <a:avLst/>
            </a:prstGeom>
            <a:noFill/>
            <a:ln cap="flat" cmpd="sng" w="9525">
              <a:solidFill>
                <a:schemeClr val="dk2"/>
              </a:solidFill>
              <a:prstDash val="solid"/>
              <a:round/>
              <a:headEnd len="med" w="med" type="none"/>
              <a:tailEnd len="med" w="med" type="none"/>
            </a:ln>
          </p:spPr>
        </p:cxnSp>
        <p:cxnSp>
          <p:nvCxnSpPr>
            <p:cNvPr id="657" name="Google Shape;657;p38"/>
            <p:cNvCxnSpPr/>
            <p:nvPr/>
          </p:nvCxnSpPr>
          <p:spPr>
            <a:xfrm flipH="1" rot="10800000">
              <a:off x="4517225" y="3876275"/>
              <a:ext cx="408300" cy="10500"/>
            </a:xfrm>
            <a:prstGeom prst="straightConnector1">
              <a:avLst/>
            </a:prstGeom>
            <a:noFill/>
            <a:ln cap="flat" cmpd="sng" w="9525">
              <a:solidFill>
                <a:schemeClr val="dk2"/>
              </a:solidFill>
              <a:prstDash val="solid"/>
              <a:round/>
              <a:headEnd len="med" w="med" type="none"/>
              <a:tailEnd len="med" w="med" type="none"/>
            </a:ln>
          </p:spPr>
        </p:cxnSp>
      </p:grpSp>
      <p:grpSp>
        <p:nvGrpSpPr>
          <p:cNvPr id="658" name="Google Shape;658;p38"/>
          <p:cNvGrpSpPr/>
          <p:nvPr/>
        </p:nvGrpSpPr>
        <p:grpSpPr>
          <a:xfrm>
            <a:off x="6666088" y="3038277"/>
            <a:ext cx="500481" cy="1929998"/>
            <a:chOff x="7343550" y="3166427"/>
            <a:chExt cx="500481" cy="1929998"/>
          </a:xfrm>
        </p:grpSpPr>
        <p:sp>
          <p:nvSpPr>
            <p:cNvPr id="659" name="Google Shape;659;p38"/>
            <p:cNvSpPr/>
            <p:nvPr/>
          </p:nvSpPr>
          <p:spPr>
            <a:xfrm>
              <a:off x="7343550" y="4634125"/>
              <a:ext cx="478800" cy="46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60" name="Google Shape;660;p38"/>
            <p:cNvCxnSpPr>
              <a:stCxn id="659" idx="7"/>
              <a:endCxn id="633" idx="2"/>
            </p:cNvCxnSpPr>
            <p:nvPr/>
          </p:nvCxnSpPr>
          <p:spPr>
            <a:xfrm flipH="1" rot="10800000">
              <a:off x="7752231" y="3166427"/>
              <a:ext cx="91800" cy="1535400"/>
            </a:xfrm>
            <a:prstGeom prst="straightConnector1">
              <a:avLst/>
            </a:prstGeom>
            <a:noFill/>
            <a:ln cap="flat" cmpd="sng" w="9525">
              <a:solidFill>
                <a:schemeClr val="dk2"/>
              </a:solidFill>
              <a:prstDash val="solid"/>
              <a:round/>
              <a:headEnd len="med" w="med" type="none"/>
              <a:tailEnd len="med" w="med" type="none"/>
            </a:ln>
          </p:spPr>
        </p:cxnSp>
      </p:grpSp>
      <p:grpSp>
        <p:nvGrpSpPr>
          <p:cNvPr id="661" name="Google Shape;661;p38"/>
          <p:cNvGrpSpPr/>
          <p:nvPr/>
        </p:nvGrpSpPr>
        <p:grpSpPr>
          <a:xfrm>
            <a:off x="4587575" y="1411700"/>
            <a:ext cx="2192400" cy="3031800"/>
            <a:chOff x="3468775" y="1446913"/>
            <a:chExt cx="2192400" cy="3031800"/>
          </a:xfrm>
        </p:grpSpPr>
        <p:sp>
          <p:nvSpPr>
            <p:cNvPr id="662" name="Google Shape;662;p38"/>
            <p:cNvSpPr txBox="1"/>
            <p:nvPr/>
          </p:nvSpPr>
          <p:spPr>
            <a:xfrm>
              <a:off x="3468775" y="1446913"/>
              <a:ext cx="21924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hidden layer 2</a:t>
              </a:r>
              <a:endParaRPr b="1">
                <a:solidFill>
                  <a:schemeClr val="dk1"/>
                </a:solidFill>
              </a:endParaRPr>
            </a:p>
          </p:txBody>
        </p:sp>
        <p:sp>
          <p:nvSpPr>
            <p:cNvPr id="663" name="Google Shape;663;p38"/>
            <p:cNvSpPr/>
            <p:nvPr/>
          </p:nvSpPr>
          <p:spPr>
            <a:xfrm>
              <a:off x="3962150" y="2404150"/>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664" name="Google Shape;664;p38"/>
            <p:cNvSpPr/>
            <p:nvPr/>
          </p:nvSpPr>
          <p:spPr>
            <a:xfrm>
              <a:off x="3962150" y="32744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665" name="Google Shape;665;p38"/>
            <p:cNvSpPr/>
            <p:nvPr/>
          </p:nvSpPr>
          <p:spPr>
            <a:xfrm>
              <a:off x="4849325" y="2404150"/>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sp>
          <p:nvSpPr>
            <p:cNvPr id="666" name="Google Shape;666;p38"/>
            <p:cNvSpPr/>
            <p:nvPr/>
          </p:nvSpPr>
          <p:spPr>
            <a:xfrm>
              <a:off x="4849325" y="3264125"/>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grpSp>
      <p:grpSp>
        <p:nvGrpSpPr>
          <p:cNvPr id="667" name="Google Shape;667;p38"/>
          <p:cNvGrpSpPr/>
          <p:nvPr/>
        </p:nvGrpSpPr>
        <p:grpSpPr>
          <a:xfrm>
            <a:off x="5559750" y="2600088"/>
            <a:ext cx="408300" cy="870325"/>
            <a:chOff x="4288550" y="2635300"/>
            <a:chExt cx="408300" cy="870325"/>
          </a:xfrm>
        </p:grpSpPr>
        <p:cxnSp>
          <p:nvCxnSpPr>
            <p:cNvPr id="668" name="Google Shape;668;p38"/>
            <p:cNvCxnSpPr>
              <a:stCxn id="663" idx="6"/>
              <a:endCxn id="665" idx="2"/>
            </p:cNvCxnSpPr>
            <p:nvPr/>
          </p:nvCxnSpPr>
          <p:spPr>
            <a:xfrm>
              <a:off x="4288550" y="2635300"/>
              <a:ext cx="408300" cy="0"/>
            </a:xfrm>
            <a:prstGeom prst="straightConnector1">
              <a:avLst/>
            </a:prstGeom>
            <a:noFill/>
            <a:ln cap="flat" cmpd="sng" w="9525">
              <a:solidFill>
                <a:schemeClr val="dk2"/>
              </a:solidFill>
              <a:prstDash val="solid"/>
              <a:round/>
              <a:headEnd len="med" w="med" type="none"/>
              <a:tailEnd len="med" w="med" type="none"/>
            </a:ln>
          </p:spPr>
        </p:cxnSp>
        <p:cxnSp>
          <p:nvCxnSpPr>
            <p:cNvPr id="669" name="Google Shape;669;p38"/>
            <p:cNvCxnSpPr>
              <a:stCxn id="664" idx="6"/>
              <a:endCxn id="666" idx="2"/>
            </p:cNvCxnSpPr>
            <p:nvPr/>
          </p:nvCxnSpPr>
          <p:spPr>
            <a:xfrm flipH="1" rot="10800000">
              <a:off x="4288550" y="3495125"/>
              <a:ext cx="408300" cy="10500"/>
            </a:xfrm>
            <a:prstGeom prst="straightConnector1">
              <a:avLst/>
            </a:prstGeom>
            <a:noFill/>
            <a:ln cap="flat" cmpd="sng" w="9525">
              <a:solidFill>
                <a:schemeClr val="dk2"/>
              </a:solidFill>
              <a:prstDash val="solid"/>
              <a:round/>
              <a:headEnd len="med" w="med" type="none"/>
              <a:tailEnd len="med" w="med" type="none"/>
            </a:ln>
          </p:spPr>
        </p:cxnSp>
      </p:grpSp>
      <p:cxnSp>
        <p:nvCxnSpPr>
          <p:cNvPr id="670" name="Google Shape;670;p38"/>
          <p:cNvCxnSpPr>
            <a:stCxn id="628" idx="6"/>
            <a:endCxn id="663" idx="2"/>
          </p:cNvCxnSpPr>
          <p:nvPr/>
        </p:nvCxnSpPr>
        <p:spPr>
          <a:xfrm>
            <a:off x="4032725" y="2348875"/>
            <a:ext cx="1048200" cy="251100"/>
          </a:xfrm>
          <a:prstGeom prst="straightConnector1">
            <a:avLst/>
          </a:prstGeom>
          <a:noFill/>
          <a:ln cap="flat" cmpd="sng" w="9525">
            <a:solidFill>
              <a:schemeClr val="dk2"/>
            </a:solidFill>
            <a:prstDash val="solid"/>
            <a:round/>
            <a:headEnd len="med" w="med" type="none"/>
            <a:tailEnd len="med" w="med" type="none"/>
          </a:ln>
        </p:spPr>
      </p:cxnSp>
      <p:cxnSp>
        <p:nvCxnSpPr>
          <p:cNvPr id="671" name="Google Shape;671;p38"/>
          <p:cNvCxnSpPr>
            <a:stCxn id="629" idx="6"/>
            <a:endCxn id="663" idx="2"/>
          </p:cNvCxnSpPr>
          <p:nvPr/>
        </p:nvCxnSpPr>
        <p:spPr>
          <a:xfrm flipH="1" rot="10800000">
            <a:off x="4032725" y="2600200"/>
            <a:ext cx="1048200" cy="492300"/>
          </a:xfrm>
          <a:prstGeom prst="straightConnector1">
            <a:avLst/>
          </a:prstGeom>
          <a:noFill/>
          <a:ln cap="flat" cmpd="sng" w="9525">
            <a:solidFill>
              <a:schemeClr val="dk2"/>
            </a:solidFill>
            <a:prstDash val="solid"/>
            <a:round/>
            <a:headEnd len="med" w="med" type="none"/>
            <a:tailEnd len="med" w="med" type="none"/>
          </a:ln>
        </p:spPr>
      </p:cxnSp>
      <p:cxnSp>
        <p:nvCxnSpPr>
          <p:cNvPr id="672" name="Google Shape;672;p38"/>
          <p:cNvCxnSpPr>
            <a:stCxn id="630" idx="6"/>
            <a:endCxn id="663" idx="2"/>
          </p:cNvCxnSpPr>
          <p:nvPr/>
        </p:nvCxnSpPr>
        <p:spPr>
          <a:xfrm flipH="1" rot="10800000">
            <a:off x="4032725" y="2600075"/>
            <a:ext cx="1048200" cy="1276200"/>
          </a:xfrm>
          <a:prstGeom prst="straightConnector1">
            <a:avLst/>
          </a:prstGeom>
          <a:noFill/>
          <a:ln cap="flat" cmpd="sng" w="9525">
            <a:solidFill>
              <a:schemeClr val="dk2"/>
            </a:solidFill>
            <a:prstDash val="solid"/>
            <a:round/>
            <a:headEnd len="med" w="med" type="none"/>
            <a:tailEnd len="med" w="med" type="none"/>
          </a:ln>
        </p:spPr>
      </p:cxnSp>
      <p:cxnSp>
        <p:nvCxnSpPr>
          <p:cNvPr id="673" name="Google Shape;673;p38"/>
          <p:cNvCxnSpPr>
            <a:stCxn id="628" idx="6"/>
            <a:endCxn id="664" idx="2"/>
          </p:cNvCxnSpPr>
          <p:nvPr/>
        </p:nvCxnSpPr>
        <p:spPr>
          <a:xfrm>
            <a:off x="4032725" y="2348875"/>
            <a:ext cx="1048200" cy="1121400"/>
          </a:xfrm>
          <a:prstGeom prst="straightConnector1">
            <a:avLst/>
          </a:prstGeom>
          <a:noFill/>
          <a:ln cap="flat" cmpd="sng" w="9525">
            <a:solidFill>
              <a:schemeClr val="dk2"/>
            </a:solidFill>
            <a:prstDash val="solid"/>
            <a:round/>
            <a:headEnd len="med" w="med" type="none"/>
            <a:tailEnd len="med" w="med" type="none"/>
          </a:ln>
        </p:spPr>
      </p:cxnSp>
      <p:cxnSp>
        <p:nvCxnSpPr>
          <p:cNvPr id="674" name="Google Shape;674;p38"/>
          <p:cNvCxnSpPr>
            <a:stCxn id="629" idx="6"/>
            <a:endCxn id="664" idx="2"/>
          </p:cNvCxnSpPr>
          <p:nvPr/>
        </p:nvCxnSpPr>
        <p:spPr>
          <a:xfrm>
            <a:off x="4032725" y="3092500"/>
            <a:ext cx="1048200" cy="378000"/>
          </a:xfrm>
          <a:prstGeom prst="straightConnector1">
            <a:avLst/>
          </a:prstGeom>
          <a:noFill/>
          <a:ln cap="flat" cmpd="sng" w="9525">
            <a:solidFill>
              <a:schemeClr val="dk2"/>
            </a:solidFill>
            <a:prstDash val="solid"/>
            <a:round/>
            <a:headEnd len="med" w="med" type="none"/>
            <a:tailEnd len="med" w="med" type="none"/>
          </a:ln>
        </p:spPr>
      </p:cxnSp>
      <p:cxnSp>
        <p:nvCxnSpPr>
          <p:cNvPr id="675" name="Google Shape;675;p38"/>
          <p:cNvCxnSpPr>
            <a:stCxn id="630" idx="6"/>
            <a:endCxn id="664" idx="2"/>
          </p:cNvCxnSpPr>
          <p:nvPr/>
        </p:nvCxnSpPr>
        <p:spPr>
          <a:xfrm flipH="1" rot="10800000">
            <a:off x="4032725" y="3470375"/>
            <a:ext cx="1048200" cy="405900"/>
          </a:xfrm>
          <a:prstGeom prst="straightConnector1">
            <a:avLst/>
          </a:prstGeom>
          <a:noFill/>
          <a:ln cap="flat" cmpd="sng" w="9525">
            <a:solidFill>
              <a:schemeClr val="dk2"/>
            </a:solidFill>
            <a:prstDash val="solid"/>
            <a:round/>
            <a:headEnd len="med" w="med" type="none"/>
            <a:tailEnd len="med" w="med" type="none"/>
          </a:ln>
        </p:spPr>
      </p:cxnSp>
      <p:cxnSp>
        <p:nvCxnSpPr>
          <p:cNvPr id="676" name="Google Shape;676;p38"/>
          <p:cNvCxnSpPr>
            <a:stCxn id="665" idx="6"/>
            <a:endCxn id="633" idx="2"/>
          </p:cNvCxnSpPr>
          <p:nvPr/>
        </p:nvCxnSpPr>
        <p:spPr>
          <a:xfrm>
            <a:off x="6446925" y="2600088"/>
            <a:ext cx="719700" cy="438000"/>
          </a:xfrm>
          <a:prstGeom prst="straightConnector1">
            <a:avLst/>
          </a:prstGeom>
          <a:noFill/>
          <a:ln cap="flat" cmpd="sng" w="9525">
            <a:solidFill>
              <a:schemeClr val="dk2"/>
            </a:solidFill>
            <a:prstDash val="solid"/>
            <a:round/>
            <a:headEnd len="med" w="med" type="none"/>
            <a:tailEnd len="med" w="med" type="none"/>
          </a:ln>
        </p:spPr>
      </p:cxnSp>
      <p:cxnSp>
        <p:nvCxnSpPr>
          <p:cNvPr id="677" name="Google Shape;677;p38"/>
          <p:cNvCxnSpPr>
            <a:stCxn id="666" idx="6"/>
            <a:endCxn id="633" idx="2"/>
          </p:cNvCxnSpPr>
          <p:nvPr/>
        </p:nvCxnSpPr>
        <p:spPr>
          <a:xfrm flipH="1" rot="10800000">
            <a:off x="6446925" y="3038263"/>
            <a:ext cx="719700" cy="421800"/>
          </a:xfrm>
          <a:prstGeom prst="straightConnector1">
            <a:avLst/>
          </a:prstGeom>
          <a:noFill/>
          <a:ln cap="flat" cmpd="sng" w="9525">
            <a:solidFill>
              <a:schemeClr val="dk2"/>
            </a:solidFill>
            <a:prstDash val="solid"/>
            <a:round/>
            <a:headEnd len="med" w="med" type="none"/>
            <a:tailEnd len="med" w="med" type="none"/>
          </a:ln>
        </p:spPr>
      </p:cxnSp>
      <p:grpSp>
        <p:nvGrpSpPr>
          <p:cNvPr id="678" name="Google Shape;678;p38"/>
          <p:cNvGrpSpPr/>
          <p:nvPr/>
        </p:nvGrpSpPr>
        <p:grpSpPr>
          <a:xfrm>
            <a:off x="4160714" y="3470511"/>
            <a:ext cx="920247" cy="1518763"/>
            <a:chOff x="7233911" y="3088393"/>
            <a:chExt cx="1114776" cy="1922485"/>
          </a:xfrm>
        </p:grpSpPr>
        <p:sp>
          <p:nvSpPr>
            <p:cNvPr id="679" name="Google Shape;679;p38"/>
            <p:cNvSpPr/>
            <p:nvPr/>
          </p:nvSpPr>
          <p:spPr>
            <a:xfrm>
              <a:off x="7233911" y="4425577"/>
              <a:ext cx="579900" cy="585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80" name="Google Shape;680;p38"/>
            <p:cNvCxnSpPr>
              <a:stCxn id="679" idx="7"/>
              <a:endCxn id="664" idx="2"/>
            </p:cNvCxnSpPr>
            <p:nvPr/>
          </p:nvCxnSpPr>
          <p:spPr>
            <a:xfrm flipH="1" rot="10800000">
              <a:off x="7728887" y="3088393"/>
              <a:ext cx="619800" cy="1422900"/>
            </a:xfrm>
            <a:prstGeom prst="straightConnector1">
              <a:avLst/>
            </a:prstGeom>
            <a:noFill/>
            <a:ln cap="flat" cmpd="sng" w="9525">
              <a:solidFill>
                <a:schemeClr val="dk2"/>
              </a:solidFill>
              <a:prstDash val="solid"/>
              <a:round/>
              <a:headEnd len="med" w="med" type="none"/>
              <a:tailEnd len="med" w="med" type="none"/>
            </a:ln>
          </p:spPr>
        </p:cxnSp>
      </p:grpSp>
      <p:cxnSp>
        <p:nvCxnSpPr>
          <p:cNvPr id="681" name="Google Shape;681;p38"/>
          <p:cNvCxnSpPr>
            <a:stCxn id="679" idx="7"/>
            <a:endCxn id="663" idx="2"/>
          </p:cNvCxnSpPr>
          <p:nvPr/>
        </p:nvCxnSpPr>
        <p:spPr>
          <a:xfrm flipH="1" rot="10800000">
            <a:off x="4569316" y="2600202"/>
            <a:ext cx="511500" cy="1994400"/>
          </a:xfrm>
          <a:prstGeom prst="straightConnector1">
            <a:avLst/>
          </a:prstGeom>
          <a:noFill/>
          <a:ln cap="flat" cmpd="sng" w="9525">
            <a:solidFill>
              <a:schemeClr val="dk2"/>
            </a:solidFill>
            <a:prstDash val="solid"/>
            <a:round/>
            <a:headEnd len="med" w="med" type="none"/>
            <a:tailEnd len="med" w="med" type="none"/>
          </a:ln>
        </p:spPr>
      </p:cxnSp>
      <p:cxnSp>
        <p:nvCxnSpPr>
          <p:cNvPr id="682" name="Google Shape;682;p38"/>
          <p:cNvCxnSpPr>
            <a:endCxn id="634" idx="2"/>
          </p:cNvCxnSpPr>
          <p:nvPr/>
        </p:nvCxnSpPr>
        <p:spPr>
          <a:xfrm flipH="1" rot="10800000">
            <a:off x="7645250" y="3035274"/>
            <a:ext cx="684000" cy="3000"/>
          </a:xfrm>
          <a:prstGeom prst="straightConnector1">
            <a:avLst/>
          </a:prstGeom>
          <a:noFill/>
          <a:ln cap="flat" cmpd="sng" w="9525">
            <a:solidFill>
              <a:schemeClr val="dk2"/>
            </a:solidFill>
            <a:prstDash val="solid"/>
            <a:round/>
            <a:headEnd len="med" w="med" type="none"/>
            <a:tailEnd len="med" w="med" type="none"/>
          </a:ln>
        </p:spPr>
      </p:cxnSp>
      <p:grpSp>
        <p:nvGrpSpPr>
          <p:cNvPr id="683" name="Google Shape;683;p38"/>
          <p:cNvGrpSpPr/>
          <p:nvPr/>
        </p:nvGrpSpPr>
        <p:grpSpPr>
          <a:xfrm>
            <a:off x="2590550" y="4566475"/>
            <a:ext cx="3080975" cy="400200"/>
            <a:chOff x="2590550" y="4490275"/>
            <a:chExt cx="3080975" cy="400200"/>
          </a:xfrm>
        </p:grpSpPr>
        <p:sp>
          <p:nvSpPr>
            <p:cNvPr id="684" name="Google Shape;684;p38"/>
            <p:cNvSpPr txBox="1"/>
            <p:nvPr/>
          </p:nvSpPr>
          <p:spPr>
            <a:xfrm>
              <a:off x="2590550" y="4490275"/>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2"/>
                  </a:solidFill>
                </a:rPr>
                <a:t>Z</a:t>
              </a:r>
              <a:r>
                <a:rPr lang="en">
                  <a:solidFill>
                    <a:schemeClr val="dk2"/>
                  </a:solidFill>
                </a:rPr>
                <a:t> </a:t>
              </a:r>
              <a:r>
                <a:rPr baseline="30000" lang="en">
                  <a:solidFill>
                    <a:schemeClr val="dk2"/>
                  </a:solidFill>
                </a:rPr>
                <a:t>(1)</a:t>
              </a:r>
              <a:endParaRPr/>
            </a:p>
          </p:txBody>
        </p:sp>
        <p:sp>
          <p:nvSpPr>
            <p:cNvPr id="685" name="Google Shape;685;p38"/>
            <p:cNvSpPr txBox="1"/>
            <p:nvPr/>
          </p:nvSpPr>
          <p:spPr>
            <a:xfrm>
              <a:off x="5080825" y="4490275"/>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2"/>
                  </a:solidFill>
                </a:rPr>
                <a:t>Z</a:t>
              </a:r>
              <a:r>
                <a:rPr lang="en">
                  <a:solidFill>
                    <a:schemeClr val="dk2"/>
                  </a:solidFill>
                </a:rPr>
                <a:t> </a:t>
              </a:r>
              <a:r>
                <a:rPr baseline="30000" lang="en">
                  <a:solidFill>
                    <a:schemeClr val="dk2"/>
                  </a:solidFill>
                </a:rPr>
                <a:t>(2)</a:t>
              </a:r>
              <a:endParaRPr/>
            </a:p>
          </p:txBody>
        </p:sp>
      </p:grpSp>
      <p:grpSp>
        <p:nvGrpSpPr>
          <p:cNvPr id="686" name="Google Shape;686;p38"/>
          <p:cNvGrpSpPr/>
          <p:nvPr/>
        </p:nvGrpSpPr>
        <p:grpSpPr>
          <a:xfrm>
            <a:off x="3495550" y="4554900"/>
            <a:ext cx="3063200" cy="411775"/>
            <a:chOff x="3495550" y="4478700"/>
            <a:chExt cx="3063200" cy="411775"/>
          </a:xfrm>
        </p:grpSpPr>
        <p:sp>
          <p:nvSpPr>
            <p:cNvPr id="687" name="Google Shape;687;p38"/>
            <p:cNvSpPr txBox="1"/>
            <p:nvPr/>
          </p:nvSpPr>
          <p:spPr>
            <a:xfrm>
              <a:off x="3495550" y="4490275"/>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2"/>
                  </a:solidFill>
                </a:rPr>
                <a:t>h</a:t>
              </a:r>
              <a:r>
                <a:rPr lang="en">
                  <a:solidFill>
                    <a:schemeClr val="dk2"/>
                  </a:solidFill>
                </a:rPr>
                <a:t> </a:t>
              </a:r>
              <a:r>
                <a:rPr baseline="30000" lang="en">
                  <a:solidFill>
                    <a:schemeClr val="dk2"/>
                  </a:solidFill>
                </a:rPr>
                <a:t>(1)</a:t>
              </a:r>
              <a:endParaRPr/>
            </a:p>
          </p:txBody>
        </p:sp>
        <p:sp>
          <p:nvSpPr>
            <p:cNvPr id="688" name="Google Shape;688;p38"/>
            <p:cNvSpPr txBox="1"/>
            <p:nvPr/>
          </p:nvSpPr>
          <p:spPr>
            <a:xfrm>
              <a:off x="5968050" y="4478700"/>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2"/>
                  </a:solidFill>
                </a:rPr>
                <a:t>h</a:t>
              </a:r>
              <a:r>
                <a:rPr lang="en">
                  <a:solidFill>
                    <a:schemeClr val="dk2"/>
                  </a:solidFill>
                </a:rPr>
                <a:t> </a:t>
              </a:r>
              <a:r>
                <a:rPr baseline="30000" lang="en">
                  <a:solidFill>
                    <a:schemeClr val="dk2"/>
                  </a:solidFill>
                </a:rPr>
                <a:t>(2)</a:t>
              </a:r>
              <a:endParaRPr/>
            </a:p>
          </p:txBody>
        </p:sp>
      </p:grpSp>
      <p:sp>
        <p:nvSpPr>
          <p:cNvPr id="689" name="Google Shape;689;p38"/>
          <p:cNvSpPr txBox="1"/>
          <p:nvPr/>
        </p:nvSpPr>
        <p:spPr>
          <a:xfrm>
            <a:off x="7433700" y="4554900"/>
            <a:ext cx="1419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prediction </a:t>
            </a:r>
            <a:r>
              <a:rPr b="1" lang="en">
                <a:solidFill>
                  <a:srgbClr val="949AF8"/>
                </a:solidFill>
              </a:rPr>
              <a:t>ŷ</a:t>
            </a:r>
            <a:endParaRPr/>
          </a:p>
        </p:txBody>
      </p:sp>
      <p:grpSp>
        <p:nvGrpSpPr>
          <p:cNvPr id="690" name="Google Shape;690;p38"/>
          <p:cNvGrpSpPr/>
          <p:nvPr/>
        </p:nvGrpSpPr>
        <p:grpSpPr>
          <a:xfrm>
            <a:off x="4770525" y="277600"/>
            <a:ext cx="1820025" cy="1046700"/>
            <a:chOff x="6370725" y="201400"/>
            <a:chExt cx="1820025" cy="1046700"/>
          </a:xfrm>
        </p:grpSpPr>
        <p:grpSp>
          <p:nvGrpSpPr>
            <p:cNvPr id="691" name="Google Shape;691;p38"/>
            <p:cNvGrpSpPr/>
            <p:nvPr/>
          </p:nvGrpSpPr>
          <p:grpSpPr>
            <a:xfrm>
              <a:off x="7142550" y="201400"/>
              <a:ext cx="1048200" cy="1046700"/>
              <a:chOff x="8339300" y="3258400"/>
              <a:chExt cx="1048200" cy="1046700"/>
            </a:xfrm>
          </p:grpSpPr>
          <p:sp>
            <p:nvSpPr>
              <p:cNvPr id="692" name="Google Shape;692;p38"/>
              <p:cNvSpPr txBox="1"/>
              <p:nvPr/>
            </p:nvSpPr>
            <p:spPr>
              <a:xfrm>
                <a:off x="8339300" y="3258400"/>
                <a:ext cx="10482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2"/>
                    </a:solidFill>
                  </a:rPr>
                  <a:t>ɸ</a:t>
                </a:r>
                <a:r>
                  <a:rPr lang="en">
                    <a:solidFill>
                      <a:schemeClr val="dk2"/>
                    </a:solidFill>
                  </a:rPr>
                  <a:t> </a:t>
                </a:r>
                <a:r>
                  <a:rPr baseline="30000" lang="en">
                    <a:solidFill>
                      <a:schemeClr val="dk2"/>
                    </a:solidFill>
                  </a:rPr>
                  <a:t>(1)</a:t>
                </a:r>
                <a:r>
                  <a:rPr lang="en">
                    <a:solidFill>
                      <a:schemeClr val="dk2"/>
                    </a:solidFill>
                  </a:rPr>
                  <a:t>( </a:t>
                </a:r>
                <a:r>
                  <a:rPr b="1" lang="en">
                    <a:solidFill>
                      <a:srgbClr val="1B91CA"/>
                    </a:solidFill>
                  </a:rPr>
                  <a:t>z</a:t>
                </a:r>
                <a:r>
                  <a:rPr baseline="-25000" lang="en">
                    <a:solidFill>
                      <a:srgbClr val="1B91CA"/>
                    </a:solidFill>
                  </a:rPr>
                  <a:t>1</a:t>
                </a:r>
                <a:r>
                  <a:rPr baseline="30000" lang="en">
                    <a:solidFill>
                      <a:srgbClr val="1B91CA"/>
                    </a:solidFill>
                  </a:rPr>
                  <a:t>(1) </a:t>
                </a:r>
                <a:r>
                  <a:rPr lang="en">
                    <a:solidFill>
                      <a:schemeClr val="dk2"/>
                    </a:solidFill>
                  </a:rPr>
                  <a:t>)</a:t>
                </a:r>
                <a:endParaRPr baseline="30000">
                  <a:solidFill>
                    <a:srgbClr val="1B91CA"/>
                  </a:solidFill>
                </a:endParaRPr>
              </a:p>
              <a:p>
                <a:pPr indent="0" lvl="0" marL="0" rtl="0" algn="ctr">
                  <a:spcBef>
                    <a:spcPts val="0"/>
                  </a:spcBef>
                  <a:spcAft>
                    <a:spcPts val="0"/>
                  </a:spcAft>
                  <a:buNone/>
                </a:pPr>
                <a:r>
                  <a:rPr b="1" lang="en">
                    <a:solidFill>
                      <a:schemeClr val="dk2"/>
                    </a:solidFill>
                  </a:rPr>
                  <a:t>ɸ</a:t>
                </a:r>
                <a:r>
                  <a:rPr lang="en">
                    <a:solidFill>
                      <a:schemeClr val="dk2"/>
                    </a:solidFill>
                  </a:rPr>
                  <a:t> </a:t>
                </a:r>
                <a:r>
                  <a:rPr baseline="30000" lang="en">
                    <a:solidFill>
                      <a:schemeClr val="dk2"/>
                    </a:solidFill>
                  </a:rPr>
                  <a:t>(1)</a:t>
                </a:r>
                <a:r>
                  <a:rPr lang="en">
                    <a:solidFill>
                      <a:schemeClr val="dk2"/>
                    </a:solidFill>
                  </a:rPr>
                  <a:t>( </a:t>
                </a:r>
                <a:r>
                  <a:rPr b="1" lang="en">
                    <a:solidFill>
                      <a:srgbClr val="1B91CA"/>
                    </a:solidFill>
                  </a:rPr>
                  <a:t>z</a:t>
                </a:r>
                <a:r>
                  <a:rPr baseline="-25000" lang="en">
                    <a:solidFill>
                      <a:srgbClr val="1B91CA"/>
                    </a:solidFill>
                  </a:rPr>
                  <a:t>2</a:t>
                </a:r>
                <a:r>
                  <a:rPr baseline="30000" lang="en">
                    <a:solidFill>
                      <a:srgbClr val="1B91CA"/>
                    </a:solidFill>
                  </a:rPr>
                  <a:t>(1) </a:t>
                </a:r>
                <a:r>
                  <a:rPr lang="en">
                    <a:solidFill>
                      <a:schemeClr val="dk2"/>
                    </a:solidFill>
                  </a:rPr>
                  <a:t>)</a:t>
                </a:r>
                <a:endParaRPr b="1">
                  <a:solidFill>
                    <a:srgbClr val="1B91CA"/>
                  </a:solidFill>
                </a:endParaRPr>
              </a:p>
              <a:p>
                <a:pPr indent="0" lvl="0" marL="0" rtl="0" algn="ctr">
                  <a:spcBef>
                    <a:spcPts val="0"/>
                  </a:spcBef>
                  <a:spcAft>
                    <a:spcPts val="0"/>
                  </a:spcAft>
                  <a:buNone/>
                </a:pPr>
                <a:r>
                  <a:rPr b="1" lang="en">
                    <a:solidFill>
                      <a:schemeClr val="dk2"/>
                    </a:solidFill>
                  </a:rPr>
                  <a:t>ɸ</a:t>
                </a:r>
                <a:r>
                  <a:rPr lang="en">
                    <a:solidFill>
                      <a:schemeClr val="dk2"/>
                    </a:solidFill>
                  </a:rPr>
                  <a:t> </a:t>
                </a:r>
                <a:r>
                  <a:rPr baseline="30000" lang="en">
                    <a:solidFill>
                      <a:schemeClr val="dk2"/>
                    </a:solidFill>
                  </a:rPr>
                  <a:t>(1)</a:t>
                </a:r>
                <a:r>
                  <a:rPr lang="en">
                    <a:solidFill>
                      <a:schemeClr val="dk2"/>
                    </a:solidFill>
                  </a:rPr>
                  <a:t>( </a:t>
                </a:r>
                <a:r>
                  <a:rPr b="1" lang="en">
                    <a:solidFill>
                      <a:srgbClr val="1B91CA"/>
                    </a:solidFill>
                  </a:rPr>
                  <a:t>z</a:t>
                </a:r>
                <a:r>
                  <a:rPr baseline="-25000" lang="en">
                    <a:solidFill>
                      <a:srgbClr val="1B91CA"/>
                    </a:solidFill>
                  </a:rPr>
                  <a:t>2</a:t>
                </a:r>
                <a:r>
                  <a:rPr baseline="30000" lang="en">
                    <a:solidFill>
                      <a:srgbClr val="1B91CA"/>
                    </a:solidFill>
                  </a:rPr>
                  <a:t>(1) </a:t>
                </a:r>
                <a:r>
                  <a:rPr lang="en">
                    <a:solidFill>
                      <a:schemeClr val="dk2"/>
                    </a:solidFill>
                  </a:rPr>
                  <a:t>)</a:t>
                </a:r>
                <a:endParaRPr baseline="30000">
                  <a:solidFill>
                    <a:srgbClr val="1B91CA"/>
                  </a:solidFill>
                </a:endParaRPr>
              </a:p>
              <a:p>
                <a:pPr indent="0" lvl="0" marL="0" rtl="0" algn="ctr">
                  <a:spcBef>
                    <a:spcPts val="0"/>
                  </a:spcBef>
                  <a:spcAft>
                    <a:spcPts val="0"/>
                  </a:spcAft>
                  <a:buNone/>
                </a:pPr>
                <a:r>
                  <a:t/>
                </a:r>
                <a:endParaRPr b="1">
                  <a:solidFill>
                    <a:srgbClr val="1B91CA"/>
                  </a:solidFill>
                </a:endParaRPr>
              </a:p>
            </p:txBody>
          </p:sp>
          <p:grpSp>
            <p:nvGrpSpPr>
              <p:cNvPr id="693" name="Google Shape;693;p38"/>
              <p:cNvGrpSpPr/>
              <p:nvPr/>
            </p:nvGrpSpPr>
            <p:grpSpPr>
              <a:xfrm>
                <a:off x="8362050" y="3298350"/>
                <a:ext cx="985875" cy="818208"/>
                <a:chOff x="4647089" y="1876960"/>
                <a:chExt cx="985875" cy="731326"/>
              </a:xfrm>
            </p:grpSpPr>
            <p:sp>
              <p:nvSpPr>
                <p:cNvPr id="694" name="Google Shape;694;p38"/>
                <p:cNvSpPr/>
                <p:nvPr/>
              </p:nvSpPr>
              <p:spPr>
                <a:xfrm>
                  <a:off x="4647089" y="1876961"/>
                  <a:ext cx="186350" cy="684075"/>
                </a:xfrm>
                <a:custGeom>
                  <a:rect b="b" l="l" r="r" t="t"/>
                  <a:pathLst>
                    <a:path extrusionOk="0" h="38890" w="7454">
                      <a:moveTo>
                        <a:pt x="5686" y="0"/>
                      </a:moveTo>
                      <a:cubicBezTo>
                        <a:pt x="4795" y="1252"/>
                        <a:pt x="1067" y="2000"/>
                        <a:pt x="337" y="7511"/>
                      </a:cubicBezTo>
                      <a:cubicBezTo>
                        <a:pt x="-393" y="13022"/>
                        <a:pt x="122" y="27837"/>
                        <a:pt x="1308" y="33067"/>
                      </a:cubicBezTo>
                      <a:cubicBezTo>
                        <a:pt x="2494" y="38297"/>
                        <a:pt x="6430" y="37920"/>
                        <a:pt x="7454" y="38890"/>
                      </a:cubicBezTo>
                    </a:path>
                  </a:pathLst>
                </a:custGeom>
                <a:noFill/>
                <a:ln cap="flat" cmpd="sng" w="9525">
                  <a:solidFill>
                    <a:schemeClr val="dk2"/>
                  </a:solidFill>
                  <a:prstDash val="solid"/>
                  <a:round/>
                  <a:headEnd len="med" w="med" type="none"/>
                  <a:tailEnd len="med" w="med" type="none"/>
                </a:ln>
              </p:spPr>
            </p:sp>
            <p:sp>
              <p:nvSpPr>
                <p:cNvPr id="695" name="Google Shape;695;p38"/>
                <p:cNvSpPr/>
                <p:nvPr/>
              </p:nvSpPr>
              <p:spPr>
                <a:xfrm flipH="1">
                  <a:off x="5446614" y="1876960"/>
                  <a:ext cx="186350" cy="731326"/>
                </a:xfrm>
                <a:custGeom>
                  <a:rect b="b" l="l" r="r" t="t"/>
                  <a:pathLst>
                    <a:path extrusionOk="0" h="38890" w="7454">
                      <a:moveTo>
                        <a:pt x="5686" y="0"/>
                      </a:moveTo>
                      <a:cubicBezTo>
                        <a:pt x="4795" y="1252"/>
                        <a:pt x="1067" y="2000"/>
                        <a:pt x="337" y="7511"/>
                      </a:cubicBezTo>
                      <a:cubicBezTo>
                        <a:pt x="-393" y="13022"/>
                        <a:pt x="122" y="27837"/>
                        <a:pt x="1308" y="33067"/>
                      </a:cubicBezTo>
                      <a:cubicBezTo>
                        <a:pt x="2494" y="38297"/>
                        <a:pt x="6430" y="37920"/>
                        <a:pt x="7454" y="38890"/>
                      </a:cubicBezTo>
                    </a:path>
                  </a:pathLst>
                </a:custGeom>
                <a:noFill/>
                <a:ln cap="flat" cmpd="sng" w="9525">
                  <a:solidFill>
                    <a:schemeClr val="dk2"/>
                  </a:solidFill>
                  <a:prstDash val="solid"/>
                  <a:round/>
                  <a:headEnd len="med" w="med" type="none"/>
                  <a:tailEnd len="med" w="med" type="none"/>
                </a:ln>
              </p:spPr>
            </p:sp>
          </p:grpSp>
        </p:grpSp>
        <p:grpSp>
          <p:nvGrpSpPr>
            <p:cNvPr id="696" name="Google Shape;696;p38"/>
            <p:cNvGrpSpPr/>
            <p:nvPr/>
          </p:nvGrpSpPr>
          <p:grpSpPr>
            <a:xfrm>
              <a:off x="6370725" y="233450"/>
              <a:ext cx="546625" cy="831300"/>
              <a:chOff x="7600425" y="3049000"/>
              <a:chExt cx="546625" cy="831300"/>
            </a:xfrm>
          </p:grpSpPr>
          <p:sp>
            <p:nvSpPr>
              <p:cNvPr id="697" name="Google Shape;697;p38"/>
              <p:cNvSpPr txBox="1"/>
              <p:nvPr/>
            </p:nvSpPr>
            <p:spPr>
              <a:xfrm>
                <a:off x="7618450" y="3049000"/>
                <a:ext cx="5286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FF00FF"/>
                    </a:solidFill>
                  </a:rPr>
                  <a:t>h</a:t>
                </a:r>
                <a:r>
                  <a:rPr baseline="-25000" lang="en">
                    <a:solidFill>
                      <a:srgbClr val="FF00FF"/>
                    </a:solidFill>
                  </a:rPr>
                  <a:t>1</a:t>
                </a:r>
                <a:r>
                  <a:rPr baseline="30000" lang="en">
                    <a:solidFill>
                      <a:srgbClr val="FF00FF"/>
                    </a:solidFill>
                  </a:rPr>
                  <a:t>(1)</a:t>
                </a:r>
                <a:endParaRPr baseline="30000">
                  <a:solidFill>
                    <a:schemeClr val="dk2"/>
                  </a:solidFill>
                </a:endParaRPr>
              </a:p>
              <a:p>
                <a:pPr indent="0" lvl="0" marL="0" rtl="0" algn="ctr">
                  <a:spcBef>
                    <a:spcPts val="0"/>
                  </a:spcBef>
                  <a:spcAft>
                    <a:spcPts val="0"/>
                  </a:spcAft>
                  <a:buNone/>
                </a:pPr>
                <a:r>
                  <a:rPr b="1" lang="en">
                    <a:solidFill>
                      <a:srgbClr val="FF00FF"/>
                    </a:solidFill>
                  </a:rPr>
                  <a:t>h</a:t>
                </a:r>
                <a:r>
                  <a:rPr baseline="-25000" lang="en">
                    <a:solidFill>
                      <a:srgbClr val="FF00FF"/>
                    </a:solidFill>
                  </a:rPr>
                  <a:t>2</a:t>
                </a:r>
                <a:r>
                  <a:rPr baseline="30000" lang="en">
                    <a:solidFill>
                      <a:srgbClr val="FF00FF"/>
                    </a:solidFill>
                  </a:rPr>
                  <a:t>(1)</a:t>
                </a:r>
                <a:endParaRPr baseline="30000">
                  <a:solidFill>
                    <a:schemeClr val="dk2"/>
                  </a:solidFill>
                </a:endParaRPr>
              </a:p>
              <a:p>
                <a:pPr indent="0" lvl="0" marL="0" rtl="0" algn="ctr">
                  <a:spcBef>
                    <a:spcPts val="0"/>
                  </a:spcBef>
                  <a:spcAft>
                    <a:spcPts val="0"/>
                  </a:spcAft>
                  <a:buClr>
                    <a:schemeClr val="dk1"/>
                  </a:buClr>
                  <a:buSzPts val="1100"/>
                  <a:buFont typeface="Arial"/>
                  <a:buNone/>
                </a:pPr>
                <a:r>
                  <a:rPr b="1" lang="en">
                    <a:solidFill>
                      <a:srgbClr val="FF00FF"/>
                    </a:solidFill>
                  </a:rPr>
                  <a:t>h</a:t>
                </a:r>
                <a:r>
                  <a:rPr baseline="-25000" lang="en">
                    <a:solidFill>
                      <a:srgbClr val="FF00FF"/>
                    </a:solidFill>
                  </a:rPr>
                  <a:t>3</a:t>
                </a:r>
                <a:r>
                  <a:rPr baseline="30000" lang="en">
                    <a:solidFill>
                      <a:srgbClr val="FF00FF"/>
                    </a:solidFill>
                  </a:rPr>
                  <a:t>(1)</a:t>
                </a:r>
                <a:endParaRPr baseline="30000">
                  <a:solidFill>
                    <a:schemeClr val="dk2"/>
                  </a:solidFill>
                </a:endParaRPr>
              </a:p>
            </p:txBody>
          </p:sp>
          <p:grpSp>
            <p:nvGrpSpPr>
              <p:cNvPr id="698" name="Google Shape;698;p38"/>
              <p:cNvGrpSpPr/>
              <p:nvPr/>
            </p:nvGrpSpPr>
            <p:grpSpPr>
              <a:xfrm>
                <a:off x="7600425" y="3098701"/>
                <a:ext cx="528675" cy="776409"/>
                <a:chOff x="4723300" y="1900551"/>
                <a:chExt cx="528675" cy="776409"/>
              </a:xfrm>
            </p:grpSpPr>
            <p:sp>
              <p:nvSpPr>
                <p:cNvPr id="699" name="Google Shape;699;p38"/>
                <p:cNvSpPr/>
                <p:nvPr/>
              </p:nvSpPr>
              <p:spPr>
                <a:xfrm>
                  <a:off x="4723300" y="1900551"/>
                  <a:ext cx="186350" cy="752910"/>
                </a:xfrm>
                <a:custGeom>
                  <a:rect b="b" l="l" r="r" t="t"/>
                  <a:pathLst>
                    <a:path extrusionOk="0" h="38890" w="7454">
                      <a:moveTo>
                        <a:pt x="5686" y="0"/>
                      </a:moveTo>
                      <a:cubicBezTo>
                        <a:pt x="4795" y="1252"/>
                        <a:pt x="1067" y="2000"/>
                        <a:pt x="337" y="7511"/>
                      </a:cubicBezTo>
                      <a:cubicBezTo>
                        <a:pt x="-393" y="13022"/>
                        <a:pt x="122" y="27837"/>
                        <a:pt x="1308" y="33067"/>
                      </a:cubicBezTo>
                      <a:cubicBezTo>
                        <a:pt x="2494" y="38297"/>
                        <a:pt x="6430" y="37920"/>
                        <a:pt x="7454" y="38890"/>
                      </a:cubicBezTo>
                    </a:path>
                  </a:pathLst>
                </a:custGeom>
                <a:noFill/>
                <a:ln cap="flat" cmpd="sng" w="9525">
                  <a:solidFill>
                    <a:schemeClr val="dk2"/>
                  </a:solidFill>
                  <a:prstDash val="solid"/>
                  <a:round/>
                  <a:headEnd len="med" w="med" type="none"/>
                  <a:tailEnd len="med" w="med" type="none"/>
                </a:ln>
              </p:spPr>
            </p:sp>
            <p:sp>
              <p:nvSpPr>
                <p:cNvPr id="700" name="Google Shape;700;p38"/>
                <p:cNvSpPr/>
                <p:nvPr/>
              </p:nvSpPr>
              <p:spPr>
                <a:xfrm flipH="1">
                  <a:off x="5065625" y="1924050"/>
                  <a:ext cx="186350" cy="752910"/>
                </a:xfrm>
                <a:custGeom>
                  <a:rect b="b" l="l" r="r" t="t"/>
                  <a:pathLst>
                    <a:path extrusionOk="0" h="38890" w="7454">
                      <a:moveTo>
                        <a:pt x="5686" y="0"/>
                      </a:moveTo>
                      <a:cubicBezTo>
                        <a:pt x="4795" y="1252"/>
                        <a:pt x="1067" y="2000"/>
                        <a:pt x="337" y="7511"/>
                      </a:cubicBezTo>
                      <a:cubicBezTo>
                        <a:pt x="-393" y="13022"/>
                        <a:pt x="122" y="27837"/>
                        <a:pt x="1308" y="33067"/>
                      </a:cubicBezTo>
                      <a:cubicBezTo>
                        <a:pt x="2494" y="38297"/>
                        <a:pt x="6430" y="37920"/>
                        <a:pt x="7454" y="38890"/>
                      </a:cubicBezTo>
                    </a:path>
                  </a:pathLst>
                </a:custGeom>
                <a:noFill/>
                <a:ln cap="flat" cmpd="sng" w="9525">
                  <a:solidFill>
                    <a:schemeClr val="dk2"/>
                  </a:solidFill>
                  <a:prstDash val="solid"/>
                  <a:round/>
                  <a:headEnd len="med" w="med" type="none"/>
                  <a:tailEnd len="med" w="med" type="none"/>
                </a:ln>
              </p:spPr>
            </p:sp>
          </p:grpSp>
        </p:grpSp>
        <p:sp>
          <p:nvSpPr>
            <p:cNvPr id="701" name="Google Shape;701;p38"/>
            <p:cNvSpPr txBox="1"/>
            <p:nvPr/>
          </p:nvSpPr>
          <p:spPr>
            <a:xfrm>
              <a:off x="6899400" y="449200"/>
              <a:ext cx="41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a:t>
              </a:r>
              <a:endParaRPr/>
            </a:p>
          </p:txBody>
        </p:sp>
      </p:grpSp>
      <p:sp>
        <p:nvSpPr>
          <p:cNvPr id="702" name="Google Shape;702;p38"/>
          <p:cNvSpPr txBox="1"/>
          <p:nvPr/>
        </p:nvSpPr>
        <p:spPr>
          <a:xfrm>
            <a:off x="7179475" y="500175"/>
            <a:ext cx="13587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FF00FF"/>
                </a:solidFill>
              </a:rPr>
              <a:t>h</a:t>
            </a:r>
            <a:r>
              <a:rPr baseline="30000" lang="en">
                <a:solidFill>
                  <a:srgbClr val="FF00FF"/>
                </a:solidFill>
              </a:rPr>
              <a:t>(1) </a:t>
            </a:r>
            <a:r>
              <a:rPr b="1" lang="en">
                <a:solidFill>
                  <a:schemeClr val="dk1"/>
                </a:solidFill>
              </a:rPr>
              <a:t>= </a:t>
            </a:r>
            <a:r>
              <a:rPr b="1" lang="en">
                <a:solidFill>
                  <a:schemeClr val="dk2"/>
                </a:solidFill>
              </a:rPr>
              <a:t>ɸ</a:t>
            </a:r>
            <a:r>
              <a:rPr lang="en">
                <a:solidFill>
                  <a:schemeClr val="dk2"/>
                </a:solidFill>
              </a:rPr>
              <a:t> </a:t>
            </a:r>
            <a:r>
              <a:rPr baseline="30000" lang="en">
                <a:solidFill>
                  <a:schemeClr val="dk2"/>
                </a:solidFill>
              </a:rPr>
              <a:t>(1)</a:t>
            </a:r>
            <a:r>
              <a:rPr lang="en">
                <a:solidFill>
                  <a:schemeClr val="dk2"/>
                </a:solidFill>
              </a:rPr>
              <a:t>(</a:t>
            </a:r>
            <a:r>
              <a:rPr b="1" lang="en">
                <a:solidFill>
                  <a:srgbClr val="1B91CA"/>
                </a:solidFill>
              </a:rPr>
              <a:t> Z</a:t>
            </a:r>
            <a:r>
              <a:rPr baseline="30000" lang="en">
                <a:solidFill>
                  <a:srgbClr val="1B91CA"/>
                </a:solidFill>
              </a:rPr>
              <a:t>(1)</a:t>
            </a:r>
            <a:r>
              <a:rPr lang="en">
                <a:solidFill>
                  <a:schemeClr val="dk2"/>
                </a:solidFill>
              </a:rPr>
              <a:t>)</a:t>
            </a:r>
            <a:endParaRPr/>
          </a:p>
        </p:txBody>
      </p:sp>
      <p:grpSp>
        <p:nvGrpSpPr>
          <p:cNvPr id="703" name="Google Shape;703;p38"/>
          <p:cNvGrpSpPr/>
          <p:nvPr/>
        </p:nvGrpSpPr>
        <p:grpSpPr>
          <a:xfrm>
            <a:off x="484625" y="438725"/>
            <a:ext cx="4033500" cy="1590575"/>
            <a:chOff x="484625" y="438725"/>
            <a:chExt cx="4033500" cy="1590575"/>
          </a:xfrm>
        </p:grpSpPr>
        <p:sp>
          <p:nvSpPr>
            <p:cNvPr id="704" name="Google Shape;704;p38"/>
            <p:cNvSpPr txBox="1"/>
            <p:nvPr/>
          </p:nvSpPr>
          <p:spPr>
            <a:xfrm>
              <a:off x="484625" y="438725"/>
              <a:ext cx="403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ɸ</a:t>
              </a:r>
              <a:r>
                <a:rPr lang="en">
                  <a:solidFill>
                    <a:schemeClr val="dk2"/>
                  </a:solidFill>
                </a:rPr>
                <a:t> </a:t>
              </a:r>
              <a:r>
                <a:rPr baseline="30000" lang="en">
                  <a:solidFill>
                    <a:schemeClr val="dk2"/>
                  </a:solidFill>
                </a:rPr>
                <a:t>(1)</a:t>
              </a:r>
              <a:r>
                <a:rPr lang="en">
                  <a:solidFill>
                    <a:schemeClr val="dk2"/>
                  </a:solidFill>
                </a:rPr>
                <a:t>: activation function at first hidden layer</a:t>
              </a:r>
              <a:endParaRPr/>
            </a:p>
          </p:txBody>
        </p:sp>
        <p:sp>
          <p:nvSpPr>
            <p:cNvPr id="705" name="Google Shape;705;p38"/>
            <p:cNvSpPr txBox="1"/>
            <p:nvPr/>
          </p:nvSpPr>
          <p:spPr>
            <a:xfrm>
              <a:off x="3747025" y="1629100"/>
              <a:ext cx="54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ɸ</a:t>
              </a:r>
              <a:r>
                <a:rPr lang="en">
                  <a:solidFill>
                    <a:schemeClr val="dk2"/>
                  </a:solidFill>
                </a:rPr>
                <a:t> </a:t>
              </a:r>
              <a:r>
                <a:rPr baseline="30000" lang="en">
                  <a:solidFill>
                    <a:schemeClr val="dk2"/>
                  </a:solidFill>
                </a:rPr>
                <a:t>(1)</a:t>
              </a:r>
              <a:endParaRPr/>
            </a:p>
          </p:txBody>
        </p:sp>
      </p:grpSp>
      <p:grpSp>
        <p:nvGrpSpPr>
          <p:cNvPr id="706" name="Google Shape;706;p38"/>
          <p:cNvGrpSpPr/>
          <p:nvPr/>
        </p:nvGrpSpPr>
        <p:grpSpPr>
          <a:xfrm>
            <a:off x="456325" y="794650"/>
            <a:ext cx="6323650" cy="1310850"/>
            <a:chOff x="456325" y="794650"/>
            <a:chExt cx="6323650" cy="1310850"/>
          </a:xfrm>
        </p:grpSpPr>
        <p:sp>
          <p:nvSpPr>
            <p:cNvPr id="707" name="Google Shape;707;p38"/>
            <p:cNvSpPr txBox="1"/>
            <p:nvPr/>
          </p:nvSpPr>
          <p:spPr>
            <a:xfrm>
              <a:off x="456325" y="794650"/>
              <a:ext cx="4137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ɸ</a:t>
              </a:r>
              <a:r>
                <a:rPr lang="en">
                  <a:solidFill>
                    <a:schemeClr val="dk2"/>
                  </a:solidFill>
                </a:rPr>
                <a:t> </a:t>
              </a:r>
              <a:r>
                <a:rPr baseline="30000" lang="en">
                  <a:solidFill>
                    <a:schemeClr val="dk2"/>
                  </a:solidFill>
                </a:rPr>
                <a:t>(2)</a:t>
              </a:r>
              <a:r>
                <a:rPr lang="en">
                  <a:solidFill>
                    <a:schemeClr val="dk2"/>
                  </a:solidFill>
                </a:rPr>
                <a:t>: activation function at first hidden layer</a:t>
              </a:r>
              <a:endParaRPr/>
            </a:p>
          </p:txBody>
        </p:sp>
        <p:sp>
          <p:nvSpPr>
            <p:cNvPr id="708" name="Google Shape;708;p38"/>
            <p:cNvSpPr txBox="1"/>
            <p:nvPr/>
          </p:nvSpPr>
          <p:spPr>
            <a:xfrm>
              <a:off x="6237575" y="1705300"/>
              <a:ext cx="54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ɸ</a:t>
              </a:r>
              <a:r>
                <a:rPr lang="en">
                  <a:solidFill>
                    <a:schemeClr val="dk2"/>
                  </a:solidFill>
                </a:rPr>
                <a:t> </a:t>
              </a:r>
              <a:r>
                <a:rPr baseline="30000" lang="en">
                  <a:solidFill>
                    <a:schemeClr val="dk2"/>
                  </a:solidFill>
                </a:rPr>
                <a:t>(2)</a:t>
              </a:r>
              <a:endParaRPr/>
            </a:p>
          </p:txBody>
        </p:sp>
      </p:grpSp>
      <p:sp>
        <p:nvSpPr>
          <p:cNvPr id="709" name="Google Shape;709;p38"/>
          <p:cNvSpPr txBox="1"/>
          <p:nvPr/>
        </p:nvSpPr>
        <p:spPr>
          <a:xfrm>
            <a:off x="6980325" y="819675"/>
            <a:ext cx="2163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applied componentwise</a:t>
            </a:r>
            <a:endParaRPr/>
          </a:p>
        </p:txBody>
      </p:sp>
      <p:sp>
        <p:nvSpPr>
          <p:cNvPr id="710" name="Google Shape;710;p38"/>
          <p:cNvSpPr txBox="1"/>
          <p:nvPr/>
        </p:nvSpPr>
        <p:spPr>
          <a:xfrm>
            <a:off x="1779938" y="4597525"/>
            <a:ext cx="43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b</a:t>
            </a:r>
            <a:r>
              <a:rPr baseline="30000" lang="en">
                <a:solidFill>
                  <a:schemeClr val="dk1"/>
                </a:solidFill>
              </a:rPr>
              <a:t>(</a:t>
            </a:r>
            <a:r>
              <a:rPr b="1" baseline="30000" lang="en">
                <a:solidFill>
                  <a:srgbClr val="949AF8"/>
                </a:solidFill>
              </a:rPr>
              <a:t>1</a:t>
            </a:r>
            <a:r>
              <a:rPr baseline="30000" lang="en">
                <a:solidFill>
                  <a:schemeClr val="dk1"/>
                </a:solidFill>
              </a:rPr>
              <a:t>)</a:t>
            </a:r>
            <a:endParaRPr/>
          </a:p>
        </p:txBody>
      </p:sp>
      <p:sp>
        <p:nvSpPr>
          <p:cNvPr id="711" name="Google Shape;711;p38"/>
          <p:cNvSpPr txBox="1"/>
          <p:nvPr/>
        </p:nvSpPr>
        <p:spPr>
          <a:xfrm>
            <a:off x="4223025" y="4575975"/>
            <a:ext cx="43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b</a:t>
            </a:r>
            <a:r>
              <a:rPr baseline="30000" lang="en">
                <a:solidFill>
                  <a:schemeClr val="dk1"/>
                </a:solidFill>
              </a:rPr>
              <a:t>(</a:t>
            </a:r>
            <a:r>
              <a:rPr b="1" baseline="30000" lang="en">
                <a:solidFill>
                  <a:srgbClr val="949AF8"/>
                </a:solidFill>
              </a:rPr>
              <a:t>2</a:t>
            </a:r>
            <a:r>
              <a:rPr baseline="30000" lang="en">
                <a:solidFill>
                  <a:schemeClr val="dk1"/>
                </a:solidFill>
              </a:rPr>
              <a:t>)</a:t>
            </a:r>
            <a:endParaRPr/>
          </a:p>
        </p:txBody>
      </p:sp>
      <p:sp>
        <p:nvSpPr>
          <p:cNvPr id="712" name="Google Shape;712;p38"/>
          <p:cNvSpPr txBox="1"/>
          <p:nvPr/>
        </p:nvSpPr>
        <p:spPr>
          <a:xfrm>
            <a:off x="6730063" y="4560700"/>
            <a:ext cx="43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b</a:t>
            </a:r>
            <a:r>
              <a:rPr baseline="30000" lang="en">
                <a:solidFill>
                  <a:schemeClr val="dk1"/>
                </a:solidFill>
              </a:rPr>
              <a:t>(</a:t>
            </a:r>
            <a:r>
              <a:rPr b="1" baseline="30000" lang="en">
                <a:solidFill>
                  <a:srgbClr val="949AF8"/>
                </a:solidFill>
              </a:rPr>
              <a:t>3</a:t>
            </a:r>
            <a:r>
              <a:rPr baseline="30000" lang="en">
                <a:solidFill>
                  <a:schemeClr val="dk1"/>
                </a:solidFil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39"/>
          <p:cNvSpPr txBox="1"/>
          <p:nvPr/>
        </p:nvSpPr>
        <p:spPr>
          <a:xfrm>
            <a:off x="151525" y="1443975"/>
            <a:ext cx="12678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input layer</a:t>
            </a:r>
            <a:endParaRPr b="1">
              <a:solidFill>
                <a:schemeClr val="dk1"/>
              </a:solidFill>
            </a:endParaRPr>
          </a:p>
        </p:txBody>
      </p:sp>
      <p:cxnSp>
        <p:nvCxnSpPr>
          <p:cNvPr id="718" name="Google Shape;718;p39"/>
          <p:cNvCxnSpPr>
            <a:stCxn id="719" idx="2"/>
          </p:cNvCxnSpPr>
          <p:nvPr/>
        </p:nvCxnSpPr>
        <p:spPr>
          <a:xfrm flipH="1">
            <a:off x="291125" y="2193925"/>
            <a:ext cx="403800" cy="4800"/>
          </a:xfrm>
          <a:prstGeom prst="straightConnector1">
            <a:avLst/>
          </a:prstGeom>
          <a:noFill/>
          <a:ln cap="flat" cmpd="sng" w="28575">
            <a:solidFill>
              <a:schemeClr val="dk1"/>
            </a:solidFill>
            <a:prstDash val="solid"/>
            <a:round/>
            <a:headEnd len="med" w="med" type="none"/>
            <a:tailEnd len="med" w="med" type="oval"/>
          </a:ln>
        </p:spPr>
      </p:cxnSp>
      <p:cxnSp>
        <p:nvCxnSpPr>
          <p:cNvPr id="720" name="Google Shape;720;p39"/>
          <p:cNvCxnSpPr>
            <a:stCxn id="721" idx="2"/>
          </p:cNvCxnSpPr>
          <p:nvPr/>
        </p:nvCxnSpPr>
        <p:spPr>
          <a:xfrm flipH="1">
            <a:off x="315725" y="2847225"/>
            <a:ext cx="379200" cy="300"/>
          </a:xfrm>
          <a:prstGeom prst="straightConnector1">
            <a:avLst/>
          </a:prstGeom>
          <a:noFill/>
          <a:ln cap="flat" cmpd="sng" w="28575">
            <a:solidFill>
              <a:schemeClr val="dk1"/>
            </a:solidFill>
            <a:prstDash val="solid"/>
            <a:round/>
            <a:headEnd len="med" w="med" type="none"/>
            <a:tailEnd len="med" w="med" type="oval"/>
          </a:ln>
        </p:spPr>
      </p:cxnSp>
      <p:cxnSp>
        <p:nvCxnSpPr>
          <p:cNvPr id="722" name="Google Shape;722;p39"/>
          <p:cNvCxnSpPr>
            <a:stCxn id="723" idx="2"/>
          </p:cNvCxnSpPr>
          <p:nvPr/>
        </p:nvCxnSpPr>
        <p:spPr>
          <a:xfrm flipH="1">
            <a:off x="291125" y="3500525"/>
            <a:ext cx="403800" cy="12000"/>
          </a:xfrm>
          <a:prstGeom prst="straightConnector1">
            <a:avLst/>
          </a:prstGeom>
          <a:noFill/>
          <a:ln cap="flat" cmpd="sng" w="28575">
            <a:solidFill>
              <a:schemeClr val="dk1"/>
            </a:solidFill>
            <a:prstDash val="solid"/>
            <a:round/>
            <a:headEnd len="med" w="med" type="none"/>
            <a:tailEnd len="med" w="med" type="oval"/>
          </a:ln>
        </p:spPr>
      </p:cxnSp>
      <p:cxnSp>
        <p:nvCxnSpPr>
          <p:cNvPr id="724" name="Google Shape;724;p39"/>
          <p:cNvCxnSpPr>
            <a:stCxn id="725" idx="2"/>
          </p:cNvCxnSpPr>
          <p:nvPr/>
        </p:nvCxnSpPr>
        <p:spPr>
          <a:xfrm flipH="1">
            <a:off x="283025" y="4153825"/>
            <a:ext cx="411900" cy="7500"/>
          </a:xfrm>
          <a:prstGeom prst="straightConnector1">
            <a:avLst/>
          </a:prstGeom>
          <a:noFill/>
          <a:ln cap="flat" cmpd="sng" w="28575">
            <a:solidFill>
              <a:schemeClr val="dk1"/>
            </a:solidFill>
            <a:prstDash val="solid"/>
            <a:round/>
            <a:headEnd len="med" w="med" type="none"/>
            <a:tailEnd len="med" w="med" type="oval"/>
          </a:ln>
        </p:spPr>
      </p:cxnSp>
      <p:sp>
        <p:nvSpPr>
          <p:cNvPr id="726" name="Google Shape;726;p39"/>
          <p:cNvSpPr/>
          <p:nvPr/>
        </p:nvSpPr>
        <p:spPr>
          <a:xfrm>
            <a:off x="1737650" y="4566475"/>
            <a:ext cx="478800" cy="46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27" name="Google Shape;727;p39"/>
          <p:cNvGrpSpPr/>
          <p:nvPr/>
        </p:nvGrpSpPr>
        <p:grpSpPr>
          <a:xfrm>
            <a:off x="2097025" y="1446900"/>
            <a:ext cx="2192400" cy="3031800"/>
            <a:chOff x="3468625" y="1446900"/>
            <a:chExt cx="2192400" cy="3031800"/>
          </a:xfrm>
        </p:grpSpPr>
        <p:sp>
          <p:nvSpPr>
            <p:cNvPr id="728" name="Google Shape;728;p39"/>
            <p:cNvSpPr txBox="1"/>
            <p:nvPr/>
          </p:nvSpPr>
          <p:spPr>
            <a:xfrm>
              <a:off x="3468625" y="1446900"/>
              <a:ext cx="21924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hidden layer 1</a:t>
              </a:r>
              <a:endParaRPr b="1">
                <a:solidFill>
                  <a:schemeClr val="dk1"/>
                </a:solidFill>
              </a:endParaRPr>
            </a:p>
          </p:txBody>
        </p:sp>
        <p:sp>
          <p:nvSpPr>
            <p:cNvPr id="729" name="Google Shape;729;p39"/>
            <p:cNvSpPr/>
            <p:nvPr/>
          </p:nvSpPr>
          <p:spPr>
            <a:xfrm>
              <a:off x="4038350" y="211772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730" name="Google Shape;730;p39"/>
            <p:cNvSpPr/>
            <p:nvPr/>
          </p:nvSpPr>
          <p:spPr>
            <a:xfrm>
              <a:off x="4038350" y="2861350"/>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731" name="Google Shape;731;p39"/>
            <p:cNvSpPr/>
            <p:nvPr/>
          </p:nvSpPr>
          <p:spPr>
            <a:xfrm>
              <a:off x="4038350" y="36554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732" name="Google Shape;732;p39"/>
            <p:cNvSpPr/>
            <p:nvPr/>
          </p:nvSpPr>
          <p:spPr>
            <a:xfrm>
              <a:off x="4925525" y="2117725"/>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h</a:t>
              </a:r>
              <a:endParaRPr>
                <a:solidFill>
                  <a:schemeClr val="dk1"/>
                </a:solidFill>
              </a:endParaRPr>
            </a:p>
          </p:txBody>
        </p:sp>
        <p:sp>
          <p:nvSpPr>
            <p:cNvPr id="733" name="Google Shape;733;p39"/>
            <p:cNvSpPr/>
            <p:nvPr/>
          </p:nvSpPr>
          <p:spPr>
            <a:xfrm>
              <a:off x="4925525" y="2861350"/>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sp>
          <p:nvSpPr>
            <p:cNvPr id="734" name="Google Shape;734;p39"/>
            <p:cNvSpPr/>
            <p:nvPr/>
          </p:nvSpPr>
          <p:spPr>
            <a:xfrm>
              <a:off x="4925525" y="3645125"/>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grpSp>
      <p:grpSp>
        <p:nvGrpSpPr>
          <p:cNvPr id="735" name="Google Shape;735;p39"/>
          <p:cNvGrpSpPr/>
          <p:nvPr/>
        </p:nvGrpSpPr>
        <p:grpSpPr>
          <a:xfrm>
            <a:off x="6992425" y="1443975"/>
            <a:ext cx="1855800" cy="3031800"/>
            <a:chOff x="6611425" y="1443975"/>
            <a:chExt cx="1855800" cy="3031800"/>
          </a:xfrm>
        </p:grpSpPr>
        <p:sp>
          <p:nvSpPr>
            <p:cNvPr id="736" name="Google Shape;736;p39"/>
            <p:cNvSpPr txBox="1"/>
            <p:nvPr/>
          </p:nvSpPr>
          <p:spPr>
            <a:xfrm>
              <a:off x="6611425" y="1443975"/>
              <a:ext cx="18558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output layer</a:t>
              </a:r>
              <a:endParaRPr b="1">
                <a:solidFill>
                  <a:schemeClr val="dk1"/>
                </a:solidFill>
              </a:endParaRPr>
            </a:p>
          </p:txBody>
        </p:sp>
        <p:sp>
          <p:nvSpPr>
            <p:cNvPr id="737" name="Google Shape;737;p39"/>
            <p:cNvSpPr/>
            <p:nvPr/>
          </p:nvSpPr>
          <p:spPr>
            <a:xfrm>
              <a:off x="6785500" y="28070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grpSp>
      <p:sp>
        <p:nvSpPr>
          <p:cNvPr id="738" name="Google Shape;738;p39"/>
          <p:cNvSpPr/>
          <p:nvPr/>
        </p:nvSpPr>
        <p:spPr>
          <a:xfrm>
            <a:off x="8329250" y="2909724"/>
            <a:ext cx="271800" cy="251100"/>
          </a:xfrm>
          <a:prstGeom prst="ellipse">
            <a:avLst/>
          </a:prstGeom>
          <a:solidFill>
            <a:srgbClr val="949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19" name="Google Shape;719;p39"/>
          <p:cNvSpPr/>
          <p:nvPr/>
        </p:nvSpPr>
        <p:spPr>
          <a:xfrm>
            <a:off x="694925" y="19627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1</a:t>
            </a:r>
            <a:endParaRPr>
              <a:solidFill>
                <a:schemeClr val="dk1"/>
              </a:solidFill>
            </a:endParaRPr>
          </a:p>
        </p:txBody>
      </p:sp>
      <p:sp>
        <p:nvSpPr>
          <p:cNvPr id="721" name="Google Shape;721;p39"/>
          <p:cNvSpPr/>
          <p:nvPr/>
        </p:nvSpPr>
        <p:spPr>
          <a:xfrm>
            <a:off x="694925" y="26160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2</a:t>
            </a:r>
            <a:endParaRPr>
              <a:solidFill>
                <a:schemeClr val="dk1"/>
              </a:solidFill>
            </a:endParaRPr>
          </a:p>
        </p:txBody>
      </p:sp>
      <p:sp>
        <p:nvSpPr>
          <p:cNvPr id="723" name="Google Shape;723;p39"/>
          <p:cNvSpPr/>
          <p:nvPr/>
        </p:nvSpPr>
        <p:spPr>
          <a:xfrm>
            <a:off x="694925" y="32693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3</a:t>
            </a:r>
            <a:endParaRPr>
              <a:solidFill>
                <a:schemeClr val="dk1"/>
              </a:solidFill>
            </a:endParaRPr>
          </a:p>
        </p:txBody>
      </p:sp>
      <p:sp>
        <p:nvSpPr>
          <p:cNvPr id="725" name="Google Shape;725;p39"/>
          <p:cNvSpPr/>
          <p:nvPr/>
        </p:nvSpPr>
        <p:spPr>
          <a:xfrm>
            <a:off x="694925" y="39226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4</a:t>
            </a:r>
            <a:endParaRPr>
              <a:solidFill>
                <a:schemeClr val="dk1"/>
              </a:solidFill>
            </a:endParaRPr>
          </a:p>
        </p:txBody>
      </p:sp>
      <p:grpSp>
        <p:nvGrpSpPr>
          <p:cNvPr id="739" name="Google Shape;739;p39"/>
          <p:cNvGrpSpPr/>
          <p:nvPr/>
        </p:nvGrpSpPr>
        <p:grpSpPr>
          <a:xfrm>
            <a:off x="1173725" y="2193925"/>
            <a:ext cx="1493100" cy="1959900"/>
            <a:chOff x="2545325" y="2193925"/>
            <a:chExt cx="1493100" cy="1959900"/>
          </a:xfrm>
        </p:grpSpPr>
        <p:cxnSp>
          <p:nvCxnSpPr>
            <p:cNvPr id="740" name="Google Shape;740;p39"/>
            <p:cNvCxnSpPr>
              <a:stCxn id="719" idx="6"/>
              <a:endCxn id="729" idx="2"/>
            </p:cNvCxnSpPr>
            <p:nvPr/>
          </p:nvCxnSpPr>
          <p:spPr>
            <a:xfrm>
              <a:off x="2545325" y="2193925"/>
              <a:ext cx="1493100" cy="155100"/>
            </a:xfrm>
            <a:prstGeom prst="straightConnector1">
              <a:avLst/>
            </a:prstGeom>
            <a:noFill/>
            <a:ln cap="flat" cmpd="sng" w="9525">
              <a:solidFill>
                <a:schemeClr val="dk2"/>
              </a:solidFill>
              <a:prstDash val="solid"/>
              <a:round/>
              <a:headEnd len="med" w="med" type="none"/>
              <a:tailEnd len="med" w="med" type="none"/>
            </a:ln>
          </p:spPr>
        </p:cxnSp>
        <p:cxnSp>
          <p:nvCxnSpPr>
            <p:cNvPr id="741" name="Google Shape;741;p39"/>
            <p:cNvCxnSpPr>
              <a:stCxn id="721" idx="6"/>
              <a:endCxn id="729" idx="2"/>
            </p:cNvCxnSpPr>
            <p:nvPr/>
          </p:nvCxnSpPr>
          <p:spPr>
            <a:xfrm flipH="1" rot="10800000">
              <a:off x="2545325" y="2348925"/>
              <a:ext cx="1493100" cy="498300"/>
            </a:xfrm>
            <a:prstGeom prst="straightConnector1">
              <a:avLst/>
            </a:prstGeom>
            <a:noFill/>
            <a:ln cap="flat" cmpd="sng" w="9525">
              <a:solidFill>
                <a:schemeClr val="dk2"/>
              </a:solidFill>
              <a:prstDash val="solid"/>
              <a:round/>
              <a:headEnd len="med" w="med" type="none"/>
              <a:tailEnd len="med" w="med" type="none"/>
            </a:ln>
          </p:spPr>
        </p:cxnSp>
        <p:cxnSp>
          <p:nvCxnSpPr>
            <p:cNvPr id="742" name="Google Shape;742;p39"/>
            <p:cNvCxnSpPr>
              <a:stCxn id="723" idx="6"/>
              <a:endCxn id="729" idx="2"/>
            </p:cNvCxnSpPr>
            <p:nvPr/>
          </p:nvCxnSpPr>
          <p:spPr>
            <a:xfrm flipH="1" rot="10800000">
              <a:off x="2545325" y="2348825"/>
              <a:ext cx="1493100" cy="1151700"/>
            </a:xfrm>
            <a:prstGeom prst="straightConnector1">
              <a:avLst/>
            </a:prstGeom>
            <a:noFill/>
            <a:ln cap="flat" cmpd="sng" w="9525">
              <a:solidFill>
                <a:schemeClr val="dk2"/>
              </a:solidFill>
              <a:prstDash val="solid"/>
              <a:round/>
              <a:headEnd len="med" w="med" type="none"/>
              <a:tailEnd len="med" w="med" type="none"/>
            </a:ln>
          </p:spPr>
        </p:cxnSp>
        <p:cxnSp>
          <p:nvCxnSpPr>
            <p:cNvPr id="743" name="Google Shape;743;p39"/>
            <p:cNvCxnSpPr>
              <a:stCxn id="725" idx="6"/>
              <a:endCxn id="729" idx="2"/>
            </p:cNvCxnSpPr>
            <p:nvPr/>
          </p:nvCxnSpPr>
          <p:spPr>
            <a:xfrm flipH="1" rot="10800000">
              <a:off x="2545325" y="2349025"/>
              <a:ext cx="1493100" cy="1804800"/>
            </a:xfrm>
            <a:prstGeom prst="straightConnector1">
              <a:avLst/>
            </a:prstGeom>
            <a:noFill/>
            <a:ln cap="flat" cmpd="sng" w="9525">
              <a:solidFill>
                <a:schemeClr val="dk2"/>
              </a:solidFill>
              <a:prstDash val="solid"/>
              <a:round/>
              <a:headEnd len="med" w="med" type="none"/>
              <a:tailEnd len="med" w="med" type="none"/>
            </a:ln>
          </p:spPr>
        </p:cxnSp>
      </p:grpSp>
      <p:grpSp>
        <p:nvGrpSpPr>
          <p:cNvPr id="744" name="Google Shape;744;p39"/>
          <p:cNvGrpSpPr/>
          <p:nvPr/>
        </p:nvGrpSpPr>
        <p:grpSpPr>
          <a:xfrm>
            <a:off x="1173725" y="2193925"/>
            <a:ext cx="1493100" cy="1959900"/>
            <a:chOff x="2545325" y="2193925"/>
            <a:chExt cx="1493100" cy="1959900"/>
          </a:xfrm>
        </p:grpSpPr>
        <p:cxnSp>
          <p:nvCxnSpPr>
            <p:cNvPr id="745" name="Google Shape;745;p39"/>
            <p:cNvCxnSpPr>
              <a:stCxn id="719" idx="6"/>
              <a:endCxn id="730" idx="2"/>
            </p:cNvCxnSpPr>
            <p:nvPr/>
          </p:nvCxnSpPr>
          <p:spPr>
            <a:xfrm>
              <a:off x="2545325" y="2193925"/>
              <a:ext cx="1493100" cy="898500"/>
            </a:xfrm>
            <a:prstGeom prst="straightConnector1">
              <a:avLst/>
            </a:prstGeom>
            <a:noFill/>
            <a:ln cap="flat" cmpd="sng" w="9525">
              <a:solidFill>
                <a:schemeClr val="dk2"/>
              </a:solidFill>
              <a:prstDash val="solid"/>
              <a:round/>
              <a:headEnd len="med" w="med" type="none"/>
              <a:tailEnd len="med" w="med" type="none"/>
            </a:ln>
          </p:spPr>
        </p:cxnSp>
        <p:cxnSp>
          <p:nvCxnSpPr>
            <p:cNvPr id="746" name="Google Shape;746;p39"/>
            <p:cNvCxnSpPr>
              <a:stCxn id="721" idx="6"/>
              <a:endCxn id="730" idx="2"/>
            </p:cNvCxnSpPr>
            <p:nvPr/>
          </p:nvCxnSpPr>
          <p:spPr>
            <a:xfrm>
              <a:off x="2545325" y="2847225"/>
              <a:ext cx="1493100" cy="245400"/>
            </a:xfrm>
            <a:prstGeom prst="straightConnector1">
              <a:avLst/>
            </a:prstGeom>
            <a:noFill/>
            <a:ln cap="flat" cmpd="sng" w="9525">
              <a:solidFill>
                <a:schemeClr val="dk2"/>
              </a:solidFill>
              <a:prstDash val="solid"/>
              <a:round/>
              <a:headEnd len="med" w="med" type="none"/>
              <a:tailEnd len="med" w="med" type="none"/>
            </a:ln>
          </p:spPr>
        </p:cxnSp>
        <p:cxnSp>
          <p:nvCxnSpPr>
            <p:cNvPr id="747" name="Google Shape;747;p39"/>
            <p:cNvCxnSpPr>
              <a:stCxn id="723" idx="6"/>
              <a:endCxn id="730" idx="2"/>
            </p:cNvCxnSpPr>
            <p:nvPr/>
          </p:nvCxnSpPr>
          <p:spPr>
            <a:xfrm flipH="1" rot="10800000">
              <a:off x="2545325" y="3092525"/>
              <a:ext cx="1493100" cy="408000"/>
            </a:xfrm>
            <a:prstGeom prst="straightConnector1">
              <a:avLst/>
            </a:prstGeom>
            <a:noFill/>
            <a:ln cap="flat" cmpd="sng" w="9525">
              <a:solidFill>
                <a:schemeClr val="dk2"/>
              </a:solidFill>
              <a:prstDash val="solid"/>
              <a:round/>
              <a:headEnd len="med" w="med" type="none"/>
              <a:tailEnd len="med" w="med" type="none"/>
            </a:ln>
          </p:spPr>
        </p:cxnSp>
        <p:cxnSp>
          <p:nvCxnSpPr>
            <p:cNvPr id="748" name="Google Shape;748;p39"/>
            <p:cNvCxnSpPr>
              <a:stCxn id="725" idx="6"/>
              <a:endCxn id="730" idx="2"/>
            </p:cNvCxnSpPr>
            <p:nvPr/>
          </p:nvCxnSpPr>
          <p:spPr>
            <a:xfrm flipH="1" rot="10800000">
              <a:off x="2545325" y="3092425"/>
              <a:ext cx="1493100" cy="1061400"/>
            </a:xfrm>
            <a:prstGeom prst="straightConnector1">
              <a:avLst/>
            </a:prstGeom>
            <a:noFill/>
            <a:ln cap="flat" cmpd="sng" w="9525">
              <a:solidFill>
                <a:schemeClr val="dk2"/>
              </a:solidFill>
              <a:prstDash val="solid"/>
              <a:round/>
              <a:headEnd len="med" w="med" type="none"/>
              <a:tailEnd len="med" w="med" type="none"/>
            </a:ln>
          </p:spPr>
        </p:cxnSp>
      </p:grpSp>
      <p:grpSp>
        <p:nvGrpSpPr>
          <p:cNvPr id="749" name="Google Shape;749;p39"/>
          <p:cNvGrpSpPr/>
          <p:nvPr/>
        </p:nvGrpSpPr>
        <p:grpSpPr>
          <a:xfrm>
            <a:off x="1173725" y="2193925"/>
            <a:ext cx="1493100" cy="1959900"/>
            <a:chOff x="2545325" y="2193925"/>
            <a:chExt cx="1493100" cy="1959900"/>
          </a:xfrm>
        </p:grpSpPr>
        <p:cxnSp>
          <p:nvCxnSpPr>
            <p:cNvPr id="750" name="Google Shape;750;p39"/>
            <p:cNvCxnSpPr>
              <a:stCxn id="719" idx="6"/>
              <a:endCxn id="731" idx="2"/>
            </p:cNvCxnSpPr>
            <p:nvPr/>
          </p:nvCxnSpPr>
          <p:spPr>
            <a:xfrm>
              <a:off x="2545325" y="2193925"/>
              <a:ext cx="1493100" cy="1692600"/>
            </a:xfrm>
            <a:prstGeom prst="straightConnector1">
              <a:avLst/>
            </a:prstGeom>
            <a:noFill/>
            <a:ln cap="flat" cmpd="sng" w="9525">
              <a:solidFill>
                <a:schemeClr val="dk2"/>
              </a:solidFill>
              <a:prstDash val="solid"/>
              <a:round/>
              <a:headEnd len="med" w="med" type="none"/>
              <a:tailEnd len="med" w="med" type="none"/>
            </a:ln>
          </p:spPr>
        </p:cxnSp>
        <p:cxnSp>
          <p:nvCxnSpPr>
            <p:cNvPr id="751" name="Google Shape;751;p39"/>
            <p:cNvCxnSpPr>
              <a:stCxn id="721" idx="6"/>
              <a:endCxn id="731" idx="2"/>
            </p:cNvCxnSpPr>
            <p:nvPr/>
          </p:nvCxnSpPr>
          <p:spPr>
            <a:xfrm>
              <a:off x="2545325" y="2847225"/>
              <a:ext cx="1493100" cy="1039500"/>
            </a:xfrm>
            <a:prstGeom prst="straightConnector1">
              <a:avLst/>
            </a:prstGeom>
            <a:noFill/>
            <a:ln cap="flat" cmpd="sng" w="9525">
              <a:solidFill>
                <a:schemeClr val="dk2"/>
              </a:solidFill>
              <a:prstDash val="solid"/>
              <a:round/>
              <a:headEnd len="med" w="med" type="none"/>
              <a:tailEnd len="med" w="med" type="none"/>
            </a:ln>
          </p:spPr>
        </p:cxnSp>
        <p:cxnSp>
          <p:nvCxnSpPr>
            <p:cNvPr id="752" name="Google Shape;752;p39"/>
            <p:cNvCxnSpPr>
              <a:stCxn id="723" idx="6"/>
              <a:endCxn id="731" idx="2"/>
            </p:cNvCxnSpPr>
            <p:nvPr/>
          </p:nvCxnSpPr>
          <p:spPr>
            <a:xfrm>
              <a:off x="2545325" y="3500525"/>
              <a:ext cx="1493100" cy="386100"/>
            </a:xfrm>
            <a:prstGeom prst="straightConnector1">
              <a:avLst/>
            </a:prstGeom>
            <a:noFill/>
            <a:ln cap="flat" cmpd="sng" w="9525">
              <a:solidFill>
                <a:schemeClr val="dk2"/>
              </a:solidFill>
              <a:prstDash val="solid"/>
              <a:round/>
              <a:headEnd len="med" w="med" type="none"/>
              <a:tailEnd len="med" w="med" type="none"/>
            </a:ln>
          </p:spPr>
        </p:cxnSp>
        <p:cxnSp>
          <p:nvCxnSpPr>
            <p:cNvPr id="753" name="Google Shape;753;p39"/>
            <p:cNvCxnSpPr>
              <a:stCxn id="725" idx="6"/>
              <a:endCxn id="731" idx="2"/>
            </p:cNvCxnSpPr>
            <p:nvPr/>
          </p:nvCxnSpPr>
          <p:spPr>
            <a:xfrm flipH="1" rot="10800000">
              <a:off x="2545325" y="3886525"/>
              <a:ext cx="1493100" cy="267300"/>
            </a:xfrm>
            <a:prstGeom prst="straightConnector1">
              <a:avLst/>
            </a:prstGeom>
            <a:noFill/>
            <a:ln cap="flat" cmpd="sng" w="9525">
              <a:solidFill>
                <a:schemeClr val="dk2"/>
              </a:solidFill>
              <a:prstDash val="solid"/>
              <a:round/>
              <a:headEnd len="med" w="med" type="none"/>
              <a:tailEnd len="med" w="med" type="none"/>
            </a:ln>
          </p:spPr>
        </p:cxnSp>
      </p:grpSp>
      <p:grpSp>
        <p:nvGrpSpPr>
          <p:cNvPr id="754" name="Google Shape;754;p39"/>
          <p:cNvGrpSpPr/>
          <p:nvPr/>
        </p:nvGrpSpPr>
        <p:grpSpPr>
          <a:xfrm>
            <a:off x="1977050" y="2348875"/>
            <a:ext cx="689700" cy="2217600"/>
            <a:chOff x="3348650" y="2348875"/>
            <a:chExt cx="689700" cy="2217600"/>
          </a:xfrm>
        </p:grpSpPr>
        <p:cxnSp>
          <p:nvCxnSpPr>
            <p:cNvPr id="755" name="Google Shape;755;p39"/>
            <p:cNvCxnSpPr>
              <a:stCxn id="726" idx="0"/>
              <a:endCxn id="731" idx="2"/>
            </p:cNvCxnSpPr>
            <p:nvPr/>
          </p:nvCxnSpPr>
          <p:spPr>
            <a:xfrm flipH="1" rot="10800000">
              <a:off x="3348650" y="3886675"/>
              <a:ext cx="689700" cy="679800"/>
            </a:xfrm>
            <a:prstGeom prst="straightConnector1">
              <a:avLst/>
            </a:prstGeom>
            <a:noFill/>
            <a:ln cap="flat" cmpd="sng" w="9525">
              <a:solidFill>
                <a:schemeClr val="dk2"/>
              </a:solidFill>
              <a:prstDash val="solid"/>
              <a:round/>
              <a:headEnd len="med" w="med" type="none"/>
              <a:tailEnd len="med" w="med" type="none"/>
            </a:ln>
          </p:spPr>
        </p:cxnSp>
        <p:cxnSp>
          <p:nvCxnSpPr>
            <p:cNvPr id="756" name="Google Shape;756;p39"/>
            <p:cNvCxnSpPr>
              <a:stCxn id="730" idx="2"/>
              <a:endCxn id="726" idx="0"/>
            </p:cNvCxnSpPr>
            <p:nvPr/>
          </p:nvCxnSpPr>
          <p:spPr>
            <a:xfrm flipH="1">
              <a:off x="3348650" y="3092500"/>
              <a:ext cx="689700" cy="1473900"/>
            </a:xfrm>
            <a:prstGeom prst="straightConnector1">
              <a:avLst/>
            </a:prstGeom>
            <a:noFill/>
            <a:ln cap="flat" cmpd="sng" w="9525">
              <a:solidFill>
                <a:schemeClr val="dk2"/>
              </a:solidFill>
              <a:prstDash val="solid"/>
              <a:round/>
              <a:headEnd len="med" w="med" type="none"/>
              <a:tailEnd len="med" w="med" type="none"/>
            </a:ln>
          </p:spPr>
        </p:cxnSp>
        <p:cxnSp>
          <p:nvCxnSpPr>
            <p:cNvPr id="757" name="Google Shape;757;p39"/>
            <p:cNvCxnSpPr>
              <a:stCxn id="729" idx="2"/>
              <a:endCxn id="726" idx="0"/>
            </p:cNvCxnSpPr>
            <p:nvPr/>
          </p:nvCxnSpPr>
          <p:spPr>
            <a:xfrm flipH="1">
              <a:off x="3348650" y="2348875"/>
              <a:ext cx="689700" cy="2217600"/>
            </a:xfrm>
            <a:prstGeom prst="straightConnector1">
              <a:avLst/>
            </a:prstGeom>
            <a:noFill/>
            <a:ln cap="flat" cmpd="sng" w="9525">
              <a:solidFill>
                <a:schemeClr val="dk2"/>
              </a:solidFill>
              <a:prstDash val="solid"/>
              <a:round/>
              <a:headEnd len="med" w="med" type="none"/>
              <a:tailEnd len="med" w="med" type="none"/>
            </a:ln>
          </p:spPr>
        </p:cxnSp>
      </p:grpSp>
      <p:grpSp>
        <p:nvGrpSpPr>
          <p:cNvPr id="758" name="Google Shape;758;p39"/>
          <p:cNvGrpSpPr/>
          <p:nvPr/>
        </p:nvGrpSpPr>
        <p:grpSpPr>
          <a:xfrm>
            <a:off x="3151571" y="2348875"/>
            <a:ext cx="403809" cy="1537900"/>
            <a:chOff x="4517225" y="2348875"/>
            <a:chExt cx="408300" cy="1537900"/>
          </a:xfrm>
        </p:grpSpPr>
        <p:cxnSp>
          <p:nvCxnSpPr>
            <p:cNvPr id="759" name="Google Shape;759;p39"/>
            <p:cNvCxnSpPr/>
            <p:nvPr/>
          </p:nvCxnSpPr>
          <p:spPr>
            <a:xfrm>
              <a:off x="4517225" y="2348875"/>
              <a:ext cx="408300" cy="0"/>
            </a:xfrm>
            <a:prstGeom prst="straightConnector1">
              <a:avLst/>
            </a:prstGeom>
            <a:noFill/>
            <a:ln cap="flat" cmpd="sng" w="9525">
              <a:solidFill>
                <a:schemeClr val="dk2"/>
              </a:solidFill>
              <a:prstDash val="solid"/>
              <a:round/>
              <a:headEnd len="med" w="med" type="none"/>
              <a:tailEnd len="med" w="med" type="none"/>
            </a:ln>
          </p:spPr>
        </p:cxnSp>
        <p:cxnSp>
          <p:nvCxnSpPr>
            <p:cNvPr id="760" name="Google Shape;760;p39"/>
            <p:cNvCxnSpPr/>
            <p:nvPr/>
          </p:nvCxnSpPr>
          <p:spPr>
            <a:xfrm>
              <a:off x="4517225" y="3092500"/>
              <a:ext cx="408300" cy="0"/>
            </a:xfrm>
            <a:prstGeom prst="straightConnector1">
              <a:avLst/>
            </a:prstGeom>
            <a:noFill/>
            <a:ln cap="flat" cmpd="sng" w="9525">
              <a:solidFill>
                <a:schemeClr val="dk2"/>
              </a:solidFill>
              <a:prstDash val="solid"/>
              <a:round/>
              <a:headEnd len="med" w="med" type="none"/>
              <a:tailEnd len="med" w="med" type="none"/>
            </a:ln>
          </p:spPr>
        </p:cxnSp>
        <p:cxnSp>
          <p:nvCxnSpPr>
            <p:cNvPr id="761" name="Google Shape;761;p39"/>
            <p:cNvCxnSpPr/>
            <p:nvPr/>
          </p:nvCxnSpPr>
          <p:spPr>
            <a:xfrm flipH="1" rot="10800000">
              <a:off x="4517225" y="3876275"/>
              <a:ext cx="408300" cy="10500"/>
            </a:xfrm>
            <a:prstGeom prst="straightConnector1">
              <a:avLst/>
            </a:prstGeom>
            <a:noFill/>
            <a:ln cap="flat" cmpd="sng" w="9525">
              <a:solidFill>
                <a:schemeClr val="dk2"/>
              </a:solidFill>
              <a:prstDash val="solid"/>
              <a:round/>
              <a:headEnd len="med" w="med" type="none"/>
              <a:tailEnd len="med" w="med" type="none"/>
            </a:ln>
          </p:spPr>
        </p:cxnSp>
      </p:grpSp>
      <p:grpSp>
        <p:nvGrpSpPr>
          <p:cNvPr id="762" name="Google Shape;762;p39"/>
          <p:cNvGrpSpPr/>
          <p:nvPr/>
        </p:nvGrpSpPr>
        <p:grpSpPr>
          <a:xfrm>
            <a:off x="6666088" y="3038277"/>
            <a:ext cx="500481" cy="1929998"/>
            <a:chOff x="7343550" y="3166427"/>
            <a:chExt cx="500481" cy="1929998"/>
          </a:xfrm>
        </p:grpSpPr>
        <p:sp>
          <p:nvSpPr>
            <p:cNvPr id="763" name="Google Shape;763;p39"/>
            <p:cNvSpPr/>
            <p:nvPr/>
          </p:nvSpPr>
          <p:spPr>
            <a:xfrm>
              <a:off x="7343550" y="4634125"/>
              <a:ext cx="478800" cy="46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64" name="Google Shape;764;p39"/>
            <p:cNvCxnSpPr>
              <a:stCxn id="763" idx="7"/>
              <a:endCxn id="737" idx="2"/>
            </p:cNvCxnSpPr>
            <p:nvPr/>
          </p:nvCxnSpPr>
          <p:spPr>
            <a:xfrm flipH="1" rot="10800000">
              <a:off x="7752231" y="3166427"/>
              <a:ext cx="91800" cy="1535400"/>
            </a:xfrm>
            <a:prstGeom prst="straightConnector1">
              <a:avLst/>
            </a:prstGeom>
            <a:noFill/>
            <a:ln cap="flat" cmpd="sng" w="9525">
              <a:solidFill>
                <a:schemeClr val="dk2"/>
              </a:solidFill>
              <a:prstDash val="solid"/>
              <a:round/>
              <a:headEnd len="med" w="med" type="none"/>
              <a:tailEnd len="med" w="med" type="none"/>
            </a:ln>
          </p:spPr>
        </p:cxnSp>
      </p:grpSp>
      <p:grpSp>
        <p:nvGrpSpPr>
          <p:cNvPr id="765" name="Google Shape;765;p39"/>
          <p:cNvGrpSpPr/>
          <p:nvPr/>
        </p:nvGrpSpPr>
        <p:grpSpPr>
          <a:xfrm>
            <a:off x="4587575" y="1411700"/>
            <a:ext cx="2192400" cy="3031800"/>
            <a:chOff x="3468775" y="1446913"/>
            <a:chExt cx="2192400" cy="3031800"/>
          </a:xfrm>
        </p:grpSpPr>
        <p:sp>
          <p:nvSpPr>
            <p:cNvPr id="766" name="Google Shape;766;p39"/>
            <p:cNvSpPr txBox="1"/>
            <p:nvPr/>
          </p:nvSpPr>
          <p:spPr>
            <a:xfrm>
              <a:off x="3468775" y="1446913"/>
              <a:ext cx="21924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hidden layer 2</a:t>
              </a:r>
              <a:endParaRPr b="1">
                <a:solidFill>
                  <a:schemeClr val="dk1"/>
                </a:solidFill>
              </a:endParaRPr>
            </a:p>
          </p:txBody>
        </p:sp>
        <p:sp>
          <p:nvSpPr>
            <p:cNvPr id="767" name="Google Shape;767;p39"/>
            <p:cNvSpPr/>
            <p:nvPr/>
          </p:nvSpPr>
          <p:spPr>
            <a:xfrm>
              <a:off x="3962150" y="2404150"/>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768" name="Google Shape;768;p39"/>
            <p:cNvSpPr/>
            <p:nvPr/>
          </p:nvSpPr>
          <p:spPr>
            <a:xfrm>
              <a:off x="3962150" y="32744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769" name="Google Shape;769;p39"/>
            <p:cNvSpPr/>
            <p:nvPr/>
          </p:nvSpPr>
          <p:spPr>
            <a:xfrm>
              <a:off x="4849325" y="2404150"/>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sp>
          <p:nvSpPr>
            <p:cNvPr id="770" name="Google Shape;770;p39"/>
            <p:cNvSpPr/>
            <p:nvPr/>
          </p:nvSpPr>
          <p:spPr>
            <a:xfrm>
              <a:off x="4849325" y="3264125"/>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grpSp>
      <p:grpSp>
        <p:nvGrpSpPr>
          <p:cNvPr id="771" name="Google Shape;771;p39"/>
          <p:cNvGrpSpPr/>
          <p:nvPr/>
        </p:nvGrpSpPr>
        <p:grpSpPr>
          <a:xfrm>
            <a:off x="5559750" y="2600088"/>
            <a:ext cx="408300" cy="870325"/>
            <a:chOff x="4288550" y="2635300"/>
            <a:chExt cx="408300" cy="870325"/>
          </a:xfrm>
        </p:grpSpPr>
        <p:cxnSp>
          <p:nvCxnSpPr>
            <p:cNvPr id="772" name="Google Shape;772;p39"/>
            <p:cNvCxnSpPr>
              <a:stCxn id="767" idx="6"/>
              <a:endCxn id="769" idx="2"/>
            </p:cNvCxnSpPr>
            <p:nvPr/>
          </p:nvCxnSpPr>
          <p:spPr>
            <a:xfrm>
              <a:off x="4288550" y="2635300"/>
              <a:ext cx="408300" cy="0"/>
            </a:xfrm>
            <a:prstGeom prst="straightConnector1">
              <a:avLst/>
            </a:prstGeom>
            <a:noFill/>
            <a:ln cap="flat" cmpd="sng" w="9525">
              <a:solidFill>
                <a:schemeClr val="dk2"/>
              </a:solidFill>
              <a:prstDash val="solid"/>
              <a:round/>
              <a:headEnd len="med" w="med" type="none"/>
              <a:tailEnd len="med" w="med" type="none"/>
            </a:ln>
          </p:spPr>
        </p:cxnSp>
        <p:cxnSp>
          <p:nvCxnSpPr>
            <p:cNvPr id="773" name="Google Shape;773;p39"/>
            <p:cNvCxnSpPr>
              <a:stCxn id="768" idx="6"/>
              <a:endCxn id="770" idx="2"/>
            </p:cNvCxnSpPr>
            <p:nvPr/>
          </p:nvCxnSpPr>
          <p:spPr>
            <a:xfrm flipH="1" rot="10800000">
              <a:off x="4288550" y="3495125"/>
              <a:ext cx="408300" cy="10500"/>
            </a:xfrm>
            <a:prstGeom prst="straightConnector1">
              <a:avLst/>
            </a:prstGeom>
            <a:noFill/>
            <a:ln cap="flat" cmpd="sng" w="9525">
              <a:solidFill>
                <a:schemeClr val="dk2"/>
              </a:solidFill>
              <a:prstDash val="solid"/>
              <a:round/>
              <a:headEnd len="med" w="med" type="none"/>
              <a:tailEnd len="med" w="med" type="none"/>
            </a:ln>
          </p:spPr>
        </p:cxnSp>
      </p:grpSp>
      <p:cxnSp>
        <p:nvCxnSpPr>
          <p:cNvPr id="774" name="Google Shape;774;p39"/>
          <p:cNvCxnSpPr>
            <a:stCxn id="732" idx="6"/>
            <a:endCxn id="767" idx="2"/>
          </p:cNvCxnSpPr>
          <p:nvPr/>
        </p:nvCxnSpPr>
        <p:spPr>
          <a:xfrm>
            <a:off x="4032725" y="2348875"/>
            <a:ext cx="1048200" cy="251100"/>
          </a:xfrm>
          <a:prstGeom prst="straightConnector1">
            <a:avLst/>
          </a:prstGeom>
          <a:noFill/>
          <a:ln cap="flat" cmpd="sng" w="9525">
            <a:solidFill>
              <a:schemeClr val="dk2"/>
            </a:solidFill>
            <a:prstDash val="solid"/>
            <a:round/>
            <a:headEnd len="med" w="med" type="none"/>
            <a:tailEnd len="med" w="med" type="none"/>
          </a:ln>
        </p:spPr>
      </p:cxnSp>
      <p:cxnSp>
        <p:nvCxnSpPr>
          <p:cNvPr id="775" name="Google Shape;775;p39"/>
          <p:cNvCxnSpPr>
            <a:stCxn id="733" idx="6"/>
            <a:endCxn id="767" idx="2"/>
          </p:cNvCxnSpPr>
          <p:nvPr/>
        </p:nvCxnSpPr>
        <p:spPr>
          <a:xfrm flipH="1" rot="10800000">
            <a:off x="4032725" y="2600200"/>
            <a:ext cx="1048200" cy="492300"/>
          </a:xfrm>
          <a:prstGeom prst="straightConnector1">
            <a:avLst/>
          </a:prstGeom>
          <a:noFill/>
          <a:ln cap="flat" cmpd="sng" w="9525">
            <a:solidFill>
              <a:schemeClr val="dk2"/>
            </a:solidFill>
            <a:prstDash val="solid"/>
            <a:round/>
            <a:headEnd len="med" w="med" type="none"/>
            <a:tailEnd len="med" w="med" type="none"/>
          </a:ln>
        </p:spPr>
      </p:cxnSp>
      <p:cxnSp>
        <p:nvCxnSpPr>
          <p:cNvPr id="776" name="Google Shape;776;p39"/>
          <p:cNvCxnSpPr>
            <a:stCxn id="734" idx="6"/>
            <a:endCxn id="767" idx="2"/>
          </p:cNvCxnSpPr>
          <p:nvPr/>
        </p:nvCxnSpPr>
        <p:spPr>
          <a:xfrm flipH="1" rot="10800000">
            <a:off x="4032725" y="2600075"/>
            <a:ext cx="1048200" cy="1276200"/>
          </a:xfrm>
          <a:prstGeom prst="straightConnector1">
            <a:avLst/>
          </a:prstGeom>
          <a:noFill/>
          <a:ln cap="flat" cmpd="sng" w="9525">
            <a:solidFill>
              <a:schemeClr val="dk2"/>
            </a:solidFill>
            <a:prstDash val="solid"/>
            <a:round/>
            <a:headEnd len="med" w="med" type="none"/>
            <a:tailEnd len="med" w="med" type="none"/>
          </a:ln>
        </p:spPr>
      </p:cxnSp>
      <p:cxnSp>
        <p:nvCxnSpPr>
          <p:cNvPr id="777" name="Google Shape;777;p39"/>
          <p:cNvCxnSpPr>
            <a:stCxn id="732" idx="6"/>
            <a:endCxn id="768" idx="2"/>
          </p:cNvCxnSpPr>
          <p:nvPr/>
        </p:nvCxnSpPr>
        <p:spPr>
          <a:xfrm>
            <a:off x="4032725" y="2348875"/>
            <a:ext cx="1048200" cy="1121400"/>
          </a:xfrm>
          <a:prstGeom prst="straightConnector1">
            <a:avLst/>
          </a:prstGeom>
          <a:noFill/>
          <a:ln cap="flat" cmpd="sng" w="9525">
            <a:solidFill>
              <a:schemeClr val="dk2"/>
            </a:solidFill>
            <a:prstDash val="solid"/>
            <a:round/>
            <a:headEnd len="med" w="med" type="none"/>
            <a:tailEnd len="med" w="med" type="none"/>
          </a:ln>
        </p:spPr>
      </p:cxnSp>
      <p:cxnSp>
        <p:nvCxnSpPr>
          <p:cNvPr id="778" name="Google Shape;778;p39"/>
          <p:cNvCxnSpPr>
            <a:stCxn id="733" idx="6"/>
            <a:endCxn id="768" idx="2"/>
          </p:cNvCxnSpPr>
          <p:nvPr/>
        </p:nvCxnSpPr>
        <p:spPr>
          <a:xfrm>
            <a:off x="4032725" y="3092500"/>
            <a:ext cx="1048200" cy="378000"/>
          </a:xfrm>
          <a:prstGeom prst="straightConnector1">
            <a:avLst/>
          </a:prstGeom>
          <a:noFill/>
          <a:ln cap="flat" cmpd="sng" w="9525">
            <a:solidFill>
              <a:schemeClr val="dk2"/>
            </a:solidFill>
            <a:prstDash val="solid"/>
            <a:round/>
            <a:headEnd len="med" w="med" type="none"/>
            <a:tailEnd len="med" w="med" type="none"/>
          </a:ln>
        </p:spPr>
      </p:cxnSp>
      <p:cxnSp>
        <p:nvCxnSpPr>
          <p:cNvPr id="779" name="Google Shape;779;p39"/>
          <p:cNvCxnSpPr>
            <a:stCxn id="734" idx="6"/>
            <a:endCxn id="768" idx="2"/>
          </p:cNvCxnSpPr>
          <p:nvPr/>
        </p:nvCxnSpPr>
        <p:spPr>
          <a:xfrm flipH="1" rot="10800000">
            <a:off x="4032725" y="3470375"/>
            <a:ext cx="1048200" cy="405900"/>
          </a:xfrm>
          <a:prstGeom prst="straightConnector1">
            <a:avLst/>
          </a:prstGeom>
          <a:noFill/>
          <a:ln cap="flat" cmpd="sng" w="9525">
            <a:solidFill>
              <a:schemeClr val="dk2"/>
            </a:solidFill>
            <a:prstDash val="solid"/>
            <a:round/>
            <a:headEnd len="med" w="med" type="none"/>
            <a:tailEnd len="med" w="med" type="none"/>
          </a:ln>
        </p:spPr>
      </p:cxnSp>
      <p:cxnSp>
        <p:nvCxnSpPr>
          <p:cNvPr id="780" name="Google Shape;780;p39"/>
          <p:cNvCxnSpPr>
            <a:stCxn id="769" idx="6"/>
            <a:endCxn id="737" idx="2"/>
          </p:cNvCxnSpPr>
          <p:nvPr/>
        </p:nvCxnSpPr>
        <p:spPr>
          <a:xfrm>
            <a:off x="6446925" y="2600088"/>
            <a:ext cx="719700" cy="438000"/>
          </a:xfrm>
          <a:prstGeom prst="straightConnector1">
            <a:avLst/>
          </a:prstGeom>
          <a:noFill/>
          <a:ln cap="flat" cmpd="sng" w="9525">
            <a:solidFill>
              <a:schemeClr val="dk2"/>
            </a:solidFill>
            <a:prstDash val="solid"/>
            <a:round/>
            <a:headEnd len="med" w="med" type="none"/>
            <a:tailEnd len="med" w="med" type="none"/>
          </a:ln>
        </p:spPr>
      </p:cxnSp>
      <p:cxnSp>
        <p:nvCxnSpPr>
          <p:cNvPr id="781" name="Google Shape;781;p39"/>
          <p:cNvCxnSpPr>
            <a:stCxn id="770" idx="6"/>
            <a:endCxn id="737" idx="2"/>
          </p:cNvCxnSpPr>
          <p:nvPr/>
        </p:nvCxnSpPr>
        <p:spPr>
          <a:xfrm flipH="1" rot="10800000">
            <a:off x="6446925" y="3038263"/>
            <a:ext cx="719700" cy="421800"/>
          </a:xfrm>
          <a:prstGeom prst="straightConnector1">
            <a:avLst/>
          </a:prstGeom>
          <a:noFill/>
          <a:ln cap="flat" cmpd="sng" w="9525">
            <a:solidFill>
              <a:schemeClr val="dk2"/>
            </a:solidFill>
            <a:prstDash val="solid"/>
            <a:round/>
            <a:headEnd len="med" w="med" type="none"/>
            <a:tailEnd len="med" w="med" type="none"/>
          </a:ln>
        </p:spPr>
      </p:cxnSp>
      <p:grpSp>
        <p:nvGrpSpPr>
          <p:cNvPr id="782" name="Google Shape;782;p39"/>
          <p:cNvGrpSpPr/>
          <p:nvPr/>
        </p:nvGrpSpPr>
        <p:grpSpPr>
          <a:xfrm>
            <a:off x="4160714" y="3470511"/>
            <a:ext cx="920247" cy="1518763"/>
            <a:chOff x="7233911" y="3088393"/>
            <a:chExt cx="1114776" cy="1922485"/>
          </a:xfrm>
        </p:grpSpPr>
        <p:sp>
          <p:nvSpPr>
            <p:cNvPr id="783" name="Google Shape;783;p39"/>
            <p:cNvSpPr/>
            <p:nvPr/>
          </p:nvSpPr>
          <p:spPr>
            <a:xfrm>
              <a:off x="7233911" y="4425577"/>
              <a:ext cx="579900" cy="585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84" name="Google Shape;784;p39"/>
            <p:cNvCxnSpPr>
              <a:stCxn id="783" idx="7"/>
              <a:endCxn id="768" idx="2"/>
            </p:cNvCxnSpPr>
            <p:nvPr/>
          </p:nvCxnSpPr>
          <p:spPr>
            <a:xfrm flipH="1" rot="10800000">
              <a:off x="7728887" y="3088393"/>
              <a:ext cx="619800" cy="1422900"/>
            </a:xfrm>
            <a:prstGeom prst="straightConnector1">
              <a:avLst/>
            </a:prstGeom>
            <a:noFill/>
            <a:ln cap="flat" cmpd="sng" w="9525">
              <a:solidFill>
                <a:schemeClr val="dk2"/>
              </a:solidFill>
              <a:prstDash val="solid"/>
              <a:round/>
              <a:headEnd len="med" w="med" type="none"/>
              <a:tailEnd len="med" w="med" type="none"/>
            </a:ln>
          </p:spPr>
        </p:cxnSp>
      </p:grpSp>
      <p:cxnSp>
        <p:nvCxnSpPr>
          <p:cNvPr id="785" name="Google Shape;785;p39"/>
          <p:cNvCxnSpPr>
            <a:stCxn id="783" idx="7"/>
            <a:endCxn id="767" idx="2"/>
          </p:cNvCxnSpPr>
          <p:nvPr/>
        </p:nvCxnSpPr>
        <p:spPr>
          <a:xfrm flipH="1" rot="10800000">
            <a:off x="4569316" y="2600202"/>
            <a:ext cx="511500" cy="1994400"/>
          </a:xfrm>
          <a:prstGeom prst="straightConnector1">
            <a:avLst/>
          </a:prstGeom>
          <a:noFill/>
          <a:ln cap="flat" cmpd="sng" w="9525">
            <a:solidFill>
              <a:schemeClr val="dk2"/>
            </a:solidFill>
            <a:prstDash val="solid"/>
            <a:round/>
            <a:headEnd len="med" w="med" type="none"/>
            <a:tailEnd len="med" w="med" type="none"/>
          </a:ln>
        </p:spPr>
      </p:cxnSp>
      <p:cxnSp>
        <p:nvCxnSpPr>
          <p:cNvPr id="786" name="Google Shape;786;p39"/>
          <p:cNvCxnSpPr>
            <a:endCxn id="738" idx="2"/>
          </p:cNvCxnSpPr>
          <p:nvPr/>
        </p:nvCxnSpPr>
        <p:spPr>
          <a:xfrm flipH="1" rot="10800000">
            <a:off x="7645250" y="3035274"/>
            <a:ext cx="684000" cy="3000"/>
          </a:xfrm>
          <a:prstGeom prst="straightConnector1">
            <a:avLst/>
          </a:prstGeom>
          <a:noFill/>
          <a:ln cap="flat" cmpd="sng" w="9525">
            <a:solidFill>
              <a:schemeClr val="dk2"/>
            </a:solidFill>
            <a:prstDash val="solid"/>
            <a:round/>
            <a:headEnd len="med" w="med" type="none"/>
            <a:tailEnd len="med" w="med" type="none"/>
          </a:ln>
        </p:spPr>
      </p:cxnSp>
      <p:sp>
        <p:nvSpPr>
          <p:cNvPr id="787" name="Google Shape;787;p39"/>
          <p:cNvSpPr txBox="1"/>
          <p:nvPr/>
        </p:nvSpPr>
        <p:spPr>
          <a:xfrm>
            <a:off x="2590550" y="4566475"/>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1B91CA"/>
                </a:solidFill>
              </a:rPr>
              <a:t>Z</a:t>
            </a:r>
            <a:r>
              <a:rPr lang="en">
                <a:solidFill>
                  <a:srgbClr val="1B91CA"/>
                </a:solidFill>
              </a:rPr>
              <a:t> </a:t>
            </a:r>
            <a:r>
              <a:rPr baseline="30000" lang="en">
                <a:solidFill>
                  <a:srgbClr val="1B91CA"/>
                </a:solidFill>
              </a:rPr>
              <a:t>(1)</a:t>
            </a:r>
            <a:endParaRPr>
              <a:solidFill>
                <a:srgbClr val="1B91CA"/>
              </a:solidFill>
            </a:endParaRPr>
          </a:p>
        </p:txBody>
      </p:sp>
      <p:sp>
        <p:nvSpPr>
          <p:cNvPr id="788" name="Google Shape;788;p39"/>
          <p:cNvSpPr txBox="1"/>
          <p:nvPr/>
        </p:nvSpPr>
        <p:spPr>
          <a:xfrm>
            <a:off x="5080825" y="4566475"/>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1B91CA"/>
                </a:solidFill>
              </a:rPr>
              <a:t>Z</a:t>
            </a:r>
            <a:r>
              <a:rPr lang="en">
                <a:solidFill>
                  <a:srgbClr val="1B91CA"/>
                </a:solidFill>
              </a:rPr>
              <a:t> </a:t>
            </a:r>
            <a:r>
              <a:rPr baseline="30000" lang="en">
                <a:solidFill>
                  <a:srgbClr val="1B91CA"/>
                </a:solidFill>
              </a:rPr>
              <a:t>(2)</a:t>
            </a:r>
            <a:endParaRPr>
              <a:solidFill>
                <a:srgbClr val="1B91CA"/>
              </a:solidFill>
            </a:endParaRPr>
          </a:p>
        </p:txBody>
      </p:sp>
      <p:sp>
        <p:nvSpPr>
          <p:cNvPr id="789" name="Google Shape;789;p39"/>
          <p:cNvSpPr txBox="1"/>
          <p:nvPr/>
        </p:nvSpPr>
        <p:spPr>
          <a:xfrm>
            <a:off x="3495550" y="4566475"/>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FF00FF"/>
                </a:solidFill>
              </a:rPr>
              <a:t>h</a:t>
            </a:r>
            <a:r>
              <a:rPr lang="en">
                <a:solidFill>
                  <a:srgbClr val="FF00FF"/>
                </a:solidFill>
              </a:rPr>
              <a:t> </a:t>
            </a:r>
            <a:r>
              <a:rPr baseline="30000" lang="en">
                <a:solidFill>
                  <a:srgbClr val="FF00FF"/>
                </a:solidFill>
              </a:rPr>
              <a:t>(1)</a:t>
            </a:r>
            <a:endParaRPr>
              <a:solidFill>
                <a:srgbClr val="FF00FF"/>
              </a:solidFill>
            </a:endParaRPr>
          </a:p>
        </p:txBody>
      </p:sp>
      <p:sp>
        <p:nvSpPr>
          <p:cNvPr id="790" name="Google Shape;790;p39"/>
          <p:cNvSpPr txBox="1"/>
          <p:nvPr/>
        </p:nvSpPr>
        <p:spPr>
          <a:xfrm>
            <a:off x="5968050" y="4554900"/>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FF00FF"/>
                </a:solidFill>
              </a:rPr>
              <a:t>h</a:t>
            </a:r>
            <a:r>
              <a:rPr lang="en">
                <a:solidFill>
                  <a:srgbClr val="FF00FF"/>
                </a:solidFill>
              </a:rPr>
              <a:t> </a:t>
            </a:r>
            <a:r>
              <a:rPr baseline="30000" lang="en">
                <a:solidFill>
                  <a:srgbClr val="FF00FF"/>
                </a:solidFill>
              </a:rPr>
              <a:t>(2)</a:t>
            </a:r>
            <a:endParaRPr>
              <a:solidFill>
                <a:srgbClr val="FF00FF"/>
              </a:solidFill>
            </a:endParaRPr>
          </a:p>
        </p:txBody>
      </p:sp>
      <p:sp>
        <p:nvSpPr>
          <p:cNvPr id="791" name="Google Shape;791;p39"/>
          <p:cNvSpPr txBox="1"/>
          <p:nvPr/>
        </p:nvSpPr>
        <p:spPr>
          <a:xfrm>
            <a:off x="7667525" y="4560688"/>
            <a:ext cx="1419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prediction </a:t>
            </a:r>
            <a:r>
              <a:rPr b="1" lang="en">
                <a:solidFill>
                  <a:srgbClr val="949AF8"/>
                </a:solidFill>
              </a:rPr>
              <a:t>ŷ</a:t>
            </a:r>
            <a:endParaRPr/>
          </a:p>
        </p:txBody>
      </p:sp>
      <p:sp>
        <p:nvSpPr>
          <p:cNvPr id="792" name="Google Shape;792;p39"/>
          <p:cNvSpPr txBox="1"/>
          <p:nvPr/>
        </p:nvSpPr>
        <p:spPr>
          <a:xfrm>
            <a:off x="3747025" y="1629100"/>
            <a:ext cx="54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ɸ</a:t>
            </a:r>
            <a:r>
              <a:rPr lang="en">
                <a:solidFill>
                  <a:schemeClr val="dk2"/>
                </a:solidFill>
              </a:rPr>
              <a:t> </a:t>
            </a:r>
            <a:r>
              <a:rPr baseline="30000" lang="en">
                <a:solidFill>
                  <a:schemeClr val="dk2"/>
                </a:solidFill>
              </a:rPr>
              <a:t>(1)</a:t>
            </a:r>
            <a:endParaRPr/>
          </a:p>
        </p:txBody>
      </p:sp>
      <p:sp>
        <p:nvSpPr>
          <p:cNvPr id="793" name="Google Shape;793;p39"/>
          <p:cNvSpPr txBox="1"/>
          <p:nvPr/>
        </p:nvSpPr>
        <p:spPr>
          <a:xfrm>
            <a:off x="6237575" y="1705300"/>
            <a:ext cx="54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ɸ</a:t>
            </a:r>
            <a:r>
              <a:rPr lang="en">
                <a:solidFill>
                  <a:schemeClr val="dk2"/>
                </a:solidFill>
              </a:rPr>
              <a:t> </a:t>
            </a:r>
            <a:r>
              <a:rPr baseline="30000" lang="en">
                <a:solidFill>
                  <a:schemeClr val="dk2"/>
                </a:solidFill>
              </a:rPr>
              <a:t>(2)</a:t>
            </a:r>
            <a:endParaRPr/>
          </a:p>
        </p:txBody>
      </p:sp>
      <p:sp>
        <p:nvSpPr>
          <p:cNvPr id="794" name="Google Shape;794;p39"/>
          <p:cNvSpPr txBox="1"/>
          <p:nvPr/>
        </p:nvSpPr>
        <p:spPr>
          <a:xfrm>
            <a:off x="391925" y="152400"/>
            <a:ext cx="14931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Forward computation (making predictions)</a:t>
            </a:r>
            <a:endParaRPr/>
          </a:p>
        </p:txBody>
      </p:sp>
      <p:sp>
        <p:nvSpPr>
          <p:cNvPr id="795" name="Google Shape;795;p39"/>
          <p:cNvSpPr txBox="1"/>
          <p:nvPr/>
        </p:nvSpPr>
        <p:spPr>
          <a:xfrm>
            <a:off x="2292648" y="247800"/>
            <a:ext cx="16335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1B91CA"/>
                </a:solidFill>
              </a:rPr>
              <a:t>Z</a:t>
            </a:r>
            <a:r>
              <a:rPr baseline="30000" lang="en">
                <a:solidFill>
                  <a:srgbClr val="1B91CA"/>
                </a:solidFill>
              </a:rPr>
              <a:t>(1)</a:t>
            </a:r>
            <a:r>
              <a:rPr baseline="30000" lang="en">
                <a:solidFill>
                  <a:schemeClr val="dk1"/>
                </a:solidFill>
              </a:rPr>
              <a:t>  </a:t>
            </a:r>
            <a:r>
              <a:rPr lang="en">
                <a:solidFill>
                  <a:schemeClr val="dk1"/>
                </a:solidFill>
              </a:rPr>
              <a:t>=  </a:t>
            </a:r>
            <a:r>
              <a:rPr b="1" lang="en">
                <a:solidFill>
                  <a:schemeClr val="dk1"/>
                </a:solidFill>
              </a:rPr>
              <a:t>W</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rgbClr val="BCBD21"/>
                </a:solidFill>
              </a:rPr>
              <a:t>X </a:t>
            </a:r>
            <a:r>
              <a:rPr b="1" lang="en">
                <a:solidFill>
                  <a:schemeClr val="dk1"/>
                </a:solidFill>
              </a:rPr>
              <a:t>+ b</a:t>
            </a:r>
            <a:r>
              <a:rPr baseline="30000" lang="en">
                <a:solidFill>
                  <a:schemeClr val="dk1"/>
                </a:solidFill>
              </a:rPr>
              <a:t>(</a:t>
            </a:r>
            <a:r>
              <a:rPr b="1" baseline="30000" lang="en">
                <a:solidFill>
                  <a:srgbClr val="949AF8"/>
                </a:solidFill>
              </a:rPr>
              <a:t>1</a:t>
            </a:r>
            <a:r>
              <a:rPr baseline="30000" lang="en">
                <a:solidFill>
                  <a:schemeClr val="dk1"/>
                </a:solidFill>
              </a:rPr>
              <a:t>)</a:t>
            </a:r>
            <a:r>
              <a:rPr b="1" lang="en">
                <a:solidFill>
                  <a:schemeClr val="dk1"/>
                </a:solidFill>
              </a:rPr>
              <a:t> </a:t>
            </a:r>
            <a:endParaRPr/>
          </a:p>
        </p:txBody>
      </p:sp>
      <p:sp>
        <p:nvSpPr>
          <p:cNvPr id="796" name="Google Shape;796;p39"/>
          <p:cNvSpPr txBox="1"/>
          <p:nvPr/>
        </p:nvSpPr>
        <p:spPr>
          <a:xfrm>
            <a:off x="2292650" y="800400"/>
            <a:ext cx="16335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FF00FF"/>
                </a:solidFill>
              </a:rPr>
              <a:t>h</a:t>
            </a:r>
            <a:r>
              <a:rPr baseline="30000" lang="en">
                <a:solidFill>
                  <a:srgbClr val="FF00FF"/>
                </a:solidFill>
              </a:rPr>
              <a:t>(1)  </a:t>
            </a:r>
            <a:r>
              <a:rPr b="1" lang="en">
                <a:solidFill>
                  <a:schemeClr val="dk1"/>
                </a:solidFill>
              </a:rPr>
              <a:t>=  </a:t>
            </a:r>
            <a:r>
              <a:rPr b="1" lang="en">
                <a:solidFill>
                  <a:schemeClr val="dk2"/>
                </a:solidFill>
              </a:rPr>
              <a:t>ɸ</a:t>
            </a:r>
            <a:r>
              <a:rPr lang="en">
                <a:solidFill>
                  <a:schemeClr val="dk2"/>
                </a:solidFill>
              </a:rPr>
              <a:t> </a:t>
            </a:r>
            <a:r>
              <a:rPr baseline="30000" lang="en">
                <a:solidFill>
                  <a:schemeClr val="dk2"/>
                </a:solidFill>
              </a:rPr>
              <a:t>(1)</a:t>
            </a:r>
            <a:r>
              <a:rPr lang="en">
                <a:solidFill>
                  <a:schemeClr val="dk2"/>
                </a:solidFill>
              </a:rPr>
              <a:t>(</a:t>
            </a:r>
            <a:r>
              <a:rPr b="1" lang="en">
                <a:solidFill>
                  <a:srgbClr val="1B91CA"/>
                </a:solidFill>
              </a:rPr>
              <a:t> Z</a:t>
            </a:r>
            <a:r>
              <a:rPr baseline="30000" lang="en">
                <a:solidFill>
                  <a:srgbClr val="1B91CA"/>
                </a:solidFill>
              </a:rPr>
              <a:t>(1)</a:t>
            </a:r>
            <a:r>
              <a:rPr lang="en">
                <a:solidFill>
                  <a:schemeClr val="dk2"/>
                </a:solidFill>
              </a:rPr>
              <a:t>)</a:t>
            </a:r>
            <a:endParaRPr/>
          </a:p>
        </p:txBody>
      </p:sp>
      <p:sp>
        <p:nvSpPr>
          <p:cNvPr id="797" name="Google Shape;797;p39"/>
          <p:cNvSpPr txBox="1"/>
          <p:nvPr/>
        </p:nvSpPr>
        <p:spPr>
          <a:xfrm>
            <a:off x="4867025" y="257900"/>
            <a:ext cx="16335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1B91CA"/>
                </a:solidFill>
              </a:rPr>
              <a:t>Z</a:t>
            </a:r>
            <a:r>
              <a:rPr baseline="30000" lang="en">
                <a:solidFill>
                  <a:srgbClr val="1B91CA"/>
                </a:solidFill>
              </a:rPr>
              <a:t>(2)</a:t>
            </a:r>
            <a:r>
              <a:rPr baseline="30000" lang="en">
                <a:solidFill>
                  <a:schemeClr val="dk1"/>
                </a:solidFill>
              </a:rPr>
              <a:t> </a:t>
            </a:r>
            <a:r>
              <a:rPr lang="en">
                <a:solidFill>
                  <a:schemeClr val="dk1"/>
                </a:solidFill>
              </a:rPr>
              <a:t>=  </a:t>
            </a:r>
            <a:r>
              <a:rPr b="1" lang="en">
                <a:solidFill>
                  <a:schemeClr val="dk1"/>
                </a:solidFill>
              </a:rPr>
              <a:t>W</a:t>
            </a:r>
            <a:r>
              <a:rPr baseline="30000" lang="en">
                <a:solidFill>
                  <a:schemeClr val="dk1"/>
                </a:solidFill>
              </a:rPr>
              <a:t>(</a:t>
            </a:r>
            <a:r>
              <a:rPr b="1" baseline="30000" lang="en">
                <a:solidFill>
                  <a:srgbClr val="949AF8"/>
                </a:solidFill>
              </a:rPr>
              <a:t>2</a:t>
            </a:r>
            <a:r>
              <a:rPr baseline="30000" lang="en">
                <a:solidFill>
                  <a:schemeClr val="dk1"/>
                </a:solidFill>
              </a:rPr>
              <a:t>) </a:t>
            </a:r>
            <a:r>
              <a:rPr b="1" lang="en">
                <a:solidFill>
                  <a:srgbClr val="FF00FF"/>
                </a:solidFill>
              </a:rPr>
              <a:t>h</a:t>
            </a:r>
            <a:r>
              <a:rPr baseline="30000" lang="en">
                <a:solidFill>
                  <a:srgbClr val="FF00FF"/>
                </a:solidFill>
              </a:rPr>
              <a:t>(1)  </a:t>
            </a:r>
            <a:r>
              <a:rPr b="1" lang="en">
                <a:solidFill>
                  <a:schemeClr val="dk1"/>
                </a:solidFill>
              </a:rPr>
              <a:t>+b</a:t>
            </a:r>
            <a:r>
              <a:rPr baseline="30000" lang="en">
                <a:solidFill>
                  <a:schemeClr val="dk1"/>
                </a:solidFill>
              </a:rPr>
              <a:t>(</a:t>
            </a:r>
            <a:r>
              <a:rPr b="1" baseline="30000" lang="en">
                <a:solidFill>
                  <a:srgbClr val="949AF8"/>
                </a:solidFill>
              </a:rPr>
              <a:t>2</a:t>
            </a:r>
            <a:r>
              <a:rPr baseline="30000" lang="en">
                <a:solidFill>
                  <a:schemeClr val="dk1"/>
                </a:solidFill>
              </a:rPr>
              <a:t>)</a:t>
            </a:r>
            <a:r>
              <a:rPr b="1" lang="en">
                <a:solidFill>
                  <a:schemeClr val="dk1"/>
                </a:solidFill>
              </a:rPr>
              <a:t> </a:t>
            </a:r>
            <a:endParaRPr/>
          </a:p>
        </p:txBody>
      </p:sp>
      <p:sp>
        <p:nvSpPr>
          <p:cNvPr id="798" name="Google Shape;798;p39"/>
          <p:cNvSpPr txBox="1"/>
          <p:nvPr/>
        </p:nvSpPr>
        <p:spPr>
          <a:xfrm>
            <a:off x="4867025" y="810500"/>
            <a:ext cx="16335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FF00FF"/>
                </a:solidFill>
              </a:rPr>
              <a:t>h</a:t>
            </a:r>
            <a:r>
              <a:rPr baseline="30000" lang="en">
                <a:solidFill>
                  <a:srgbClr val="FF00FF"/>
                </a:solidFill>
              </a:rPr>
              <a:t>(2)  </a:t>
            </a:r>
            <a:r>
              <a:rPr b="1" lang="en">
                <a:solidFill>
                  <a:schemeClr val="dk1"/>
                </a:solidFill>
              </a:rPr>
              <a:t>=  </a:t>
            </a:r>
            <a:r>
              <a:rPr b="1" lang="en">
                <a:solidFill>
                  <a:schemeClr val="dk2"/>
                </a:solidFill>
              </a:rPr>
              <a:t>ɸ</a:t>
            </a:r>
            <a:r>
              <a:rPr lang="en">
                <a:solidFill>
                  <a:schemeClr val="dk2"/>
                </a:solidFill>
              </a:rPr>
              <a:t> </a:t>
            </a:r>
            <a:r>
              <a:rPr baseline="30000" lang="en">
                <a:solidFill>
                  <a:schemeClr val="dk2"/>
                </a:solidFill>
              </a:rPr>
              <a:t>(2)</a:t>
            </a:r>
            <a:r>
              <a:rPr b="1" lang="en">
                <a:solidFill>
                  <a:srgbClr val="1B91CA"/>
                </a:solidFill>
              </a:rPr>
              <a:t> </a:t>
            </a:r>
            <a:r>
              <a:rPr lang="en">
                <a:solidFill>
                  <a:schemeClr val="dk2"/>
                </a:solidFill>
              </a:rPr>
              <a:t>(</a:t>
            </a:r>
            <a:r>
              <a:rPr b="1" lang="en">
                <a:solidFill>
                  <a:srgbClr val="1B91CA"/>
                </a:solidFill>
              </a:rPr>
              <a:t>Z</a:t>
            </a:r>
            <a:r>
              <a:rPr baseline="30000" lang="en">
                <a:solidFill>
                  <a:srgbClr val="1B91CA"/>
                </a:solidFill>
              </a:rPr>
              <a:t>(2)</a:t>
            </a:r>
            <a:r>
              <a:rPr lang="en">
                <a:solidFill>
                  <a:schemeClr val="dk2"/>
                </a:solidFill>
              </a:rPr>
              <a:t>)</a:t>
            </a:r>
            <a:endParaRPr/>
          </a:p>
        </p:txBody>
      </p:sp>
      <p:sp>
        <p:nvSpPr>
          <p:cNvPr id="799" name="Google Shape;799;p39"/>
          <p:cNvSpPr txBox="1"/>
          <p:nvPr/>
        </p:nvSpPr>
        <p:spPr>
          <a:xfrm>
            <a:off x="7076823" y="257900"/>
            <a:ext cx="16335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1B91CA"/>
                </a:solidFill>
              </a:rPr>
              <a:t>Z</a:t>
            </a:r>
            <a:r>
              <a:rPr baseline="30000" lang="en">
                <a:solidFill>
                  <a:srgbClr val="1B91CA"/>
                </a:solidFill>
              </a:rPr>
              <a:t>(3)</a:t>
            </a:r>
            <a:r>
              <a:rPr baseline="30000" lang="en">
                <a:solidFill>
                  <a:schemeClr val="dk1"/>
                </a:solidFill>
              </a:rPr>
              <a:t> </a:t>
            </a:r>
            <a:r>
              <a:rPr lang="en">
                <a:solidFill>
                  <a:schemeClr val="dk1"/>
                </a:solidFill>
              </a:rPr>
              <a:t>=  </a:t>
            </a:r>
            <a:r>
              <a:rPr b="1" lang="en">
                <a:solidFill>
                  <a:schemeClr val="dk1"/>
                </a:solidFill>
              </a:rPr>
              <a:t>W</a:t>
            </a:r>
            <a:r>
              <a:rPr baseline="30000" lang="en">
                <a:solidFill>
                  <a:schemeClr val="dk1"/>
                </a:solidFill>
              </a:rPr>
              <a:t>(</a:t>
            </a:r>
            <a:r>
              <a:rPr b="1" baseline="30000" lang="en">
                <a:solidFill>
                  <a:srgbClr val="949AF8"/>
                </a:solidFill>
              </a:rPr>
              <a:t>3</a:t>
            </a:r>
            <a:r>
              <a:rPr baseline="30000" lang="en">
                <a:solidFill>
                  <a:schemeClr val="dk1"/>
                </a:solidFill>
              </a:rPr>
              <a:t>) </a:t>
            </a:r>
            <a:r>
              <a:rPr b="1" lang="en">
                <a:solidFill>
                  <a:srgbClr val="FF00FF"/>
                </a:solidFill>
              </a:rPr>
              <a:t>h</a:t>
            </a:r>
            <a:r>
              <a:rPr baseline="30000" lang="en">
                <a:solidFill>
                  <a:srgbClr val="FF00FF"/>
                </a:solidFill>
              </a:rPr>
              <a:t>(2) </a:t>
            </a:r>
            <a:r>
              <a:rPr b="1" lang="en">
                <a:solidFill>
                  <a:schemeClr val="dk1"/>
                </a:solidFill>
              </a:rPr>
              <a:t>+b</a:t>
            </a:r>
            <a:r>
              <a:rPr baseline="30000" lang="en">
                <a:solidFill>
                  <a:schemeClr val="dk1"/>
                </a:solidFill>
              </a:rPr>
              <a:t>(</a:t>
            </a:r>
            <a:r>
              <a:rPr b="1" baseline="30000" lang="en">
                <a:solidFill>
                  <a:srgbClr val="949AF8"/>
                </a:solidFill>
              </a:rPr>
              <a:t>3</a:t>
            </a:r>
            <a:r>
              <a:rPr baseline="30000" lang="en">
                <a:solidFill>
                  <a:schemeClr val="dk1"/>
                </a:solidFill>
              </a:rPr>
              <a:t>)</a:t>
            </a:r>
            <a:r>
              <a:rPr b="1" lang="en">
                <a:solidFill>
                  <a:schemeClr val="dk1"/>
                </a:solidFill>
              </a:rPr>
              <a:t> </a:t>
            </a:r>
            <a:endParaRPr/>
          </a:p>
        </p:txBody>
      </p:sp>
      <p:sp>
        <p:nvSpPr>
          <p:cNvPr id="800" name="Google Shape;800;p39"/>
          <p:cNvSpPr txBox="1"/>
          <p:nvPr/>
        </p:nvSpPr>
        <p:spPr>
          <a:xfrm>
            <a:off x="7076825" y="810500"/>
            <a:ext cx="16335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49AF8"/>
                </a:solidFill>
              </a:rPr>
              <a:t>ŷ</a:t>
            </a:r>
            <a:r>
              <a:rPr b="1" lang="en">
                <a:solidFill>
                  <a:srgbClr val="FF00FF"/>
                </a:solidFill>
              </a:rPr>
              <a:t> </a:t>
            </a:r>
            <a:r>
              <a:rPr baseline="30000" lang="en">
                <a:solidFill>
                  <a:srgbClr val="FF00FF"/>
                </a:solidFill>
              </a:rPr>
              <a:t> </a:t>
            </a:r>
            <a:r>
              <a:rPr b="1" lang="en">
                <a:solidFill>
                  <a:schemeClr val="dk1"/>
                </a:solidFill>
              </a:rPr>
              <a:t>=  </a:t>
            </a:r>
            <a:r>
              <a:rPr b="1" lang="en">
                <a:solidFill>
                  <a:schemeClr val="dk2"/>
                </a:solidFill>
              </a:rPr>
              <a:t>ɸ</a:t>
            </a:r>
            <a:r>
              <a:rPr lang="en">
                <a:solidFill>
                  <a:schemeClr val="dk2"/>
                </a:solidFill>
              </a:rPr>
              <a:t> </a:t>
            </a:r>
            <a:r>
              <a:rPr baseline="30000" lang="en">
                <a:solidFill>
                  <a:schemeClr val="dk2"/>
                </a:solidFill>
              </a:rPr>
              <a:t>(3)</a:t>
            </a:r>
            <a:r>
              <a:rPr b="1" lang="en">
                <a:solidFill>
                  <a:srgbClr val="1B91CA"/>
                </a:solidFill>
              </a:rPr>
              <a:t> </a:t>
            </a:r>
            <a:r>
              <a:rPr lang="en">
                <a:solidFill>
                  <a:schemeClr val="dk2"/>
                </a:solidFill>
              </a:rPr>
              <a:t>(</a:t>
            </a:r>
            <a:r>
              <a:rPr b="1" lang="en">
                <a:solidFill>
                  <a:srgbClr val="1B91CA"/>
                </a:solidFill>
              </a:rPr>
              <a:t>Z</a:t>
            </a:r>
            <a:r>
              <a:rPr baseline="30000" lang="en">
                <a:solidFill>
                  <a:srgbClr val="1B91CA"/>
                </a:solidFill>
              </a:rPr>
              <a:t>(3)</a:t>
            </a:r>
            <a:r>
              <a:rPr lang="en">
                <a:solidFill>
                  <a:schemeClr val="dk2"/>
                </a:solidFill>
              </a:rPr>
              <a:t>)</a:t>
            </a:r>
            <a:endParaRPr/>
          </a:p>
        </p:txBody>
      </p:sp>
      <p:sp>
        <p:nvSpPr>
          <p:cNvPr id="801" name="Google Shape;801;p39"/>
          <p:cNvSpPr txBox="1"/>
          <p:nvPr/>
        </p:nvSpPr>
        <p:spPr>
          <a:xfrm>
            <a:off x="8305825" y="1793725"/>
            <a:ext cx="54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ɸ</a:t>
            </a:r>
            <a:r>
              <a:rPr lang="en">
                <a:solidFill>
                  <a:schemeClr val="dk2"/>
                </a:solidFill>
              </a:rPr>
              <a:t> </a:t>
            </a:r>
            <a:r>
              <a:rPr baseline="30000" lang="en">
                <a:solidFill>
                  <a:schemeClr val="dk2"/>
                </a:solidFill>
              </a:rPr>
              <a:t>(3)</a:t>
            </a:r>
            <a:endParaRPr/>
          </a:p>
        </p:txBody>
      </p:sp>
      <p:sp>
        <p:nvSpPr>
          <p:cNvPr id="802" name="Google Shape;802;p39"/>
          <p:cNvSpPr txBox="1"/>
          <p:nvPr/>
        </p:nvSpPr>
        <p:spPr>
          <a:xfrm>
            <a:off x="7273925" y="4478700"/>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1B91CA"/>
                </a:solidFill>
              </a:rPr>
              <a:t>Z</a:t>
            </a:r>
            <a:r>
              <a:rPr lang="en">
                <a:solidFill>
                  <a:srgbClr val="1B91CA"/>
                </a:solidFill>
              </a:rPr>
              <a:t> </a:t>
            </a:r>
            <a:r>
              <a:rPr baseline="30000" lang="en">
                <a:solidFill>
                  <a:srgbClr val="1B91CA"/>
                </a:solidFill>
              </a:rPr>
              <a:t>(3)</a:t>
            </a:r>
            <a:endParaRPr>
              <a:solidFill>
                <a:srgbClr val="1B91CA"/>
              </a:solidFill>
            </a:endParaRPr>
          </a:p>
        </p:txBody>
      </p:sp>
      <p:sp>
        <p:nvSpPr>
          <p:cNvPr id="803" name="Google Shape;803;p39"/>
          <p:cNvSpPr txBox="1"/>
          <p:nvPr/>
        </p:nvSpPr>
        <p:spPr>
          <a:xfrm>
            <a:off x="723675" y="4575975"/>
            <a:ext cx="478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BCBD21"/>
                </a:solidFill>
              </a:rPr>
              <a:t>X</a:t>
            </a:r>
            <a:endParaRPr>
              <a:solidFill>
                <a:srgbClr val="BCBD21"/>
              </a:solidFill>
            </a:endParaRPr>
          </a:p>
        </p:txBody>
      </p:sp>
      <p:sp>
        <p:nvSpPr>
          <p:cNvPr id="804" name="Google Shape;804;p39"/>
          <p:cNvSpPr txBox="1"/>
          <p:nvPr/>
        </p:nvSpPr>
        <p:spPr>
          <a:xfrm>
            <a:off x="1779938" y="4597525"/>
            <a:ext cx="43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b</a:t>
            </a:r>
            <a:r>
              <a:rPr baseline="30000" lang="en">
                <a:solidFill>
                  <a:schemeClr val="dk1"/>
                </a:solidFill>
              </a:rPr>
              <a:t>(</a:t>
            </a:r>
            <a:r>
              <a:rPr b="1" baseline="30000" lang="en">
                <a:solidFill>
                  <a:srgbClr val="949AF8"/>
                </a:solidFill>
              </a:rPr>
              <a:t>1</a:t>
            </a:r>
            <a:r>
              <a:rPr baseline="30000" lang="en">
                <a:solidFill>
                  <a:schemeClr val="dk1"/>
                </a:solidFill>
              </a:rPr>
              <a:t>)</a:t>
            </a:r>
            <a:endParaRPr/>
          </a:p>
        </p:txBody>
      </p:sp>
      <p:sp>
        <p:nvSpPr>
          <p:cNvPr id="805" name="Google Shape;805;p39"/>
          <p:cNvSpPr txBox="1"/>
          <p:nvPr/>
        </p:nvSpPr>
        <p:spPr>
          <a:xfrm>
            <a:off x="4223025" y="4575975"/>
            <a:ext cx="43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b</a:t>
            </a:r>
            <a:r>
              <a:rPr baseline="30000" lang="en">
                <a:solidFill>
                  <a:schemeClr val="dk1"/>
                </a:solidFill>
              </a:rPr>
              <a:t>(</a:t>
            </a:r>
            <a:r>
              <a:rPr b="1" baseline="30000" lang="en">
                <a:solidFill>
                  <a:srgbClr val="949AF8"/>
                </a:solidFill>
              </a:rPr>
              <a:t>2</a:t>
            </a:r>
            <a:r>
              <a:rPr baseline="30000" lang="en">
                <a:solidFill>
                  <a:schemeClr val="dk1"/>
                </a:solidFill>
              </a:rPr>
              <a:t>)</a:t>
            </a:r>
            <a:endParaRPr/>
          </a:p>
        </p:txBody>
      </p:sp>
      <p:sp>
        <p:nvSpPr>
          <p:cNvPr id="806" name="Google Shape;806;p39"/>
          <p:cNvSpPr txBox="1"/>
          <p:nvPr/>
        </p:nvSpPr>
        <p:spPr>
          <a:xfrm>
            <a:off x="6730063" y="4560700"/>
            <a:ext cx="43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b</a:t>
            </a:r>
            <a:r>
              <a:rPr baseline="30000" lang="en">
                <a:solidFill>
                  <a:schemeClr val="dk1"/>
                </a:solidFill>
              </a:rPr>
              <a:t>(</a:t>
            </a:r>
            <a:r>
              <a:rPr b="1" baseline="30000" lang="en">
                <a:solidFill>
                  <a:srgbClr val="949AF8"/>
                </a:solidFill>
              </a:rPr>
              <a:t>3</a:t>
            </a:r>
            <a:r>
              <a:rPr baseline="30000" lang="en">
                <a:solidFill>
                  <a:schemeClr val="dk1"/>
                </a:solidFil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40"/>
          <p:cNvSpPr txBox="1"/>
          <p:nvPr/>
        </p:nvSpPr>
        <p:spPr>
          <a:xfrm>
            <a:off x="151525" y="1443975"/>
            <a:ext cx="12678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input layer</a:t>
            </a:r>
            <a:endParaRPr b="1">
              <a:solidFill>
                <a:schemeClr val="dk1"/>
              </a:solidFill>
            </a:endParaRPr>
          </a:p>
        </p:txBody>
      </p:sp>
      <p:cxnSp>
        <p:nvCxnSpPr>
          <p:cNvPr id="812" name="Google Shape;812;p40"/>
          <p:cNvCxnSpPr>
            <a:stCxn id="813" idx="2"/>
          </p:cNvCxnSpPr>
          <p:nvPr/>
        </p:nvCxnSpPr>
        <p:spPr>
          <a:xfrm flipH="1">
            <a:off x="291125" y="2193925"/>
            <a:ext cx="403800" cy="4800"/>
          </a:xfrm>
          <a:prstGeom prst="straightConnector1">
            <a:avLst/>
          </a:prstGeom>
          <a:noFill/>
          <a:ln cap="flat" cmpd="sng" w="28575">
            <a:solidFill>
              <a:schemeClr val="dk1"/>
            </a:solidFill>
            <a:prstDash val="solid"/>
            <a:round/>
            <a:headEnd len="med" w="med" type="none"/>
            <a:tailEnd len="med" w="med" type="oval"/>
          </a:ln>
        </p:spPr>
      </p:cxnSp>
      <p:cxnSp>
        <p:nvCxnSpPr>
          <p:cNvPr id="814" name="Google Shape;814;p40"/>
          <p:cNvCxnSpPr>
            <a:stCxn id="815" idx="2"/>
          </p:cNvCxnSpPr>
          <p:nvPr/>
        </p:nvCxnSpPr>
        <p:spPr>
          <a:xfrm flipH="1">
            <a:off x="315725" y="2847225"/>
            <a:ext cx="379200" cy="300"/>
          </a:xfrm>
          <a:prstGeom prst="straightConnector1">
            <a:avLst/>
          </a:prstGeom>
          <a:noFill/>
          <a:ln cap="flat" cmpd="sng" w="28575">
            <a:solidFill>
              <a:schemeClr val="dk1"/>
            </a:solidFill>
            <a:prstDash val="solid"/>
            <a:round/>
            <a:headEnd len="med" w="med" type="none"/>
            <a:tailEnd len="med" w="med" type="oval"/>
          </a:ln>
        </p:spPr>
      </p:cxnSp>
      <p:cxnSp>
        <p:nvCxnSpPr>
          <p:cNvPr id="816" name="Google Shape;816;p40"/>
          <p:cNvCxnSpPr>
            <a:stCxn id="817" idx="2"/>
          </p:cNvCxnSpPr>
          <p:nvPr/>
        </p:nvCxnSpPr>
        <p:spPr>
          <a:xfrm flipH="1">
            <a:off x="291125" y="3500525"/>
            <a:ext cx="403800" cy="12000"/>
          </a:xfrm>
          <a:prstGeom prst="straightConnector1">
            <a:avLst/>
          </a:prstGeom>
          <a:noFill/>
          <a:ln cap="flat" cmpd="sng" w="28575">
            <a:solidFill>
              <a:schemeClr val="dk1"/>
            </a:solidFill>
            <a:prstDash val="solid"/>
            <a:round/>
            <a:headEnd len="med" w="med" type="none"/>
            <a:tailEnd len="med" w="med" type="oval"/>
          </a:ln>
        </p:spPr>
      </p:cxnSp>
      <p:cxnSp>
        <p:nvCxnSpPr>
          <p:cNvPr id="818" name="Google Shape;818;p40"/>
          <p:cNvCxnSpPr>
            <a:stCxn id="819" idx="2"/>
          </p:cNvCxnSpPr>
          <p:nvPr/>
        </p:nvCxnSpPr>
        <p:spPr>
          <a:xfrm flipH="1">
            <a:off x="283025" y="4153825"/>
            <a:ext cx="411900" cy="7500"/>
          </a:xfrm>
          <a:prstGeom prst="straightConnector1">
            <a:avLst/>
          </a:prstGeom>
          <a:noFill/>
          <a:ln cap="flat" cmpd="sng" w="28575">
            <a:solidFill>
              <a:schemeClr val="dk1"/>
            </a:solidFill>
            <a:prstDash val="solid"/>
            <a:round/>
            <a:headEnd len="med" w="med" type="none"/>
            <a:tailEnd len="med" w="med" type="oval"/>
          </a:ln>
        </p:spPr>
      </p:cxnSp>
      <p:sp>
        <p:nvSpPr>
          <p:cNvPr id="820" name="Google Shape;820;p40"/>
          <p:cNvSpPr/>
          <p:nvPr/>
        </p:nvSpPr>
        <p:spPr>
          <a:xfrm>
            <a:off x="1737650" y="4566475"/>
            <a:ext cx="478800" cy="46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821" name="Google Shape;821;p40"/>
          <p:cNvGrpSpPr/>
          <p:nvPr/>
        </p:nvGrpSpPr>
        <p:grpSpPr>
          <a:xfrm>
            <a:off x="2097025" y="1446900"/>
            <a:ext cx="2192400" cy="3031800"/>
            <a:chOff x="3468625" y="1446900"/>
            <a:chExt cx="2192400" cy="3031800"/>
          </a:xfrm>
        </p:grpSpPr>
        <p:sp>
          <p:nvSpPr>
            <p:cNvPr id="822" name="Google Shape;822;p40"/>
            <p:cNvSpPr txBox="1"/>
            <p:nvPr/>
          </p:nvSpPr>
          <p:spPr>
            <a:xfrm>
              <a:off x="3468625" y="1446900"/>
              <a:ext cx="21924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hidden layer 1</a:t>
              </a:r>
              <a:endParaRPr b="1">
                <a:solidFill>
                  <a:schemeClr val="dk1"/>
                </a:solidFill>
              </a:endParaRPr>
            </a:p>
          </p:txBody>
        </p:sp>
        <p:sp>
          <p:nvSpPr>
            <p:cNvPr id="823" name="Google Shape;823;p40"/>
            <p:cNvSpPr/>
            <p:nvPr/>
          </p:nvSpPr>
          <p:spPr>
            <a:xfrm>
              <a:off x="4038350" y="211772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824" name="Google Shape;824;p40"/>
            <p:cNvSpPr/>
            <p:nvPr/>
          </p:nvSpPr>
          <p:spPr>
            <a:xfrm>
              <a:off x="4038350" y="2861350"/>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825" name="Google Shape;825;p40"/>
            <p:cNvSpPr/>
            <p:nvPr/>
          </p:nvSpPr>
          <p:spPr>
            <a:xfrm>
              <a:off x="4038350" y="36554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826" name="Google Shape;826;p40"/>
            <p:cNvSpPr/>
            <p:nvPr/>
          </p:nvSpPr>
          <p:spPr>
            <a:xfrm>
              <a:off x="4925525" y="2117725"/>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h</a:t>
              </a:r>
              <a:endParaRPr>
                <a:solidFill>
                  <a:schemeClr val="dk1"/>
                </a:solidFill>
              </a:endParaRPr>
            </a:p>
          </p:txBody>
        </p:sp>
        <p:sp>
          <p:nvSpPr>
            <p:cNvPr id="827" name="Google Shape;827;p40"/>
            <p:cNvSpPr/>
            <p:nvPr/>
          </p:nvSpPr>
          <p:spPr>
            <a:xfrm>
              <a:off x="4925525" y="2861350"/>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sp>
          <p:nvSpPr>
            <p:cNvPr id="828" name="Google Shape;828;p40"/>
            <p:cNvSpPr/>
            <p:nvPr/>
          </p:nvSpPr>
          <p:spPr>
            <a:xfrm>
              <a:off x="4925525" y="3645125"/>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grpSp>
      <p:grpSp>
        <p:nvGrpSpPr>
          <p:cNvPr id="829" name="Google Shape;829;p40"/>
          <p:cNvGrpSpPr/>
          <p:nvPr/>
        </p:nvGrpSpPr>
        <p:grpSpPr>
          <a:xfrm>
            <a:off x="6992425" y="1443975"/>
            <a:ext cx="1855800" cy="3031800"/>
            <a:chOff x="6611425" y="1443975"/>
            <a:chExt cx="1855800" cy="3031800"/>
          </a:xfrm>
        </p:grpSpPr>
        <p:sp>
          <p:nvSpPr>
            <p:cNvPr id="830" name="Google Shape;830;p40"/>
            <p:cNvSpPr txBox="1"/>
            <p:nvPr/>
          </p:nvSpPr>
          <p:spPr>
            <a:xfrm>
              <a:off x="6611425" y="1443975"/>
              <a:ext cx="18558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output layer</a:t>
              </a:r>
              <a:endParaRPr b="1">
                <a:solidFill>
                  <a:schemeClr val="dk1"/>
                </a:solidFill>
              </a:endParaRPr>
            </a:p>
          </p:txBody>
        </p:sp>
        <p:sp>
          <p:nvSpPr>
            <p:cNvPr id="831" name="Google Shape;831;p40"/>
            <p:cNvSpPr/>
            <p:nvPr/>
          </p:nvSpPr>
          <p:spPr>
            <a:xfrm>
              <a:off x="6785500" y="28070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grpSp>
      <p:sp>
        <p:nvSpPr>
          <p:cNvPr id="832" name="Google Shape;832;p40"/>
          <p:cNvSpPr/>
          <p:nvPr/>
        </p:nvSpPr>
        <p:spPr>
          <a:xfrm>
            <a:off x="8329250" y="2909724"/>
            <a:ext cx="271800" cy="251100"/>
          </a:xfrm>
          <a:prstGeom prst="ellipse">
            <a:avLst/>
          </a:prstGeom>
          <a:solidFill>
            <a:srgbClr val="949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13" name="Google Shape;813;p40"/>
          <p:cNvSpPr/>
          <p:nvPr/>
        </p:nvSpPr>
        <p:spPr>
          <a:xfrm>
            <a:off x="694925" y="19627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1</a:t>
            </a:r>
            <a:endParaRPr>
              <a:solidFill>
                <a:schemeClr val="dk1"/>
              </a:solidFill>
            </a:endParaRPr>
          </a:p>
        </p:txBody>
      </p:sp>
      <p:sp>
        <p:nvSpPr>
          <p:cNvPr id="815" name="Google Shape;815;p40"/>
          <p:cNvSpPr/>
          <p:nvPr/>
        </p:nvSpPr>
        <p:spPr>
          <a:xfrm>
            <a:off x="694925" y="26160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2</a:t>
            </a:r>
            <a:endParaRPr>
              <a:solidFill>
                <a:schemeClr val="dk1"/>
              </a:solidFill>
            </a:endParaRPr>
          </a:p>
        </p:txBody>
      </p:sp>
      <p:sp>
        <p:nvSpPr>
          <p:cNvPr id="817" name="Google Shape;817;p40"/>
          <p:cNvSpPr/>
          <p:nvPr/>
        </p:nvSpPr>
        <p:spPr>
          <a:xfrm>
            <a:off x="694925" y="32693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3</a:t>
            </a:r>
            <a:endParaRPr>
              <a:solidFill>
                <a:schemeClr val="dk1"/>
              </a:solidFill>
            </a:endParaRPr>
          </a:p>
        </p:txBody>
      </p:sp>
      <p:sp>
        <p:nvSpPr>
          <p:cNvPr id="819" name="Google Shape;819;p40"/>
          <p:cNvSpPr/>
          <p:nvPr/>
        </p:nvSpPr>
        <p:spPr>
          <a:xfrm>
            <a:off x="694925" y="3922675"/>
            <a:ext cx="478800" cy="462300"/>
          </a:xfrm>
          <a:prstGeom prst="ellipse">
            <a:avLst/>
          </a:prstGeom>
          <a:solidFill>
            <a:srgbClr val="BCBD2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x</a:t>
            </a:r>
            <a:r>
              <a:rPr b="1" lang="en" sz="600">
                <a:solidFill>
                  <a:schemeClr val="dk1"/>
                </a:solidFill>
              </a:rPr>
              <a:t>4</a:t>
            </a:r>
            <a:endParaRPr>
              <a:solidFill>
                <a:schemeClr val="dk1"/>
              </a:solidFill>
            </a:endParaRPr>
          </a:p>
        </p:txBody>
      </p:sp>
      <p:grpSp>
        <p:nvGrpSpPr>
          <p:cNvPr id="833" name="Google Shape;833;p40"/>
          <p:cNvGrpSpPr/>
          <p:nvPr/>
        </p:nvGrpSpPr>
        <p:grpSpPr>
          <a:xfrm>
            <a:off x="1173725" y="2193925"/>
            <a:ext cx="1493100" cy="1959900"/>
            <a:chOff x="2545325" y="2193925"/>
            <a:chExt cx="1493100" cy="1959900"/>
          </a:xfrm>
        </p:grpSpPr>
        <p:cxnSp>
          <p:nvCxnSpPr>
            <p:cNvPr id="834" name="Google Shape;834;p40"/>
            <p:cNvCxnSpPr>
              <a:stCxn id="813" idx="6"/>
              <a:endCxn id="823" idx="2"/>
            </p:cNvCxnSpPr>
            <p:nvPr/>
          </p:nvCxnSpPr>
          <p:spPr>
            <a:xfrm>
              <a:off x="2545325" y="2193925"/>
              <a:ext cx="1493100" cy="155100"/>
            </a:xfrm>
            <a:prstGeom prst="straightConnector1">
              <a:avLst/>
            </a:prstGeom>
            <a:noFill/>
            <a:ln cap="flat" cmpd="sng" w="9525">
              <a:solidFill>
                <a:schemeClr val="dk2"/>
              </a:solidFill>
              <a:prstDash val="solid"/>
              <a:round/>
              <a:headEnd len="med" w="med" type="none"/>
              <a:tailEnd len="med" w="med" type="none"/>
            </a:ln>
          </p:spPr>
        </p:cxnSp>
        <p:cxnSp>
          <p:nvCxnSpPr>
            <p:cNvPr id="835" name="Google Shape;835;p40"/>
            <p:cNvCxnSpPr>
              <a:stCxn id="815" idx="6"/>
              <a:endCxn id="823" idx="2"/>
            </p:cNvCxnSpPr>
            <p:nvPr/>
          </p:nvCxnSpPr>
          <p:spPr>
            <a:xfrm flipH="1" rot="10800000">
              <a:off x="2545325" y="2348925"/>
              <a:ext cx="1493100" cy="498300"/>
            </a:xfrm>
            <a:prstGeom prst="straightConnector1">
              <a:avLst/>
            </a:prstGeom>
            <a:noFill/>
            <a:ln cap="flat" cmpd="sng" w="9525">
              <a:solidFill>
                <a:schemeClr val="dk2"/>
              </a:solidFill>
              <a:prstDash val="solid"/>
              <a:round/>
              <a:headEnd len="med" w="med" type="none"/>
              <a:tailEnd len="med" w="med" type="none"/>
            </a:ln>
          </p:spPr>
        </p:cxnSp>
        <p:cxnSp>
          <p:nvCxnSpPr>
            <p:cNvPr id="836" name="Google Shape;836;p40"/>
            <p:cNvCxnSpPr>
              <a:stCxn id="817" idx="6"/>
              <a:endCxn id="823" idx="2"/>
            </p:cNvCxnSpPr>
            <p:nvPr/>
          </p:nvCxnSpPr>
          <p:spPr>
            <a:xfrm flipH="1" rot="10800000">
              <a:off x="2545325" y="2348825"/>
              <a:ext cx="1493100" cy="1151700"/>
            </a:xfrm>
            <a:prstGeom prst="straightConnector1">
              <a:avLst/>
            </a:prstGeom>
            <a:noFill/>
            <a:ln cap="flat" cmpd="sng" w="9525">
              <a:solidFill>
                <a:schemeClr val="dk2"/>
              </a:solidFill>
              <a:prstDash val="solid"/>
              <a:round/>
              <a:headEnd len="med" w="med" type="none"/>
              <a:tailEnd len="med" w="med" type="none"/>
            </a:ln>
          </p:spPr>
        </p:cxnSp>
        <p:cxnSp>
          <p:nvCxnSpPr>
            <p:cNvPr id="837" name="Google Shape;837;p40"/>
            <p:cNvCxnSpPr>
              <a:stCxn id="819" idx="6"/>
              <a:endCxn id="823" idx="2"/>
            </p:cNvCxnSpPr>
            <p:nvPr/>
          </p:nvCxnSpPr>
          <p:spPr>
            <a:xfrm flipH="1" rot="10800000">
              <a:off x="2545325" y="2349025"/>
              <a:ext cx="1493100" cy="1804800"/>
            </a:xfrm>
            <a:prstGeom prst="straightConnector1">
              <a:avLst/>
            </a:prstGeom>
            <a:noFill/>
            <a:ln cap="flat" cmpd="sng" w="9525">
              <a:solidFill>
                <a:schemeClr val="dk2"/>
              </a:solidFill>
              <a:prstDash val="solid"/>
              <a:round/>
              <a:headEnd len="med" w="med" type="none"/>
              <a:tailEnd len="med" w="med" type="none"/>
            </a:ln>
          </p:spPr>
        </p:cxnSp>
      </p:grpSp>
      <p:grpSp>
        <p:nvGrpSpPr>
          <p:cNvPr id="838" name="Google Shape;838;p40"/>
          <p:cNvGrpSpPr/>
          <p:nvPr/>
        </p:nvGrpSpPr>
        <p:grpSpPr>
          <a:xfrm>
            <a:off x="1173725" y="2193925"/>
            <a:ext cx="1493100" cy="1959900"/>
            <a:chOff x="2545325" y="2193925"/>
            <a:chExt cx="1493100" cy="1959900"/>
          </a:xfrm>
        </p:grpSpPr>
        <p:cxnSp>
          <p:nvCxnSpPr>
            <p:cNvPr id="839" name="Google Shape;839;p40"/>
            <p:cNvCxnSpPr>
              <a:stCxn id="813" idx="6"/>
              <a:endCxn id="824" idx="2"/>
            </p:cNvCxnSpPr>
            <p:nvPr/>
          </p:nvCxnSpPr>
          <p:spPr>
            <a:xfrm>
              <a:off x="2545325" y="2193925"/>
              <a:ext cx="1493100" cy="898500"/>
            </a:xfrm>
            <a:prstGeom prst="straightConnector1">
              <a:avLst/>
            </a:prstGeom>
            <a:noFill/>
            <a:ln cap="flat" cmpd="sng" w="9525">
              <a:solidFill>
                <a:schemeClr val="dk2"/>
              </a:solidFill>
              <a:prstDash val="solid"/>
              <a:round/>
              <a:headEnd len="med" w="med" type="none"/>
              <a:tailEnd len="med" w="med" type="none"/>
            </a:ln>
          </p:spPr>
        </p:cxnSp>
        <p:cxnSp>
          <p:nvCxnSpPr>
            <p:cNvPr id="840" name="Google Shape;840;p40"/>
            <p:cNvCxnSpPr>
              <a:stCxn id="815" idx="6"/>
              <a:endCxn id="824" idx="2"/>
            </p:cNvCxnSpPr>
            <p:nvPr/>
          </p:nvCxnSpPr>
          <p:spPr>
            <a:xfrm>
              <a:off x="2545325" y="2847225"/>
              <a:ext cx="1493100" cy="245400"/>
            </a:xfrm>
            <a:prstGeom prst="straightConnector1">
              <a:avLst/>
            </a:prstGeom>
            <a:noFill/>
            <a:ln cap="flat" cmpd="sng" w="9525">
              <a:solidFill>
                <a:schemeClr val="dk2"/>
              </a:solidFill>
              <a:prstDash val="solid"/>
              <a:round/>
              <a:headEnd len="med" w="med" type="none"/>
              <a:tailEnd len="med" w="med" type="none"/>
            </a:ln>
          </p:spPr>
        </p:cxnSp>
        <p:cxnSp>
          <p:nvCxnSpPr>
            <p:cNvPr id="841" name="Google Shape;841;p40"/>
            <p:cNvCxnSpPr>
              <a:stCxn id="817" idx="6"/>
              <a:endCxn id="824" idx="2"/>
            </p:cNvCxnSpPr>
            <p:nvPr/>
          </p:nvCxnSpPr>
          <p:spPr>
            <a:xfrm flipH="1" rot="10800000">
              <a:off x="2545325" y="3092525"/>
              <a:ext cx="1493100" cy="408000"/>
            </a:xfrm>
            <a:prstGeom prst="straightConnector1">
              <a:avLst/>
            </a:prstGeom>
            <a:noFill/>
            <a:ln cap="flat" cmpd="sng" w="9525">
              <a:solidFill>
                <a:schemeClr val="dk2"/>
              </a:solidFill>
              <a:prstDash val="solid"/>
              <a:round/>
              <a:headEnd len="med" w="med" type="none"/>
              <a:tailEnd len="med" w="med" type="none"/>
            </a:ln>
          </p:spPr>
        </p:cxnSp>
        <p:cxnSp>
          <p:nvCxnSpPr>
            <p:cNvPr id="842" name="Google Shape;842;p40"/>
            <p:cNvCxnSpPr>
              <a:stCxn id="819" idx="6"/>
              <a:endCxn id="824" idx="2"/>
            </p:cNvCxnSpPr>
            <p:nvPr/>
          </p:nvCxnSpPr>
          <p:spPr>
            <a:xfrm flipH="1" rot="10800000">
              <a:off x="2545325" y="3092425"/>
              <a:ext cx="1493100" cy="1061400"/>
            </a:xfrm>
            <a:prstGeom prst="straightConnector1">
              <a:avLst/>
            </a:prstGeom>
            <a:noFill/>
            <a:ln cap="flat" cmpd="sng" w="9525">
              <a:solidFill>
                <a:schemeClr val="dk2"/>
              </a:solidFill>
              <a:prstDash val="solid"/>
              <a:round/>
              <a:headEnd len="med" w="med" type="none"/>
              <a:tailEnd len="med" w="med" type="none"/>
            </a:ln>
          </p:spPr>
        </p:cxnSp>
      </p:grpSp>
      <p:grpSp>
        <p:nvGrpSpPr>
          <p:cNvPr id="843" name="Google Shape;843;p40"/>
          <p:cNvGrpSpPr/>
          <p:nvPr/>
        </p:nvGrpSpPr>
        <p:grpSpPr>
          <a:xfrm>
            <a:off x="1173725" y="2193925"/>
            <a:ext cx="1493100" cy="1959900"/>
            <a:chOff x="2545325" y="2193925"/>
            <a:chExt cx="1493100" cy="1959900"/>
          </a:xfrm>
        </p:grpSpPr>
        <p:cxnSp>
          <p:nvCxnSpPr>
            <p:cNvPr id="844" name="Google Shape;844;p40"/>
            <p:cNvCxnSpPr>
              <a:stCxn id="813" idx="6"/>
              <a:endCxn id="825" idx="2"/>
            </p:cNvCxnSpPr>
            <p:nvPr/>
          </p:nvCxnSpPr>
          <p:spPr>
            <a:xfrm>
              <a:off x="2545325" y="2193925"/>
              <a:ext cx="1493100" cy="1692600"/>
            </a:xfrm>
            <a:prstGeom prst="straightConnector1">
              <a:avLst/>
            </a:prstGeom>
            <a:noFill/>
            <a:ln cap="flat" cmpd="sng" w="9525">
              <a:solidFill>
                <a:schemeClr val="dk2"/>
              </a:solidFill>
              <a:prstDash val="solid"/>
              <a:round/>
              <a:headEnd len="med" w="med" type="none"/>
              <a:tailEnd len="med" w="med" type="none"/>
            </a:ln>
          </p:spPr>
        </p:cxnSp>
        <p:cxnSp>
          <p:nvCxnSpPr>
            <p:cNvPr id="845" name="Google Shape;845;p40"/>
            <p:cNvCxnSpPr>
              <a:stCxn id="815" idx="6"/>
              <a:endCxn id="825" idx="2"/>
            </p:cNvCxnSpPr>
            <p:nvPr/>
          </p:nvCxnSpPr>
          <p:spPr>
            <a:xfrm>
              <a:off x="2545325" y="2847225"/>
              <a:ext cx="1493100" cy="1039500"/>
            </a:xfrm>
            <a:prstGeom prst="straightConnector1">
              <a:avLst/>
            </a:prstGeom>
            <a:noFill/>
            <a:ln cap="flat" cmpd="sng" w="9525">
              <a:solidFill>
                <a:schemeClr val="dk2"/>
              </a:solidFill>
              <a:prstDash val="solid"/>
              <a:round/>
              <a:headEnd len="med" w="med" type="none"/>
              <a:tailEnd len="med" w="med" type="none"/>
            </a:ln>
          </p:spPr>
        </p:cxnSp>
        <p:cxnSp>
          <p:nvCxnSpPr>
            <p:cNvPr id="846" name="Google Shape;846;p40"/>
            <p:cNvCxnSpPr>
              <a:stCxn id="817" idx="6"/>
              <a:endCxn id="825" idx="2"/>
            </p:cNvCxnSpPr>
            <p:nvPr/>
          </p:nvCxnSpPr>
          <p:spPr>
            <a:xfrm>
              <a:off x="2545325" y="3500525"/>
              <a:ext cx="1493100" cy="386100"/>
            </a:xfrm>
            <a:prstGeom prst="straightConnector1">
              <a:avLst/>
            </a:prstGeom>
            <a:noFill/>
            <a:ln cap="flat" cmpd="sng" w="9525">
              <a:solidFill>
                <a:schemeClr val="dk2"/>
              </a:solidFill>
              <a:prstDash val="solid"/>
              <a:round/>
              <a:headEnd len="med" w="med" type="none"/>
              <a:tailEnd len="med" w="med" type="none"/>
            </a:ln>
          </p:spPr>
        </p:cxnSp>
        <p:cxnSp>
          <p:nvCxnSpPr>
            <p:cNvPr id="847" name="Google Shape;847;p40"/>
            <p:cNvCxnSpPr>
              <a:stCxn id="819" idx="6"/>
              <a:endCxn id="825" idx="2"/>
            </p:cNvCxnSpPr>
            <p:nvPr/>
          </p:nvCxnSpPr>
          <p:spPr>
            <a:xfrm flipH="1" rot="10800000">
              <a:off x="2545325" y="3886525"/>
              <a:ext cx="1493100" cy="267300"/>
            </a:xfrm>
            <a:prstGeom prst="straightConnector1">
              <a:avLst/>
            </a:prstGeom>
            <a:noFill/>
            <a:ln cap="flat" cmpd="sng" w="9525">
              <a:solidFill>
                <a:schemeClr val="dk2"/>
              </a:solidFill>
              <a:prstDash val="solid"/>
              <a:round/>
              <a:headEnd len="med" w="med" type="none"/>
              <a:tailEnd len="med" w="med" type="none"/>
            </a:ln>
          </p:spPr>
        </p:cxnSp>
      </p:grpSp>
      <p:grpSp>
        <p:nvGrpSpPr>
          <p:cNvPr id="848" name="Google Shape;848;p40"/>
          <p:cNvGrpSpPr/>
          <p:nvPr/>
        </p:nvGrpSpPr>
        <p:grpSpPr>
          <a:xfrm>
            <a:off x="1977050" y="2348875"/>
            <a:ext cx="689700" cy="2217600"/>
            <a:chOff x="3348650" y="2348875"/>
            <a:chExt cx="689700" cy="2217600"/>
          </a:xfrm>
        </p:grpSpPr>
        <p:cxnSp>
          <p:nvCxnSpPr>
            <p:cNvPr id="849" name="Google Shape;849;p40"/>
            <p:cNvCxnSpPr>
              <a:stCxn id="820" idx="0"/>
              <a:endCxn id="825" idx="2"/>
            </p:cNvCxnSpPr>
            <p:nvPr/>
          </p:nvCxnSpPr>
          <p:spPr>
            <a:xfrm flipH="1" rot="10800000">
              <a:off x="3348650" y="3886675"/>
              <a:ext cx="689700" cy="679800"/>
            </a:xfrm>
            <a:prstGeom prst="straightConnector1">
              <a:avLst/>
            </a:prstGeom>
            <a:noFill/>
            <a:ln cap="flat" cmpd="sng" w="9525">
              <a:solidFill>
                <a:schemeClr val="dk2"/>
              </a:solidFill>
              <a:prstDash val="solid"/>
              <a:round/>
              <a:headEnd len="med" w="med" type="none"/>
              <a:tailEnd len="med" w="med" type="none"/>
            </a:ln>
          </p:spPr>
        </p:cxnSp>
        <p:cxnSp>
          <p:nvCxnSpPr>
            <p:cNvPr id="850" name="Google Shape;850;p40"/>
            <p:cNvCxnSpPr>
              <a:stCxn id="824" idx="2"/>
              <a:endCxn id="820" idx="0"/>
            </p:cNvCxnSpPr>
            <p:nvPr/>
          </p:nvCxnSpPr>
          <p:spPr>
            <a:xfrm flipH="1">
              <a:off x="3348650" y="3092500"/>
              <a:ext cx="689700" cy="1473900"/>
            </a:xfrm>
            <a:prstGeom prst="straightConnector1">
              <a:avLst/>
            </a:prstGeom>
            <a:noFill/>
            <a:ln cap="flat" cmpd="sng" w="9525">
              <a:solidFill>
                <a:schemeClr val="dk2"/>
              </a:solidFill>
              <a:prstDash val="solid"/>
              <a:round/>
              <a:headEnd len="med" w="med" type="none"/>
              <a:tailEnd len="med" w="med" type="none"/>
            </a:ln>
          </p:spPr>
        </p:cxnSp>
        <p:cxnSp>
          <p:nvCxnSpPr>
            <p:cNvPr id="851" name="Google Shape;851;p40"/>
            <p:cNvCxnSpPr>
              <a:stCxn id="823" idx="2"/>
              <a:endCxn id="820" idx="0"/>
            </p:cNvCxnSpPr>
            <p:nvPr/>
          </p:nvCxnSpPr>
          <p:spPr>
            <a:xfrm flipH="1">
              <a:off x="3348650" y="2348875"/>
              <a:ext cx="689700" cy="2217600"/>
            </a:xfrm>
            <a:prstGeom prst="straightConnector1">
              <a:avLst/>
            </a:prstGeom>
            <a:noFill/>
            <a:ln cap="flat" cmpd="sng" w="9525">
              <a:solidFill>
                <a:schemeClr val="dk2"/>
              </a:solidFill>
              <a:prstDash val="solid"/>
              <a:round/>
              <a:headEnd len="med" w="med" type="none"/>
              <a:tailEnd len="med" w="med" type="none"/>
            </a:ln>
          </p:spPr>
        </p:cxnSp>
      </p:grpSp>
      <p:grpSp>
        <p:nvGrpSpPr>
          <p:cNvPr id="852" name="Google Shape;852;p40"/>
          <p:cNvGrpSpPr/>
          <p:nvPr/>
        </p:nvGrpSpPr>
        <p:grpSpPr>
          <a:xfrm>
            <a:off x="3151571" y="2348875"/>
            <a:ext cx="403809" cy="1537900"/>
            <a:chOff x="4517225" y="2348875"/>
            <a:chExt cx="408300" cy="1537900"/>
          </a:xfrm>
        </p:grpSpPr>
        <p:cxnSp>
          <p:nvCxnSpPr>
            <p:cNvPr id="853" name="Google Shape;853;p40"/>
            <p:cNvCxnSpPr/>
            <p:nvPr/>
          </p:nvCxnSpPr>
          <p:spPr>
            <a:xfrm>
              <a:off x="4517225" y="2348875"/>
              <a:ext cx="408300" cy="0"/>
            </a:xfrm>
            <a:prstGeom prst="straightConnector1">
              <a:avLst/>
            </a:prstGeom>
            <a:noFill/>
            <a:ln cap="flat" cmpd="sng" w="9525">
              <a:solidFill>
                <a:schemeClr val="dk2"/>
              </a:solidFill>
              <a:prstDash val="solid"/>
              <a:round/>
              <a:headEnd len="med" w="med" type="none"/>
              <a:tailEnd len="med" w="med" type="none"/>
            </a:ln>
          </p:spPr>
        </p:cxnSp>
        <p:cxnSp>
          <p:nvCxnSpPr>
            <p:cNvPr id="854" name="Google Shape;854;p40"/>
            <p:cNvCxnSpPr/>
            <p:nvPr/>
          </p:nvCxnSpPr>
          <p:spPr>
            <a:xfrm>
              <a:off x="4517225" y="3092500"/>
              <a:ext cx="408300" cy="0"/>
            </a:xfrm>
            <a:prstGeom prst="straightConnector1">
              <a:avLst/>
            </a:prstGeom>
            <a:noFill/>
            <a:ln cap="flat" cmpd="sng" w="9525">
              <a:solidFill>
                <a:schemeClr val="dk2"/>
              </a:solidFill>
              <a:prstDash val="solid"/>
              <a:round/>
              <a:headEnd len="med" w="med" type="none"/>
              <a:tailEnd len="med" w="med" type="none"/>
            </a:ln>
          </p:spPr>
        </p:cxnSp>
        <p:cxnSp>
          <p:nvCxnSpPr>
            <p:cNvPr id="855" name="Google Shape;855;p40"/>
            <p:cNvCxnSpPr/>
            <p:nvPr/>
          </p:nvCxnSpPr>
          <p:spPr>
            <a:xfrm flipH="1" rot="10800000">
              <a:off x="4517225" y="3876275"/>
              <a:ext cx="408300" cy="10500"/>
            </a:xfrm>
            <a:prstGeom prst="straightConnector1">
              <a:avLst/>
            </a:prstGeom>
            <a:noFill/>
            <a:ln cap="flat" cmpd="sng" w="9525">
              <a:solidFill>
                <a:schemeClr val="dk2"/>
              </a:solidFill>
              <a:prstDash val="solid"/>
              <a:round/>
              <a:headEnd len="med" w="med" type="none"/>
              <a:tailEnd len="med" w="med" type="none"/>
            </a:ln>
          </p:spPr>
        </p:cxnSp>
      </p:grpSp>
      <p:grpSp>
        <p:nvGrpSpPr>
          <p:cNvPr id="856" name="Google Shape;856;p40"/>
          <p:cNvGrpSpPr/>
          <p:nvPr/>
        </p:nvGrpSpPr>
        <p:grpSpPr>
          <a:xfrm>
            <a:off x="6666088" y="3038277"/>
            <a:ext cx="500481" cy="1929998"/>
            <a:chOff x="7343550" y="3166427"/>
            <a:chExt cx="500481" cy="1929998"/>
          </a:xfrm>
        </p:grpSpPr>
        <p:sp>
          <p:nvSpPr>
            <p:cNvPr id="857" name="Google Shape;857;p40"/>
            <p:cNvSpPr/>
            <p:nvPr/>
          </p:nvSpPr>
          <p:spPr>
            <a:xfrm>
              <a:off x="7343550" y="4634125"/>
              <a:ext cx="478800" cy="46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58" name="Google Shape;858;p40"/>
            <p:cNvCxnSpPr>
              <a:stCxn id="857" idx="7"/>
              <a:endCxn id="831" idx="2"/>
            </p:cNvCxnSpPr>
            <p:nvPr/>
          </p:nvCxnSpPr>
          <p:spPr>
            <a:xfrm flipH="1" rot="10800000">
              <a:off x="7752231" y="3166427"/>
              <a:ext cx="91800" cy="1535400"/>
            </a:xfrm>
            <a:prstGeom prst="straightConnector1">
              <a:avLst/>
            </a:prstGeom>
            <a:noFill/>
            <a:ln cap="flat" cmpd="sng" w="9525">
              <a:solidFill>
                <a:schemeClr val="dk2"/>
              </a:solidFill>
              <a:prstDash val="solid"/>
              <a:round/>
              <a:headEnd len="med" w="med" type="none"/>
              <a:tailEnd len="med" w="med" type="none"/>
            </a:ln>
          </p:spPr>
        </p:cxnSp>
      </p:grpSp>
      <p:grpSp>
        <p:nvGrpSpPr>
          <p:cNvPr id="859" name="Google Shape;859;p40"/>
          <p:cNvGrpSpPr/>
          <p:nvPr/>
        </p:nvGrpSpPr>
        <p:grpSpPr>
          <a:xfrm>
            <a:off x="4587575" y="1411700"/>
            <a:ext cx="2192400" cy="3031800"/>
            <a:chOff x="3468775" y="1446913"/>
            <a:chExt cx="2192400" cy="3031800"/>
          </a:xfrm>
        </p:grpSpPr>
        <p:sp>
          <p:nvSpPr>
            <p:cNvPr id="860" name="Google Shape;860;p40"/>
            <p:cNvSpPr txBox="1"/>
            <p:nvPr/>
          </p:nvSpPr>
          <p:spPr>
            <a:xfrm>
              <a:off x="3468775" y="1446913"/>
              <a:ext cx="21924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hidden layer 2</a:t>
              </a:r>
              <a:endParaRPr b="1">
                <a:solidFill>
                  <a:schemeClr val="dk1"/>
                </a:solidFill>
              </a:endParaRPr>
            </a:p>
          </p:txBody>
        </p:sp>
        <p:sp>
          <p:nvSpPr>
            <p:cNvPr id="861" name="Google Shape;861;p40"/>
            <p:cNvSpPr/>
            <p:nvPr/>
          </p:nvSpPr>
          <p:spPr>
            <a:xfrm>
              <a:off x="3962150" y="2404150"/>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862" name="Google Shape;862;p40"/>
            <p:cNvSpPr/>
            <p:nvPr/>
          </p:nvSpPr>
          <p:spPr>
            <a:xfrm>
              <a:off x="3962150" y="32744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z</a:t>
              </a:r>
              <a:endParaRPr>
                <a:solidFill>
                  <a:schemeClr val="dk1"/>
                </a:solidFill>
              </a:endParaRPr>
            </a:p>
          </p:txBody>
        </p:sp>
        <p:sp>
          <p:nvSpPr>
            <p:cNvPr id="863" name="Google Shape;863;p40"/>
            <p:cNvSpPr/>
            <p:nvPr/>
          </p:nvSpPr>
          <p:spPr>
            <a:xfrm>
              <a:off x="4849325" y="2404150"/>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sp>
          <p:nvSpPr>
            <p:cNvPr id="864" name="Google Shape;864;p40"/>
            <p:cNvSpPr/>
            <p:nvPr/>
          </p:nvSpPr>
          <p:spPr>
            <a:xfrm>
              <a:off x="4849325" y="3264125"/>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h</a:t>
              </a:r>
              <a:endParaRPr>
                <a:solidFill>
                  <a:schemeClr val="dk1"/>
                </a:solidFill>
              </a:endParaRPr>
            </a:p>
          </p:txBody>
        </p:sp>
      </p:grpSp>
      <p:grpSp>
        <p:nvGrpSpPr>
          <p:cNvPr id="865" name="Google Shape;865;p40"/>
          <p:cNvGrpSpPr/>
          <p:nvPr/>
        </p:nvGrpSpPr>
        <p:grpSpPr>
          <a:xfrm>
            <a:off x="5559750" y="2600088"/>
            <a:ext cx="408300" cy="870325"/>
            <a:chOff x="4288550" y="2635300"/>
            <a:chExt cx="408300" cy="870325"/>
          </a:xfrm>
        </p:grpSpPr>
        <p:cxnSp>
          <p:nvCxnSpPr>
            <p:cNvPr id="866" name="Google Shape;866;p40"/>
            <p:cNvCxnSpPr>
              <a:stCxn id="861" idx="6"/>
              <a:endCxn id="863" idx="2"/>
            </p:cNvCxnSpPr>
            <p:nvPr/>
          </p:nvCxnSpPr>
          <p:spPr>
            <a:xfrm>
              <a:off x="4288550" y="2635300"/>
              <a:ext cx="408300" cy="0"/>
            </a:xfrm>
            <a:prstGeom prst="straightConnector1">
              <a:avLst/>
            </a:prstGeom>
            <a:noFill/>
            <a:ln cap="flat" cmpd="sng" w="9525">
              <a:solidFill>
                <a:schemeClr val="dk2"/>
              </a:solidFill>
              <a:prstDash val="solid"/>
              <a:round/>
              <a:headEnd len="med" w="med" type="none"/>
              <a:tailEnd len="med" w="med" type="none"/>
            </a:ln>
          </p:spPr>
        </p:cxnSp>
        <p:cxnSp>
          <p:nvCxnSpPr>
            <p:cNvPr id="867" name="Google Shape;867;p40"/>
            <p:cNvCxnSpPr>
              <a:stCxn id="862" idx="6"/>
              <a:endCxn id="864" idx="2"/>
            </p:cNvCxnSpPr>
            <p:nvPr/>
          </p:nvCxnSpPr>
          <p:spPr>
            <a:xfrm flipH="1" rot="10800000">
              <a:off x="4288550" y="3495125"/>
              <a:ext cx="408300" cy="10500"/>
            </a:xfrm>
            <a:prstGeom prst="straightConnector1">
              <a:avLst/>
            </a:prstGeom>
            <a:noFill/>
            <a:ln cap="flat" cmpd="sng" w="9525">
              <a:solidFill>
                <a:schemeClr val="dk2"/>
              </a:solidFill>
              <a:prstDash val="solid"/>
              <a:round/>
              <a:headEnd len="med" w="med" type="none"/>
              <a:tailEnd len="med" w="med" type="none"/>
            </a:ln>
          </p:spPr>
        </p:cxnSp>
      </p:grpSp>
      <p:cxnSp>
        <p:nvCxnSpPr>
          <p:cNvPr id="868" name="Google Shape;868;p40"/>
          <p:cNvCxnSpPr>
            <a:stCxn id="826" idx="6"/>
            <a:endCxn id="861" idx="2"/>
          </p:cNvCxnSpPr>
          <p:nvPr/>
        </p:nvCxnSpPr>
        <p:spPr>
          <a:xfrm>
            <a:off x="4032725" y="2348875"/>
            <a:ext cx="1048200" cy="251100"/>
          </a:xfrm>
          <a:prstGeom prst="straightConnector1">
            <a:avLst/>
          </a:prstGeom>
          <a:noFill/>
          <a:ln cap="flat" cmpd="sng" w="9525">
            <a:solidFill>
              <a:schemeClr val="dk2"/>
            </a:solidFill>
            <a:prstDash val="solid"/>
            <a:round/>
            <a:headEnd len="med" w="med" type="none"/>
            <a:tailEnd len="med" w="med" type="none"/>
          </a:ln>
        </p:spPr>
      </p:cxnSp>
      <p:cxnSp>
        <p:nvCxnSpPr>
          <p:cNvPr id="869" name="Google Shape;869;p40"/>
          <p:cNvCxnSpPr>
            <a:stCxn id="827" idx="6"/>
            <a:endCxn id="861" idx="2"/>
          </p:cNvCxnSpPr>
          <p:nvPr/>
        </p:nvCxnSpPr>
        <p:spPr>
          <a:xfrm flipH="1" rot="10800000">
            <a:off x="4032725" y="2600200"/>
            <a:ext cx="1048200" cy="492300"/>
          </a:xfrm>
          <a:prstGeom prst="straightConnector1">
            <a:avLst/>
          </a:prstGeom>
          <a:noFill/>
          <a:ln cap="flat" cmpd="sng" w="9525">
            <a:solidFill>
              <a:schemeClr val="dk2"/>
            </a:solidFill>
            <a:prstDash val="solid"/>
            <a:round/>
            <a:headEnd len="med" w="med" type="none"/>
            <a:tailEnd len="med" w="med" type="none"/>
          </a:ln>
        </p:spPr>
      </p:cxnSp>
      <p:cxnSp>
        <p:nvCxnSpPr>
          <p:cNvPr id="870" name="Google Shape;870;p40"/>
          <p:cNvCxnSpPr>
            <a:stCxn id="828" idx="6"/>
            <a:endCxn id="861" idx="2"/>
          </p:cNvCxnSpPr>
          <p:nvPr/>
        </p:nvCxnSpPr>
        <p:spPr>
          <a:xfrm flipH="1" rot="10800000">
            <a:off x="4032725" y="2600075"/>
            <a:ext cx="1048200" cy="1276200"/>
          </a:xfrm>
          <a:prstGeom prst="straightConnector1">
            <a:avLst/>
          </a:prstGeom>
          <a:noFill/>
          <a:ln cap="flat" cmpd="sng" w="9525">
            <a:solidFill>
              <a:schemeClr val="dk2"/>
            </a:solidFill>
            <a:prstDash val="solid"/>
            <a:round/>
            <a:headEnd len="med" w="med" type="none"/>
            <a:tailEnd len="med" w="med" type="none"/>
          </a:ln>
        </p:spPr>
      </p:cxnSp>
      <p:cxnSp>
        <p:nvCxnSpPr>
          <p:cNvPr id="871" name="Google Shape;871;p40"/>
          <p:cNvCxnSpPr>
            <a:stCxn id="826" idx="6"/>
            <a:endCxn id="862" idx="2"/>
          </p:cNvCxnSpPr>
          <p:nvPr/>
        </p:nvCxnSpPr>
        <p:spPr>
          <a:xfrm>
            <a:off x="4032725" y="2348875"/>
            <a:ext cx="1048200" cy="1121400"/>
          </a:xfrm>
          <a:prstGeom prst="straightConnector1">
            <a:avLst/>
          </a:prstGeom>
          <a:noFill/>
          <a:ln cap="flat" cmpd="sng" w="9525">
            <a:solidFill>
              <a:schemeClr val="dk2"/>
            </a:solidFill>
            <a:prstDash val="solid"/>
            <a:round/>
            <a:headEnd len="med" w="med" type="none"/>
            <a:tailEnd len="med" w="med" type="none"/>
          </a:ln>
        </p:spPr>
      </p:cxnSp>
      <p:cxnSp>
        <p:nvCxnSpPr>
          <p:cNvPr id="872" name="Google Shape;872;p40"/>
          <p:cNvCxnSpPr>
            <a:stCxn id="827" idx="6"/>
            <a:endCxn id="862" idx="2"/>
          </p:cNvCxnSpPr>
          <p:nvPr/>
        </p:nvCxnSpPr>
        <p:spPr>
          <a:xfrm>
            <a:off x="4032725" y="3092500"/>
            <a:ext cx="1048200" cy="378000"/>
          </a:xfrm>
          <a:prstGeom prst="straightConnector1">
            <a:avLst/>
          </a:prstGeom>
          <a:noFill/>
          <a:ln cap="flat" cmpd="sng" w="9525">
            <a:solidFill>
              <a:schemeClr val="dk2"/>
            </a:solidFill>
            <a:prstDash val="solid"/>
            <a:round/>
            <a:headEnd len="med" w="med" type="none"/>
            <a:tailEnd len="med" w="med" type="none"/>
          </a:ln>
        </p:spPr>
      </p:cxnSp>
      <p:cxnSp>
        <p:nvCxnSpPr>
          <p:cNvPr id="873" name="Google Shape;873;p40"/>
          <p:cNvCxnSpPr>
            <a:stCxn id="828" idx="6"/>
            <a:endCxn id="862" idx="2"/>
          </p:cNvCxnSpPr>
          <p:nvPr/>
        </p:nvCxnSpPr>
        <p:spPr>
          <a:xfrm flipH="1" rot="10800000">
            <a:off x="4032725" y="3470375"/>
            <a:ext cx="1048200" cy="405900"/>
          </a:xfrm>
          <a:prstGeom prst="straightConnector1">
            <a:avLst/>
          </a:prstGeom>
          <a:noFill/>
          <a:ln cap="flat" cmpd="sng" w="9525">
            <a:solidFill>
              <a:schemeClr val="dk2"/>
            </a:solidFill>
            <a:prstDash val="solid"/>
            <a:round/>
            <a:headEnd len="med" w="med" type="none"/>
            <a:tailEnd len="med" w="med" type="none"/>
          </a:ln>
        </p:spPr>
      </p:cxnSp>
      <p:cxnSp>
        <p:nvCxnSpPr>
          <p:cNvPr id="874" name="Google Shape;874;p40"/>
          <p:cNvCxnSpPr>
            <a:stCxn id="863" idx="6"/>
            <a:endCxn id="831" idx="2"/>
          </p:cNvCxnSpPr>
          <p:nvPr/>
        </p:nvCxnSpPr>
        <p:spPr>
          <a:xfrm>
            <a:off x="6446925" y="2600088"/>
            <a:ext cx="719700" cy="438000"/>
          </a:xfrm>
          <a:prstGeom prst="straightConnector1">
            <a:avLst/>
          </a:prstGeom>
          <a:noFill/>
          <a:ln cap="flat" cmpd="sng" w="9525">
            <a:solidFill>
              <a:schemeClr val="dk2"/>
            </a:solidFill>
            <a:prstDash val="solid"/>
            <a:round/>
            <a:headEnd len="med" w="med" type="none"/>
            <a:tailEnd len="med" w="med" type="none"/>
          </a:ln>
        </p:spPr>
      </p:cxnSp>
      <p:cxnSp>
        <p:nvCxnSpPr>
          <p:cNvPr id="875" name="Google Shape;875;p40"/>
          <p:cNvCxnSpPr>
            <a:stCxn id="864" idx="6"/>
            <a:endCxn id="831" idx="2"/>
          </p:cNvCxnSpPr>
          <p:nvPr/>
        </p:nvCxnSpPr>
        <p:spPr>
          <a:xfrm flipH="1" rot="10800000">
            <a:off x="6446925" y="3038263"/>
            <a:ext cx="719700" cy="421800"/>
          </a:xfrm>
          <a:prstGeom prst="straightConnector1">
            <a:avLst/>
          </a:prstGeom>
          <a:noFill/>
          <a:ln cap="flat" cmpd="sng" w="9525">
            <a:solidFill>
              <a:schemeClr val="dk2"/>
            </a:solidFill>
            <a:prstDash val="solid"/>
            <a:round/>
            <a:headEnd len="med" w="med" type="none"/>
            <a:tailEnd len="med" w="med" type="none"/>
          </a:ln>
        </p:spPr>
      </p:cxnSp>
      <p:grpSp>
        <p:nvGrpSpPr>
          <p:cNvPr id="876" name="Google Shape;876;p40"/>
          <p:cNvGrpSpPr/>
          <p:nvPr/>
        </p:nvGrpSpPr>
        <p:grpSpPr>
          <a:xfrm>
            <a:off x="4160714" y="3470511"/>
            <a:ext cx="920247" cy="1518763"/>
            <a:chOff x="7233911" y="3088393"/>
            <a:chExt cx="1114776" cy="1922485"/>
          </a:xfrm>
        </p:grpSpPr>
        <p:sp>
          <p:nvSpPr>
            <p:cNvPr id="877" name="Google Shape;877;p40"/>
            <p:cNvSpPr/>
            <p:nvPr/>
          </p:nvSpPr>
          <p:spPr>
            <a:xfrm>
              <a:off x="7233911" y="4425577"/>
              <a:ext cx="579900" cy="585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78" name="Google Shape;878;p40"/>
            <p:cNvCxnSpPr>
              <a:stCxn id="877" idx="7"/>
              <a:endCxn id="862" idx="2"/>
            </p:cNvCxnSpPr>
            <p:nvPr/>
          </p:nvCxnSpPr>
          <p:spPr>
            <a:xfrm flipH="1" rot="10800000">
              <a:off x="7728887" y="3088393"/>
              <a:ext cx="619800" cy="1422900"/>
            </a:xfrm>
            <a:prstGeom prst="straightConnector1">
              <a:avLst/>
            </a:prstGeom>
            <a:noFill/>
            <a:ln cap="flat" cmpd="sng" w="9525">
              <a:solidFill>
                <a:schemeClr val="dk2"/>
              </a:solidFill>
              <a:prstDash val="solid"/>
              <a:round/>
              <a:headEnd len="med" w="med" type="none"/>
              <a:tailEnd len="med" w="med" type="none"/>
            </a:ln>
          </p:spPr>
        </p:cxnSp>
      </p:grpSp>
      <p:cxnSp>
        <p:nvCxnSpPr>
          <p:cNvPr id="879" name="Google Shape;879;p40"/>
          <p:cNvCxnSpPr>
            <a:stCxn id="877" idx="7"/>
            <a:endCxn id="861" idx="2"/>
          </p:cNvCxnSpPr>
          <p:nvPr/>
        </p:nvCxnSpPr>
        <p:spPr>
          <a:xfrm flipH="1" rot="10800000">
            <a:off x="4569316" y="2600202"/>
            <a:ext cx="511500" cy="1994400"/>
          </a:xfrm>
          <a:prstGeom prst="straightConnector1">
            <a:avLst/>
          </a:prstGeom>
          <a:noFill/>
          <a:ln cap="flat" cmpd="sng" w="9525">
            <a:solidFill>
              <a:schemeClr val="dk2"/>
            </a:solidFill>
            <a:prstDash val="solid"/>
            <a:round/>
            <a:headEnd len="med" w="med" type="none"/>
            <a:tailEnd len="med" w="med" type="none"/>
          </a:ln>
        </p:spPr>
      </p:cxnSp>
      <p:cxnSp>
        <p:nvCxnSpPr>
          <p:cNvPr id="880" name="Google Shape;880;p40"/>
          <p:cNvCxnSpPr>
            <a:endCxn id="832" idx="2"/>
          </p:cNvCxnSpPr>
          <p:nvPr/>
        </p:nvCxnSpPr>
        <p:spPr>
          <a:xfrm flipH="1" rot="10800000">
            <a:off x="7645250" y="3035274"/>
            <a:ext cx="684000" cy="3000"/>
          </a:xfrm>
          <a:prstGeom prst="straightConnector1">
            <a:avLst/>
          </a:prstGeom>
          <a:noFill/>
          <a:ln cap="flat" cmpd="sng" w="9525">
            <a:solidFill>
              <a:schemeClr val="dk2"/>
            </a:solidFill>
            <a:prstDash val="solid"/>
            <a:round/>
            <a:headEnd len="med" w="med" type="none"/>
            <a:tailEnd len="med" w="med" type="none"/>
          </a:ln>
        </p:spPr>
      </p:cxnSp>
      <p:sp>
        <p:nvSpPr>
          <p:cNvPr id="881" name="Google Shape;881;p40"/>
          <p:cNvSpPr txBox="1"/>
          <p:nvPr/>
        </p:nvSpPr>
        <p:spPr>
          <a:xfrm>
            <a:off x="2590550" y="4566475"/>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1B91CA"/>
                </a:solidFill>
              </a:rPr>
              <a:t>Z</a:t>
            </a:r>
            <a:r>
              <a:rPr lang="en">
                <a:solidFill>
                  <a:srgbClr val="1B91CA"/>
                </a:solidFill>
              </a:rPr>
              <a:t> </a:t>
            </a:r>
            <a:r>
              <a:rPr baseline="30000" lang="en">
                <a:solidFill>
                  <a:srgbClr val="1B91CA"/>
                </a:solidFill>
              </a:rPr>
              <a:t>(1)</a:t>
            </a:r>
            <a:endParaRPr>
              <a:solidFill>
                <a:srgbClr val="1B91CA"/>
              </a:solidFill>
            </a:endParaRPr>
          </a:p>
        </p:txBody>
      </p:sp>
      <p:sp>
        <p:nvSpPr>
          <p:cNvPr id="882" name="Google Shape;882;p40"/>
          <p:cNvSpPr txBox="1"/>
          <p:nvPr/>
        </p:nvSpPr>
        <p:spPr>
          <a:xfrm>
            <a:off x="5080825" y="4566475"/>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1B91CA"/>
                </a:solidFill>
              </a:rPr>
              <a:t>Z</a:t>
            </a:r>
            <a:r>
              <a:rPr lang="en">
                <a:solidFill>
                  <a:srgbClr val="1B91CA"/>
                </a:solidFill>
              </a:rPr>
              <a:t> </a:t>
            </a:r>
            <a:r>
              <a:rPr baseline="30000" lang="en">
                <a:solidFill>
                  <a:srgbClr val="1B91CA"/>
                </a:solidFill>
              </a:rPr>
              <a:t>(2)</a:t>
            </a:r>
            <a:endParaRPr>
              <a:solidFill>
                <a:srgbClr val="1B91CA"/>
              </a:solidFill>
            </a:endParaRPr>
          </a:p>
        </p:txBody>
      </p:sp>
      <p:sp>
        <p:nvSpPr>
          <p:cNvPr id="883" name="Google Shape;883;p40"/>
          <p:cNvSpPr txBox="1"/>
          <p:nvPr/>
        </p:nvSpPr>
        <p:spPr>
          <a:xfrm>
            <a:off x="3495550" y="4566475"/>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FF00FF"/>
                </a:solidFill>
              </a:rPr>
              <a:t>h</a:t>
            </a:r>
            <a:r>
              <a:rPr lang="en">
                <a:solidFill>
                  <a:srgbClr val="FF00FF"/>
                </a:solidFill>
              </a:rPr>
              <a:t> </a:t>
            </a:r>
            <a:r>
              <a:rPr baseline="30000" lang="en">
                <a:solidFill>
                  <a:srgbClr val="FF00FF"/>
                </a:solidFill>
              </a:rPr>
              <a:t>(1)</a:t>
            </a:r>
            <a:endParaRPr>
              <a:solidFill>
                <a:srgbClr val="FF00FF"/>
              </a:solidFill>
            </a:endParaRPr>
          </a:p>
        </p:txBody>
      </p:sp>
      <p:sp>
        <p:nvSpPr>
          <p:cNvPr id="884" name="Google Shape;884;p40"/>
          <p:cNvSpPr txBox="1"/>
          <p:nvPr/>
        </p:nvSpPr>
        <p:spPr>
          <a:xfrm>
            <a:off x="5968050" y="4554900"/>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FF00FF"/>
                </a:solidFill>
              </a:rPr>
              <a:t>h</a:t>
            </a:r>
            <a:r>
              <a:rPr lang="en">
                <a:solidFill>
                  <a:srgbClr val="FF00FF"/>
                </a:solidFill>
              </a:rPr>
              <a:t> </a:t>
            </a:r>
            <a:r>
              <a:rPr baseline="30000" lang="en">
                <a:solidFill>
                  <a:srgbClr val="FF00FF"/>
                </a:solidFill>
              </a:rPr>
              <a:t>(2)</a:t>
            </a:r>
            <a:endParaRPr>
              <a:solidFill>
                <a:srgbClr val="FF00FF"/>
              </a:solidFill>
            </a:endParaRPr>
          </a:p>
        </p:txBody>
      </p:sp>
      <p:sp>
        <p:nvSpPr>
          <p:cNvPr id="885" name="Google Shape;885;p40"/>
          <p:cNvSpPr txBox="1"/>
          <p:nvPr/>
        </p:nvSpPr>
        <p:spPr>
          <a:xfrm>
            <a:off x="7667525" y="4560688"/>
            <a:ext cx="1419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prediction </a:t>
            </a:r>
            <a:r>
              <a:rPr b="1" lang="en">
                <a:solidFill>
                  <a:srgbClr val="949AF8"/>
                </a:solidFill>
              </a:rPr>
              <a:t>ŷ</a:t>
            </a:r>
            <a:endParaRPr/>
          </a:p>
        </p:txBody>
      </p:sp>
      <p:sp>
        <p:nvSpPr>
          <p:cNvPr id="886" name="Google Shape;886;p40"/>
          <p:cNvSpPr txBox="1"/>
          <p:nvPr/>
        </p:nvSpPr>
        <p:spPr>
          <a:xfrm>
            <a:off x="3747025" y="1629100"/>
            <a:ext cx="54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ɸ</a:t>
            </a:r>
            <a:r>
              <a:rPr lang="en">
                <a:solidFill>
                  <a:schemeClr val="dk2"/>
                </a:solidFill>
              </a:rPr>
              <a:t> </a:t>
            </a:r>
            <a:r>
              <a:rPr baseline="30000" lang="en">
                <a:solidFill>
                  <a:schemeClr val="dk2"/>
                </a:solidFill>
              </a:rPr>
              <a:t>(1)</a:t>
            </a:r>
            <a:endParaRPr/>
          </a:p>
        </p:txBody>
      </p:sp>
      <p:sp>
        <p:nvSpPr>
          <p:cNvPr id="887" name="Google Shape;887;p40"/>
          <p:cNvSpPr txBox="1"/>
          <p:nvPr/>
        </p:nvSpPr>
        <p:spPr>
          <a:xfrm>
            <a:off x="6237575" y="1705300"/>
            <a:ext cx="54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ɸ</a:t>
            </a:r>
            <a:r>
              <a:rPr lang="en">
                <a:solidFill>
                  <a:schemeClr val="dk2"/>
                </a:solidFill>
              </a:rPr>
              <a:t> </a:t>
            </a:r>
            <a:r>
              <a:rPr baseline="30000" lang="en">
                <a:solidFill>
                  <a:schemeClr val="dk2"/>
                </a:solidFill>
              </a:rPr>
              <a:t>(2)</a:t>
            </a:r>
            <a:endParaRPr/>
          </a:p>
        </p:txBody>
      </p:sp>
      <p:sp>
        <p:nvSpPr>
          <p:cNvPr id="888" name="Google Shape;888;p40"/>
          <p:cNvSpPr txBox="1"/>
          <p:nvPr/>
        </p:nvSpPr>
        <p:spPr>
          <a:xfrm>
            <a:off x="8305825" y="1793725"/>
            <a:ext cx="54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ɸ</a:t>
            </a:r>
            <a:r>
              <a:rPr lang="en">
                <a:solidFill>
                  <a:schemeClr val="dk2"/>
                </a:solidFill>
              </a:rPr>
              <a:t> </a:t>
            </a:r>
            <a:r>
              <a:rPr baseline="30000" lang="en">
                <a:solidFill>
                  <a:schemeClr val="dk2"/>
                </a:solidFill>
              </a:rPr>
              <a:t>(3)</a:t>
            </a:r>
            <a:endParaRPr/>
          </a:p>
        </p:txBody>
      </p:sp>
      <p:sp>
        <p:nvSpPr>
          <p:cNvPr id="889" name="Google Shape;889;p40"/>
          <p:cNvSpPr txBox="1"/>
          <p:nvPr/>
        </p:nvSpPr>
        <p:spPr>
          <a:xfrm>
            <a:off x="7153025" y="4597525"/>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1B91CA"/>
                </a:solidFill>
              </a:rPr>
              <a:t>Z</a:t>
            </a:r>
            <a:r>
              <a:rPr lang="en">
                <a:solidFill>
                  <a:srgbClr val="1B91CA"/>
                </a:solidFill>
              </a:rPr>
              <a:t> </a:t>
            </a:r>
            <a:r>
              <a:rPr baseline="30000" lang="en">
                <a:solidFill>
                  <a:srgbClr val="1B91CA"/>
                </a:solidFill>
              </a:rPr>
              <a:t>(3)</a:t>
            </a:r>
            <a:endParaRPr>
              <a:solidFill>
                <a:srgbClr val="1B91CA"/>
              </a:solidFill>
            </a:endParaRPr>
          </a:p>
        </p:txBody>
      </p:sp>
      <p:sp>
        <p:nvSpPr>
          <p:cNvPr id="890" name="Google Shape;890;p40"/>
          <p:cNvSpPr txBox="1"/>
          <p:nvPr/>
        </p:nvSpPr>
        <p:spPr>
          <a:xfrm>
            <a:off x="723675" y="4575975"/>
            <a:ext cx="478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BCBD21"/>
                </a:solidFill>
              </a:rPr>
              <a:t>X</a:t>
            </a:r>
            <a:endParaRPr>
              <a:solidFill>
                <a:srgbClr val="BCBD21"/>
              </a:solidFill>
            </a:endParaRPr>
          </a:p>
        </p:txBody>
      </p:sp>
      <p:grpSp>
        <p:nvGrpSpPr>
          <p:cNvPr id="891" name="Google Shape;891;p40"/>
          <p:cNvGrpSpPr/>
          <p:nvPr/>
        </p:nvGrpSpPr>
        <p:grpSpPr>
          <a:xfrm>
            <a:off x="456325" y="267325"/>
            <a:ext cx="4749000" cy="966000"/>
            <a:chOff x="152400" y="152400"/>
            <a:chExt cx="4749000" cy="966000"/>
          </a:xfrm>
        </p:grpSpPr>
        <p:sp>
          <p:nvSpPr>
            <p:cNvPr id="892" name="Google Shape;892;p40"/>
            <p:cNvSpPr txBox="1"/>
            <p:nvPr/>
          </p:nvSpPr>
          <p:spPr>
            <a:xfrm>
              <a:off x="152400" y="152400"/>
              <a:ext cx="4749000" cy="96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For gradient descent, we need to compute the derivatives</a:t>
              </a:r>
              <a:endParaRPr>
                <a:solidFill>
                  <a:schemeClr val="dk2"/>
                </a:solidFill>
              </a:endParaRPr>
            </a:p>
            <a:p>
              <a:pPr indent="0" lvl="0" marL="0" rtl="0" algn="l">
                <a:spcBef>
                  <a:spcPts val="0"/>
                </a:spcBef>
                <a:spcAft>
                  <a:spcPts val="0"/>
                </a:spcAft>
                <a:buNone/>
              </a:pPr>
              <a:r>
                <a:t/>
              </a:r>
              <a:endParaRPr>
                <a:solidFill>
                  <a:schemeClr val="dk2"/>
                </a:solidFill>
              </a:endParaRPr>
            </a:p>
            <a:p>
              <a:pPr indent="457200" lvl="0" marL="457200" rtl="0" algn="l">
                <a:spcBef>
                  <a:spcPts val="0"/>
                </a:spcBef>
                <a:spcAft>
                  <a:spcPts val="0"/>
                </a:spcAft>
                <a:buNone/>
              </a:pPr>
              <a:r>
                <a:rPr lang="en">
                  <a:solidFill>
                    <a:schemeClr val="dk2"/>
                  </a:solidFill>
                </a:rPr>
                <a:t>and		     where  </a:t>
              </a:r>
              <a:r>
                <a:rPr b="1" lang="en">
                  <a:solidFill>
                    <a:schemeClr val="dk1"/>
                  </a:solidFill>
                </a:rPr>
                <a:t>C </a:t>
              </a:r>
              <a:r>
                <a:rPr lang="en">
                  <a:solidFill>
                    <a:schemeClr val="dk1"/>
                  </a:solidFill>
                </a:rPr>
                <a:t>is the cost function</a:t>
              </a:r>
              <a:endParaRPr/>
            </a:p>
          </p:txBody>
        </p:sp>
        <p:grpSp>
          <p:nvGrpSpPr>
            <p:cNvPr id="893" name="Google Shape;893;p40"/>
            <p:cNvGrpSpPr/>
            <p:nvPr/>
          </p:nvGrpSpPr>
          <p:grpSpPr>
            <a:xfrm>
              <a:off x="387325" y="476400"/>
              <a:ext cx="684000" cy="615600"/>
              <a:chOff x="463524" y="476400"/>
              <a:chExt cx="684000" cy="615600"/>
            </a:xfrm>
          </p:grpSpPr>
          <p:sp>
            <p:nvSpPr>
              <p:cNvPr id="894" name="Google Shape;894;p40"/>
              <p:cNvSpPr txBox="1"/>
              <p:nvPr/>
            </p:nvSpPr>
            <p:spPr>
              <a:xfrm>
                <a:off x="463524" y="476400"/>
                <a:ext cx="684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  𝛿</a:t>
                </a:r>
                <a:r>
                  <a:rPr b="1" lang="en">
                    <a:solidFill>
                      <a:schemeClr val="dk1"/>
                    </a:solidFill>
                  </a:rPr>
                  <a:t>C</a:t>
                </a:r>
                <a:endParaRPr b="1">
                  <a:solidFill>
                    <a:schemeClr val="dk1"/>
                  </a:solidFill>
                </a:endParaRPr>
              </a:p>
              <a:p>
                <a:pPr indent="0" lvl="0" marL="0" rtl="0" algn="l">
                  <a:spcBef>
                    <a:spcPts val="0"/>
                  </a:spcBef>
                  <a:spcAft>
                    <a:spcPts val="0"/>
                  </a:spcAft>
                  <a:buNone/>
                </a:pPr>
                <a:r>
                  <a:rPr lang="en">
                    <a:solidFill>
                      <a:schemeClr val="dk1"/>
                    </a:solidFill>
                  </a:rPr>
                  <a:t>𝛿</a:t>
                </a:r>
                <a:r>
                  <a:rPr b="1" lang="en">
                    <a:solidFill>
                      <a:schemeClr val="dk1"/>
                    </a:solidFill>
                  </a:rPr>
                  <a:t>W</a:t>
                </a:r>
                <a:r>
                  <a:rPr lang="en">
                    <a:solidFill>
                      <a:schemeClr val="dk1"/>
                    </a:solidFill>
                  </a:rPr>
                  <a:t>ij</a:t>
                </a:r>
                <a:r>
                  <a:rPr baseline="30000" lang="en">
                    <a:solidFill>
                      <a:schemeClr val="dk1"/>
                    </a:solidFill>
                  </a:rPr>
                  <a:t>(</a:t>
                </a:r>
                <a:r>
                  <a:rPr b="1" baseline="30000" lang="en">
                    <a:solidFill>
                      <a:srgbClr val="949AF8"/>
                    </a:solidFill>
                  </a:rPr>
                  <a:t>k</a:t>
                </a:r>
                <a:r>
                  <a:rPr baseline="30000" lang="en">
                    <a:solidFill>
                      <a:schemeClr val="dk1"/>
                    </a:solidFill>
                  </a:rPr>
                  <a:t>) </a:t>
                </a:r>
                <a:endParaRPr/>
              </a:p>
            </p:txBody>
          </p:sp>
          <p:cxnSp>
            <p:nvCxnSpPr>
              <p:cNvPr id="895" name="Google Shape;895;p40"/>
              <p:cNvCxnSpPr>
                <a:stCxn id="894" idx="1"/>
                <a:endCxn id="894" idx="3"/>
              </p:cNvCxnSpPr>
              <p:nvPr/>
            </p:nvCxnSpPr>
            <p:spPr>
              <a:xfrm>
                <a:off x="463524" y="784200"/>
                <a:ext cx="684000" cy="0"/>
              </a:xfrm>
              <a:prstGeom prst="straightConnector1">
                <a:avLst/>
              </a:prstGeom>
              <a:noFill/>
              <a:ln cap="flat" cmpd="sng" w="9525">
                <a:solidFill>
                  <a:schemeClr val="dk2"/>
                </a:solidFill>
                <a:prstDash val="solid"/>
                <a:round/>
                <a:headEnd len="med" w="med" type="none"/>
                <a:tailEnd len="med" w="med" type="none"/>
              </a:ln>
            </p:spPr>
          </p:cxnSp>
        </p:grpSp>
        <p:grpSp>
          <p:nvGrpSpPr>
            <p:cNvPr id="896" name="Google Shape;896;p40"/>
            <p:cNvGrpSpPr/>
            <p:nvPr/>
          </p:nvGrpSpPr>
          <p:grpSpPr>
            <a:xfrm>
              <a:off x="1608650" y="476400"/>
              <a:ext cx="590700" cy="615600"/>
              <a:chOff x="463525" y="552600"/>
              <a:chExt cx="590700" cy="615600"/>
            </a:xfrm>
          </p:grpSpPr>
          <p:sp>
            <p:nvSpPr>
              <p:cNvPr id="897" name="Google Shape;897;p40"/>
              <p:cNvSpPr txBox="1"/>
              <p:nvPr/>
            </p:nvSpPr>
            <p:spPr>
              <a:xfrm>
                <a:off x="463525" y="552600"/>
                <a:ext cx="590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  𝛿</a:t>
                </a:r>
                <a:r>
                  <a:rPr b="1" lang="en">
                    <a:solidFill>
                      <a:schemeClr val="dk1"/>
                    </a:solidFill>
                  </a:rPr>
                  <a:t>C</a:t>
                </a:r>
                <a:endParaRPr b="1">
                  <a:solidFill>
                    <a:schemeClr val="dk1"/>
                  </a:solidFill>
                </a:endParaRPr>
              </a:p>
              <a:p>
                <a:pPr indent="0" lvl="0" marL="0" rtl="0" algn="l">
                  <a:spcBef>
                    <a:spcPts val="0"/>
                  </a:spcBef>
                  <a:spcAft>
                    <a:spcPts val="0"/>
                  </a:spcAft>
                  <a:buNone/>
                </a:pPr>
                <a:r>
                  <a:rPr lang="en">
                    <a:solidFill>
                      <a:schemeClr val="dk1"/>
                    </a:solidFill>
                  </a:rPr>
                  <a:t>𝛿</a:t>
                </a:r>
                <a:r>
                  <a:rPr b="1" lang="en">
                    <a:solidFill>
                      <a:schemeClr val="dk1"/>
                    </a:solidFill>
                  </a:rPr>
                  <a:t>b</a:t>
                </a:r>
                <a:r>
                  <a:rPr lang="en">
                    <a:solidFill>
                      <a:schemeClr val="dk1"/>
                    </a:solidFill>
                  </a:rPr>
                  <a:t>i</a:t>
                </a:r>
                <a:r>
                  <a:rPr baseline="30000" lang="en">
                    <a:solidFill>
                      <a:schemeClr val="dk1"/>
                    </a:solidFill>
                  </a:rPr>
                  <a:t>(</a:t>
                </a:r>
                <a:r>
                  <a:rPr b="1" baseline="30000" lang="en">
                    <a:solidFill>
                      <a:srgbClr val="949AF8"/>
                    </a:solidFill>
                  </a:rPr>
                  <a:t>k</a:t>
                </a:r>
                <a:r>
                  <a:rPr baseline="30000" lang="en">
                    <a:solidFill>
                      <a:schemeClr val="dk1"/>
                    </a:solidFill>
                  </a:rPr>
                  <a:t>) </a:t>
                </a:r>
                <a:endParaRPr/>
              </a:p>
            </p:txBody>
          </p:sp>
          <p:cxnSp>
            <p:nvCxnSpPr>
              <p:cNvPr id="898" name="Google Shape;898;p40"/>
              <p:cNvCxnSpPr>
                <a:stCxn id="897" idx="1"/>
                <a:endCxn id="897" idx="3"/>
              </p:cNvCxnSpPr>
              <p:nvPr/>
            </p:nvCxnSpPr>
            <p:spPr>
              <a:xfrm>
                <a:off x="463525" y="860400"/>
                <a:ext cx="590700" cy="0"/>
              </a:xfrm>
              <a:prstGeom prst="straightConnector1">
                <a:avLst/>
              </a:prstGeom>
              <a:noFill/>
              <a:ln cap="flat" cmpd="sng" w="9525">
                <a:solidFill>
                  <a:schemeClr val="dk2"/>
                </a:solidFill>
                <a:prstDash val="solid"/>
                <a:round/>
                <a:headEnd len="med" w="med" type="none"/>
                <a:tailEnd len="med" w="med" type="none"/>
              </a:ln>
            </p:spPr>
          </p:cxnSp>
        </p:grpSp>
      </p:grpSp>
      <p:sp>
        <p:nvSpPr>
          <p:cNvPr id="899" name="Google Shape;899;p40"/>
          <p:cNvSpPr txBox="1"/>
          <p:nvPr/>
        </p:nvSpPr>
        <p:spPr>
          <a:xfrm>
            <a:off x="5671525" y="289650"/>
            <a:ext cx="3081900" cy="923400"/>
          </a:xfrm>
          <a:prstGeom prst="rect">
            <a:avLst/>
          </a:prstGeom>
          <a:noFill/>
          <a:ln cap="flat" cmpd="sng" w="952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So how to do this? Well we start at the end of our network and work backwards using the </a:t>
            </a:r>
            <a:r>
              <a:rPr lang="en" sz="2000">
                <a:solidFill>
                  <a:schemeClr val="dk2"/>
                </a:solidFill>
                <a:latin typeface="Staatliches"/>
                <a:ea typeface="Staatliches"/>
                <a:cs typeface="Staatliches"/>
                <a:sym typeface="Staatliches"/>
              </a:rPr>
              <a:t>chain rule</a:t>
            </a:r>
            <a:r>
              <a:rPr lang="en">
                <a:solidFill>
                  <a:schemeClr val="dk2"/>
                </a:solidFill>
              </a:rPr>
              <a:t> </a:t>
            </a:r>
            <a:endParaRPr/>
          </a:p>
        </p:txBody>
      </p:sp>
      <p:sp>
        <p:nvSpPr>
          <p:cNvPr id="900" name="Google Shape;900;p40"/>
          <p:cNvSpPr txBox="1"/>
          <p:nvPr/>
        </p:nvSpPr>
        <p:spPr>
          <a:xfrm>
            <a:off x="1779938" y="4597525"/>
            <a:ext cx="43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b</a:t>
            </a:r>
            <a:r>
              <a:rPr baseline="30000" lang="en">
                <a:solidFill>
                  <a:schemeClr val="dk1"/>
                </a:solidFill>
              </a:rPr>
              <a:t>(</a:t>
            </a:r>
            <a:r>
              <a:rPr b="1" baseline="30000" lang="en">
                <a:solidFill>
                  <a:srgbClr val="949AF8"/>
                </a:solidFill>
              </a:rPr>
              <a:t>1</a:t>
            </a:r>
            <a:r>
              <a:rPr baseline="30000" lang="en">
                <a:solidFill>
                  <a:schemeClr val="dk1"/>
                </a:solidFill>
              </a:rPr>
              <a:t>)</a:t>
            </a:r>
            <a:endParaRPr/>
          </a:p>
        </p:txBody>
      </p:sp>
      <p:sp>
        <p:nvSpPr>
          <p:cNvPr id="901" name="Google Shape;901;p40"/>
          <p:cNvSpPr txBox="1"/>
          <p:nvPr/>
        </p:nvSpPr>
        <p:spPr>
          <a:xfrm>
            <a:off x="4223025" y="4575975"/>
            <a:ext cx="43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b</a:t>
            </a:r>
            <a:r>
              <a:rPr baseline="30000" lang="en">
                <a:solidFill>
                  <a:schemeClr val="dk1"/>
                </a:solidFill>
              </a:rPr>
              <a:t>(</a:t>
            </a:r>
            <a:r>
              <a:rPr b="1" baseline="30000" lang="en">
                <a:solidFill>
                  <a:srgbClr val="949AF8"/>
                </a:solidFill>
              </a:rPr>
              <a:t>2</a:t>
            </a:r>
            <a:r>
              <a:rPr baseline="30000" lang="en">
                <a:solidFill>
                  <a:schemeClr val="dk1"/>
                </a:solidFill>
              </a:rPr>
              <a:t>)</a:t>
            </a:r>
            <a:endParaRPr/>
          </a:p>
        </p:txBody>
      </p:sp>
      <p:sp>
        <p:nvSpPr>
          <p:cNvPr id="902" name="Google Shape;902;p40"/>
          <p:cNvSpPr txBox="1"/>
          <p:nvPr/>
        </p:nvSpPr>
        <p:spPr>
          <a:xfrm>
            <a:off x="6730063" y="4560700"/>
            <a:ext cx="43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b</a:t>
            </a:r>
            <a:r>
              <a:rPr baseline="30000" lang="en">
                <a:solidFill>
                  <a:schemeClr val="dk1"/>
                </a:solidFill>
              </a:rPr>
              <a:t>(</a:t>
            </a:r>
            <a:r>
              <a:rPr b="1" baseline="30000" lang="en">
                <a:solidFill>
                  <a:srgbClr val="949AF8"/>
                </a:solidFill>
              </a:rPr>
              <a:t>3</a:t>
            </a:r>
            <a:r>
              <a:rPr baseline="30000" lang="en">
                <a:solidFill>
                  <a:schemeClr val="dk1"/>
                </a:solidFil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grpSp>
        <p:nvGrpSpPr>
          <p:cNvPr id="907" name="Google Shape;907;p41"/>
          <p:cNvGrpSpPr/>
          <p:nvPr/>
        </p:nvGrpSpPr>
        <p:grpSpPr>
          <a:xfrm>
            <a:off x="380748" y="855725"/>
            <a:ext cx="1633502" cy="2878200"/>
            <a:chOff x="2978448" y="314900"/>
            <a:chExt cx="1633502" cy="2878200"/>
          </a:xfrm>
        </p:grpSpPr>
        <p:sp>
          <p:nvSpPr>
            <p:cNvPr id="908" name="Google Shape;908;p41"/>
            <p:cNvSpPr txBox="1"/>
            <p:nvPr/>
          </p:nvSpPr>
          <p:spPr>
            <a:xfrm>
              <a:off x="2978448" y="314900"/>
              <a:ext cx="16335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1B91CA"/>
                  </a:solidFill>
                </a:rPr>
                <a:t>Z</a:t>
              </a:r>
              <a:r>
                <a:rPr baseline="30000" lang="en">
                  <a:solidFill>
                    <a:srgbClr val="1B91CA"/>
                  </a:solidFill>
                </a:rPr>
                <a:t>(1)</a:t>
              </a:r>
              <a:r>
                <a:rPr baseline="30000" lang="en">
                  <a:solidFill>
                    <a:schemeClr val="dk1"/>
                  </a:solidFill>
                </a:rPr>
                <a:t>  </a:t>
              </a:r>
              <a:r>
                <a:rPr lang="en">
                  <a:solidFill>
                    <a:schemeClr val="dk1"/>
                  </a:solidFill>
                </a:rPr>
                <a:t>=  </a:t>
              </a:r>
              <a:r>
                <a:rPr b="1" lang="en">
                  <a:solidFill>
                    <a:schemeClr val="dk1"/>
                  </a:solidFill>
                </a:rPr>
                <a:t>W</a:t>
              </a:r>
              <a:r>
                <a:rPr baseline="30000" lang="en">
                  <a:solidFill>
                    <a:schemeClr val="dk1"/>
                  </a:solidFill>
                </a:rPr>
                <a:t>(</a:t>
              </a:r>
              <a:r>
                <a:rPr b="1" baseline="30000" lang="en">
                  <a:solidFill>
                    <a:srgbClr val="949AF8"/>
                  </a:solidFill>
                </a:rPr>
                <a:t>1</a:t>
              </a:r>
              <a:r>
                <a:rPr baseline="30000" lang="en">
                  <a:solidFill>
                    <a:schemeClr val="dk1"/>
                  </a:solidFill>
                </a:rPr>
                <a:t>) </a:t>
              </a:r>
              <a:r>
                <a:rPr b="1" lang="en">
                  <a:solidFill>
                    <a:srgbClr val="BCBD21"/>
                  </a:solidFill>
                </a:rPr>
                <a:t>X </a:t>
              </a:r>
              <a:r>
                <a:rPr b="1" lang="en">
                  <a:solidFill>
                    <a:schemeClr val="dk1"/>
                  </a:solidFill>
                </a:rPr>
                <a:t>+ b</a:t>
              </a:r>
              <a:r>
                <a:rPr baseline="30000" lang="en">
                  <a:solidFill>
                    <a:schemeClr val="dk1"/>
                  </a:solidFill>
                </a:rPr>
                <a:t>(</a:t>
              </a:r>
              <a:r>
                <a:rPr b="1" baseline="30000" lang="en">
                  <a:solidFill>
                    <a:srgbClr val="949AF8"/>
                  </a:solidFill>
                </a:rPr>
                <a:t>1</a:t>
              </a:r>
              <a:r>
                <a:rPr baseline="30000" lang="en">
                  <a:solidFill>
                    <a:schemeClr val="dk1"/>
                  </a:solidFill>
                </a:rPr>
                <a:t>)</a:t>
              </a:r>
              <a:r>
                <a:rPr b="1" lang="en">
                  <a:solidFill>
                    <a:schemeClr val="dk1"/>
                  </a:solidFill>
                </a:rPr>
                <a:t> </a:t>
              </a:r>
              <a:endParaRPr/>
            </a:p>
          </p:txBody>
        </p:sp>
        <p:sp>
          <p:nvSpPr>
            <p:cNvPr id="909" name="Google Shape;909;p41"/>
            <p:cNvSpPr txBox="1"/>
            <p:nvPr/>
          </p:nvSpPr>
          <p:spPr>
            <a:xfrm>
              <a:off x="2978450" y="800400"/>
              <a:ext cx="16335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FF00FF"/>
                  </a:solidFill>
                </a:rPr>
                <a:t>h</a:t>
              </a:r>
              <a:r>
                <a:rPr baseline="30000" lang="en">
                  <a:solidFill>
                    <a:srgbClr val="FF00FF"/>
                  </a:solidFill>
                </a:rPr>
                <a:t>(1)  </a:t>
              </a:r>
              <a:r>
                <a:rPr b="1" lang="en">
                  <a:solidFill>
                    <a:schemeClr val="dk1"/>
                  </a:solidFill>
                </a:rPr>
                <a:t>=  </a:t>
              </a:r>
              <a:r>
                <a:rPr b="1" lang="en">
                  <a:solidFill>
                    <a:schemeClr val="dk2"/>
                  </a:solidFill>
                </a:rPr>
                <a:t>ɸ</a:t>
              </a:r>
              <a:r>
                <a:rPr lang="en">
                  <a:solidFill>
                    <a:schemeClr val="dk2"/>
                  </a:solidFill>
                </a:rPr>
                <a:t> </a:t>
              </a:r>
              <a:r>
                <a:rPr baseline="30000" lang="en">
                  <a:solidFill>
                    <a:schemeClr val="dk2"/>
                  </a:solidFill>
                </a:rPr>
                <a:t>(1)</a:t>
              </a:r>
              <a:r>
                <a:rPr lang="en">
                  <a:solidFill>
                    <a:schemeClr val="dk2"/>
                  </a:solidFill>
                </a:rPr>
                <a:t>(</a:t>
              </a:r>
              <a:r>
                <a:rPr b="1" lang="en">
                  <a:solidFill>
                    <a:srgbClr val="1B91CA"/>
                  </a:solidFill>
                </a:rPr>
                <a:t> Z</a:t>
              </a:r>
              <a:r>
                <a:rPr baseline="30000" lang="en">
                  <a:solidFill>
                    <a:srgbClr val="1B91CA"/>
                  </a:solidFill>
                </a:rPr>
                <a:t>(1)</a:t>
              </a:r>
              <a:r>
                <a:rPr lang="en">
                  <a:solidFill>
                    <a:schemeClr val="dk2"/>
                  </a:solidFill>
                </a:rPr>
                <a:t>)</a:t>
              </a:r>
              <a:endParaRPr/>
            </a:p>
          </p:txBody>
        </p:sp>
        <p:sp>
          <p:nvSpPr>
            <p:cNvPr id="910" name="Google Shape;910;p41"/>
            <p:cNvSpPr txBox="1"/>
            <p:nvPr/>
          </p:nvSpPr>
          <p:spPr>
            <a:xfrm>
              <a:off x="2978450" y="1306100"/>
              <a:ext cx="16335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1B91CA"/>
                  </a:solidFill>
                </a:rPr>
                <a:t>Z</a:t>
              </a:r>
              <a:r>
                <a:rPr baseline="30000" lang="en">
                  <a:solidFill>
                    <a:srgbClr val="1B91CA"/>
                  </a:solidFill>
                </a:rPr>
                <a:t>(2)</a:t>
              </a:r>
              <a:r>
                <a:rPr baseline="30000" lang="en">
                  <a:solidFill>
                    <a:schemeClr val="dk1"/>
                  </a:solidFill>
                </a:rPr>
                <a:t> </a:t>
              </a:r>
              <a:r>
                <a:rPr lang="en">
                  <a:solidFill>
                    <a:schemeClr val="dk1"/>
                  </a:solidFill>
                </a:rPr>
                <a:t>=  </a:t>
              </a:r>
              <a:r>
                <a:rPr b="1" lang="en">
                  <a:solidFill>
                    <a:schemeClr val="dk1"/>
                  </a:solidFill>
                </a:rPr>
                <a:t>W</a:t>
              </a:r>
              <a:r>
                <a:rPr baseline="30000" lang="en">
                  <a:solidFill>
                    <a:schemeClr val="dk1"/>
                  </a:solidFill>
                </a:rPr>
                <a:t>(</a:t>
              </a:r>
              <a:r>
                <a:rPr b="1" baseline="30000" lang="en">
                  <a:solidFill>
                    <a:srgbClr val="949AF8"/>
                  </a:solidFill>
                </a:rPr>
                <a:t>2</a:t>
              </a:r>
              <a:r>
                <a:rPr baseline="30000" lang="en">
                  <a:solidFill>
                    <a:schemeClr val="dk1"/>
                  </a:solidFill>
                </a:rPr>
                <a:t>) </a:t>
              </a:r>
              <a:r>
                <a:rPr b="1" lang="en">
                  <a:solidFill>
                    <a:srgbClr val="FF00FF"/>
                  </a:solidFill>
                </a:rPr>
                <a:t>h</a:t>
              </a:r>
              <a:r>
                <a:rPr baseline="30000" lang="en">
                  <a:solidFill>
                    <a:srgbClr val="FF00FF"/>
                  </a:solidFill>
                </a:rPr>
                <a:t>(1)  </a:t>
              </a:r>
              <a:r>
                <a:rPr b="1" lang="en">
                  <a:solidFill>
                    <a:schemeClr val="dk1"/>
                  </a:solidFill>
                </a:rPr>
                <a:t>+b</a:t>
              </a:r>
              <a:r>
                <a:rPr baseline="30000" lang="en">
                  <a:solidFill>
                    <a:schemeClr val="dk1"/>
                  </a:solidFill>
                </a:rPr>
                <a:t>(</a:t>
              </a:r>
              <a:r>
                <a:rPr b="1" baseline="30000" lang="en">
                  <a:solidFill>
                    <a:srgbClr val="949AF8"/>
                  </a:solidFill>
                </a:rPr>
                <a:t>2</a:t>
              </a:r>
              <a:r>
                <a:rPr baseline="30000" lang="en">
                  <a:solidFill>
                    <a:schemeClr val="dk1"/>
                  </a:solidFill>
                </a:rPr>
                <a:t>)</a:t>
              </a:r>
              <a:r>
                <a:rPr b="1" lang="en">
                  <a:solidFill>
                    <a:schemeClr val="dk1"/>
                  </a:solidFill>
                </a:rPr>
                <a:t> </a:t>
              </a:r>
              <a:endParaRPr/>
            </a:p>
          </p:txBody>
        </p:sp>
        <p:sp>
          <p:nvSpPr>
            <p:cNvPr id="911" name="Google Shape;911;p41"/>
            <p:cNvSpPr txBox="1"/>
            <p:nvPr/>
          </p:nvSpPr>
          <p:spPr>
            <a:xfrm>
              <a:off x="2978450" y="1801700"/>
              <a:ext cx="16335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FF00FF"/>
                  </a:solidFill>
                </a:rPr>
                <a:t>h</a:t>
              </a:r>
              <a:r>
                <a:rPr baseline="30000" lang="en">
                  <a:solidFill>
                    <a:srgbClr val="FF00FF"/>
                  </a:solidFill>
                </a:rPr>
                <a:t>(2)  </a:t>
              </a:r>
              <a:r>
                <a:rPr b="1" lang="en">
                  <a:solidFill>
                    <a:schemeClr val="dk1"/>
                  </a:solidFill>
                </a:rPr>
                <a:t>=  </a:t>
              </a:r>
              <a:r>
                <a:rPr b="1" lang="en">
                  <a:solidFill>
                    <a:schemeClr val="dk2"/>
                  </a:solidFill>
                </a:rPr>
                <a:t>ɸ</a:t>
              </a:r>
              <a:r>
                <a:rPr lang="en">
                  <a:solidFill>
                    <a:schemeClr val="dk2"/>
                  </a:solidFill>
                </a:rPr>
                <a:t> </a:t>
              </a:r>
              <a:r>
                <a:rPr baseline="30000" lang="en">
                  <a:solidFill>
                    <a:schemeClr val="dk2"/>
                  </a:solidFill>
                </a:rPr>
                <a:t>(2)</a:t>
              </a:r>
              <a:r>
                <a:rPr b="1" lang="en">
                  <a:solidFill>
                    <a:srgbClr val="1B91CA"/>
                  </a:solidFill>
                </a:rPr>
                <a:t> </a:t>
              </a:r>
              <a:r>
                <a:rPr lang="en">
                  <a:solidFill>
                    <a:schemeClr val="dk2"/>
                  </a:solidFill>
                </a:rPr>
                <a:t>(</a:t>
              </a:r>
              <a:r>
                <a:rPr b="1" lang="en">
                  <a:solidFill>
                    <a:srgbClr val="1B91CA"/>
                  </a:solidFill>
                </a:rPr>
                <a:t>Z</a:t>
              </a:r>
              <a:r>
                <a:rPr baseline="30000" lang="en">
                  <a:solidFill>
                    <a:srgbClr val="1B91CA"/>
                  </a:solidFill>
                </a:rPr>
                <a:t>(2)</a:t>
              </a:r>
              <a:r>
                <a:rPr lang="en">
                  <a:solidFill>
                    <a:schemeClr val="dk2"/>
                  </a:solidFill>
                </a:rPr>
                <a:t>)</a:t>
              </a:r>
              <a:endParaRPr/>
            </a:p>
          </p:txBody>
        </p:sp>
        <p:sp>
          <p:nvSpPr>
            <p:cNvPr id="912" name="Google Shape;912;p41"/>
            <p:cNvSpPr txBox="1"/>
            <p:nvPr/>
          </p:nvSpPr>
          <p:spPr>
            <a:xfrm>
              <a:off x="2978448" y="2297300"/>
              <a:ext cx="16335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1B91CA"/>
                  </a:solidFill>
                </a:rPr>
                <a:t>Z</a:t>
              </a:r>
              <a:r>
                <a:rPr baseline="30000" lang="en">
                  <a:solidFill>
                    <a:srgbClr val="1B91CA"/>
                  </a:solidFill>
                </a:rPr>
                <a:t>(3)</a:t>
              </a:r>
              <a:r>
                <a:rPr baseline="30000" lang="en">
                  <a:solidFill>
                    <a:schemeClr val="dk1"/>
                  </a:solidFill>
                </a:rPr>
                <a:t> </a:t>
              </a:r>
              <a:r>
                <a:rPr lang="en">
                  <a:solidFill>
                    <a:schemeClr val="dk1"/>
                  </a:solidFill>
                </a:rPr>
                <a:t>=  </a:t>
              </a:r>
              <a:r>
                <a:rPr b="1" lang="en">
                  <a:solidFill>
                    <a:schemeClr val="dk1"/>
                  </a:solidFill>
                </a:rPr>
                <a:t>W</a:t>
              </a:r>
              <a:r>
                <a:rPr baseline="30000" lang="en">
                  <a:solidFill>
                    <a:schemeClr val="dk1"/>
                  </a:solidFill>
                </a:rPr>
                <a:t>(</a:t>
              </a:r>
              <a:r>
                <a:rPr b="1" baseline="30000" lang="en">
                  <a:solidFill>
                    <a:srgbClr val="949AF8"/>
                  </a:solidFill>
                </a:rPr>
                <a:t>3</a:t>
              </a:r>
              <a:r>
                <a:rPr baseline="30000" lang="en">
                  <a:solidFill>
                    <a:schemeClr val="dk1"/>
                  </a:solidFill>
                </a:rPr>
                <a:t>) </a:t>
              </a:r>
              <a:r>
                <a:rPr b="1" lang="en">
                  <a:solidFill>
                    <a:srgbClr val="FF00FF"/>
                  </a:solidFill>
                </a:rPr>
                <a:t>h</a:t>
              </a:r>
              <a:r>
                <a:rPr baseline="30000" lang="en">
                  <a:solidFill>
                    <a:srgbClr val="FF00FF"/>
                  </a:solidFill>
                </a:rPr>
                <a:t>(2) </a:t>
              </a:r>
              <a:r>
                <a:rPr b="1" lang="en">
                  <a:solidFill>
                    <a:schemeClr val="dk1"/>
                  </a:solidFill>
                </a:rPr>
                <a:t>+b</a:t>
              </a:r>
              <a:r>
                <a:rPr baseline="30000" lang="en">
                  <a:solidFill>
                    <a:schemeClr val="dk1"/>
                  </a:solidFill>
                </a:rPr>
                <a:t>(</a:t>
              </a:r>
              <a:r>
                <a:rPr b="1" baseline="30000" lang="en">
                  <a:solidFill>
                    <a:srgbClr val="949AF8"/>
                  </a:solidFill>
                </a:rPr>
                <a:t>3</a:t>
              </a:r>
              <a:r>
                <a:rPr baseline="30000" lang="en">
                  <a:solidFill>
                    <a:schemeClr val="dk1"/>
                  </a:solidFill>
                </a:rPr>
                <a:t>)</a:t>
              </a:r>
              <a:r>
                <a:rPr b="1" lang="en">
                  <a:solidFill>
                    <a:schemeClr val="dk1"/>
                  </a:solidFill>
                </a:rPr>
                <a:t> </a:t>
              </a:r>
              <a:endParaRPr/>
            </a:p>
          </p:txBody>
        </p:sp>
        <p:sp>
          <p:nvSpPr>
            <p:cNvPr id="913" name="Google Shape;913;p41"/>
            <p:cNvSpPr txBox="1"/>
            <p:nvPr/>
          </p:nvSpPr>
          <p:spPr>
            <a:xfrm>
              <a:off x="2978450" y="2792900"/>
              <a:ext cx="16335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49AF8"/>
                  </a:solidFill>
                </a:rPr>
                <a:t>ŷ</a:t>
              </a:r>
              <a:r>
                <a:rPr b="1" lang="en">
                  <a:solidFill>
                    <a:srgbClr val="FF00FF"/>
                  </a:solidFill>
                </a:rPr>
                <a:t> </a:t>
              </a:r>
              <a:r>
                <a:rPr baseline="30000" lang="en">
                  <a:solidFill>
                    <a:srgbClr val="FF00FF"/>
                  </a:solidFill>
                </a:rPr>
                <a:t> </a:t>
              </a:r>
              <a:r>
                <a:rPr b="1" lang="en">
                  <a:solidFill>
                    <a:schemeClr val="dk1"/>
                  </a:solidFill>
                </a:rPr>
                <a:t>=  </a:t>
              </a:r>
              <a:r>
                <a:rPr b="1" lang="en">
                  <a:solidFill>
                    <a:schemeClr val="dk2"/>
                  </a:solidFill>
                </a:rPr>
                <a:t>ɸ</a:t>
              </a:r>
              <a:r>
                <a:rPr lang="en">
                  <a:solidFill>
                    <a:schemeClr val="dk2"/>
                  </a:solidFill>
                </a:rPr>
                <a:t> </a:t>
              </a:r>
              <a:r>
                <a:rPr baseline="30000" lang="en">
                  <a:solidFill>
                    <a:schemeClr val="dk2"/>
                  </a:solidFill>
                </a:rPr>
                <a:t>(3)</a:t>
              </a:r>
              <a:r>
                <a:rPr b="1" lang="en">
                  <a:solidFill>
                    <a:srgbClr val="1B91CA"/>
                  </a:solidFill>
                </a:rPr>
                <a:t> </a:t>
              </a:r>
              <a:r>
                <a:rPr lang="en">
                  <a:solidFill>
                    <a:schemeClr val="dk2"/>
                  </a:solidFill>
                </a:rPr>
                <a:t>(</a:t>
              </a:r>
              <a:r>
                <a:rPr b="1" lang="en">
                  <a:solidFill>
                    <a:srgbClr val="1B91CA"/>
                  </a:solidFill>
                </a:rPr>
                <a:t>Z</a:t>
              </a:r>
              <a:r>
                <a:rPr baseline="30000" lang="en">
                  <a:solidFill>
                    <a:srgbClr val="1B91CA"/>
                  </a:solidFill>
                </a:rPr>
                <a:t>(3)</a:t>
              </a:r>
              <a:r>
                <a:rPr lang="en">
                  <a:solidFill>
                    <a:schemeClr val="dk2"/>
                  </a:solidFill>
                </a:rPr>
                <a:t>)</a:t>
              </a:r>
              <a:endParaRPr/>
            </a:p>
          </p:txBody>
        </p:sp>
      </p:grpSp>
      <p:grpSp>
        <p:nvGrpSpPr>
          <p:cNvPr id="914" name="Google Shape;914;p41"/>
          <p:cNvGrpSpPr/>
          <p:nvPr/>
        </p:nvGrpSpPr>
        <p:grpSpPr>
          <a:xfrm>
            <a:off x="2291625" y="242251"/>
            <a:ext cx="6729487" cy="3993463"/>
            <a:chOff x="111468" y="-27201"/>
            <a:chExt cx="3614700" cy="1186800"/>
          </a:xfrm>
        </p:grpSpPr>
        <p:sp>
          <p:nvSpPr>
            <p:cNvPr id="915" name="Google Shape;915;p41"/>
            <p:cNvSpPr txBox="1"/>
            <p:nvPr/>
          </p:nvSpPr>
          <p:spPr>
            <a:xfrm>
              <a:off x="111468" y="-27201"/>
              <a:ext cx="3614700" cy="1186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For gradient descent, we need to compute the derivatives		      and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The cost </a:t>
              </a:r>
              <a:r>
                <a:rPr b="1" lang="en">
                  <a:solidFill>
                    <a:schemeClr val="dk2"/>
                  </a:solidFill>
                </a:rPr>
                <a:t>C</a:t>
              </a:r>
              <a:r>
                <a:rPr lang="en">
                  <a:solidFill>
                    <a:schemeClr val="dk2"/>
                  </a:solidFill>
                </a:rPr>
                <a:t> is a function of the predicted value </a:t>
              </a:r>
              <a:r>
                <a:rPr b="1" lang="en">
                  <a:solidFill>
                    <a:srgbClr val="949AF8"/>
                  </a:solidFill>
                </a:rPr>
                <a:t>y</a:t>
              </a:r>
              <a:r>
                <a:rPr lang="en">
                  <a:solidFill>
                    <a:schemeClr val="dk2"/>
                  </a:solidFill>
                </a:rPr>
                <a:t> according to some loss function </a:t>
              </a:r>
              <a:r>
                <a:rPr lang="en" sz="1700">
                  <a:solidFill>
                    <a:schemeClr val="dk1"/>
                  </a:solidFill>
                </a:rPr>
                <a:t>ℒ</a:t>
              </a:r>
              <a:endParaRPr>
                <a:solidFill>
                  <a:schemeClr val="dk2"/>
                </a:solidFill>
              </a:endParaRPr>
            </a:p>
            <a:p>
              <a:pPr indent="0" lvl="0" marL="0" rtl="0" algn="l">
                <a:spcBef>
                  <a:spcPts val="0"/>
                </a:spcBef>
                <a:spcAft>
                  <a:spcPts val="0"/>
                </a:spcAft>
                <a:buNone/>
              </a:pPr>
              <a:r>
                <a:rPr lang="en">
                  <a:solidFill>
                    <a:schemeClr val="dk2"/>
                  </a:solidFill>
                </a:rPr>
                <a:t>Predicted</a:t>
              </a:r>
              <a:r>
                <a:rPr lang="en">
                  <a:solidFill>
                    <a:schemeClr val="dk1"/>
                  </a:solidFill>
                </a:rPr>
                <a:t> </a:t>
              </a:r>
              <a:r>
                <a:rPr b="1" lang="en">
                  <a:solidFill>
                    <a:srgbClr val="949AF8"/>
                  </a:solidFill>
                </a:rPr>
                <a:t>y</a:t>
              </a:r>
              <a:r>
                <a:rPr lang="en">
                  <a:solidFill>
                    <a:schemeClr val="dk2"/>
                  </a:solidFill>
                </a:rPr>
                <a:t> is a function of all weights and biases</a:t>
              </a:r>
              <a:endParaRPr>
                <a:solidFill>
                  <a:schemeClr val="dk2"/>
                </a:solidFill>
              </a:endParaRPr>
            </a:p>
            <a:p>
              <a:pPr indent="0" lvl="0" marL="0" rtl="0" algn="l">
                <a:spcBef>
                  <a:spcPts val="0"/>
                </a:spcBef>
                <a:spcAft>
                  <a:spcPts val="0"/>
                </a:spcAft>
                <a:buNone/>
              </a:pPr>
              <a:r>
                <a:t/>
              </a:r>
              <a:endParaRPr>
                <a:solidFill>
                  <a:schemeClr val="dk2"/>
                </a:solidFill>
              </a:endParaRPr>
            </a:p>
          </p:txBody>
        </p:sp>
        <p:grpSp>
          <p:nvGrpSpPr>
            <p:cNvPr id="916" name="Google Shape;916;p41"/>
            <p:cNvGrpSpPr/>
            <p:nvPr/>
          </p:nvGrpSpPr>
          <p:grpSpPr>
            <a:xfrm>
              <a:off x="2636052" y="-27200"/>
              <a:ext cx="370800" cy="183000"/>
              <a:chOff x="2712251" y="-27200"/>
              <a:chExt cx="370800" cy="183000"/>
            </a:xfrm>
          </p:grpSpPr>
          <p:sp>
            <p:nvSpPr>
              <p:cNvPr id="917" name="Google Shape;917;p41"/>
              <p:cNvSpPr txBox="1"/>
              <p:nvPr/>
            </p:nvSpPr>
            <p:spPr>
              <a:xfrm>
                <a:off x="2712251" y="-27200"/>
                <a:ext cx="370800" cy="18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  𝛿</a:t>
                </a:r>
                <a:r>
                  <a:rPr b="1" lang="en">
                    <a:solidFill>
                      <a:schemeClr val="dk1"/>
                    </a:solidFill>
                  </a:rPr>
                  <a:t>C</a:t>
                </a:r>
                <a:endParaRPr b="1">
                  <a:solidFill>
                    <a:schemeClr val="dk1"/>
                  </a:solidFill>
                </a:endParaRPr>
              </a:p>
              <a:p>
                <a:pPr indent="0" lvl="0" marL="0" rtl="0" algn="l">
                  <a:spcBef>
                    <a:spcPts val="0"/>
                  </a:spcBef>
                  <a:spcAft>
                    <a:spcPts val="0"/>
                  </a:spcAft>
                  <a:buNone/>
                </a:pPr>
                <a:r>
                  <a:rPr lang="en">
                    <a:solidFill>
                      <a:schemeClr val="dk1"/>
                    </a:solidFill>
                  </a:rPr>
                  <a:t>𝛿</a:t>
                </a:r>
                <a:r>
                  <a:rPr b="1" lang="en">
                    <a:solidFill>
                      <a:schemeClr val="dk1"/>
                    </a:solidFill>
                  </a:rPr>
                  <a:t>W</a:t>
                </a:r>
                <a:r>
                  <a:rPr lang="en">
                    <a:solidFill>
                      <a:schemeClr val="dk1"/>
                    </a:solidFill>
                  </a:rPr>
                  <a:t>ij</a:t>
                </a:r>
                <a:r>
                  <a:rPr baseline="30000" lang="en">
                    <a:solidFill>
                      <a:schemeClr val="dk1"/>
                    </a:solidFill>
                  </a:rPr>
                  <a:t>(</a:t>
                </a:r>
                <a:r>
                  <a:rPr b="1" baseline="30000" lang="en">
                    <a:solidFill>
                      <a:srgbClr val="949AF8"/>
                    </a:solidFill>
                  </a:rPr>
                  <a:t>k</a:t>
                </a:r>
                <a:r>
                  <a:rPr baseline="30000" lang="en">
                    <a:solidFill>
                      <a:schemeClr val="dk1"/>
                    </a:solidFill>
                  </a:rPr>
                  <a:t>) </a:t>
                </a:r>
                <a:endParaRPr/>
              </a:p>
            </p:txBody>
          </p:sp>
          <p:cxnSp>
            <p:nvCxnSpPr>
              <p:cNvPr id="918" name="Google Shape;918;p41"/>
              <p:cNvCxnSpPr>
                <a:stCxn id="917" idx="1"/>
                <a:endCxn id="917" idx="3"/>
              </p:cNvCxnSpPr>
              <p:nvPr/>
            </p:nvCxnSpPr>
            <p:spPr>
              <a:xfrm>
                <a:off x="2712251" y="64300"/>
                <a:ext cx="370800" cy="0"/>
              </a:xfrm>
              <a:prstGeom prst="straightConnector1">
                <a:avLst/>
              </a:prstGeom>
              <a:noFill/>
              <a:ln cap="flat" cmpd="sng" w="9525">
                <a:solidFill>
                  <a:schemeClr val="dk2"/>
                </a:solidFill>
                <a:prstDash val="solid"/>
                <a:round/>
                <a:headEnd len="med" w="med" type="none"/>
                <a:tailEnd len="med" w="med" type="none"/>
              </a:ln>
            </p:spPr>
          </p:cxnSp>
        </p:grpSp>
        <p:grpSp>
          <p:nvGrpSpPr>
            <p:cNvPr id="919" name="Google Shape;919;p41"/>
            <p:cNvGrpSpPr/>
            <p:nvPr/>
          </p:nvGrpSpPr>
          <p:grpSpPr>
            <a:xfrm>
              <a:off x="3242165" y="-27200"/>
              <a:ext cx="319800" cy="183000"/>
              <a:chOff x="2097040" y="49000"/>
              <a:chExt cx="319800" cy="183000"/>
            </a:xfrm>
          </p:grpSpPr>
          <p:sp>
            <p:nvSpPr>
              <p:cNvPr id="920" name="Google Shape;920;p41"/>
              <p:cNvSpPr txBox="1"/>
              <p:nvPr/>
            </p:nvSpPr>
            <p:spPr>
              <a:xfrm>
                <a:off x="2097040" y="49000"/>
                <a:ext cx="319800" cy="18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  𝛿</a:t>
                </a:r>
                <a:r>
                  <a:rPr b="1" lang="en">
                    <a:solidFill>
                      <a:schemeClr val="dk1"/>
                    </a:solidFill>
                  </a:rPr>
                  <a:t>C</a:t>
                </a:r>
                <a:endParaRPr b="1">
                  <a:solidFill>
                    <a:schemeClr val="dk1"/>
                  </a:solidFill>
                </a:endParaRPr>
              </a:p>
              <a:p>
                <a:pPr indent="0" lvl="0" marL="0" rtl="0" algn="l">
                  <a:spcBef>
                    <a:spcPts val="0"/>
                  </a:spcBef>
                  <a:spcAft>
                    <a:spcPts val="0"/>
                  </a:spcAft>
                  <a:buNone/>
                </a:pPr>
                <a:r>
                  <a:rPr lang="en">
                    <a:solidFill>
                      <a:schemeClr val="dk1"/>
                    </a:solidFill>
                  </a:rPr>
                  <a:t>𝛿</a:t>
                </a:r>
                <a:r>
                  <a:rPr b="1" lang="en">
                    <a:solidFill>
                      <a:schemeClr val="dk1"/>
                    </a:solidFill>
                  </a:rPr>
                  <a:t>b</a:t>
                </a:r>
                <a:r>
                  <a:rPr lang="en">
                    <a:solidFill>
                      <a:schemeClr val="dk1"/>
                    </a:solidFill>
                  </a:rPr>
                  <a:t>i</a:t>
                </a:r>
                <a:r>
                  <a:rPr baseline="30000" lang="en">
                    <a:solidFill>
                      <a:schemeClr val="dk1"/>
                    </a:solidFill>
                  </a:rPr>
                  <a:t>(</a:t>
                </a:r>
                <a:r>
                  <a:rPr b="1" baseline="30000" lang="en">
                    <a:solidFill>
                      <a:srgbClr val="949AF8"/>
                    </a:solidFill>
                  </a:rPr>
                  <a:t>k</a:t>
                </a:r>
                <a:r>
                  <a:rPr baseline="30000" lang="en">
                    <a:solidFill>
                      <a:schemeClr val="dk1"/>
                    </a:solidFill>
                  </a:rPr>
                  <a:t>) </a:t>
                </a:r>
                <a:endParaRPr/>
              </a:p>
            </p:txBody>
          </p:sp>
          <p:cxnSp>
            <p:nvCxnSpPr>
              <p:cNvPr id="921" name="Google Shape;921;p41"/>
              <p:cNvCxnSpPr>
                <a:stCxn id="920" idx="1"/>
                <a:endCxn id="920" idx="3"/>
              </p:cNvCxnSpPr>
              <p:nvPr/>
            </p:nvCxnSpPr>
            <p:spPr>
              <a:xfrm>
                <a:off x="2097040" y="140500"/>
                <a:ext cx="319800" cy="0"/>
              </a:xfrm>
              <a:prstGeom prst="straightConnector1">
                <a:avLst/>
              </a:prstGeom>
              <a:noFill/>
              <a:ln cap="flat" cmpd="sng" w="9525">
                <a:solidFill>
                  <a:schemeClr val="dk2"/>
                </a:solidFill>
                <a:prstDash val="solid"/>
                <a:round/>
                <a:headEnd len="med" w="med" type="none"/>
                <a:tailEnd len="med" w="med" type="none"/>
              </a:ln>
            </p:spPr>
          </p:cxnSp>
        </p:grpSp>
      </p:grpSp>
      <p:sp>
        <p:nvSpPr>
          <p:cNvPr id="922" name="Google Shape;922;p41"/>
          <p:cNvSpPr txBox="1"/>
          <p:nvPr/>
        </p:nvSpPr>
        <p:spPr>
          <a:xfrm>
            <a:off x="304550" y="4278925"/>
            <a:ext cx="16824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2"/>
                </a:solidFill>
              </a:rPr>
              <a:t>Note: I’m fudging some of the math here for illustrative purposes</a:t>
            </a:r>
            <a:endParaRPr sz="1100"/>
          </a:p>
        </p:txBody>
      </p:sp>
      <p:grpSp>
        <p:nvGrpSpPr>
          <p:cNvPr id="923" name="Google Shape;923;p41"/>
          <p:cNvGrpSpPr/>
          <p:nvPr/>
        </p:nvGrpSpPr>
        <p:grpSpPr>
          <a:xfrm>
            <a:off x="2496600" y="1487350"/>
            <a:ext cx="595200" cy="615600"/>
            <a:chOff x="2877600" y="1487350"/>
            <a:chExt cx="595200" cy="615600"/>
          </a:xfrm>
        </p:grpSpPr>
        <p:sp>
          <p:nvSpPr>
            <p:cNvPr id="924" name="Google Shape;924;p41"/>
            <p:cNvSpPr txBox="1"/>
            <p:nvPr/>
          </p:nvSpPr>
          <p:spPr>
            <a:xfrm>
              <a:off x="2877600" y="1487350"/>
              <a:ext cx="595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 </a:t>
              </a:r>
              <a:r>
                <a:rPr lang="en">
                  <a:solidFill>
                    <a:schemeClr val="dk1"/>
                  </a:solidFill>
                </a:rPr>
                <a:t>𝛿</a:t>
              </a:r>
              <a:r>
                <a:rPr b="1" lang="en">
                  <a:solidFill>
                    <a:schemeClr val="dk1"/>
                  </a:solidFill>
                </a:rPr>
                <a:t>C</a:t>
              </a:r>
              <a:endParaRPr b="1">
                <a:solidFill>
                  <a:schemeClr val="dk1"/>
                </a:solidFill>
              </a:endParaRPr>
            </a:p>
            <a:p>
              <a:pPr indent="0" lvl="0" marL="0" rtl="0" algn="l">
                <a:spcBef>
                  <a:spcPts val="0"/>
                </a:spcBef>
                <a:spcAft>
                  <a:spcPts val="0"/>
                </a:spcAft>
                <a:buNone/>
              </a:pPr>
              <a:r>
                <a:rPr lang="en">
                  <a:solidFill>
                    <a:schemeClr val="dk1"/>
                  </a:solidFill>
                </a:rPr>
                <a:t>𝛿</a:t>
              </a:r>
              <a:r>
                <a:rPr b="1" lang="en">
                  <a:solidFill>
                    <a:schemeClr val="dk1"/>
                  </a:solidFill>
                </a:rPr>
                <a:t>W</a:t>
              </a:r>
              <a:r>
                <a:rPr baseline="30000" lang="en">
                  <a:solidFill>
                    <a:schemeClr val="dk1"/>
                  </a:solidFill>
                </a:rPr>
                <a:t>(</a:t>
              </a:r>
              <a:r>
                <a:rPr b="1" baseline="30000" lang="en">
                  <a:solidFill>
                    <a:srgbClr val="949AF8"/>
                  </a:solidFill>
                </a:rPr>
                <a:t>3</a:t>
              </a:r>
              <a:r>
                <a:rPr baseline="30000" lang="en">
                  <a:solidFill>
                    <a:schemeClr val="dk1"/>
                  </a:solidFill>
                </a:rPr>
                <a:t>) </a:t>
              </a:r>
              <a:endParaRPr/>
            </a:p>
          </p:txBody>
        </p:sp>
        <p:cxnSp>
          <p:nvCxnSpPr>
            <p:cNvPr id="925" name="Google Shape;925;p41"/>
            <p:cNvCxnSpPr>
              <a:stCxn id="924" idx="1"/>
              <a:endCxn id="924" idx="3"/>
            </p:cNvCxnSpPr>
            <p:nvPr/>
          </p:nvCxnSpPr>
          <p:spPr>
            <a:xfrm>
              <a:off x="2877600" y="1795150"/>
              <a:ext cx="595200" cy="0"/>
            </a:xfrm>
            <a:prstGeom prst="straightConnector1">
              <a:avLst/>
            </a:prstGeom>
            <a:noFill/>
            <a:ln cap="flat" cmpd="sng" w="9525">
              <a:solidFill>
                <a:schemeClr val="dk2"/>
              </a:solidFill>
              <a:prstDash val="solid"/>
              <a:round/>
              <a:headEnd len="med" w="med" type="none"/>
              <a:tailEnd len="med" w="med" type="none"/>
            </a:ln>
          </p:spPr>
        </p:cxnSp>
      </p:grpSp>
      <p:grpSp>
        <p:nvGrpSpPr>
          <p:cNvPr id="926" name="Google Shape;926;p41"/>
          <p:cNvGrpSpPr/>
          <p:nvPr/>
        </p:nvGrpSpPr>
        <p:grpSpPr>
          <a:xfrm>
            <a:off x="3960975" y="1487350"/>
            <a:ext cx="489136" cy="615600"/>
            <a:chOff x="2877605" y="1487350"/>
            <a:chExt cx="561000" cy="615600"/>
          </a:xfrm>
        </p:grpSpPr>
        <p:sp>
          <p:nvSpPr>
            <p:cNvPr id="927" name="Google Shape;927;p41"/>
            <p:cNvSpPr txBox="1"/>
            <p:nvPr/>
          </p:nvSpPr>
          <p:spPr>
            <a:xfrm>
              <a:off x="2877605" y="1487350"/>
              <a:ext cx="561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chemeClr val="dk1"/>
                  </a:solidFill>
                </a:rPr>
                <a:t>C</a:t>
              </a:r>
              <a:endParaRPr b="1">
                <a:solidFill>
                  <a:schemeClr val="dk1"/>
                </a:solidFill>
              </a:endParaRPr>
            </a:p>
            <a:p>
              <a:pPr indent="0" lvl="0" marL="0" rtl="0" algn="l">
                <a:spcBef>
                  <a:spcPts val="0"/>
                </a:spcBef>
                <a:spcAft>
                  <a:spcPts val="0"/>
                </a:spcAft>
                <a:buNone/>
              </a:pPr>
              <a:r>
                <a:rPr lang="en">
                  <a:solidFill>
                    <a:schemeClr val="dk1"/>
                  </a:solidFill>
                </a:rPr>
                <a:t>𝛿</a:t>
              </a:r>
              <a:r>
                <a:rPr b="1" lang="en">
                  <a:solidFill>
                    <a:srgbClr val="949AF8"/>
                  </a:solidFill>
                </a:rPr>
                <a:t>y</a:t>
              </a:r>
              <a:r>
                <a:rPr baseline="30000" lang="en">
                  <a:solidFill>
                    <a:schemeClr val="dk1"/>
                  </a:solidFill>
                </a:rPr>
                <a:t> </a:t>
              </a:r>
              <a:endParaRPr/>
            </a:p>
          </p:txBody>
        </p:sp>
        <p:cxnSp>
          <p:nvCxnSpPr>
            <p:cNvPr id="928" name="Google Shape;928;p41"/>
            <p:cNvCxnSpPr>
              <a:stCxn id="927" idx="1"/>
              <a:endCxn id="927" idx="3"/>
            </p:cNvCxnSpPr>
            <p:nvPr/>
          </p:nvCxnSpPr>
          <p:spPr>
            <a:xfrm>
              <a:off x="2877605" y="1795150"/>
              <a:ext cx="561000" cy="0"/>
            </a:xfrm>
            <a:prstGeom prst="straightConnector1">
              <a:avLst/>
            </a:prstGeom>
            <a:noFill/>
            <a:ln cap="flat" cmpd="sng" w="9525">
              <a:solidFill>
                <a:schemeClr val="dk2"/>
              </a:solidFill>
              <a:prstDash val="solid"/>
              <a:round/>
              <a:headEnd len="med" w="med" type="none"/>
              <a:tailEnd len="med" w="med" type="none"/>
            </a:ln>
          </p:spPr>
        </p:cxnSp>
      </p:grpSp>
      <p:sp>
        <p:nvSpPr>
          <p:cNvPr id="929" name="Google Shape;929;p41"/>
          <p:cNvSpPr txBox="1"/>
          <p:nvPr/>
        </p:nvSpPr>
        <p:spPr>
          <a:xfrm>
            <a:off x="3116300" y="1595050"/>
            <a:ext cx="28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a:t>
            </a:r>
            <a:endParaRPr/>
          </a:p>
        </p:txBody>
      </p:sp>
      <p:sp>
        <p:nvSpPr>
          <p:cNvPr id="930" name="Google Shape;930;p41"/>
          <p:cNvSpPr txBox="1"/>
          <p:nvPr/>
        </p:nvSpPr>
        <p:spPr>
          <a:xfrm>
            <a:off x="380750" y="3789350"/>
            <a:ext cx="1633500" cy="446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t>       </a:t>
            </a:r>
            <a:r>
              <a:rPr b="1" lang="en"/>
              <a:t>C</a:t>
            </a:r>
            <a:r>
              <a:rPr lang="en"/>
              <a:t> = </a:t>
            </a:r>
            <a:r>
              <a:rPr lang="en" sz="1700"/>
              <a:t>ℒ</a:t>
            </a:r>
            <a:r>
              <a:rPr lang="en"/>
              <a:t>(</a:t>
            </a:r>
            <a:r>
              <a:rPr b="1" lang="en">
                <a:solidFill>
                  <a:srgbClr val="949AF8"/>
                </a:solidFill>
              </a:rPr>
              <a:t>ŷ</a:t>
            </a:r>
            <a:r>
              <a:rPr lang="en"/>
              <a:t>)</a:t>
            </a:r>
            <a:endParaRPr/>
          </a:p>
        </p:txBody>
      </p:sp>
      <p:grpSp>
        <p:nvGrpSpPr>
          <p:cNvPr id="931" name="Google Shape;931;p41"/>
          <p:cNvGrpSpPr/>
          <p:nvPr/>
        </p:nvGrpSpPr>
        <p:grpSpPr>
          <a:xfrm>
            <a:off x="4580825" y="1487350"/>
            <a:ext cx="544618" cy="615600"/>
            <a:chOff x="2877590" y="1487350"/>
            <a:chExt cx="619800" cy="615600"/>
          </a:xfrm>
        </p:grpSpPr>
        <p:sp>
          <p:nvSpPr>
            <p:cNvPr id="932" name="Google Shape;932;p41"/>
            <p:cNvSpPr txBox="1"/>
            <p:nvPr/>
          </p:nvSpPr>
          <p:spPr>
            <a:xfrm>
              <a:off x="2877590" y="1487350"/>
              <a:ext cx="61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rgbClr val="949AF8"/>
                  </a:solidFill>
                </a:rPr>
                <a:t>y</a:t>
              </a:r>
              <a:endParaRPr b="1">
                <a:solidFill>
                  <a:schemeClr val="dk1"/>
                </a:solidFill>
              </a:endParaRPr>
            </a:p>
            <a:p>
              <a:pPr indent="0" lvl="0" marL="0" rtl="0" algn="l">
                <a:spcBef>
                  <a:spcPts val="0"/>
                </a:spcBef>
                <a:spcAft>
                  <a:spcPts val="0"/>
                </a:spcAft>
                <a:buNone/>
              </a:pPr>
              <a:r>
                <a:rPr lang="en">
                  <a:solidFill>
                    <a:schemeClr val="dk1"/>
                  </a:solidFill>
                </a:rPr>
                <a:t>𝛿</a:t>
              </a:r>
              <a:r>
                <a:rPr baseline="30000" lang="en">
                  <a:solidFill>
                    <a:schemeClr val="dk1"/>
                  </a:solidFill>
                </a:rPr>
                <a:t> </a:t>
              </a:r>
              <a:r>
                <a:rPr b="1" lang="en">
                  <a:solidFill>
                    <a:srgbClr val="1B91CA"/>
                  </a:solidFill>
                </a:rPr>
                <a:t>Z</a:t>
              </a:r>
              <a:r>
                <a:rPr baseline="30000" lang="en">
                  <a:solidFill>
                    <a:srgbClr val="1B91CA"/>
                  </a:solidFill>
                </a:rPr>
                <a:t>(3)</a:t>
              </a:r>
              <a:endParaRPr/>
            </a:p>
          </p:txBody>
        </p:sp>
        <p:cxnSp>
          <p:nvCxnSpPr>
            <p:cNvPr id="933" name="Google Shape;933;p41"/>
            <p:cNvCxnSpPr>
              <a:stCxn id="932" idx="1"/>
              <a:endCxn id="932" idx="3"/>
            </p:cNvCxnSpPr>
            <p:nvPr/>
          </p:nvCxnSpPr>
          <p:spPr>
            <a:xfrm>
              <a:off x="2877590" y="1795150"/>
              <a:ext cx="619800" cy="0"/>
            </a:xfrm>
            <a:prstGeom prst="straightConnector1">
              <a:avLst/>
            </a:prstGeom>
            <a:noFill/>
            <a:ln cap="flat" cmpd="sng" w="9525">
              <a:solidFill>
                <a:schemeClr val="dk2"/>
              </a:solidFill>
              <a:prstDash val="solid"/>
              <a:round/>
              <a:headEnd len="med" w="med" type="none"/>
              <a:tailEnd len="med" w="med" type="none"/>
            </a:ln>
          </p:spPr>
        </p:cxnSp>
      </p:grpSp>
      <p:grpSp>
        <p:nvGrpSpPr>
          <p:cNvPr id="934" name="Google Shape;934;p41"/>
          <p:cNvGrpSpPr/>
          <p:nvPr/>
        </p:nvGrpSpPr>
        <p:grpSpPr>
          <a:xfrm>
            <a:off x="5306844" y="1487350"/>
            <a:ext cx="645538" cy="615600"/>
            <a:chOff x="2877591" y="1487350"/>
            <a:chExt cx="816000" cy="615600"/>
          </a:xfrm>
        </p:grpSpPr>
        <p:sp>
          <p:nvSpPr>
            <p:cNvPr id="935" name="Google Shape;935;p41"/>
            <p:cNvSpPr txBox="1"/>
            <p:nvPr/>
          </p:nvSpPr>
          <p:spPr>
            <a:xfrm>
              <a:off x="2877591" y="1487350"/>
              <a:ext cx="816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 </a:t>
              </a:r>
              <a:r>
                <a:rPr lang="en">
                  <a:solidFill>
                    <a:schemeClr val="dk1"/>
                  </a:solidFill>
                </a:rPr>
                <a:t>𝛿</a:t>
              </a:r>
              <a:r>
                <a:rPr b="1" lang="en">
                  <a:solidFill>
                    <a:srgbClr val="1B91CA"/>
                  </a:solidFill>
                </a:rPr>
                <a:t>Z</a:t>
              </a:r>
              <a:r>
                <a:rPr baseline="30000" lang="en">
                  <a:solidFill>
                    <a:srgbClr val="1B91CA"/>
                  </a:solidFill>
                </a:rPr>
                <a:t>(3)</a:t>
              </a:r>
              <a:endParaRPr b="1">
                <a:solidFill>
                  <a:schemeClr val="dk1"/>
                </a:solidFill>
              </a:endParaRPr>
            </a:p>
            <a:p>
              <a:pPr indent="0" lvl="0" marL="0" rtl="0" algn="l">
                <a:spcBef>
                  <a:spcPts val="0"/>
                </a:spcBef>
                <a:spcAft>
                  <a:spcPts val="0"/>
                </a:spcAft>
                <a:buNone/>
              </a:pPr>
              <a:r>
                <a:rPr lang="en">
                  <a:solidFill>
                    <a:schemeClr val="dk1"/>
                  </a:solidFill>
                </a:rPr>
                <a:t>𝛿</a:t>
              </a:r>
              <a:r>
                <a:rPr baseline="30000" lang="en">
                  <a:solidFill>
                    <a:schemeClr val="dk1"/>
                  </a:solidFill>
                </a:rPr>
                <a:t> </a:t>
              </a:r>
              <a:r>
                <a:rPr b="1" lang="en">
                  <a:solidFill>
                    <a:schemeClr val="dk1"/>
                  </a:solidFill>
                </a:rPr>
                <a:t>W</a:t>
              </a:r>
              <a:r>
                <a:rPr baseline="30000" lang="en">
                  <a:solidFill>
                    <a:schemeClr val="dk1"/>
                  </a:solidFill>
                </a:rPr>
                <a:t>(</a:t>
              </a:r>
              <a:r>
                <a:rPr b="1" baseline="30000" lang="en">
                  <a:solidFill>
                    <a:srgbClr val="949AF8"/>
                  </a:solidFill>
                </a:rPr>
                <a:t>3</a:t>
              </a:r>
              <a:r>
                <a:rPr baseline="30000" lang="en">
                  <a:solidFill>
                    <a:schemeClr val="dk1"/>
                  </a:solidFill>
                </a:rPr>
                <a:t>) </a:t>
              </a:r>
              <a:endParaRPr/>
            </a:p>
          </p:txBody>
        </p:sp>
        <p:cxnSp>
          <p:nvCxnSpPr>
            <p:cNvPr id="936" name="Google Shape;936;p41"/>
            <p:cNvCxnSpPr>
              <a:stCxn id="935" idx="1"/>
              <a:endCxn id="935" idx="3"/>
            </p:cNvCxnSpPr>
            <p:nvPr/>
          </p:nvCxnSpPr>
          <p:spPr>
            <a:xfrm>
              <a:off x="2877591" y="1795150"/>
              <a:ext cx="816000" cy="0"/>
            </a:xfrm>
            <a:prstGeom prst="straightConnector1">
              <a:avLst/>
            </a:prstGeom>
            <a:noFill/>
            <a:ln cap="flat" cmpd="sng" w="9525">
              <a:solidFill>
                <a:schemeClr val="dk2"/>
              </a:solidFill>
              <a:prstDash val="solid"/>
              <a:round/>
              <a:headEnd len="med" w="med" type="none"/>
              <a:tailEnd len="med" w="med" type="none"/>
            </a:ln>
          </p:spPr>
        </p:cxnSp>
      </p:grpSp>
      <p:sp>
        <p:nvSpPr>
          <p:cNvPr id="937" name="Google Shape;937;p41"/>
          <p:cNvSpPr txBox="1"/>
          <p:nvPr/>
        </p:nvSpPr>
        <p:spPr>
          <a:xfrm>
            <a:off x="6383150" y="1595050"/>
            <a:ext cx="28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a:t>
            </a:r>
            <a:endParaRPr/>
          </a:p>
        </p:txBody>
      </p:sp>
      <p:grpSp>
        <p:nvGrpSpPr>
          <p:cNvPr id="938" name="Google Shape;938;p41"/>
          <p:cNvGrpSpPr/>
          <p:nvPr/>
        </p:nvGrpSpPr>
        <p:grpSpPr>
          <a:xfrm>
            <a:off x="6717625" y="1487350"/>
            <a:ext cx="413019" cy="615600"/>
            <a:chOff x="2877605" y="1487350"/>
            <a:chExt cx="473700" cy="615600"/>
          </a:xfrm>
        </p:grpSpPr>
        <p:sp>
          <p:nvSpPr>
            <p:cNvPr id="939" name="Google Shape;939;p41"/>
            <p:cNvSpPr txBox="1"/>
            <p:nvPr/>
          </p:nvSpPr>
          <p:spPr>
            <a:xfrm>
              <a:off x="2877605" y="1487350"/>
              <a:ext cx="473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chemeClr val="dk1"/>
                  </a:solidFill>
                </a:rPr>
                <a:t>C</a:t>
              </a:r>
              <a:endParaRPr b="1">
                <a:solidFill>
                  <a:schemeClr val="dk1"/>
                </a:solidFill>
              </a:endParaRPr>
            </a:p>
            <a:p>
              <a:pPr indent="0" lvl="0" marL="0" rtl="0" algn="l">
                <a:spcBef>
                  <a:spcPts val="0"/>
                </a:spcBef>
                <a:spcAft>
                  <a:spcPts val="0"/>
                </a:spcAft>
                <a:buNone/>
              </a:pPr>
              <a:r>
                <a:rPr lang="en">
                  <a:solidFill>
                    <a:schemeClr val="dk1"/>
                  </a:solidFill>
                </a:rPr>
                <a:t>𝛿</a:t>
              </a:r>
              <a:r>
                <a:rPr b="1" lang="en">
                  <a:solidFill>
                    <a:srgbClr val="949AF8"/>
                  </a:solidFill>
                </a:rPr>
                <a:t>y</a:t>
              </a:r>
              <a:r>
                <a:rPr baseline="30000" lang="en">
                  <a:solidFill>
                    <a:schemeClr val="dk1"/>
                  </a:solidFill>
                </a:rPr>
                <a:t> </a:t>
              </a:r>
              <a:endParaRPr/>
            </a:p>
          </p:txBody>
        </p:sp>
        <p:cxnSp>
          <p:nvCxnSpPr>
            <p:cNvPr id="940" name="Google Shape;940;p41"/>
            <p:cNvCxnSpPr>
              <a:stCxn id="939" idx="1"/>
              <a:endCxn id="939" idx="3"/>
            </p:cNvCxnSpPr>
            <p:nvPr/>
          </p:nvCxnSpPr>
          <p:spPr>
            <a:xfrm>
              <a:off x="2877605" y="1795150"/>
              <a:ext cx="473700" cy="0"/>
            </a:xfrm>
            <a:prstGeom prst="straightConnector1">
              <a:avLst/>
            </a:prstGeom>
            <a:noFill/>
            <a:ln cap="flat" cmpd="sng" w="9525">
              <a:solidFill>
                <a:schemeClr val="dk2"/>
              </a:solidFill>
              <a:prstDash val="solid"/>
              <a:round/>
              <a:headEnd len="med" w="med" type="none"/>
              <a:tailEnd len="med" w="med" type="none"/>
            </a:ln>
          </p:spPr>
        </p:cxnSp>
      </p:grpSp>
      <p:sp>
        <p:nvSpPr>
          <p:cNvPr id="941" name="Google Shape;941;p41"/>
          <p:cNvSpPr txBox="1"/>
          <p:nvPr/>
        </p:nvSpPr>
        <p:spPr>
          <a:xfrm>
            <a:off x="7098625" y="1563550"/>
            <a:ext cx="717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a:solidFill>
                  <a:schemeClr val="dk2"/>
                </a:solidFill>
              </a:rPr>
              <a:t>(</a:t>
            </a:r>
            <a:r>
              <a:rPr b="1" lang="en">
                <a:solidFill>
                  <a:schemeClr val="dk2"/>
                </a:solidFill>
              </a:rPr>
              <a:t>ɸ</a:t>
            </a:r>
            <a:r>
              <a:rPr lang="en">
                <a:solidFill>
                  <a:schemeClr val="dk2"/>
                </a:solidFill>
              </a:rPr>
              <a:t> </a:t>
            </a:r>
            <a:r>
              <a:rPr baseline="30000" lang="en">
                <a:solidFill>
                  <a:schemeClr val="dk2"/>
                </a:solidFill>
              </a:rPr>
              <a:t>(3) </a:t>
            </a:r>
            <a:r>
              <a:rPr lang="en">
                <a:solidFill>
                  <a:schemeClr val="dk2"/>
                </a:solidFill>
              </a:rPr>
              <a:t>)</a:t>
            </a:r>
            <a:r>
              <a:rPr b="1" lang="en">
                <a:solidFill>
                  <a:schemeClr val="dk2"/>
                </a:solidFill>
              </a:rPr>
              <a:t>′</a:t>
            </a:r>
            <a:endParaRPr b="1"/>
          </a:p>
        </p:txBody>
      </p:sp>
      <p:sp>
        <p:nvSpPr>
          <p:cNvPr id="942" name="Google Shape;942;p41"/>
          <p:cNvSpPr txBox="1"/>
          <p:nvPr/>
        </p:nvSpPr>
        <p:spPr>
          <a:xfrm>
            <a:off x="7663225" y="1562850"/>
            <a:ext cx="48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aseline="30000" lang="en">
                <a:solidFill>
                  <a:schemeClr val="dk1"/>
                </a:solidFill>
              </a:rPr>
              <a:t> </a:t>
            </a:r>
            <a:r>
              <a:rPr b="1" lang="en">
                <a:solidFill>
                  <a:srgbClr val="FF00FF"/>
                </a:solidFill>
              </a:rPr>
              <a:t>h</a:t>
            </a:r>
            <a:r>
              <a:rPr baseline="30000" lang="en">
                <a:solidFill>
                  <a:srgbClr val="FF00FF"/>
                </a:solidFill>
              </a:rPr>
              <a:t>(2)</a:t>
            </a:r>
            <a:endParaRPr/>
          </a:p>
        </p:txBody>
      </p:sp>
      <p:grpSp>
        <p:nvGrpSpPr>
          <p:cNvPr id="943" name="Google Shape;943;p41"/>
          <p:cNvGrpSpPr/>
          <p:nvPr/>
        </p:nvGrpSpPr>
        <p:grpSpPr>
          <a:xfrm>
            <a:off x="2496547" y="2096950"/>
            <a:ext cx="544489" cy="615600"/>
            <a:chOff x="2877600" y="1487350"/>
            <a:chExt cx="595200" cy="615600"/>
          </a:xfrm>
        </p:grpSpPr>
        <p:sp>
          <p:nvSpPr>
            <p:cNvPr id="944" name="Google Shape;944;p41"/>
            <p:cNvSpPr txBox="1"/>
            <p:nvPr/>
          </p:nvSpPr>
          <p:spPr>
            <a:xfrm>
              <a:off x="2877600" y="1487350"/>
              <a:ext cx="595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chemeClr val="dk1"/>
                  </a:solidFill>
                </a:rPr>
                <a:t>C</a:t>
              </a:r>
              <a:endParaRPr b="1">
                <a:solidFill>
                  <a:schemeClr val="dk1"/>
                </a:solidFill>
              </a:endParaRPr>
            </a:p>
            <a:p>
              <a:pPr indent="0" lvl="0" marL="0" rtl="0" algn="l">
                <a:spcBef>
                  <a:spcPts val="0"/>
                </a:spcBef>
                <a:spcAft>
                  <a:spcPts val="0"/>
                </a:spcAft>
                <a:buNone/>
              </a:pPr>
              <a:r>
                <a:rPr lang="en">
                  <a:solidFill>
                    <a:schemeClr val="dk1"/>
                  </a:solidFill>
                </a:rPr>
                <a:t>𝛿</a:t>
              </a:r>
              <a:r>
                <a:rPr b="1" lang="en">
                  <a:solidFill>
                    <a:schemeClr val="dk1"/>
                  </a:solidFill>
                </a:rPr>
                <a:t>b</a:t>
              </a:r>
              <a:r>
                <a:rPr baseline="30000" lang="en">
                  <a:solidFill>
                    <a:schemeClr val="dk1"/>
                  </a:solidFill>
                </a:rPr>
                <a:t>(</a:t>
              </a:r>
              <a:r>
                <a:rPr b="1" baseline="30000" lang="en">
                  <a:solidFill>
                    <a:srgbClr val="949AF8"/>
                  </a:solidFill>
                </a:rPr>
                <a:t>3</a:t>
              </a:r>
              <a:r>
                <a:rPr baseline="30000" lang="en">
                  <a:solidFill>
                    <a:schemeClr val="dk1"/>
                  </a:solidFill>
                </a:rPr>
                <a:t>) </a:t>
              </a:r>
              <a:endParaRPr/>
            </a:p>
          </p:txBody>
        </p:sp>
        <p:cxnSp>
          <p:nvCxnSpPr>
            <p:cNvPr id="945" name="Google Shape;945;p41"/>
            <p:cNvCxnSpPr>
              <a:stCxn id="944" idx="1"/>
              <a:endCxn id="944" idx="3"/>
            </p:cNvCxnSpPr>
            <p:nvPr/>
          </p:nvCxnSpPr>
          <p:spPr>
            <a:xfrm>
              <a:off x="2877600" y="1795150"/>
              <a:ext cx="595200" cy="0"/>
            </a:xfrm>
            <a:prstGeom prst="straightConnector1">
              <a:avLst/>
            </a:prstGeom>
            <a:noFill/>
            <a:ln cap="flat" cmpd="sng" w="9525">
              <a:solidFill>
                <a:schemeClr val="dk2"/>
              </a:solidFill>
              <a:prstDash val="solid"/>
              <a:round/>
              <a:headEnd len="med" w="med" type="none"/>
              <a:tailEnd len="med" w="med" type="none"/>
            </a:ln>
          </p:spPr>
        </p:cxnSp>
      </p:grpSp>
      <p:grpSp>
        <p:nvGrpSpPr>
          <p:cNvPr id="946" name="Google Shape;946;p41"/>
          <p:cNvGrpSpPr/>
          <p:nvPr/>
        </p:nvGrpSpPr>
        <p:grpSpPr>
          <a:xfrm>
            <a:off x="3960975" y="2096950"/>
            <a:ext cx="489136" cy="615600"/>
            <a:chOff x="2877605" y="1487350"/>
            <a:chExt cx="561000" cy="615600"/>
          </a:xfrm>
        </p:grpSpPr>
        <p:sp>
          <p:nvSpPr>
            <p:cNvPr id="947" name="Google Shape;947;p41"/>
            <p:cNvSpPr txBox="1"/>
            <p:nvPr/>
          </p:nvSpPr>
          <p:spPr>
            <a:xfrm>
              <a:off x="2877605" y="1487350"/>
              <a:ext cx="561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chemeClr val="dk1"/>
                  </a:solidFill>
                </a:rPr>
                <a:t>C</a:t>
              </a:r>
              <a:endParaRPr b="1">
                <a:solidFill>
                  <a:schemeClr val="dk1"/>
                </a:solidFill>
              </a:endParaRPr>
            </a:p>
            <a:p>
              <a:pPr indent="0" lvl="0" marL="0" rtl="0" algn="l">
                <a:spcBef>
                  <a:spcPts val="0"/>
                </a:spcBef>
                <a:spcAft>
                  <a:spcPts val="0"/>
                </a:spcAft>
                <a:buNone/>
              </a:pPr>
              <a:r>
                <a:rPr lang="en">
                  <a:solidFill>
                    <a:schemeClr val="dk1"/>
                  </a:solidFill>
                </a:rPr>
                <a:t>𝛿</a:t>
              </a:r>
              <a:r>
                <a:rPr b="1" lang="en">
                  <a:solidFill>
                    <a:srgbClr val="949AF8"/>
                  </a:solidFill>
                </a:rPr>
                <a:t>y</a:t>
              </a:r>
              <a:r>
                <a:rPr baseline="30000" lang="en">
                  <a:solidFill>
                    <a:schemeClr val="dk1"/>
                  </a:solidFill>
                </a:rPr>
                <a:t> </a:t>
              </a:r>
              <a:endParaRPr/>
            </a:p>
          </p:txBody>
        </p:sp>
        <p:cxnSp>
          <p:nvCxnSpPr>
            <p:cNvPr id="948" name="Google Shape;948;p41"/>
            <p:cNvCxnSpPr>
              <a:stCxn id="947" idx="1"/>
              <a:endCxn id="947" idx="3"/>
            </p:cNvCxnSpPr>
            <p:nvPr/>
          </p:nvCxnSpPr>
          <p:spPr>
            <a:xfrm>
              <a:off x="2877605" y="1795150"/>
              <a:ext cx="561000" cy="0"/>
            </a:xfrm>
            <a:prstGeom prst="straightConnector1">
              <a:avLst/>
            </a:prstGeom>
            <a:noFill/>
            <a:ln cap="flat" cmpd="sng" w="9525">
              <a:solidFill>
                <a:schemeClr val="dk2"/>
              </a:solidFill>
              <a:prstDash val="solid"/>
              <a:round/>
              <a:headEnd len="med" w="med" type="none"/>
              <a:tailEnd len="med" w="med" type="none"/>
            </a:ln>
          </p:spPr>
        </p:cxnSp>
      </p:grpSp>
      <p:sp>
        <p:nvSpPr>
          <p:cNvPr id="949" name="Google Shape;949;p41"/>
          <p:cNvSpPr txBox="1"/>
          <p:nvPr/>
        </p:nvSpPr>
        <p:spPr>
          <a:xfrm>
            <a:off x="3116300" y="2204650"/>
            <a:ext cx="28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a:t>
            </a:r>
            <a:endParaRPr/>
          </a:p>
        </p:txBody>
      </p:sp>
      <p:grpSp>
        <p:nvGrpSpPr>
          <p:cNvPr id="950" name="Google Shape;950;p41"/>
          <p:cNvGrpSpPr/>
          <p:nvPr/>
        </p:nvGrpSpPr>
        <p:grpSpPr>
          <a:xfrm>
            <a:off x="4580826" y="2096950"/>
            <a:ext cx="544618" cy="615600"/>
            <a:chOff x="2877591" y="1487350"/>
            <a:chExt cx="619800" cy="615600"/>
          </a:xfrm>
        </p:grpSpPr>
        <p:sp>
          <p:nvSpPr>
            <p:cNvPr id="951" name="Google Shape;951;p41"/>
            <p:cNvSpPr txBox="1"/>
            <p:nvPr/>
          </p:nvSpPr>
          <p:spPr>
            <a:xfrm>
              <a:off x="2877591" y="1487350"/>
              <a:ext cx="61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rgbClr val="949AF8"/>
                  </a:solidFill>
                </a:rPr>
                <a:t>y</a:t>
              </a:r>
              <a:endParaRPr b="1">
                <a:solidFill>
                  <a:schemeClr val="dk1"/>
                </a:solidFill>
              </a:endParaRPr>
            </a:p>
            <a:p>
              <a:pPr indent="0" lvl="0" marL="0" rtl="0" algn="l">
                <a:spcBef>
                  <a:spcPts val="0"/>
                </a:spcBef>
                <a:spcAft>
                  <a:spcPts val="0"/>
                </a:spcAft>
                <a:buNone/>
              </a:pPr>
              <a:r>
                <a:rPr lang="en">
                  <a:solidFill>
                    <a:schemeClr val="dk1"/>
                  </a:solidFill>
                </a:rPr>
                <a:t>𝛿</a:t>
              </a:r>
              <a:r>
                <a:rPr baseline="30000" lang="en">
                  <a:solidFill>
                    <a:schemeClr val="dk1"/>
                  </a:solidFill>
                </a:rPr>
                <a:t> </a:t>
              </a:r>
              <a:r>
                <a:rPr b="1" lang="en">
                  <a:solidFill>
                    <a:srgbClr val="1B91CA"/>
                  </a:solidFill>
                </a:rPr>
                <a:t>Z</a:t>
              </a:r>
              <a:r>
                <a:rPr baseline="30000" lang="en">
                  <a:solidFill>
                    <a:srgbClr val="1B91CA"/>
                  </a:solidFill>
                </a:rPr>
                <a:t>(3)</a:t>
              </a:r>
              <a:endParaRPr/>
            </a:p>
          </p:txBody>
        </p:sp>
        <p:cxnSp>
          <p:nvCxnSpPr>
            <p:cNvPr id="952" name="Google Shape;952;p41"/>
            <p:cNvCxnSpPr>
              <a:stCxn id="951" idx="1"/>
              <a:endCxn id="951" idx="3"/>
            </p:cNvCxnSpPr>
            <p:nvPr/>
          </p:nvCxnSpPr>
          <p:spPr>
            <a:xfrm>
              <a:off x="2877591" y="1795150"/>
              <a:ext cx="619800" cy="0"/>
            </a:xfrm>
            <a:prstGeom prst="straightConnector1">
              <a:avLst/>
            </a:prstGeom>
            <a:noFill/>
            <a:ln cap="flat" cmpd="sng" w="9525">
              <a:solidFill>
                <a:schemeClr val="dk2"/>
              </a:solidFill>
              <a:prstDash val="solid"/>
              <a:round/>
              <a:headEnd len="med" w="med" type="none"/>
              <a:tailEnd len="med" w="med" type="none"/>
            </a:ln>
          </p:spPr>
        </p:cxnSp>
      </p:grpSp>
      <p:grpSp>
        <p:nvGrpSpPr>
          <p:cNvPr id="953" name="Google Shape;953;p41"/>
          <p:cNvGrpSpPr/>
          <p:nvPr/>
        </p:nvGrpSpPr>
        <p:grpSpPr>
          <a:xfrm>
            <a:off x="5306800" y="2096950"/>
            <a:ext cx="544618" cy="615600"/>
            <a:chOff x="2877590" y="1487350"/>
            <a:chExt cx="619800" cy="615600"/>
          </a:xfrm>
        </p:grpSpPr>
        <p:sp>
          <p:nvSpPr>
            <p:cNvPr id="954" name="Google Shape;954;p41"/>
            <p:cNvSpPr txBox="1"/>
            <p:nvPr/>
          </p:nvSpPr>
          <p:spPr>
            <a:xfrm>
              <a:off x="2877590" y="1487350"/>
              <a:ext cx="61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rgbClr val="1B91CA"/>
                  </a:solidFill>
                </a:rPr>
                <a:t>Z</a:t>
              </a:r>
              <a:r>
                <a:rPr baseline="30000" lang="en">
                  <a:solidFill>
                    <a:srgbClr val="1B91CA"/>
                  </a:solidFill>
                </a:rPr>
                <a:t>(3)</a:t>
              </a:r>
              <a:endParaRPr b="1">
                <a:solidFill>
                  <a:schemeClr val="dk1"/>
                </a:solidFill>
              </a:endParaRPr>
            </a:p>
            <a:p>
              <a:pPr indent="0" lvl="0" marL="0" rtl="0" algn="l">
                <a:spcBef>
                  <a:spcPts val="0"/>
                </a:spcBef>
                <a:spcAft>
                  <a:spcPts val="0"/>
                </a:spcAft>
                <a:buNone/>
              </a:pPr>
              <a:r>
                <a:rPr lang="en">
                  <a:solidFill>
                    <a:schemeClr val="dk1"/>
                  </a:solidFill>
                </a:rPr>
                <a:t>𝛿</a:t>
              </a:r>
              <a:r>
                <a:rPr baseline="30000" lang="en">
                  <a:solidFill>
                    <a:schemeClr val="dk1"/>
                  </a:solidFill>
                </a:rPr>
                <a:t> </a:t>
              </a:r>
              <a:r>
                <a:rPr b="1" lang="en">
                  <a:solidFill>
                    <a:schemeClr val="dk1"/>
                  </a:solidFill>
                </a:rPr>
                <a:t>b</a:t>
              </a:r>
              <a:r>
                <a:rPr baseline="30000" lang="en">
                  <a:solidFill>
                    <a:schemeClr val="dk1"/>
                  </a:solidFill>
                </a:rPr>
                <a:t>(</a:t>
              </a:r>
              <a:r>
                <a:rPr b="1" baseline="30000" lang="en">
                  <a:solidFill>
                    <a:srgbClr val="949AF8"/>
                  </a:solidFill>
                </a:rPr>
                <a:t>3</a:t>
              </a:r>
              <a:r>
                <a:rPr baseline="30000" lang="en">
                  <a:solidFill>
                    <a:schemeClr val="dk1"/>
                  </a:solidFill>
                </a:rPr>
                <a:t>) </a:t>
              </a:r>
              <a:endParaRPr/>
            </a:p>
          </p:txBody>
        </p:sp>
        <p:cxnSp>
          <p:nvCxnSpPr>
            <p:cNvPr id="955" name="Google Shape;955;p41"/>
            <p:cNvCxnSpPr>
              <a:stCxn id="954" idx="1"/>
              <a:endCxn id="954" idx="3"/>
            </p:cNvCxnSpPr>
            <p:nvPr/>
          </p:nvCxnSpPr>
          <p:spPr>
            <a:xfrm>
              <a:off x="2877590" y="1795150"/>
              <a:ext cx="619800" cy="0"/>
            </a:xfrm>
            <a:prstGeom prst="straightConnector1">
              <a:avLst/>
            </a:prstGeom>
            <a:noFill/>
            <a:ln cap="flat" cmpd="sng" w="9525">
              <a:solidFill>
                <a:schemeClr val="dk2"/>
              </a:solidFill>
              <a:prstDash val="solid"/>
              <a:round/>
              <a:headEnd len="med" w="med" type="none"/>
              <a:tailEnd len="med" w="med" type="none"/>
            </a:ln>
          </p:spPr>
        </p:cxnSp>
      </p:grpSp>
      <p:sp>
        <p:nvSpPr>
          <p:cNvPr id="956" name="Google Shape;956;p41"/>
          <p:cNvSpPr txBox="1"/>
          <p:nvPr/>
        </p:nvSpPr>
        <p:spPr>
          <a:xfrm>
            <a:off x="6383150" y="2204650"/>
            <a:ext cx="28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a:t>
            </a:r>
            <a:endParaRPr/>
          </a:p>
        </p:txBody>
      </p:sp>
      <p:grpSp>
        <p:nvGrpSpPr>
          <p:cNvPr id="957" name="Google Shape;957;p41"/>
          <p:cNvGrpSpPr/>
          <p:nvPr/>
        </p:nvGrpSpPr>
        <p:grpSpPr>
          <a:xfrm>
            <a:off x="6717625" y="2096950"/>
            <a:ext cx="413019" cy="615600"/>
            <a:chOff x="2877605" y="1487350"/>
            <a:chExt cx="473700" cy="615600"/>
          </a:xfrm>
        </p:grpSpPr>
        <p:sp>
          <p:nvSpPr>
            <p:cNvPr id="958" name="Google Shape;958;p41"/>
            <p:cNvSpPr txBox="1"/>
            <p:nvPr/>
          </p:nvSpPr>
          <p:spPr>
            <a:xfrm>
              <a:off x="2877605" y="1487350"/>
              <a:ext cx="473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chemeClr val="dk1"/>
                  </a:solidFill>
                </a:rPr>
                <a:t>C</a:t>
              </a:r>
              <a:endParaRPr b="1">
                <a:solidFill>
                  <a:schemeClr val="dk1"/>
                </a:solidFill>
              </a:endParaRPr>
            </a:p>
            <a:p>
              <a:pPr indent="0" lvl="0" marL="0" rtl="0" algn="l">
                <a:spcBef>
                  <a:spcPts val="0"/>
                </a:spcBef>
                <a:spcAft>
                  <a:spcPts val="0"/>
                </a:spcAft>
                <a:buNone/>
              </a:pPr>
              <a:r>
                <a:rPr lang="en">
                  <a:solidFill>
                    <a:schemeClr val="dk1"/>
                  </a:solidFill>
                </a:rPr>
                <a:t>𝛿</a:t>
              </a:r>
              <a:r>
                <a:rPr b="1" lang="en">
                  <a:solidFill>
                    <a:srgbClr val="949AF8"/>
                  </a:solidFill>
                </a:rPr>
                <a:t>y</a:t>
              </a:r>
              <a:r>
                <a:rPr baseline="30000" lang="en">
                  <a:solidFill>
                    <a:schemeClr val="dk1"/>
                  </a:solidFill>
                </a:rPr>
                <a:t> </a:t>
              </a:r>
              <a:endParaRPr/>
            </a:p>
          </p:txBody>
        </p:sp>
        <p:cxnSp>
          <p:nvCxnSpPr>
            <p:cNvPr id="959" name="Google Shape;959;p41"/>
            <p:cNvCxnSpPr>
              <a:stCxn id="958" idx="1"/>
              <a:endCxn id="958" idx="3"/>
            </p:cNvCxnSpPr>
            <p:nvPr/>
          </p:nvCxnSpPr>
          <p:spPr>
            <a:xfrm>
              <a:off x="2877605" y="1795150"/>
              <a:ext cx="473700" cy="0"/>
            </a:xfrm>
            <a:prstGeom prst="straightConnector1">
              <a:avLst/>
            </a:prstGeom>
            <a:noFill/>
            <a:ln cap="flat" cmpd="sng" w="9525">
              <a:solidFill>
                <a:schemeClr val="dk2"/>
              </a:solidFill>
              <a:prstDash val="solid"/>
              <a:round/>
              <a:headEnd len="med" w="med" type="none"/>
              <a:tailEnd len="med" w="med" type="none"/>
            </a:ln>
          </p:spPr>
        </p:cxnSp>
      </p:grpSp>
      <p:sp>
        <p:nvSpPr>
          <p:cNvPr id="960" name="Google Shape;960;p41"/>
          <p:cNvSpPr txBox="1"/>
          <p:nvPr/>
        </p:nvSpPr>
        <p:spPr>
          <a:xfrm>
            <a:off x="7098625" y="2173150"/>
            <a:ext cx="717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a:t>
            </a:r>
            <a:r>
              <a:rPr b="1" lang="en">
                <a:solidFill>
                  <a:schemeClr val="dk2"/>
                </a:solidFill>
              </a:rPr>
              <a:t>ɸ</a:t>
            </a:r>
            <a:r>
              <a:rPr lang="en">
                <a:solidFill>
                  <a:schemeClr val="dk2"/>
                </a:solidFill>
              </a:rPr>
              <a:t> </a:t>
            </a:r>
            <a:r>
              <a:rPr baseline="30000" lang="en">
                <a:solidFill>
                  <a:schemeClr val="dk2"/>
                </a:solidFill>
              </a:rPr>
              <a:t>(3) </a:t>
            </a:r>
            <a:r>
              <a:rPr lang="en">
                <a:solidFill>
                  <a:schemeClr val="dk2"/>
                </a:solidFill>
              </a:rPr>
              <a:t>)</a:t>
            </a:r>
            <a:r>
              <a:rPr b="1" lang="en">
                <a:solidFill>
                  <a:schemeClr val="dk2"/>
                </a:solidFill>
              </a:rPr>
              <a:t>′</a:t>
            </a:r>
            <a:endParaRPr b="1"/>
          </a:p>
        </p:txBody>
      </p:sp>
      <p:grpSp>
        <p:nvGrpSpPr>
          <p:cNvPr id="961" name="Google Shape;961;p41"/>
          <p:cNvGrpSpPr/>
          <p:nvPr/>
        </p:nvGrpSpPr>
        <p:grpSpPr>
          <a:xfrm>
            <a:off x="2496600" y="2858950"/>
            <a:ext cx="595200" cy="615600"/>
            <a:chOff x="2877600" y="1487350"/>
            <a:chExt cx="595200" cy="615600"/>
          </a:xfrm>
        </p:grpSpPr>
        <p:sp>
          <p:nvSpPr>
            <p:cNvPr id="962" name="Google Shape;962;p41"/>
            <p:cNvSpPr txBox="1"/>
            <p:nvPr/>
          </p:nvSpPr>
          <p:spPr>
            <a:xfrm>
              <a:off x="2877600" y="1487350"/>
              <a:ext cx="595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 </a:t>
              </a:r>
              <a:r>
                <a:rPr lang="en">
                  <a:solidFill>
                    <a:schemeClr val="dk1"/>
                  </a:solidFill>
                </a:rPr>
                <a:t>𝛿</a:t>
              </a:r>
              <a:r>
                <a:rPr b="1" lang="en">
                  <a:solidFill>
                    <a:schemeClr val="dk1"/>
                  </a:solidFill>
                </a:rPr>
                <a:t>C</a:t>
              </a:r>
              <a:endParaRPr b="1">
                <a:solidFill>
                  <a:schemeClr val="dk1"/>
                </a:solidFill>
              </a:endParaRPr>
            </a:p>
            <a:p>
              <a:pPr indent="0" lvl="0" marL="0" rtl="0" algn="l">
                <a:spcBef>
                  <a:spcPts val="0"/>
                </a:spcBef>
                <a:spcAft>
                  <a:spcPts val="0"/>
                </a:spcAft>
                <a:buNone/>
              </a:pPr>
              <a:r>
                <a:rPr lang="en">
                  <a:solidFill>
                    <a:schemeClr val="dk1"/>
                  </a:solidFill>
                </a:rPr>
                <a:t>𝛿</a:t>
              </a:r>
              <a:r>
                <a:rPr b="1" lang="en">
                  <a:solidFill>
                    <a:schemeClr val="dk1"/>
                  </a:solidFill>
                </a:rPr>
                <a:t>W</a:t>
              </a:r>
              <a:r>
                <a:rPr baseline="30000" lang="en">
                  <a:solidFill>
                    <a:schemeClr val="dk1"/>
                  </a:solidFill>
                </a:rPr>
                <a:t>(</a:t>
              </a:r>
              <a:r>
                <a:rPr b="1" baseline="30000" lang="en">
                  <a:solidFill>
                    <a:srgbClr val="949AF8"/>
                  </a:solidFill>
                </a:rPr>
                <a:t>2</a:t>
              </a:r>
              <a:r>
                <a:rPr baseline="30000" lang="en">
                  <a:solidFill>
                    <a:schemeClr val="dk1"/>
                  </a:solidFill>
                </a:rPr>
                <a:t>) </a:t>
              </a:r>
              <a:endParaRPr/>
            </a:p>
          </p:txBody>
        </p:sp>
        <p:cxnSp>
          <p:nvCxnSpPr>
            <p:cNvPr id="963" name="Google Shape;963;p41"/>
            <p:cNvCxnSpPr>
              <a:stCxn id="962" idx="1"/>
              <a:endCxn id="962" idx="3"/>
            </p:cNvCxnSpPr>
            <p:nvPr/>
          </p:nvCxnSpPr>
          <p:spPr>
            <a:xfrm>
              <a:off x="2877600" y="1795150"/>
              <a:ext cx="595200" cy="0"/>
            </a:xfrm>
            <a:prstGeom prst="straightConnector1">
              <a:avLst/>
            </a:prstGeom>
            <a:noFill/>
            <a:ln cap="flat" cmpd="sng" w="9525">
              <a:solidFill>
                <a:schemeClr val="dk2"/>
              </a:solidFill>
              <a:prstDash val="solid"/>
              <a:round/>
              <a:headEnd len="med" w="med" type="none"/>
              <a:tailEnd len="med" w="med" type="none"/>
            </a:ln>
          </p:spPr>
        </p:cxnSp>
      </p:grpSp>
      <p:grpSp>
        <p:nvGrpSpPr>
          <p:cNvPr id="964" name="Google Shape;964;p41"/>
          <p:cNvGrpSpPr/>
          <p:nvPr/>
        </p:nvGrpSpPr>
        <p:grpSpPr>
          <a:xfrm>
            <a:off x="3503775" y="2858950"/>
            <a:ext cx="489136" cy="615600"/>
            <a:chOff x="2877605" y="1487350"/>
            <a:chExt cx="561000" cy="615600"/>
          </a:xfrm>
        </p:grpSpPr>
        <p:sp>
          <p:nvSpPr>
            <p:cNvPr id="965" name="Google Shape;965;p41"/>
            <p:cNvSpPr txBox="1"/>
            <p:nvPr/>
          </p:nvSpPr>
          <p:spPr>
            <a:xfrm>
              <a:off x="2877605" y="1487350"/>
              <a:ext cx="561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chemeClr val="dk1"/>
                  </a:solidFill>
                </a:rPr>
                <a:t>C</a:t>
              </a:r>
              <a:endParaRPr b="1">
                <a:solidFill>
                  <a:schemeClr val="dk1"/>
                </a:solidFill>
              </a:endParaRPr>
            </a:p>
            <a:p>
              <a:pPr indent="0" lvl="0" marL="0" rtl="0" algn="l">
                <a:spcBef>
                  <a:spcPts val="0"/>
                </a:spcBef>
                <a:spcAft>
                  <a:spcPts val="0"/>
                </a:spcAft>
                <a:buNone/>
              </a:pPr>
              <a:r>
                <a:rPr lang="en">
                  <a:solidFill>
                    <a:schemeClr val="dk1"/>
                  </a:solidFill>
                </a:rPr>
                <a:t>𝛿</a:t>
              </a:r>
              <a:r>
                <a:rPr b="1" lang="en">
                  <a:solidFill>
                    <a:srgbClr val="949AF8"/>
                  </a:solidFill>
                </a:rPr>
                <a:t>y</a:t>
              </a:r>
              <a:r>
                <a:rPr baseline="30000" lang="en">
                  <a:solidFill>
                    <a:schemeClr val="dk1"/>
                  </a:solidFill>
                </a:rPr>
                <a:t> </a:t>
              </a:r>
              <a:endParaRPr/>
            </a:p>
          </p:txBody>
        </p:sp>
        <p:cxnSp>
          <p:nvCxnSpPr>
            <p:cNvPr id="966" name="Google Shape;966;p41"/>
            <p:cNvCxnSpPr>
              <a:stCxn id="965" idx="1"/>
              <a:endCxn id="965" idx="3"/>
            </p:cNvCxnSpPr>
            <p:nvPr/>
          </p:nvCxnSpPr>
          <p:spPr>
            <a:xfrm>
              <a:off x="2877605" y="1795150"/>
              <a:ext cx="561000" cy="0"/>
            </a:xfrm>
            <a:prstGeom prst="straightConnector1">
              <a:avLst/>
            </a:prstGeom>
            <a:noFill/>
            <a:ln cap="flat" cmpd="sng" w="9525">
              <a:solidFill>
                <a:schemeClr val="dk2"/>
              </a:solidFill>
              <a:prstDash val="solid"/>
              <a:round/>
              <a:headEnd len="med" w="med" type="none"/>
              <a:tailEnd len="med" w="med" type="none"/>
            </a:ln>
          </p:spPr>
        </p:cxnSp>
      </p:grpSp>
      <p:sp>
        <p:nvSpPr>
          <p:cNvPr id="967" name="Google Shape;967;p41"/>
          <p:cNvSpPr txBox="1"/>
          <p:nvPr/>
        </p:nvSpPr>
        <p:spPr>
          <a:xfrm>
            <a:off x="3116300" y="2966650"/>
            <a:ext cx="28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a:t>
            </a:r>
            <a:endParaRPr/>
          </a:p>
        </p:txBody>
      </p:sp>
      <p:grpSp>
        <p:nvGrpSpPr>
          <p:cNvPr id="968" name="Google Shape;968;p41"/>
          <p:cNvGrpSpPr/>
          <p:nvPr/>
        </p:nvGrpSpPr>
        <p:grpSpPr>
          <a:xfrm>
            <a:off x="4047426" y="2858950"/>
            <a:ext cx="544618" cy="615600"/>
            <a:chOff x="2877592" y="1487350"/>
            <a:chExt cx="619800" cy="615600"/>
          </a:xfrm>
        </p:grpSpPr>
        <p:sp>
          <p:nvSpPr>
            <p:cNvPr id="969" name="Google Shape;969;p41"/>
            <p:cNvSpPr txBox="1"/>
            <p:nvPr/>
          </p:nvSpPr>
          <p:spPr>
            <a:xfrm>
              <a:off x="2877592" y="1487350"/>
              <a:ext cx="61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 𝛿</a:t>
              </a:r>
              <a:r>
                <a:rPr b="1" lang="en">
                  <a:solidFill>
                    <a:srgbClr val="949AF8"/>
                  </a:solidFill>
                </a:rPr>
                <a:t>y</a:t>
              </a:r>
              <a:endParaRPr b="1">
                <a:solidFill>
                  <a:schemeClr val="dk1"/>
                </a:solidFill>
              </a:endParaRPr>
            </a:p>
            <a:p>
              <a:pPr indent="0" lvl="0" marL="0" rtl="0" algn="l">
                <a:spcBef>
                  <a:spcPts val="0"/>
                </a:spcBef>
                <a:spcAft>
                  <a:spcPts val="0"/>
                </a:spcAft>
                <a:buNone/>
              </a:pPr>
              <a:r>
                <a:rPr lang="en">
                  <a:solidFill>
                    <a:schemeClr val="dk1"/>
                  </a:solidFill>
                </a:rPr>
                <a:t>𝛿</a:t>
              </a:r>
              <a:r>
                <a:rPr baseline="30000" lang="en">
                  <a:solidFill>
                    <a:schemeClr val="dk1"/>
                  </a:solidFill>
                </a:rPr>
                <a:t> </a:t>
              </a:r>
              <a:r>
                <a:rPr b="1" lang="en">
                  <a:solidFill>
                    <a:srgbClr val="1B91CA"/>
                  </a:solidFill>
                </a:rPr>
                <a:t>Z</a:t>
              </a:r>
              <a:r>
                <a:rPr baseline="30000" lang="en">
                  <a:solidFill>
                    <a:srgbClr val="1B91CA"/>
                  </a:solidFill>
                </a:rPr>
                <a:t>(3)</a:t>
              </a:r>
              <a:endParaRPr/>
            </a:p>
          </p:txBody>
        </p:sp>
        <p:cxnSp>
          <p:nvCxnSpPr>
            <p:cNvPr id="970" name="Google Shape;970;p41"/>
            <p:cNvCxnSpPr>
              <a:stCxn id="969" idx="1"/>
              <a:endCxn id="969" idx="3"/>
            </p:cNvCxnSpPr>
            <p:nvPr/>
          </p:nvCxnSpPr>
          <p:spPr>
            <a:xfrm>
              <a:off x="2877592" y="1795150"/>
              <a:ext cx="619800" cy="0"/>
            </a:xfrm>
            <a:prstGeom prst="straightConnector1">
              <a:avLst/>
            </a:prstGeom>
            <a:noFill/>
            <a:ln cap="flat" cmpd="sng" w="9525">
              <a:solidFill>
                <a:schemeClr val="dk2"/>
              </a:solidFill>
              <a:prstDash val="solid"/>
              <a:round/>
              <a:headEnd len="med" w="med" type="none"/>
              <a:tailEnd len="med" w="med" type="none"/>
            </a:ln>
          </p:spPr>
        </p:cxnSp>
      </p:grpSp>
      <p:grpSp>
        <p:nvGrpSpPr>
          <p:cNvPr id="971" name="Google Shape;971;p41"/>
          <p:cNvGrpSpPr/>
          <p:nvPr/>
        </p:nvGrpSpPr>
        <p:grpSpPr>
          <a:xfrm>
            <a:off x="4621000" y="2858950"/>
            <a:ext cx="544618" cy="615600"/>
            <a:chOff x="2877590" y="1487350"/>
            <a:chExt cx="619800" cy="615600"/>
          </a:xfrm>
        </p:grpSpPr>
        <p:sp>
          <p:nvSpPr>
            <p:cNvPr id="972" name="Google Shape;972;p41"/>
            <p:cNvSpPr txBox="1"/>
            <p:nvPr/>
          </p:nvSpPr>
          <p:spPr>
            <a:xfrm>
              <a:off x="2877590" y="1487350"/>
              <a:ext cx="61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rgbClr val="1B91CA"/>
                  </a:solidFill>
                </a:rPr>
                <a:t>Z</a:t>
              </a:r>
              <a:r>
                <a:rPr baseline="30000" lang="en">
                  <a:solidFill>
                    <a:srgbClr val="1B91CA"/>
                  </a:solidFill>
                </a:rPr>
                <a:t>(3)</a:t>
              </a:r>
              <a:endParaRPr b="1">
                <a:solidFill>
                  <a:schemeClr val="dk1"/>
                </a:solidFill>
              </a:endParaRPr>
            </a:p>
            <a:p>
              <a:pPr indent="0" lvl="0" marL="0" rtl="0" algn="l">
                <a:spcBef>
                  <a:spcPts val="0"/>
                </a:spcBef>
                <a:spcAft>
                  <a:spcPts val="0"/>
                </a:spcAft>
                <a:buNone/>
              </a:pPr>
              <a:r>
                <a:rPr lang="en">
                  <a:solidFill>
                    <a:schemeClr val="dk1"/>
                  </a:solidFill>
                </a:rPr>
                <a:t>𝛿</a:t>
              </a:r>
              <a:r>
                <a:rPr baseline="30000" lang="en">
                  <a:solidFill>
                    <a:schemeClr val="dk1"/>
                  </a:solidFill>
                </a:rPr>
                <a:t> </a:t>
              </a:r>
              <a:r>
                <a:rPr b="1" lang="en">
                  <a:solidFill>
                    <a:srgbClr val="FF00FF"/>
                  </a:solidFill>
                </a:rPr>
                <a:t>h</a:t>
              </a:r>
              <a:r>
                <a:rPr baseline="30000" lang="en">
                  <a:solidFill>
                    <a:srgbClr val="FF00FF"/>
                  </a:solidFill>
                </a:rPr>
                <a:t>(2)</a:t>
              </a:r>
              <a:endParaRPr/>
            </a:p>
          </p:txBody>
        </p:sp>
        <p:cxnSp>
          <p:nvCxnSpPr>
            <p:cNvPr id="973" name="Google Shape;973;p41"/>
            <p:cNvCxnSpPr>
              <a:stCxn id="972" idx="1"/>
              <a:endCxn id="972" idx="3"/>
            </p:cNvCxnSpPr>
            <p:nvPr/>
          </p:nvCxnSpPr>
          <p:spPr>
            <a:xfrm>
              <a:off x="2877590" y="1795150"/>
              <a:ext cx="619800" cy="0"/>
            </a:xfrm>
            <a:prstGeom prst="straightConnector1">
              <a:avLst/>
            </a:prstGeom>
            <a:noFill/>
            <a:ln cap="flat" cmpd="sng" w="9525">
              <a:solidFill>
                <a:schemeClr val="dk2"/>
              </a:solidFill>
              <a:prstDash val="solid"/>
              <a:round/>
              <a:headEnd len="med" w="med" type="none"/>
              <a:tailEnd len="med" w="med" type="none"/>
            </a:ln>
          </p:spPr>
        </p:cxnSp>
      </p:grpSp>
      <p:sp>
        <p:nvSpPr>
          <p:cNvPr id="974" name="Google Shape;974;p41"/>
          <p:cNvSpPr txBox="1"/>
          <p:nvPr/>
        </p:nvSpPr>
        <p:spPr>
          <a:xfrm>
            <a:off x="6383150" y="2966650"/>
            <a:ext cx="28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a:t>
            </a:r>
            <a:endParaRPr/>
          </a:p>
        </p:txBody>
      </p:sp>
      <p:grpSp>
        <p:nvGrpSpPr>
          <p:cNvPr id="975" name="Google Shape;975;p41"/>
          <p:cNvGrpSpPr/>
          <p:nvPr/>
        </p:nvGrpSpPr>
        <p:grpSpPr>
          <a:xfrm>
            <a:off x="6641463" y="2858950"/>
            <a:ext cx="413008" cy="615600"/>
            <a:chOff x="2877605" y="1487350"/>
            <a:chExt cx="561000" cy="615600"/>
          </a:xfrm>
        </p:grpSpPr>
        <p:sp>
          <p:nvSpPr>
            <p:cNvPr id="976" name="Google Shape;976;p41"/>
            <p:cNvSpPr txBox="1"/>
            <p:nvPr/>
          </p:nvSpPr>
          <p:spPr>
            <a:xfrm>
              <a:off x="2877605" y="1487350"/>
              <a:ext cx="561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chemeClr val="dk1"/>
                  </a:solidFill>
                </a:rPr>
                <a:t>C</a:t>
              </a:r>
              <a:endParaRPr b="1">
                <a:solidFill>
                  <a:schemeClr val="dk1"/>
                </a:solidFill>
              </a:endParaRPr>
            </a:p>
            <a:p>
              <a:pPr indent="0" lvl="0" marL="0" rtl="0" algn="l">
                <a:spcBef>
                  <a:spcPts val="0"/>
                </a:spcBef>
                <a:spcAft>
                  <a:spcPts val="0"/>
                </a:spcAft>
                <a:buNone/>
              </a:pPr>
              <a:r>
                <a:rPr lang="en">
                  <a:solidFill>
                    <a:schemeClr val="dk1"/>
                  </a:solidFill>
                </a:rPr>
                <a:t>𝛿</a:t>
              </a:r>
              <a:r>
                <a:rPr b="1" lang="en">
                  <a:solidFill>
                    <a:srgbClr val="949AF8"/>
                  </a:solidFill>
                </a:rPr>
                <a:t>y</a:t>
              </a:r>
              <a:r>
                <a:rPr baseline="30000" lang="en">
                  <a:solidFill>
                    <a:schemeClr val="dk1"/>
                  </a:solidFill>
                </a:rPr>
                <a:t> </a:t>
              </a:r>
              <a:endParaRPr/>
            </a:p>
          </p:txBody>
        </p:sp>
        <p:cxnSp>
          <p:nvCxnSpPr>
            <p:cNvPr id="977" name="Google Shape;977;p41"/>
            <p:cNvCxnSpPr>
              <a:stCxn id="976" idx="1"/>
              <a:endCxn id="976" idx="3"/>
            </p:cNvCxnSpPr>
            <p:nvPr/>
          </p:nvCxnSpPr>
          <p:spPr>
            <a:xfrm>
              <a:off x="2877605" y="1795150"/>
              <a:ext cx="561000" cy="0"/>
            </a:xfrm>
            <a:prstGeom prst="straightConnector1">
              <a:avLst/>
            </a:prstGeom>
            <a:noFill/>
            <a:ln cap="flat" cmpd="sng" w="9525">
              <a:solidFill>
                <a:schemeClr val="dk2"/>
              </a:solidFill>
              <a:prstDash val="solid"/>
              <a:round/>
              <a:headEnd len="med" w="med" type="none"/>
              <a:tailEnd len="med" w="med" type="none"/>
            </a:ln>
          </p:spPr>
        </p:cxnSp>
      </p:grpSp>
      <p:sp>
        <p:nvSpPr>
          <p:cNvPr id="978" name="Google Shape;978;p41"/>
          <p:cNvSpPr txBox="1"/>
          <p:nvPr/>
        </p:nvSpPr>
        <p:spPr>
          <a:xfrm>
            <a:off x="7022425" y="2935150"/>
            <a:ext cx="717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a:t>
            </a:r>
            <a:r>
              <a:rPr b="1" lang="en">
                <a:solidFill>
                  <a:schemeClr val="dk2"/>
                </a:solidFill>
              </a:rPr>
              <a:t>ɸ</a:t>
            </a:r>
            <a:r>
              <a:rPr lang="en">
                <a:solidFill>
                  <a:schemeClr val="dk2"/>
                </a:solidFill>
              </a:rPr>
              <a:t> </a:t>
            </a:r>
            <a:r>
              <a:rPr baseline="30000" lang="en">
                <a:solidFill>
                  <a:schemeClr val="dk2"/>
                </a:solidFill>
              </a:rPr>
              <a:t>(3) </a:t>
            </a:r>
            <a:r>
              <a:rPr lang="en">
                <a:solidFill>
                  <a:schemeClr val="dk2"/>
                </a:solidFill>
              </a:rPr>
              <a:t>)</a:t>
            </a:r>
            <a:r>
              <a:rPr b="1" lang="en">
                <a:solidFill>
                  <a:schemeClr val="dk2"/>
                </a:solidFill>
              </a:rPr>
              <a:t>′</a:t>
            </a:r>
            <a:endParaRPr b="1"/>
          </a:p>
        </p:txBody>
      </p:sp>
      <p:sp>
        <p:nvSpPr>
          <p:cNvPr id="979" name="Google Shape;979;p41"/>
          <p:cNvSpPr txBox="1"/>
          <p:nvPr/>
        </p:nvSpPr>
        <p:spPr>
          <a:xfrm>
            <a:off x="7587025" y="2935150"/>
            <a:ext cx="1021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aseline="30000" lang="en">
                <a:solidFill>
                  <a:schemeClr val="dk1"/>
                </a:solidFill>
              </a:rPr>
              <a:t> </a:t>
            </a:r>
            <a:r>
              <a:rPr b="1" lang="en">
                <a:solidFill>
                  <a:schemeClr val="dk1"/>
                </a:solidFill>
              </a:rPr>
              <a:t>W</a:t>
            </a:r>
            <a:r>
              <a:rPr baseline="30000" lang="en">
                <a:solidFill>
                  <a:schemeClr val="dk1"/>
                </a:solidFill>
              </a:rPr>
              <a:t>(</a:t>
            </a:r>
            <a:r>
              <a:rPr b="1" baseline="30000" lang="en">
                <a:solidFill>
                  <a:srgbClr val="949AF8"/>
                </a:solidFill>
              </a:rPr>
              <a:t>3</a:t>
            </a:r>
            <a:r>
              <a:rPr baseline="30000" lang="en">
                <a:solidFill>
                  <a:schemeClr val="dk1"/>
                </a:solidFill>
              </a:rPr>
              <a:t>)</a:t>
            </a:r>
            <a:r>
              <a:rPr lang="en">
                <a:solidFill>
                  <a:schemeClr val="dk2"/>
                </a:solidFill>
              </a:rPr>
              <a:t>(</a:t>
            </a:r>
            <a:r>
              <a:rPr b="1" lang="en">
                <a:solidFill>
                  <a:schemeClr val="dk2"/>
                </a:solidFill>
              </a:rPr>
              <a:t>ɸ</a:t>
            </a:r>
            <a:r>
              <a:rPr lang="en">
                <a:solidFill>
                  <a:schemeClr val="dk2"/>
                </a:solidFill>
              </a:rPr>
              <a:t> </a:t>
            </a:r>
            <a:r>
              <a:rPr baseline="30000" lang="en">
                <a:solidFill>
                  <a:schemeClr val="dk2"/>
                </a:solidFill>
              </a:rPr>
              <a:t>(2) </a:t>
            </a:r>
            <a:r>
              <a:rPr lang="en">
                <a:solidFill>
                  <a:schemeClr val="dk2"/>
                </a:solidFill>
              </a:rPr>
              <a:t>)</a:t>
            </a:r>
            <a:r>
              <a:rPr b="1" lang="en">
                <a:solidFill>
                  <a:schemeClr val="dk2"/>
                </a:solidFill>
              </a:rPr>
              <a:t>′</a:t>
            </a:r>
            <a:endParaRPr/>
          </a:p>
        </p:txBody>
      </p:sp>
      <p:grpSp>
        <p:nvGrpSpPr>
          <p:cNvPr id="980" name="Google Shape;980;p41"/>
          <p:cNvGrpSpPr/>
          <p:nvPr/>
        </p:nvGrpSpPr>
        <p:grpSpPr>
          <a:xfrm>
            <a:off x="5194563" y="2858950"/>
            <a:ext cx="544500" cy="615600"/>
            <a:chOff x="5649313" y="2827450"/>
            <a:chExt cx="544500" cy="615600"/>
          </a:xfrm>
        </p:grpSpPr>
        <p:sp>
          <p:nvSpPr>
            <p:cNvPr id="981" name="Google Shape;981;p41"/>
            <p:cNvSpPr txBox="1"/>
            <p:nvPr/>
          </p:nvSpPr>
          <p:spPr>
            <a:xfrm>
              <a:off x="5649313" y="2827450"/>
              <a:ext cx="544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rgbClr val="FF00FF"/>
                  </a:solidFill>
                </a:rPr>
                <a:t>h</a:t>
              </a:r>
              <a:r>
                <a:rPr baseline="30000" lang="en">
                  <a:solidFill>
                    <a:srgbClr val="FF00FF"/>
                  </a:solidFill>
                </a:rPr>
                <a:t>(2)</a:t>
              </a: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𝛿</a:t>
              </a:r>
              <a:r>
                <a:rPr baseline="30000" lang="en">
                  <a:solidFill>
                    <a:schemeClr val="dk1"/>
                  </a:solidFill>
                </a:rPr>
                <a:t> </a:t>
              </a:r>
              <a:r>
                <a:rPr b="1" lang="en">
                  <a:solidFill>
                    <a:srgbClr val="1B91CA"/>
                  </a:solidFill>
                </a:rPr>
                <a:t>Z</a:t>
              </a:r>
              <a:r>
                <a:rPr baseline="30000" lang="en">
                  <a:solidFill>
                    <a:srgbClr val="1B91CA"/>
                  </a:solidFill>
                </a:rPr>
                <a:t>(2)</a:t>
              </a:r>
              <a:endParaRPr baseline="30000">
                <a:solidFill>
                  <a:schemeClr val="dk1"/>
                </a:solidFill>
              </a:endParaRPr>
            </a:p>
          </p:txBody>
        </p:sp>
        <p:cxnSp>
          <p:nvCxnSpPr>
            <p:cNvPr id="982" name="Google Shape;982;p41"/>
            <p:cNvCxnSpPr>
              <a:stCxn id="981" idx="1"/>
              <a:endCxn id="981" idx="3"/>
            </p:cNvCxnSpPr>
            <p:nvPr/>
          </p:nvCxnSpPr>
          <p:spPr>
            <a:xfrm>
              <a:off x="5649313" y="3135250"/>
              <a:ext cx="544500" cy="0"/>
            </a:xfrm>
            <a:prstGeom prst="straightConnector1">
              <a:avLst/>
            </a:prstGeom>
            <a:noFill/>
            <a:ln cap="flat" cmpd="sng" w="9525">
              <a:solidFill>
                <a:schemeClr val="dk2"/>
              </a:solidFill>
              <a:prstDash val="solid"/>
              <a:round/>
              <a:headEnd len="med" w="med" type="none"/>
              <a:tailEnd len="med" w="med" type="none"/>
            </a:ln>
          </p:spPr>
        </p:cxnSp>
      </p:grpSp>
      <p:grpSp>
        <p:nvGrpSpPr>
          <p:cNvPr id="983" name="Google Shape;983;p41"/>
          <p:cNvGrpSpPr/>
          <p:nvPr/>
        </p:nvGrpSpPr>
        <p:grpSpPr>
          <a:xfrm>
            <a:off x="5728694" y="2858950"/>
            <a:ext cx="645538" cy="615600"/>
            <a:chOff x="2877591" y="1487350"/>
            <a:chExt cx="816000" cy="615600"/>
          </a:xfrm>
        </p:grpSpPr>
        <p:sp>
          <p:nvSpPr>
            <p:cNvPr id="984" name="Google Shape;984;p41"/>
            <p:cNvSpPr txBox="1"/>
            <p:nvPr/>
          </p:nvSpPr>
          <p:spPr>
            <a:xfrm>
              <a:off x="2877591" y="1487350"/>
              <a:ext cx="816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 𝛿</a:t>
              </a:r>
              <a:r>
                <a:rPr b="1" lang="en">
                  <a:solidFill>
                    <a:srgbClr val="1B91CA"/>
                  </a:solidFill>
                </a:rPr>
                <a:t>Z</a:t>
              </a:r>
              <a:r>
                <a:rPr baseline="30000" lang="en">
                  <a:solidFill>
                    <a:srgbClr val="1B91CA"/>
                  </a:solidFill>
                </a:rPr>
                <a:t>(2)</a:t>
              </a:r>
              <a:endParaRPr b="1">
                <a:solidFill>
                  <a:schemeClr val="dk1"/>
                </a:solidFill>
              </a:endParaRPr>
            </a:p>
            <a:p>
              <a:pPr indent="0" lvl="0" marL="0" rtl="0" algn="l">
                <a:spcBef>
                  <a:spcPts val="0"/>
                </a:spcBef>
                <a:spcAft>
                  <a:spcPts val="0"/>
                </a:spcAft>
                <a:buNone/>
              </a:pPr>
              <a:r>
                <a:rPr lang="en">
                  <a:solidFill>
                    <a:schemeClr val="dk1"/>
                  </a:solidFill>
                </a:rPr>
                <a:t>𝛿</a:t>
              </a:r>
              <a:r>
                <a:rPr baseline="30000" lang="en">
                  <a:solidFill>
                    <a:schemeClr val="dk1"/>
                  </a:solidFill>
                </a:rPr>
                <a:t> </a:t>
              </a:r>
              <a:r>
                <a:rPr b="1" lang="en">
                  <a:solidFill>
                    <a:schemeClr val="dk1"/>
                  </a:solidFill>
                </a:rPr>
                <a:t>W</a:t>
              </a:r>
              <a:r>
                <a:rPr baseline="30000" lang="en">
                  <a:solidFill>
                    <a:schemeClr val="dk1"/>
                  </a:solidFill>
                </a:rPr>
                <a:t>(</a:t>
              </a:r>
              <a:r>
                <a:rPr b="1" baseline="30000" lang="en">
                  <a:solidFill>
                    <a:srgbClr val="949AF8"/>
                  </a:solidFill>
                </a:rPr>
                <a:t>2</a:t>
              </a:r>
              <a:r>
                <a:rPr baseline="30000" lang="en">
                  <a:solidFill>
                    <a:schemeClr val="dk1"/>
                  </a:solidFill>
                </a:rPr>
                <a:t>) </a:t>
              </a:r>
              <a:endParaRPr/>
            </a:p>
          </p:txBody>
        </p:sp>
        <p:cxnSp>
          <p:nvCxnSpPr>
            <p:cNvPr id="985" name="Google Shape;985;p41"/>
            <p:cNvCxnSpPr>
              <a:stCxn id="984" idx="1"/>
              <a:endCxn id="984" idx="3"/>
            </p:cNvCxnSpPr>
            <p:nvPr/>
          </p:nvCxnSpPr>
          <p:spPr>
            <a:xfrm>
              <a:off x="2877591" y="1795150"/>
              <a:ext cx="816000" cy="0"/>
            </a:xfrm>
            <a:prstGeom prst="straightConnector1">
              <a:avLst/>
            </a:prstGeom>
            <a:noFill/>
            <a:ln cap="flat" cmpd="sng" w="9525">
              <a:solidFill>
                <a:schemeClr val="dk2"/>
              </a:solidFill>
              <a:prstDash val="solid"/>
              <a:round/>
              <a:headEnd len="med" w="med" type="none"/>
              <a:tailEnd len="med" w="med" type="none"/>
            </a:ln>
          </p:spPr>
        </p:cxnSp>
      </p:grpSp>
      <p:sp>
        <p:nvSpPr>
          <p:cNvPr id="986" name="Google Shape;986;p41"/>
          <p:cNvSpPr txBox="1"/>
          <p:nvPr/>
        </p:nvSpPr>
        <p:spPr>
          <a:xfrm>
            <a:off x="8454125" y="2935150"/>
            <a:ext cx="48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aseline="30000" lang="en">
                <a:solidFill>
                  <a:schemeClr val="dk1"/>
                </a:solidFill>
              </a:rPr>
              <a:t> </a:t>
            </a:r>
            <a:r>
              <a:rPr b="1" lang="en">
                <a:solidFill>
                  <a:srgbClr val="FF00FF"/>
                </a:solidFill>
              </a:rPr>
              <a:t>h</a:t>
            </a:r>
            <a:r>
              <a:rPr baseline="30000" lang="en">
                <a:solidFill>
                  <a:srgbClr val="FF00FF"/>
                </a:solidFill>
              </a:rPr>
              <a:t>(1)</a:t>
            </a:r>
            <a:endParaRPr/>
          </a:p>
        </p:txBody>
      </p:sp>
      <p:grpSp>
        <p:nvGrpSpPr>
          <p:cNvPr id="987" name="Google Shape;987;p41"/>
          <p:cNvGrpSpPr/>
          <p:nvPr/>
        </p:nvGrpSpPr>
        <p:grpSpPr>
          <a:xfrm>
            <a:off x="2496600" y="3468550"/>
            <a:ext cx="6111625" cy="615600"/>
            <a:chOff x="2496600" y="3468550"/>
            <a:chExt cx="6111625" cy="615600"/>
          </a:xfrm>
        </p:grpSpPr>
        <p:grpSp>
          <p:nvGrpSpPr>
            <p:cNvPr id="988" name="Google Shape;988;p41"/>
            <p:cNvGrpSpPr/>
            <p:nvPr/>
          </p:nvGrpSpPr>
          <p:grpSpPr>
            <a:xfrm>
              <a:off x="2496600" y="3468550"/>
              <a:ext cx="544500" cy="615600"/>
              <a:chOff x="2877600" y="1487350"/>
              <a:chExt cx="544500" cy="615600"/>
            </a:xfrm>
          </p:grpSpPr>
          <p:sp>
            <p:nvSpPr>
              <p:cNvPr id="989" name="Google Shape;989;p41"/>
              <p:cNvSpPr txBox="1"/>
              <p:nvPr/>
            </p:nvSpPr>
            <p:spPr>
              <a:xfrm>
                <a:off x="2877600" y="1487350"/>
                <a:ext cx="544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chemeClr val="dk1"/>
                    </a:solidFill>
                  </a:rPr>
                  <a:t>C</a:t>
                </a:r>
                <a:endParaRPr b="1">
                  <a:solidFill>
                    <a:schemeClr val="dk1"/>
                  </a:solidFill>
                </a:endParaRPr>
              </a:p>
              <a:p>
                <a:pPr indent="0" lvl="0" marL="0" rtl="0" algn="l">
                  <a:spcBef>
                    <a:spcPts val="0"/>
                  </a:spcBef>
                  <a:spcAft>
                    <a:spcPts val="0"/>
                  </a:spcAft>
                  <a:buNone/>
                </a:pPr>
                <a:r>
                  <a:rPr lang="en">
                    <a:solidFill>
                      <a:schemeClr val="dk1"/>
                    </a:solidFill>
                  </a:rPr>
                  <a:t>𝛿</a:t>
                </a:r>
                <a:r>
                  <a:rPr b="1" lang="en">
                    <a:solidFill>
                      <a:schemeClr val="dk1"/>
                    </a:solidFill>
                  </a:rPr>
                  <a:t>b</a:t>
                </a:r>
                <a:r>
                  <a:rPr baseline="30000" lang="en">
                    <a:solidFill>
                      <a:schemeClr val="dk1"/>
                    </a:solidFill>
                  </a:rPr>
                  <a:t>(</a:t>
                </a:r>
                <a:r>
                  <a:rPr b="1" baseline="30000" lang="en">
                    <a:solidFill>
                      <a:srgbClr val="949AF8"/>
                    </a:solidFill>
                  </a:rPr>
                  <a:t>2</a:t>
                </a:r>
                <a:r>
                  <a:rPr baseline="30000" lang="en">
                    <a:solidFill>
                      <a:schemeClr val="dk1"/>
                    </a:solidFill>
                  </a:rPr>
                  <a:t>) </a:t>
                </a:r>
                <a:endParaRPr/>
              </a:p>
            </p:txBody>
          </p:sp>
          <p:cxnSp>
            <p:nvCxnSpPr>
              <p:cNvPr id="990" name="Google Shape;990;p41"/>
              <p:cNvCxnSpPr>
                <a:stCxn id="989" idx="1"/>
                <a:endCxn id="989" idx="3"/>
              </p:cNvCxnSpPr>
              <p:nvPr/>
            </p:nvCxnSpPr>
            <p:spPr>
              <a:xfrm>
                <a:off x="2877600" y="1795150"/>
                <a:ext cx="544500" cy="0"/>
              </a:xfrm>
              <a:prstGeom prst="straightConnector1">
                <a:avLst/>
              </a:prstGeom>
              <a:noFill/>
              <a:ln cap="flat" cmpd="sng" w="9525">
                <a:solidFill>
                  <a:schemeClr val="dk2"/>
                </a:solidFill>
                <a:prstDash val="solid"/>
                <a:round/>
                <a:headEnd len="med" w="med" type="none"/>
                <a:tailEnd len="med" w="med" type="none"/>
              </a:ln>
            </p:spPr>
          </p:cxnSp>
        </p:grpSp>
        <p:grpSp>
          <p:nvGrpSpPr>
            <p:cNvPr id="991" name="Google Shape;991;p41"/>
            <p:cNvGrpSpPr/>
            <p:nvPr/>
          </p:nvGrpSpPr>
          <p:grpSpPr>
            <a:xfrm>
              <a:off x="3503775" y="3468550"/>
              <a:ext cx="489136" cy="615600"/>
              <a:chOff x="2877605" y="1487350"/>
              <a:chExt cx="561000" cy="615600"/>
            </a:xfrm>
          </p:grpSpPr>
          <p:sp>
            <p:nvSpPr>
              <p:cNvPr id="992" name="Google Shape;992;p41"/>
              <p:cNvSpPr txBox="1"/>
              <p:nvPr/>
            </p:nvSpPr>
            <p:spPr>
              <a:xfrm>
                <a:off x="2877605" y="1487350"/>
                <a:ext cx="561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chemeClr val="dk1"/>
                    </a:solidFill>
                  </a:rPr>
                  <a:t>C</a:t>
                </a:r>
                <a:endParaRPr b="1">
                  <a:solidFill>
                    <a:schemeClr val="dk1"/>
                  </a:solidFill>
                </a:endParaRPr>
              </a:p>
              <a:p>
                <a:pPr indent="0" lvl="0" marL="0" rtl="0" algn="l">
                  <a:spcBef>
                    <a:spcPts val="0"/>
                  </a:spcBef>
                  <a:spcAft>
                    <a:spcPts val="0"/>
                  </a:spcAft>
                  <a:buNone/>
                </a:pPr>
                <a:r>
                  <a:rPr lang="en">
                    <a:solidFill>
                      <a:schemeClr val="dk1"/>
                    </a:solidFill>
                  </a:rPr>
                  <a:t>𝛿</a:t>
                </a:r>
                <a:r>
                  <a:rPr b="1" lang="en">
                    <a:solidFill>
                      <a:srgbClr val="949AF8"/>
                    </a:solidFill>
                  </a:rPr>
                  <a:t>y</a:t>
                </a:r>
                <a:r>
                  <a:rPr baseline="30000" lang="en">
                    <a:solidFill>
                      <a:schemeClr val="dk1"/>
                    </a:solidFill>
                  </a:rPr>
                  <a:t> </a:t>
                </a:r>
                <a:endParaRPr/>
              </a:p>
            </p:txBody>
          </p:sp>
          <p:cxnSp>
            <p:nvCxnSpPr>
              <p:cNvPr id="993" name="Google Shape;993;p41"/>
              <p:cNvCxnSpPr>
                <a:stCxn id="992" idx="1"/>
                <a:endCxn id="992" idx="3"/>
              </p:cNvCxnSpPr>
              <p:nvPr/>
            </p:nvCxnSpPr>
            <p:spPr>
              <a:xfrm>
                <a:off x="2877605" y="1795150"/>
                <a:ext cx="561000" cy="0"/>
              </a:xfrm>
              <a:prstGeom prst="straightConnector1">
                <a:avLst/>
              </a:prstGeom>
              <a:noFill/>
              <a:ln cap="flat" cmpd="sng" w="9525">
                <a:solidFill>
                  <a:schemeClr val="dk2"/>
                </a:solidFill>
                <a:prstDash val="solid"/>
                <a:round/>
                <a:headEnd len="med" w="med" type="none"/>
                <a:tailEnd len="med" w="med" type="none"/>
              </a:ln>
            </p:spPr>
          </p:cxnSp>
        </p:grpSp>
        <p:sp>
          <p:nvSpPr>
            <p:cNvPr id="994" name="Google Shape;994;p41"/>
            <p:cNvSpPr txBox="1"/>
            <p:nvPr/>
          </p:nvSpPr>
          <p:spPr>
            <a:xfrm>
              <a:off x="3116300" y="3576250"/>
              <a:ext cx="28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a:t>
              </a:r>
              <a:endParaRPr/>
            </a:p>
          </p:txBody>
        </p:sp>
        <p:grpSp>
          <p:nvGrpSpPr>
            <p:cNvPr id="995" name="Google Shape;995;p41"/>
            <p:cNvGrpSpPr/>
            <p:nvPr/>
          </p:nvGrpSpPr>
          <p:grpSpPr>
            <a:xfrm>
              <a:off x="4047426" y="3468550"/>
              <a:ext cx="544618" cy="615600"/>
              <a:chOff x="2877591" y="1487350"/>
              <a:chExt cx="619800" cy="615600"/>
            </a:xfrm>
          </p:grpSpPr>
          <p:sp>
            <p:nvSpPr>
              <p:cNvPr id="996" name="Google Shape;996;p41"/>
              <p:cNvSpPr txBox="1"/>
              <p:nvPr/>
            </p:nvSpPr>
            <p:spPr>
              <a:xfrm>
                <a:off x="2877591" y="1487350"/>
                <a:ext cx="61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rgbClr val="949AF8"/>
                    </a:solidFill>
                  </a:rPr>
                  <a:t>y</a:t>
                </a:r>
                <a:endParaRPr b="1">
                  <a:solidFill>
                    <a:schemeClr val="dk1"/>
                  </a:solidFill>
                </a:endParaRPr>
              </a:p>
              <a:p>
                <a:pPr indent="0" lvl="0" marL="0" rtl="0" algn="l">
                  <a:spcBef>
                    <a:spcPts val="0"/>
                  </a:spcBef>
                  <a:spcAft>
                    <a:spcPts val="0"/>
                  </a:spcAft>
                  <a:buNone/>
                </a:pPr>
                <a:r>
                  <a:rPr lang="en">
                    <a:solidFill>
                      <a:schemeClr val="dk1"/>
                    </a:solidFill>
                  </a:rPr>
                  <a:t>𝛿</a:t>
                </a:r>
                <a:r>
                  <a:rPr baseline="30000" lang="en">
                    <a:solidFill>
                      <a:schemeClr val="dk1"/>
                    </a:solidFill>
                  </a:rPr>
                  <a:t> </a:t>
                </a:r>
                <a:r>
                  <a:rPr b="1" lang="en">
                    <a:solidFill>
                      <a:srgbClr val="1B91CA"/>
                    </a:solidFill>
                  </a:rPr>
                  <a:t>Z</a:t>
                </a:r>
                <a:r>
                  <a:rPr baseline="30000" lang="en">
                    <a:solidFill>
                      <a:srgbClr val="1B91CA"/>
                    </a:solidFill>
                  </a:rPr>
                  <a:t>(3)</a:t>
                </a:r>
                <a:endParaRPr/>
              </a:p>
            </p:txBody>
          </p:sp>
          <p:cxnSp>
            <p:nvCxnSpPr>
              <p:cNvPr id="997" name="Google Shape;997;p41"/>
              <p:cNvCxnSpPr>
                <a:stCxn id="996" idx="1"/>
                <a:endCxn id="996" idx="3"/>
              </p:cNvCxnSpPr>
              <p:nvPr/>
            </p:nvCxnSpPr>
            <p:spPr>
              <a:xfrm>
                <a:off x="2877591" y="1795150"/>
                <a:ext cx="619800" cy="0"/>
              </a:xfrm>
              <a:prstGeom prst="straightConnector1">
                <a:avLst/>
              </a:prstGeom>
              <a:noFill/>
              <a:ln cap="flat" cmpd="sng" w="9525">
                <a:solidFill>
                  <a:schemeClr val="dk2"/>
                </a:solidFill>
                <a:prstDash val="solid"/>
                <a:round/>
                <a:headEnd len="med" w="med" type="none"/>
                <a:tailEnd len="med" w="med" type="none"/>
              </a:ln>
            </p:spPr>
          </p:cxnSp>
        </p:grpSp>
        <p:grpSp>
          <p:nvGrpSpPr>
            <p:cNvPr id="998" name="Google Shape;998;p41"/>
            <p:cNvGrpSpPr/>
            <p:nvPr/>
          </p:nvGrpSpPr>
          <p:grpSpPr>
            <a:xfrm>
              <a:off x="4621000" y="3468550"/>
              <a:ext cx="544618" cy="615600"/>
              <a:chOff x="2877590" y="1487350"/>
              <a:chExt cx="619800" cy="615600"/>
            </a:xfrm>
          </p:grpSpPr>
          <p:sp>
            <p:nvSpPr>
              <p:cNvPr id="999" name="Google Shape;999;p41"/>
              <p:cNvSpPr txBox="1"/>
              <p:nvPr/>
            </p:nvSpPr>
            <p:spPr>
              <a:xfrm>
                <a:off x="2877590" y="1487350"/>
                <a:ext cx="61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rgbClr val="1B91CA"/>
                    </a:solidFill>
                  </a:rPr>
                  <a:t>Z</a:t>
                </a:r>
                <a:r>
                  <a:rPr baseline="30000" lang="en">
                    <a:solidFill>
                      <a:srgbClr val="1B91CA"/>
                    </a:solidFill>
                  </a:rPr>
                  <a:t>(3)</a:t>
                </a:r>
                <a:endParaRPr b="1">
                  <a:solidFill>
                    <a:schemeClr val="dk1"/>
                  </a:solidFill>
                </a:endParaRPr>
              </a:p>
              <a:p>
                <a:pPr indent="0" lvl="0" marL="0" rtl="0" algn="l">
                  <a:spcBef>
                    <a:spcPts val="0"/>
                  </a:spcBef>
                  <a:spcAft>
                    <a:spcPts val="0"/>
                  </a:spcAft>
                  <a:buNone/>
                </a:pPr>
                <a:r>
                  <a:rPr lang="en">
                    <a:solidFill>
                      <a:schemeClr val="dk1"/>
                    </a:solidFill>
                  </a:rPr>
                  <a:t>𝛿</a:t>
                </a:r>
                <a:r>
                  <a:rPr baseline="30000" lang="en">
                    <a:solidFill>
                      <a:schemeClr val="dk1"/>
                    </a:solidFill>
                  </a:rPr>
                  <a:t> </a:t>
                </a:r>
                <a:r>
                  <a:rPr b="1" lang="en">
                    <a:solidFill>
                      <a:srgbClr val="FF00FF"/>
                    </a:solidFill>
                  </a:rPr>
                  <a:t>h</a:t>
                </a:r>
                <a:r>
                  <a:rPr baseline="30000" lang="en">
                    <a:solidFill>
                      <a:srgbClr val="FF00FF"/>
                    </a:solidFill>
                  </a:rPr>
                  <a:t>(2)</a:t>
                </a:r>
                <a:r>
                  <a:rPr baseline="30000" lang="en">
                    <a:solidFill>
                      <a:schemeClr val="dk1"/>
                    </a:solidFill>
                  </a:rPr>
                  <a:t> </a:t>
                </a:r>
                <a:endParaRPr/>
              </a:p>
            </p:txBody>
          </p:sp>
          <p:cxnSp>
            <p:nvCxnSpPr>
              <p:cNvPr id="1000" name="Google Shape;1000;p41"/>
              <p:cNvCxnSpPr>
                <a:stCxn id="999" idx="1"/>
                <a:endCxn id="999" idx="3"/>
              </p:cNvCxnSpPr>
              <p:nvPr/>
            </p:nvCxnSpPr>
            <p:spPr>
              <a:xfrm>
                <a:off x="2877590" y="1795150"/>
                <a:ext cx="619800" cy="0"/>
              </a:xfrm>
              <a:prstGeom prst="straightConnector1">
                <a:avLst/>
              </a:prstGeom>
              <a:noFill/>
              <a:ln cap="flat" cmpd="sng" w="9525">
                <a:solidFill>
                  <a:schemeClr val="dk2"/>
                </a:solidFill>
                <a:prstDash val="solid"/>
                <a:round/>
                <a:headEnd len="med" w="med" type="none"/>
                <a:tailEnd len="med" w="med" type="none"/>
              </a:ln>
            </p:spPr>
          </p:cxnSp>
        </p:grpSp>
        <p:sp>
          <p:nvSpPr>
            <p:cNvPr id="1001" name="Google Shape;1001;p41"/>
            <p:cNvSpPr txBox="1"/>
            <p:nvPr/>
          </p:nvSpPr>
          <p:spPr>
            <a:xfrm>
              <a:off x="6383150" y="3576250"/>
              <a:ext cx="28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a:t>
              </a:r>
              <a:endParaRPr/>
            </a:p>
          </p:txBody>
        </p:sp>
        <p:grpSp>
          <p:nvGrpSpPr>
            <p:cNvPr id="1002" name="Google Shape;1002;p41"/>
            <p:cNvGrpSpPr/>
            <p:nvPr/>
          </p:nvGrpSpPr>
          <p:grpSpPr>
            <a:xfrm>
              <a:off x="6641339" y="3468550"/>
              <a:ext cx="413008" cy="615600"/>
              <a:chOff x="2877605" y="1487350"/>
              <a:chExt cx="561000" cy="615600"/>
            </a:xfrm>
          </p:grpSpPr>
          <p:sp>
            <p:nvSpPr>
              <p:cNvPr id="1003" name="Google Shape;1003;p41"/>
              <p:cNvSpPr txBox="1"/>
              <p:nvPr/>
            </p:nvSpPr>
            <p:spPr>
              <a:xfrm>
                <a:off x="2877605" y="1487350"/>
                <a:ext cx="561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chemeClr val="dk1"/>
                    </a:solidFill>
                  </a:rPr>
                  <a:t>C</a:t>
                </a:r>
                <a:endParaRPr b="1">
                  <a:solidFill>
                    <a:schemeClr val="dk1"/>
                  </a:solidFill>
                </a:endParaRPr>
              </a:p>
              <a:p>
                <a:pPr indent="0" lvl="0" marL="0" rtl="0" algn="l">
                  <a:spcBef>
                    <a:spcPts val="0"/>
                  </a:spcBef>
                  <a:spcAft>
                    <a:spcPts val="0"/>
                  </a:spcAft>
                  <a:buNone/>
                </a:pPr>
                <a:r>
                  <a:rPr lang="en">
                    <a:solidFill>
                      <a:schemeClr val="dk1"/>
                    </a:solidFill>
                  </a:rPr>
                  <a:t>𝛿</a:t>
                </a:r>
                <a:r>
                  <a:rPr b="1" lang="en">
                    <a:solidFill>
                      <a:srgbClr val="949AF8"/>
                    </a:solidFill>
                  </a:rPr>
                  <a:t>y</a:t>
                </a:r>
                <a:r>
                  <a:rPr baseline="30000" lang="en">
                    <a:solidFill>
                      <a:schemeClr val="dk1"/>
                    </a:solidFill>
                  </a:rPr>
                  <a:t> </a:t>
                </a:r>
                <a:endParaRPr/>
              </a:p>
            </p:txBody>
          </p:sp>
          <p:cxnSp>
            <p:nvCxnSpPr>
              <p:cNvPr id="1004" name="Google Shape;1004;p41"/>
              <p:cNvCxnSpPr>
                <a:stCxn id="1003" idx="1"/>
                <a:endCxn id="1003" idx="3"/>
              </p:cNvCxnSpPr>
              <p:nvPr/>
            </p:nvCxnSpPr>
            <p:spPr>
              <a:xfrm>
                <a:off x="2877605" y="1795150"/>
                <a:ext cx="561000" cy="0"/>
              </a:xfrm>
              <a:prstGeom prst="straightConnector1">
                <a:avLst/>
              </a:prstGeom>
              <a:noFill/>
              <a:ln cap="flat" cmpd="sng" w="9525">
                <a:solidFill>
                  <a:schemeClr val="dk2"/>
                </a:solidFill>
                <a:prstDash val="solid"/>
                <a:round/>
                <a:headEnd len="med" w="med" type="none"/>
                <a:tailEnd len="med" w="med" type="none"/>
              </a:ln>
            </p:spPr>
          </p:cxnSp>
        </p:grpSp>
        <p:sp>
          <p:nvSpPr>
            <p:cNvPr id="1005" name="Google Shape;1005;p41"/>
            <p:cNvSpPr txBox="1"/>
            <p:nvPr/>
          </p:nvSpPr>
          <p:spPr>
            <a:xfrm>
              <a:off x="7022425" y="3544750"/>
              <a:ext cx="717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a:t>
              </a:r>
              <a:r>
                <a:rPr b="1" lang="en">
                  <a:solidFill>
                    <a:schemeClr val="dk2"/>
                  </a:solidFill>
                </a:rPr>
                <a:t>ɸ</a:t>
              </a:r>
              <a:r>
                <a:rPr lang="en">
                  <a:solidFill>
                    <a:schemeClr val="dk2"/>
                  </a:solidFill>
                </a:rPr>
                <a:t> </a:t>
              </a:r>
              <a:r>
                <a:rPr baseline="30000" lang="en">
                  <a:solidFill>
                    <a:schemeClr val="dk2"/>
                  </a:solidFill>
                </a:rPr>
                <a:t>(3) </a:t>
              </a:r>
              <a:r>
                <a:rPr lang="en">
                  <a:solidFill>
                    <a:schemeClr val="dk2"/>
                  </a:solidFill>
                </a:rPr>
                <a:t>)</a:t>
              </a:r>
              <a:r>
                <a:rPr b="1" lang="en">
                  <a:solidFill>
                    <a:schemeClr val="dk2"/>
                  </a:solidFill>
                </a:rPr>
                <a:t>′</a:t>
              </a:r>
              <a:endParaRPr b="1"/>
            </a:p>
          </p:txBody>
        </p:sp>
        <p:grpSp>
          <p:nvGrpSpPr>
            <p:cNvPr id="1006" name="Google Shape;1006;p41"/>
            <p:cNvGrpSpPr/>
            <p:nvPr/>
          </p:nvGrpSpPr>
          <p:grpSpPr>
            <a:xfrm>
              <a:off x="5194575" y="3468550"/>
              <a:ext cx="544618" cy="615600"/>
              <a:chOff x="2917906" y="1487350"/>
              <a:chExt cx="619800" cy="615600"/>
            </a:xfrm>
          </p:grpSpPr>
          <p:sp>
            <p:nvSpPr>
              <p:cNvPr id="1007" name="Google Shape;1007;p41"/>
              <p:cNvSpPr txBox="1"/>
              <p:nvPr/>
            </p:nvSpPr>
            <p:spPr>
              <a:xfrm>
                <a:off x="2917906" y="1487350"/>
                <a:ext cx="61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rgbClr val="FF00FF"/>
                    </a:solidFill>
                  </a:rPr>
                  <a:t>h</a:t>
                </a:r>
                <a:r>
                  <a:rPr baseline="30000" lang="en">
                    <a:solidFill>
                      <a:srgbClr val="FF00FF"/>
                    </a:solidFill>
                  </a:rPr>
                  <a:t>(2)</a:t>
                </a: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𝛿</a:t>
                </a:r>
                <a:r>
                  <a:rPr baseline="30000" lang="en">
                    <a:solidFill>
                      <a:schemeClr val="dk1"/>
                    </a:solidFill>
                  </a:rPr>
                  <a:t> </a:t>
                </a:r>
                <a:r>
                  <a:rPr b="1" lang="en">
                    <a:solidFill>
                      <a:srgbClr val="1B91CA"/>
                    </a:solidFill>
                  </a:rPr>
                  <a:t>Z</a:t>
                </a:r>
                <a:r>
                  <a:rPr baseline="30000" lang="en">
                    <a:solidFill>
                      <a:srgbClr val="1B91CA"/>
                    </a:solidFill>
                  </a:rPr>
                  <a:t>(2)</a:t>
                </a:r>
                <a:endParaRPr baseline="30000">
                  <a:solidFill>
                    <a:schemeClr val="dk1"/>
                  </a:solidFill>
                </a:endParaRPr>
              </a:p>
            </p:txBody>
          </p:sp>
          <p:cxnSp>
            <p:nvCxnSpPr>
              <p:cNvPr id="1008" name="Google Shape;1008;p41"/>
              <p:cNvCxnSpPr>
                <a:stCxn id="1007" idx="1"/>
                <a:endCxn id="1007" idx="3"/>
              </p:cNvCxnSpPr>
              <p:nvPr/>
            </p:nvCxnSpPr>
            <p:spPr>
              <a:xfrm>
                <a:off x="2917906" y="1795150"/>
                <a:ext cx="619800" cy="0"/>
              </a:xfrm>
              <a:prstGeom prst="straightConnector1">
                <a:avLst/>
              </a:prstGeom>
              <a:noFill/>
              <a:ln cap="flat" cmpd="sng" w="9525">
                <a:solidFill>
                  <a:schemeClr val="dk2"/>
                </a:solidFill>
                <a:prstDash val="solid"/>
                <a:round/>
                <a:headEnd len="med" w="med" type="none"/>
                <a:tailEnd len="med" w="med" type="none"/>
              </a:ln>
            </p:spPr>
          </p:cxnSp>
        </p:grpSp>
        <p:grpSp>
          <p:nvGrpSpPr>
            <p:cNvPr id="1009" name="Google Shape;1009;p41"/>
            <p:cNvGrpSpPr/>
            <p:nvPr/>
          </p:nvGrpSpPr>
          <p:grpSpPr>
            <a:xfrm>
              <a:off x="5728650" y="3468550"/>
              <a:ext cx="544618" cy="615600"/>
              <a:chOff x="2877590" y="1487350"/>
              <a:chExt cx="619800" cy="615600"/>
            </a:xfrm>
          </p:grpSpPr>
          <p:sp>
            <p:nvSpPr>
              <p:cNvPr id="1010" name="Google Shape;1010;p41"/>
              <p:cNvSpPr txBox="1"/>
              <p:nvPr/>
            </p:nvSpPr>
            <p:spPr>
              <a:xfrm>
                <a:off x="2877590" y="1487350"/>
                <a:ext cx="61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rgbClr val="1B91CA"/>
                    </a:solidFill>
                  </a:rPr>
                  <a:t>Z</a:t>
                </a:r>
                <a:r>
                  <a:rPr baseline="30000" lang="en">
                    <a:solidFill>
                      <a:srgbClr val="1B91CA"/>
                    </a:solidFill>
                  </a:rPr>
                  <a:t>(2)</a:t>
                </a:r>
                <a:endParaRPr b="1">
                  <a:solidFill>
                    <a:schemeClr val="dk1"/>
                  </a:solidFill>
                </a:endParaRPr>
              </a:p>
              <a:p>
                <a:pPr indent="0" lvl="0" marL="0" rtl="0" algn="l">
                  <a:spcBef>
                    <a:spcPts val="0"/>
                  </a:spcBef>
                  <a:spcAft>
                    <a:spcPts val="0"/>
                  </a:spcAft>
                  <a:buNone/>
                </a:pPr>
                <a:r>
                  <a:rPr lang="en">
                    <a:solidFill>
                      <a:schemeClr val="dk1"/>
                    </a:solidFill>
                  </a:rPr>
                  <a:t>𝛿</a:t>
                </a:r>
                <a:r>
                  <a:rPr baseline="30000" lang="en">
                    <a:solidFill>
                      <a:schemeClr val="dk1"/>
                    </a:solidFill>
                  </a:rPr>
                  <a:t> </a:t>
                </a:r>
                <a:r>
                  <a:rPr b="1" lang="en">
                    <a:solidFill>
                      <a:schemeClr val="dk1"/>
                    </a:solidFill>
                  </a:rPr>
                  <a:t>b</a:t>
                </a:r>
                <a:r>
                  <a:rPr baseline="30000" lang="en">
                    <a:solidFill>
                      <a:schemeClr val="dk1"/>
                    </a:solidFill>
                  </a:rPr>
                  <a:t>(</a:t>
                </a:r>
                <a:r>
                  <a:rPr b="1" baseline="30000" lang="en">
                    <a:solidFill>
                      <a:srgbClr val="949AF8"/>
                    </a:solidFill>
                  </a:rPr>
                  <a:t>2</a:t>
                </a:r>
                <a:r>
                  <a:rPr baseline="30000" lang="en">
                    <a:solidFill>
                      <a:schemeClr val="dk1"/>
                    </a:solidFill>
                  </a:rPr>
                  <a:t>) </a:t>
                </a:r>
                <a:endParaRPr/>
              </a:p>
            </p:txBody>
          </p:sp>
          <p:cxnSp>
            <p:nvCxnSpPr>
              <p:cNvPr id="1011" name="Google Shape;1011;p41"/>
              <p:cNvCxnSpPr>
                <a:stCxn id="1010" idx="1"/>
                <a:endCxn id="1010" idx="3"/>
              </p:cNvCxnSpPr>
              <p:nvPr/>
            </p:nvCxnSpPr>
            <p:spPr>
              <a:xfrm>
                <a:off x="2877590" y="1795150"/>
                <a:ext cx="619800" cy="0"/>
              </a:xfrm>
              <a:prstGeom prst="straightConnector1">
                <a:avLst/>
              </a:prstGeom>
              <a:noFill/>
              <a:ln cap="flat" cmpd="sng" w="9525">
                <a:solidFill>
                  <a:schemeClr val="dk2"/>
                </a:solidFill>
                <a:prstDash val="solid"/>
                <a:round/>
                <a:headEnd len="med" w="med" type="none"/>
                <a:tailEnd len="med" w="med" type="none"/>
              </a:ln>
            </p:spPr>
          </p:cxnSp>
        </p:grpSp>
        <p:sp>
          <p:nvSpPr>
            <p:cNvPr id="1012" name="Google Shape;1012;p41"/>
            <p:cNvSpPr txBox="1"/>
            <p:nvPr/>
          </p:nvSpPr>
          <p:spPr>
            <a:xfrm>
              <a:off x="7587025" y="3544750"/>
              <a:ext cx="1021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aseline="30000" lang="en">
                  <a:solidFill>
                    <a:schemeClr val="dk1"/>
                  </a:solidFill>
                </a:rPr>
                <a:t> </a:t>
              </a:r>
              <a:r>
                <a:rPr b="1" lang="en">
                  <a:solidFill>
                    <a:schemeClr val="dk1"/>
                  </a:solidFill>
                </a:rPr>
                <a:t>W</a:t>
              </a:r>
              <a:r>
                <a:rPr baseline="30000" lang="en">
                  <a:solidFill>
                    <a:schemeClr val="dk1"/>
                  </a:solidFill>
                </a:rPr>
                <a:t>(</a:t>
              </a:r>
              <a:r>
                <a:rPr b="1" baseline="30000" lang="en">
                  <a:solidFill>
                    <a:srgbClr val="949AF8"/>
                  </a:solidFill>
                </a:rPr>
                <a:t>3</a:t>
              </a:r>
              <a:r>
                <a:rPr baseline="30000" lang="en">
                  <a:solidFill>
                    <a:schemeClr val="dk1"/>
                  </a:solidFill>
                </a:rPr>
                <a:t>)</a:t>
              </a:r>
              <a:r>
                <a:rPr lang="en">
                  <a:solidFill>
                    <a:schemeClr val="dk2"/>
                  </a:solidFill>
                </a:rPr>
                <a:t>(</a:t>
              </a:r>
              <a:r>
                <a:rPr b="1" lang="en">
                  <a:solidFill>
                    <a:schemeClr val="dk2"/>
                  </a:solidFill>
                </a:rPr>
                <a:t>ɸ</a:t>
              </a:r>
              <a:r>
                <a:rPr lang="en">
                  <a:solidFill>
                    <a:schemeClr val="dk2"/>
                  </a:solidFill>
                </a:rPr>
                <a:t> </a:t>
              </a:r>
              <a:r>
                <a:rPr baseline="30000" lang="en">
                  <a:solidFill>
                    <a:schemeClr val="dk2"/>
                  </a:solidFill>
                </a:rPr>
                <a:t>(2) </a:t>
              </a:r>
              <a:r>
                <a:rPr lang="en">
                  <a:solidFill>
                    <a:schemeClr val="dk2"/>
                  </a:solidFill>
                </a:rPr>
                <a:t>)</a:t>
              </a:r>
              <a:r>
                <a:rPr b="1" lang="en">
                  <a:solidFill>
                    <a:schemeClr val="dk2"/>
                  </a:solidFill>
                </a:rPr>
                <a:t>′</a:t>
              </a:r>
              <a:endParaRPr/>
            </a:p>
          </p:txBody>
        </p:sp>
      </p:grpSp>
      <p:sp>
        <p:nvSpPr>
          <p:cNvPr id="1013" name="Google Shape;1013;p41"/>
          <p:cNvSpPr txBox="1"/>
          <p:nvPr/>
        </p:nvSpPr>
        <p:spPr>
          <a:xfrm>
            <a:off x="2310500" y="4262050"/>
            <a:ext cx="5841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You can see that these chains are getting longer and longer… this is where the vanishing gradient comes into play </a:t>
            </a:r>
            <a:endParaRPr/>
          </a:p>
        </p:txBody>
      </p:sp>
      <p:sp>
        <p:nvSpPr>
          <p:cNvPr id="1014" name="Google Shape;1014;p41"/>
          <p:cNvSpPr txBox="1"/>
          <p:nvPr/>
        </p:nvSpPr>
        <p:spPr>
          <a:xfrm>
            <a:off x="228600" y="228600"/>
            <a:ext cx="2082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2"/>
                </a:solidFill>
                <a:latin typeface="Staatliches"/>
                <a:ea typeface="Staatliches"/>
                <a:cs typeface="Staatliches"/>
                <a:sym typeface="Staatliches"/>
              </a:rPr>
              <a:t>backpropagation</a:t>
            </a:r>
            <a:endParaRPr sz="2200">
              <a:latin typeface="Staatliches"/>
              <a:ea typeface="Staatliches"/>
              <a:cs typeface="Staatliches"/>
              <a:sym typeface="Staatliche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42"/>
          <p:cNvSpPr txBox="1"/>
          <p:nvPr/>
        </p:nvSpPr>
        <p:spPr>
          <a:xfrm>
            <a:off x="628425" y="1145125"/>
            <a:ext cx="7938600" cy="950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For deep networks, we get really long chains:</a:t>
            </a:r>
            <a:endParaRPr>
              <a:solidFill>
                <a:schemeClr val="dk2"/>
              </a:solidFill>
            </a:endParaRPr>
          </a:p>
        </p:txBody>
      </p:sp>
      <p:grpSp>
        <p:nvGrpSpPr>
          <p:cNvPr id="1020" name="Google Shape;1020;p42"/>
          <p:cNvGrpSpPr/>
          <p:nvPr/>
        </p:nvGrpSpPr>
        <p:grpSpPr>
          <a:xfrm>
            <a:off x="1848525" y="1366950"/>
            <a:ext cx="5705375" cy="615600"/>
            <a:chOff x="1391325" y="1214550"/>
            <a:chExt cx="5705375" cy="615600"/>
          </a:xfrm>
        </p:grpSpPr>
        <p:grpSp>
          <p:nvGrpSpPr>
            <p:cNvPr id="1021" name="Google Shape;1021;p42"/>
            <p:cNvGrpSpPr/>
            <p:nvPr/>
          </p:nvGrpSpPr>
          <p:grpSpPr>
            <a:xfrm>
              <a:off x="1391325" y="1214550"/>
              <a:ext cx="595200" cy="615600"/>
              <a:chOff x="2877600" y="1487350"/>
              <a:chExt cx="595200" cy="615600"/>
            </a:xfrm>
          </p:grpSpPr>
          <p:sp>
            <p:nvSpPr>
              <p:cNvPr id="1022" name="Google Shape;1022;p42"/>
              <p:cNvSpPr txBox="1"/>
              <p:nvPr/>
            </p:nvSpPr>
            <p:spPr>
              <a:xfrm>
                <a:off x="2877600" y="1487350"/>
                <a:ext cx="595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 𝛿</a:t>
                </a:r>
                <a:r>
                  <a:rPr b="1" lang="en">
                    <a:solidFill>
                      <a:schemeClr val="dk1"/>
                    </a:solidFill>
                  </a:rPr>
                  <a:t>C</a:t>
                </a:r>
                <a:endParaRPr b="1">
                  <a:solidFill>
                    <a:schemeClr val="dk1"/>
                  </a:solidFill>
                </a:endParaRPr>
              </a:p>
              <a:p>
                <a:pPr indent="0" lvl="0" marL="0" rtl="0" algn="l">
                  <a:spcBef>
                    <a:spcPts val="0"/>
                  </a:spcBef>
                  <a:spcAft>
                    <a:spcPts val="0"/>
                  </a:spcAft>
                  <a:buNone/>
                </a:pPr>
                <a:r>
                  <a:rPr lang="en">
                    <a:solidFill>
                      <a:schemeClr val="dk1"/>
                    </a:solidFill>
                  </a:rPr>
                  <a:t>𝛿</a:t>
                </a:r>
                <a:r>
                  <a:rPr b="1" lang="en">
                    <a:solidFill>
                      <a:schemeClr val="dk1"/>
                    </a:solidFill>
                  </a:rPr>
                  <a:t>W</a:t>
                </a:r>
                <a:r>
                  <a:rPr baseline="30000" lang="en">
                    <a:solidFill>
                      <a:schemeClr val="dk1"/>
                    </a:solidFill>
                  </a:rPr>
                  <a:t>(</a:t>
                </a:r>
                <a:r>
                  <a:rPr b="1" baseline="30000" lang="en">
                    <a:solidFill>
                      <a:srgbClr val="949AF8"/>
                    </a:solidFill>
                  </a:rPr>
                  <a:t>j</a:t>
                </a:r>
                <a:r>
                  <a:rPr baseline="30000" lang="en">
                    <a:solidFill>
                      <a:schemeClr val="dk1"/>
                    </a:solidFill>
                  </a:rPr>
                  <a:t>) </a:t>
                </a:r>
                <a:endParaRPr/>
              </a:p>
            </p:txBody>
          </p:sp>
          <p:cxnSp>
            <p:nvCxnSpPr>
              <p:cNvPr id="1023" name="Google Shape;1023;p42"/>
              <p:cNvCxnSpPr>
                <a:stCxn id="1022" idx="1"/>
                <a:endCxn id="1022" idx="3"/>
              </p:cNvCxnSpPr>
              <p:nvPr/>
            </p:nvCxnSpPr>
            <p:spPr>
              <a:xfrm>
                <a:off x="2877600" y="1795150"/>
                <a:ext cx="595200" cy="0"/>
              </a:xfrm>
              <a:prstGeom prst="straightConnector1">
                <a:avLst/>
              </a:prstGeom>
              <a:noFill/>
              <a:ln cap="flat" cmpd="sng" w="9525">
                <a:solidFill>
                  <a:schemeClr val="dk2"/>
                </a:solidFill>
                <a:prstDash val="solid"/>
                <a:round/>
                <a:headEnd len="med" w="med" type="none"/>
                <a:tailEnd len="med" w="med" type="none"/>
              </a:ln>
            </p:spPr>
          </p:cxnSp>
        </p:grpSp>
        <p:sp>
          <p:nvSpPr>
            <p:cNvPr id="1024" name="Google Shape;1024;p42"/>
            <p:cNvSpPr txBox="1"/>
            <p:nvPr/>
          </p:nvSpPr>
          <p:spPr>
            <a:xfrm>
              <a:off x="2011025" y="1322250"/>
              <a:ext cx="28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a:t>
              </a:r>
              <a:endParaRPr/>
            </a:p>
          </p:txBody>
        </p:sp>
        <p:grpSp>
          <p:nvGrpSpPr>
            <p:cNvPr id="1025" name="Google Shape;1025;p42"/>
            <p:cNvGrpSpPr/>
            <p:nvPr/>
          </p:nvGrpSpPr>
          <p:grpSpPr>
            <a:xfrm>
              <a:off x="2427088" y="1214550"/>
              <a:ext cx="413008" cy="615600"/>
              <a:chOff x="2877605" y="1487350"/>
              <a:chExt cx="561000" cy="615600"/>
            </a:xfrm>
          </p:grpSpPr>
          <p:sp>
            <p:nvSpPr>
              <p:cNvPr id="1026" name="Google Shape;1026;p42"/>
              <p:cNvSpPr txBox="1"/>
              <p:nvPr/>
            </p:nvSpPr>
            <p:spPr>
              <a:xfrm>
                <a:off x="2877605" y="1487350"/>
                <a:ext cx="561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𝛿</a:t>
                </a:r>
                <a:r>
                  <a:rPr b="1" lang="en">
                    <a:solidFill>
                      <a:schemeClr val="dk1"/>
                    </a:solidFill>
                  </a:rPr>
                  <a:t>C</a:t>
                </a:r>
                <a:endParaRPr b="1">
                  <a:solidFill>
                    <a:schemeClr val="dk1"/>
                  </a:solidFill>
                </a:endParaRPr>
              </a:p>
              <a:p>
                <a:pPr indent="0" lvl="0" marL="0" rtl="0" algn="l">
                  <a:spcBef>
                    <a:spcPts val="0"/>
                  </a:spcBef>
                  <a:spcAft>
                    <a:spcPts val="0"/>
                  </a:spcAft>
                  <a:buNone/>
                </a:pPr>
                <a:r>
                  <a:rPr lang="en">
                    <a:solidFill>
                      <a:schemeClr val="dk1"/>
                    </a:solidFill>
                  </a:rPr>
                  <a:t>𝛿</a:t>
                </a:r>
                <a:r>
                  <a:rPr b="1" lang="en">
                    <a:solidFill>
                      <a:srgbClr val="949AF8"/>
                    </a:solidFill>
                  </a:rPr>
                  <a:t>y</a:t>
                </a:r>
                <a:r>
                  <a:rPr baseline="30000" lang="en">
                    <a:solidFill>
                      <a:schemeClr val="dk1"/>
                    </a:solidFill>
                  </a:rPr>
                  <a:t> </a:t>
                </a:r>
                <a:endParaRPr/>
              </a:p>
            </p:txBody>
          </p:sp>
          <p:cxnSp>
            <p:nvCxnSpPr>
              <p:cNvPr id="1027" name="Google Shape;1027;p42"/>
              <p:cNvCxnSpPr>
                <a:stCxn id="1026" idx="1"/>
                <a:endCxn id="1026" idx="3"/>
              </p:cNvCxnSpPr>
              <p:nvPr/>
            </p:nvCxnSpPr>
            <p:spPr>
              <a:xfrm>
                <a:off x="2877605" y="1795150"/>
                <a:ext cx="561000" cy="0"/>
              </a:xfrm>
              <a:prstGeom prst="straightConnector1">
                <a:avLst/>
              </a:prstGeom>
              <a:noFill/>
              <a:ln cap="flat" cmpd="sng" w="9525">
                <a:solidFill>
                  <a:schemeClr val="dk2"/>
                </a:solidFill>
                <a:prstDash val="solid"/>
                <a:round/>
                <a:headEnd len="med" w="med" type="none"/>
                <a:tailEnd len="med" w="med" type="none"/>
              </a:ln>
            </p:spPr>
          </p:cxnSp>
        </p:grpSp>
        <p:sp>
          <p:nvSpPr>
            <p:cNvPr id="1028" name="Google Shape;1028;p42"/>
            <p:cNvSpPr txBox="1"/>
            <p:nvPr/>
          </p:nvSpPr>
          <p:spPr>
            <a:xfrm>
              <a:off x="2808050" y="1290750"/>
              <a:ext cx="717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a:t>
              </a:r>
              <a:r>
                <a:rPr b="1" lang="en">
                  <a:solidFill>
                    <a:schemeClr val="dk2"/>
                  </a:solidFill>
                </a:rPr>
                <a:t>ɸ</a:t>
              </a:r>
              <a:r>
                <a:rPr lang="en">
                  <a:solidFill>
                    <a:schemeClr val="dk2"/>
                  </a:solidFill>
                </a:rPr>
                <a:t> </a:t>
              </a:r>
              <a:r>
                <a:rPr baseline="30000" lang="en">
                  <a:solidFill>
                    <a:schemeClr val="dk2"/>
                  </a:solidFill>
                </a:rPr>
                <a:t>(k) </a:t>
              </a:r>
              <a:r>
                <a:rPr lang="en">
                  <a:solidFill>
                    <a:schemeClr val="dk2"/>
                  </a:solidFill>
                </a:rPr>
                <a:t>)</a:t>
              </a:r>
              <a:r>
                <a:rPr b="1" lang="en">
                  <a:solidFill>
                    <a:schemeClr val="dk2"/>
                  </a:solidFill>
                </a:rPr>
                <a:t>′</a:t>
              </a:r>
              <a:endParaRPr b="1"/>
            </a:p>
          </p:txBody>
        </p:sp>
        <p:sp>
          <p:nvSpPr>
            <p:cNvPr id="1029" name="Google Shape;1029;p42"/>
            <p:cNvSpPr txBox="1"/>
            <p:nvPr/>
          </p:nvSpPr>
          <p:spPr>
            <a:xfrm>
              <a:off x="3462500" y="1290750"/>
              <a:ext cx="126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aseline="30000" lang="en">
                  <a:solidFill>
                    <a:schemeClr val="dk1"/>
                  </a:solidFill>
                </a:rPr>
                <a:t> </a:t>
              </a:r>
              <a:r>
                <a:rPr b="1" lang="en">
                  <a:solidFill>
                    <a:schemeClr val="dk1"/>
                  </a:solidFill>
                </a:rPr>
                <a:t>W</a:t>
              </a:r>
              <a:r>
                <a:rPr baseline="30000" lang="en">
                  <a:solidFill>
                    <a:schemeClr val="dk1"/>
                  </a:solidFill>
                </a:rPr>
                <a:t>(</a:t>
              </a:r>
              <a:r>
                <a:rPr b="1" baseline="30000" lang="en">
                  <a:solidFill>
                    <a:srgbClr val="949AF8"/>
                  </a:solidFill>
                </a:rPr>
                <a:t>k</a:t>
              </a:r>
              <a:r>
                <a:rPr baseline="30000" lang="en">
                  <a:solidFill>
                    <a:schemeClr val="dk1"/>
                  </a:solidFill>
                </a:rPr>
                <a:t>)</a:t>
              </a:r>
              <a:r>
                <a:rPr lang="en">
                  <a:solidFill>
                    <a:schemeClr val="dk2"/>
                  </a:solidFill>
                </a:rPr>
                <a:t>(</a:t>
              </a:r>
              <a:r>
                <a:rPr b="1" lang="en">
                  <a:solidFill>
                    <a:schemeClr val="dk2"/>
                  </a:solidFill>
                </a:rPr>
                <a:t>ɸ</a:t>
              </a:r>
              <a:r>
                <a:rPr lang="en">
                  <a:solidFill>
                    <a:schemeClr val="dk2"/>
                  </a:solidFill>
                </a:rPr>
                <a:t> </a:t>
              </a:r>
              <a:r>
                <a:rPr baseline="30000" lang="en">
                  <a:solidFill>
                    <a:schemeClr val="dk2"/>
                  </a:solidFill>
                </a:rPr>
                <a:t>(k-1) </a:t>
              </a:r>
              <a:r>
                <a:rPr lang="en">
                  <a:solidFill>
                    <a:schemeClr val="dk2"/>
                  </a:solidFill>
                </a:rPr>
                <a:t>)</a:t>
              </a:r>
              <a:r>
                <a:rPr b="1" lang="en">
                  <a:solidFill>
                    <a:schemeClr val="dk2"/>
                  </a:solidFill>
                </a:rPr>
                <a:t>′</a:t>
              </a:r>
              <a:endParaRPr/>
            </a:p>
          </p:txBody>
        </p:sp>
        <p:sp>
          <p:nvSpPr>
            <p:cNvPr id="1030" name="Google Shape;1030;p42"/>
            <p:cNvSpPr txBox="1"/>
            <p:nvPr/>
          </p:nvSpPr>
          <p:spPr>
            <a:xfrm>
              <a:off x="6607700" y="1290750"/>
              <a:ext cx="48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aseline="30000" lang="en">
                  <a:solidFill>
                    <a:schemeClr val="dk1"/>
                  </a:solidFill>
                </a:rPr>
                <a:t> </a:t>
              </a:r>
              <a:r>
                <a:rPr b="1" lang="en">
                  <a:solidFill>
                    <a:srgbClr val="FF00FF"/>
                  </a:solidFill>
                </a:rPr>
                <a:t>h</a:t>
              </a:r>
              <a:r>
                <a:rPr baseline="30000" lang="en">
                  <a:solidFill>
                    <a:srgbClr val="FF00FF"/>
                  </a:solidFill>
                </a:rPr>
                <a:t>(j)</a:t>
              </a:r>
              <a:endParaRPr/>
            </a:p>
          </p:txBody>
        </p:sp>
        <p:sp>
          <p:nvSpPr>
            <p:cNvPr id="1031" name="Google Shape;1031;p42"/>
            <p:cNvSpPr txBox="1"/>
            <p:nvPr/>
          </p:nvSpPr>
          <p:spPr>
            <a:xfrm>
              <a:off x="4414650" y="1290750"/>
              <a:ext cx="126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aseline="30000" lang="en">
                  <a:solidFill>
                    <a:schemeClr val="dk1"/>
                  </a:solidFill>
                </a:rPr>
                <a:t> </a:t>
              </a:r>
              <a:r>
                <a:rPr b="1" lang="en">
                  <a:solidFill>
                    <a:schemeClr val="dk1"/>
                  </a:solidFill>
                </a:rPr>
                <a:t>W</a:t>
              </a:r>
              <a:r>
                <a:rPr baseline="30000" lang="en">
                  <a:solidFill>
                    <a:schemeClr val="dk1"/>
                  </a:solidFill>
                </a:rPr>
                <a:t>(</a:t>
              </a:r>
              <a:r>
                <a:rPr b="1" baseline="30000" lang="en">
                  <a:solidFill>
                    <a:srgbClr val="949AF8"/>
                  </a:solidFill>
                </a:rPr>
                <a:t>k-1</a:t>
              </a:r>
              <a:r>
                <a:rPr baseline="30000" lang="en">
                  <a:solidFill>
                    <a:schemeClr val="dk1"/>
                  </a:solidFill>
                </a:rPr>
                <a:t>)</a:t>
              </a:r>
              <a:r>
                <a:rPr lang="en">
                  <a:solidFill>
                    <a:schemeClr val="dk2"/>
                  </a:solidFill>
                </a:rPr>
                <a:t>(</a:t>
              </a:r>
              <a:r>
                <a:rPr b="1" lang="en">
                  <a:solidFill>
                    <a:schemeClr val="dk2"/>
                  </a:solidFill>
                </a:rPr>
                <a:t>ɸ</a:t>
              </a:r>
              <a:r>
                <a:rPr lang="en">
                  <a:solidFill>
                    <a:schemeClr val="dk2"/>
                  </a:solidFill>
                </a:rPr>
                <a:t> </a:t>
              </a:r>
              <a:r>
                <a:rPr baseline="30000" lang="en">
                  <a:solidFill>
                    <a:schemeClr val="dk2"/>
                  </a:solidFill>
                </a:rPr>
                <a:t>(k-2) </a:t>
              </a:r>
              <a:r>
                <a:rPr lang="en">
                  <a:solidFill>
                    <a:schemeClr val="dk2"/>
                  </a:solidFill>
                </a:rPr>
                <a:t>)</a:t>
              </a:r>
              <a:r>
                <a:rPr b="1" lang="en">
                  <a:solidFill>
                    <a:schemeClr val="dk2"/>
                  </a:solidFill>
                </a:rPr>
                <a:t>′</a:t>
              </a:r>
              <a:endParaRPr/>
            </a:p>
          </p:txBody>
        </p:sp>
        <p:sp>
          <p:nvSpPr>
            <p:cNvPr id="1032" name="Google Shape;1032;p42"/>
            <p:cNvSpPr txBox="1"/>
            <p:nvPr/>
          </p:nvSpPr>
          <p:spPr>
            <a:xfrm>
              <a:off x="5597825" y="1290750"/>
              <a:ext cx="413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a:t>
              </a:r>
              <a:endParaRPr b="1"/>
            </a:p>
          </p:txBody>
        </p:sp>
        <p:sp>
          <p:nvSpPr>
            <p:cNvPr id="1033" name="Google Shape;1033;p42"/>
            <p:cNvSpPr txBox="1"/>
            <p:nvPr/>
          </p:nvSpPr>
          <p:spPr>
            <a:xfrm>
              <a:off x="5884350" y="1290750"/>
              <a:ext cx="85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a:t>
              </a:r>
              <a:r>
                <a:rPr b="1" lang="en">
                  <a:solidFill>
                    <a:schemeClr val="dk2"/>
                  </a:solidFill>
                </a:rPr>
                <a:t>ɸ</a:t>
              </a:r>
              <a:r>
                <a:rPr lang="en">
                  <a:solidFill>
                    <a:schemeClr val="dk2"/>
                  </a:solidFill>
                </a:rPr>
                <a:t> </a:t>
              </a:r>
              <a:r>
                <a:rPr baseline="30000" lang="en">
                  <a:solidFill>
                    <a:schemeClr val="dk2"/>
                  </a:solidFill>
                </a:rPr>
                <a:t>(j) </a:t>
              </a:r>
              <a:r>
                <a:rPr lang="en">
                  <a:solidFill>
                    <a:schemeClr val="dk2"/>
                  </a:solidFill>
                </a:rPr>
                <a:t>)</a:t>
              </a:r>
              <a:r>
                <a:rPr b="1" lang="en">
                  <a:solidFill>
                    <a:schemeClr val="dk2"/>
                  </a:solidFill>
                </a:rPr>
                <a:t>′</a:t>
              </a:r>
              <a:endParaRPr/>
            </a:p>
          </p:txBody>
        </p:sp>
      </p:grpSp>
      <p:sp>
        <p:nvSpPr>
          <p:cNvPr id="1034" name="Google Shape;1034;p42"/>
          <p:cNvSpPr txBox="1"/>
          <p:nvPr/>
        </p:nvSpPr>
        <p:spPr>
          <a:xfrm>
            <a:off x="4845400" y="406225"/>
            <a:ext cx="3070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If an activation function has zero </a:t>
            </a:r>
            <a:r>
              <a:rPr lang="en" sz="1200">
                <a:solidFill>
                  <a:schemeClr val="dk2"/>
                </a:solidFill>
              </a:rPr>
              <a:t>derivative</a:t>
            </a:r>
            <a:r>
              <a:rPr lang="en" sz="1200">
                <a:solidFill>
                  <a:schemeClr val="dk2"/>
                </a:solidFill>
              </a:rPr>
              <a:t> later in the network, early neurons will have 0 for their partials</a:t>
            </a:r>
            <a:endParaRPr sz="1200">
              <a:solidFill>
                <a:schemeClr val="dk2"/>
              </a:solidFill>
            </a:endParaRPr>
          </a:p>
        </p:txBody>
      </p:sp>
      <p:sp>
        <p:nvSpPr>
          <p:cNvPr id="1035" name="Google Shape;1035;p42"/>
          <p:cNvSpPr txBox="1"/>
          <p:nvPr/>
        </p:nvSpPr>
        <p:spPr>
          <a:xfrm>
            <a:off x="4858250" y="1812800"/>
            <a:ext cx="4807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meaning</a:t>
            </a:r>
            <a:r>
              <a:rPr lang="en" sz="1200">
                <a:solidFill>
                  <a:schemeClr val="dk2"/>
                </a:solidFill>
              </a:rPr>
              <a:t> the beginning of the network stops learning</a:t>
            </a:r>
            <a:endParaRPr sz="1200">
              <a:solidFill>
                <a:schemeClr val="dk2"/>
              </a:solidFill>
            </a:endParaRPr>
          </a:p>
        </p:txBody>
      </p:sp>
      <p:grpSp>
        <p:nvGrpSpPr>
          <p:cNvPr id="1036" name="Google Shape;1036;p42"/>
          <p:cNvGrpSpPr/>
          <p:nvPr/>
        </p:nvGrpSpPr>
        <p:grpSpPr>
          <a:xfrm>
            <a:off x="180450" y="2095500"/>
            <a:ext cx="4378450" cy="2782650"/>
            <a:chOff x="180450" y="2095500"/>
            <a:chExt cx="4378450" cy="2782650"/>
          </a:xfrm>
        </p:grpSpPr>
        <p:sp>
          <p:nvSpPr>
            <p:cNvPr id="1037" name="Google Shape;1037;p42"/>
            <p:cNvSpPr txBox="1"/>
            <p:nvPr/>
          </p:nvSpPr>
          <p:spPr>
            <a:xfrm>
              <a:off x="203800" y="2495550"/>
              <a:ext cx="4355100" cy="2382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2"/>
                </a:buClr>
                <a:buSzPts val="1400"/>
                <a:buChar char="●"/>
              </a:pPr>
              <a:r>
                <a:rPr lang="en">
                  <a:solidFill>
                    <a:schemeClr val="dk2"/>
                  </a:solidFill>
                </a:rPr>
                <a:t>Limited learning capacity</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a:solidFill>
                    <a:schemeClr val="dk2"/>
                  </a:solidFill>
                </a:rPr>
                <a:t>Struggles with long-term dependencies</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a:solidFill>
                    <a:schemeClr val="dk2"/>
                  </a:solidFill>
                </a:rPr>
                <a:t>Architectural constraints</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a:solidFill>
                    <a:schemeClr val="dk2"/>
                  </a:solidFill>
                </a:rPr>
                <a:t>Slow, unstable training</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a:solidFill>
                    <a:schemeClr val="dk2"/>
                  </a:solidFill>
                </a:rPr>
                <a:t>Numerical underflow</a:t>
              </a:r>
              <a:r>
                <a:rPr lang="en">
                  <a:solidFill>
                    <a:schemeClr val="dk2"/>
                  </a:solidFill>
                </a:rPr>
                <a:t> from </a:t>
              </a:r>
              <a:r>
                <a:rPr lang="en">
                  <a:solidFill>
                    <a:schemeClr val="dk2"/>
                  </a:solidFill>
                </a:rPr>
                <a:t>repeated small gradients</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a:solidFill>
                    <a:schemeClr val="dk2"/>
                  </a:solidFill>
                </a:rPr>
                <a:t>Vanishing step sizes toward minima</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a:solidFill>
                    <a:schemeClr val="dk2"/>
                  </a:solidFill>
                </a:rPr>
                <a:t>Shallow layers learn more than deeper ones, limiting model depth</a:t>
              </a:r>
              <a:endParaRPr>
                <a:solidFill>
                  <a:schemeClr val="dk2"/>
                </a:solidFill>
              </a:endParaRPr>
            </a:p>
          </p:txBody>
        </p:sp>
        <p:sp>
          <p:nvSpPr>
            <p:cNvPr id="1038" name="Google Shape;1038;p42"/>
            <p:cNvSpPr txBox="1"/>
            <p:nvPr/>
          </p:nvSpPr>
          <p:spPr>
            <a:xfrm>
              <a:off x="180450" y="2095500"/>
              <a:ext cx="25602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2400">
                  <a:solidFill>
                    <a:schemeClr val="dk2"/>
                  </a:solidFill>
                  <a:latin typeface="Staatliches"/>
                  <a:ea typeface="Staatliches"/>
                  <a:cs typeface="Staatliches"/>
                  <a:sym typeface="Staatliches"/>
                </a:rPr>
                <a:t>Why is this an issue?</a:t>
              </a:r>
              <a:endParaRPr sz="2400">
                <a:latin typeface="Staatliches"/>
                <a:ea typeface="Staatliches"/>
                <a:cs typeface="Staatliches"/>
                <a:sym typeface="Staatliches"/>
              </a:endParaRPr>
            </a:p>
          </p:txBody>
        </p:sp>
      </p:grpSp>
      <p:sp>
        <p:nvSpPr>
          <p:cNvPr id="1039" name="Google Shape;1039;p42"/>
          <p:cNvSpPr txBox="1"/>
          <p:nvPr/>
        </p:nvSpPr>
        <p:spPr>
          <a:xfrm>
            <a:off x="602400" y="682400"/>
            <a:ext cx="4882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2"/>
                </a:solidFill>
                <a:latin typeface="Staatliches"/>
                <a:ea typeface="Staatliches"/>
                <a:cs typeface="Staatliches"/>
                <a:sym typeface="Staatliches"/>
              </a:rPr>
              <a:t>Vanishing Gradient Problem</a:t>
            </a:r>
            <a:endParaRPr/>
          </a:p>
        </p:txBody>
      </p:sp>
      <p:grpSp>
        <p:nvGrpSpPr>
          <p:cNvPr id="1040" name="Google Shape;1040;p42"/>
          <p:cNvGrpSpPr/>
          <p:nvPr/>
        </p:nvGrpSpPr>
        <p:grpSpPr>
          <a:xfrm>
            <a:off x="4648200" y="2095500"/>
            <a:ext cx="4355100" cy="2782650"/>
            <a:chOff x="4648200" y="2095500"/>
            <a:chExt cx="4355100" cy="2782650"/>
          </a:xfrm>
        </p:grpSpPr>
        <p:sp>
          <p:nvSpPr>
            <p:cNvPr id="1041" name="Google Shape;1041;p42"/>
            <p:cNvSpPr txBox="1"/>
            <p:nvPr/>
          </p:nvSpPr>
          <p:spPr>
            <a:xfrm>
              <a:off x="4648200" y="2495550"/>
              <a:ext cx="4355100" cy="2382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2"/>
                </a:buClr>
                <a:buSzPts val="1400"/>
                <a:buChar char="●"/>
              </a:pPr>
              <a:r>
                <a:rPr b="1" lang="en">
                  <a:solidFill>
                    <a:schemeClr val="dk2"/>
                  </a:solidFill>
                </a:rPr>
                <a:t>Activation function</a:t>
              </a:r>
              <a:r>
                <a:rPr lang="en">
                  <a:solidFill>
                    <a:schemeClr val="dk2"/>
                  </a:solidFill>
                </a:rPr>
                <a:t> selection</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b="1" lang="en">
                  <a:solidFill>
                    <a:schemeClr val="dk2"/>
                  </a:solidFill>
                </a:rPr>
                <a:t>Initialize weights  &amp; biases</a:t>
              </a:r>
              <a:r>
                <a:rPr lang="en">
                  <a:solidFill>
                    <a:schemeClr val="dk2"/>
                  </a:solidFill>
                </a:rPr>
                <a:t>: (weights are the identity matrix; bias are all 0)</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b="1" lang="en">
                  <a:solidFill>
                    <a:schemeClr val="dk2"/>
                  </a:solidFill>
                </a:rPr>
                <a:t>Gates</a:t>
              </a:r>
              <a:r>
                <a:rPr lang="en">
                  <a:solidFill>
                    <a:schemeClr val="dk2"/>
                  </a:solidFill>
                </a:rPr>
                <a:t>: used in NN algorithms like LSTM and GRU where each layer has gates that control the flow of information. Drops irrelevant info (forget), stores relevant (store), filters it (update), then uses it in conjunction with backpropagation (output)</a:t>
              </a:r>
              <a:endParaRPr>
                <a:solidFill>
                  <a:schemeClr val="dk2"/>
                </a:solidFill>
              </a:endParaRPr>
            </a:p>
          </p:txBody>
        </p:sp>
        <p:sp>
          <p:nvSpPr>
            <p:cNvPr id="1042" name="Google Shape;1042;p42"/>
            <p:cNvSpPr txBox="1"/>
            <p:nvPr/>
          </p:nvSpPr>
          <p:spPr>
            <a:xfrm>
              <a:off x="4707999" y="2095500"/>
              <a:ext cx="31419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2400">
                  <a:solidFill>
                    <a:schemeClr val="dk2"/>
                  </a:solidFill>
                  <a:latin typeface="Staatliches"/>
                  <a:ea typeface="Staatliches"/>
                  <a:cs typeface="Staatliches"/>
                  <a:sym typeface="Staatliches"/>
                </a:rPr>
                <a:t>How to fix it</a:t>
              </a:r>
              <a:endParaRPr sz="2400">
                <a:latin typeface="Staatliches"/>
                <a:ea typeface="Staatliches"/>
                <a:cs typeface="Staatliches"/>
                <a:sym typeface="Staatliches"/>
              </a:endParaRPr>
            </a:p>
          </p:txBody>
        </p:sp>
      </p:grpSp>
      <p:sp>
        <p:nvSpPr>
          <p:cNvPr id="1043" name="Google Shape;1043;p42"/>
          <p:cNvSpPr/>
          <p:nvPr/>
        </p:nvSpPr>
        <p:spPr>
          <a:xfrm>
            <a:off x="4431705" y="717611"/>
            <a:ext cx="495900" cy="794375"/>
          </a:xfrm>
          <a:custGeom>
            <a:rect b="b" l="l" r="r" t="t"/>
            <a:pathLst>
              <a:path extrusionOk="0" h="31775" w="19836">
                <a:moveTo>
                  <a:pt x="19837" y="2303"/>
                </a:moveTo>
                <a:cubicBezTo>
                  <a:pt x="16722" y="2303"/>
                  <a:pt x="4082" y="-2609"/>
                  <a:pt x="1146" y="2303"/>
                </a:cubicBezTo>
                <a:cubicBezTo>
                  <a:pt x="-1789" y="7215"/>
                  <a:pt x="2044" y="26864"/>
                  <a:pt x="2224" y="31776"/>
                </a:cubicBezTo>
              </a:path>
            </a:pathLst>
          </a:custGeom>
          <a:noFill/>
          <a:ln cap="flat" cmpd="sng" w="9525">
            <a:solidFill>
              <a:schemeClr val="dk2"/>
            </a:solidFill>
            <a:prstDash val="solid"/>
            <a:round/>
            <a:headEnd len="med" w="med" type="none"/>
            <a:tailEnd len="med" w="med" type="stealth"/>
          </a:ln>
        </p:spPr>
      </p:sp>
      <p:sp>
        <p:nvSpPr>
          <p:cNvPr id="1044" name="Google Shape;1044;p42"/>
          <p:cNvSpPr/>
          <p:nvPr/>
        </p:nvSpPr>
        <p:spPr>
          <a:xfrm>
            <a:off x="6985375" y="856050"/>
            <a:ext cx="253100" cy="611025"/>
          </a:xfrm>
          <a:custGeom>
            <a:rect b="b" l="l" r="r" t="t"/>
            <a:pathLst>
              <a:path extrusionOk="0" h="24441" w="10124">
                <a:moveTo>
                  <a:pt x="0" y="0"/>
                </a:moveTo>
                <a:cubicBezTo>
                  <a:pt x="1498" y="1258"/>
                  <a:pt x="7309" y="3475"/>
                  <a:pt x="8986" y="7548"/>
                </a:cubicBezTo>
                <a:cubicBezTo>
                  <a:pt x="10663" y="11622"/>
                  <a:pt x="9884" y="21626"/>
                  <a:pt x="10064" y="24441"/>
                </a:cubicBezTo>
              </a:path>
            </a:pathLst>
          </a:custGeom>
          <a:noFill/>
          <a:ln cap="flat" cmpd="sng" w="9525">
            <a:solidFill>
              <a:schemeClr val="dk2"/>
            </a:solidFill>
            <a:prstDash val="solid"/>
            <a:round/>
            <a:headEnd len="med" w="med" type="none"/>
            <a:tailEnd len="med" w="med" type="stealth"/>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grpSp>
        <p:nvGrpSpPr>
          <p:cNvPr id="1049" name="Google Shape;1049;p43"/>
          <p:cNvGrpSpPr/>
          <p:nvPr/>
        </p:nvGrpSpPr>
        <p:grpSpPr>
          <a:xfrm>
            <a:off x="6535225" y="986775"/>
            <a:ext cx="1855800" cy="3031800"/>
            <a:chOff x="6611425" y="1443975"/>
            <a:chExt cx="1855800" cy="3031800"/>
          </a:xfrm>
        </p:grpSpPr>
        <p:sp>
          <p:nvSpPr>
            <p:cNvPr id="1050" name="Google Shape;1050;p43"/>
            <p:cNvSpPr txBox="1"/>
            <p:nvPr/>
          </p:nvSpPr>
          <p:spPr>
            <a:xfrm>
              <a:off x="6611425" y="1443975"/>
              <a:ext cx="18558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output layer</a:t>
              </a:r>
              <a:endParaRPr b="1">
                <a:solidFill>
                  <a:schemeClr val="dk1"/>
                </a:solidFill>
              </a:endParaRPr>
            </a:p>
          </p:txBody>
        </p:sp>
        <p:sp>
          <p:nvSpPr>
            <p:cNvPr id="1051" name="Google Shape;1051;p43"/>
            <p:cNvSpPr/>
            <p:nvPr/>
          </p:nvSpPr>
          <p:spPr>
            <a:xfrm>
              <a:off x="6785500" y="28070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1052" name="Google Shape;1052;p43"/>
          <p:cNvSpPr/>
          <p:nvPr/>
        </p:nvSpPr>
        <p:spPr>
          <a:xfrm>
            <a:off x="7872050" y="2452524"/>
            <a:ext cx="271800" cy="251100"/>
          </a:xfrm>
          <a:prstGeom prst="ellipse">
            <a:avLst/>
          </a:prstGeom>
          <a:solidFill>
            <a:srgbClr val="949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1053" name="Google Shape;1053;p43"/>
          <p:cNvCxnSpPr>
            <a:endCxn id="1052" idx="2"/>
          </p:cNvCxnSpPr>
          <p:nvPr/>
        </p:nvCxnSpPr>
        <p:spPr>
          <a:xfrm flipH="1" rot="10800000">
            <a:off x="7188050" y="2578074"/>
            <a:ext cx="684000" cy="3000"/>
          </a:xfrm>
          <a:prstGeom prst="straightConnector1">
            <a:avLst/>
          </a:prstGeom>
          <a:noFill/>
          <a:ln cap="flat" cmpd="sng" w="9525">
            <a:solidFill>
              <a:schemeClr val="dk2"/>
            </a:solidFill>
            <a:prstDash val="solid"/>
            <a:round/>
            <a:headEnd len="med" w="med" type="none"/>
            <a:tailEnd len="med" w="med" type="none"/>
          </a:ln>
        </p:spPr>
      </p:cxnSp>
      <p:sp>
        <p:nvSpPr>
          <p:cNvPr id="1054" name="Google Shape;1054;p43"/>
          <p:cNvSpPr txBox="1"/>
          <p:nvPr/>
        </p:nvSpPr>
        <p:spPr>
          <a:xfrm>
            <a:off x="7872075" y="2371650"/>
            <a:ext cx="27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ŷ</a:t>
            </a:r>
            <a:endParaRPr>
              <a:solidFill>
                <a:schemeClr val="lt1"/>
              </a:solidFill>
            </a:endParaRPr>
          </a:p>
        </p:txBody>
      </p:sp>
      <p:sp>
        <p:nvSpPr>
          <p:cNvPr id="1055" name="Google Shape;1055;p43"/>
          <p:cNvSpPr txBox="1"/>
          <p:nvPr/>
        </p:nvSpPr>
        <p:spPr>
          <a:xfrm>
            <a:off x="1014675" y="936325"/>
            <a:ext cx="5053500" cy="3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2"/>
                </a:solidFill>
              </a:rPr>
              <a:t>By changing the structure of the output layer, we can construct neural </a:t>
            </a:r>
            <a:r>
              <a:rPr lang="en">
                <a:solidFill>
                  <a:schemeClr val="dk2"/>
                </a:solidFill>
              </a:rPr>
              <a:t>networks</a:t>
            </a:r>
            <a:r>
              <a:rPr lang="en">
                <a:solidFill>
                  <a:schemeClr val="dk2"/>
                </a:solidFill>
              </a:rPr>
              <a:t> to do many tasks:</a:t>
            </a:r>
            <a:endParaRPr>
              <a:solidFill>
                <a:schemeClr val="dk2"/>
              </a:solidFill>
            </a:endParaRPr>
          </a:p>
          <a:p>
            <a:pPr indent="0" lvl="0" marL="0" rtl="0" algn="l">
              <a:lnSpc>
                <a:spcPct val="115000"/>
              </a:lnSpc>
              <a:spcBef>
                <a:spcPts val="1200"/>
              </a:spcBef>
              <a:spcAft>
                <a:spcPts val="0"/>
              </a:spcAft>
              <a:buNone/>
            </a:pPr>
            <a:r>
              <a:rPr lang="en">
                <a:solidFill>
                  <a:schemeClr val="dk2"/>
                </a:solidFill>
              </a:rPr>
              <a:t>Predict </a:t>
            </a:r>
            <a:r>
              <a:rPr b="1" lang="en">
                <a:solidFill>
                  <a:schemeClr val="dk2"/>
                </a:solidFill>
              </a:rPr>
              <a:t>continuous</a:t>
            </a:r>
            <a:r>
              <a:rPr lang="en">
                <a:solidFill>
                  <a:schemeClr val="dk2"/>
                </a:solidFill>
              </a:rPr>
              <a:t> target in the real numbers (regression)</a:t>
            </a:r>
            <a:endParaRPr>
              <a:solidFill>
                <a:schemeClr val="dk2"/>
              </a:solidFill>
            </a:endParaRPr>
          </a:p>
          <a:p>
            <a:pPr indent="0" lvl="0" marL="0" rtl="0" algn="l">
              <a:lnSpc>
                <a:spcPct val="115000"/>
              </a:lnSpc>
              <a:spcBef>
                <a:spcPts val="1200"/>
              </a:spcBef>
              <a:spcAft>
                <a:spcPts val="0"/>
              </a:spcAft>
              <a:buNone/>
            </a:pPr>
            <a:r>
              <a:rPr lang="en">
                <a:solidFill>
                  <a:schemeClr val="dk2"/>
                </a:solidFill>
              </a:rPr>
              <a:t>Predict </a:t>
            </a:r>
            <a:r>
              <a:rPr b="1" lang="en">
                <a:solidFill>
                  <a:schemeClr val="dk2"/>
                </a:solidFill>
              </a:rPr>
              <a:t>ordinal</a:t>
            </a:r>
            <a:r>
              <a:rPr lang="en">
                <a:solidFill>
                  <a:schemeClr val="dk2"/>
                </a:solidFill>
              </a:rPr>
              <a:t> target in the integers </a:t>
            </a:r>
            <a:endParaRPr>
              <a:solidFill>
                <a:schemeClr val="dk2"/>
              </a:solidFill>
            </a:endParaRPr>
          </a:p>
          <a:p>
            <a:pPr indent="0" lvl="0" marL="0" rtl="0" algn="l">
              <a:lnSpc>
                <a:spcPct val="115000"/>
              </a:lnSpc>
              <a:spcBef>
                <a:spcPts val="1200"/>
              </a:spcBef>
              <a:spcAft>
                <a:spcPts val="0"/>
              </a:spcAft>
              <a:buNone/>
            </a:pPr>
            <a:r>
              <a:rPr lang="en">
                <a:solidFill>
                  <a:schemeClr val="dk2"/>
                </a:solidFill>
              </a:rPr>
              <a:t>Predict </a:t>
            </a:r>
            <a:r>
              <a:rPr b="1" lang="en">
                <a:solidFill>
                  <a:schemeClr val="dk2"/>
                </a:solidFill>
              </a:rPr>
              <a:t>binary</a:t>
            </a:r>
            <a:r>
              <a:rPr lang="en">
                <a:solidFill>
                  <a:schemeClr val="dk2"/>
                </a:solidFill>
              </a:rPr>
              <a:t> target either 0 or 1 (binary classification)</a:t>
            </a:r>
            <a:endParaRPr>
              <a:solidFill>
                <a:schemeClr val="dk2"/>
              </a:solidFill>
            </a:endParaRPr>
          </a:p>
          <a:p>
            <a:pPr indent="0" lvl="0" marL="0" rtl="0" algn="l">
              <a:lnSpc>
                <a:spcPct val="115000"/>
              </a:lnSpc>
              <a:spcBef>
                <a:spcPts val="1200"/>
              </a:spcBef>
              <a:spcAft>
                <a:spcPts val="0"/>
              </a:spcAft>
              <a:buNone/>
            </a:pPr>
            <a:r>
              <a:rPr lang="en">
                <a:solidFill>
                  <a:schemeClr val="dk2"/>
                </a:solidFill>
              </a:rPr>
              <a:t>Predict</a:t>
            </a:r>
            <a:r>
              <a:rPr lang="en">
                <a:solidFill>
                  <a:schemeClr val="dk2"/>
                </a:solidFill>
              </a:rPr>
              <a:t> </a:t>
            </a:r>
            <a:r>
              <a:rPr b="1" lang="en">
                <a:solidFill>
                  <a:schemeClr val="dk2"/>
                </a:solidFill>
              </a:rPr>
              <a:t>categorical</a:t>
            </a:r>
            <a:r>
              <a:rPr lang="en">
                <a:solidFill>
                  <a:schemeClr val="dk2"/>
                </a:solidFill>
              </a:rPr>
              <a:t> target with 3+ classes (multiclass classification)</a:t>
            </a:r>
            <a:endParaRPr>
              <a:solidFill>
                <a:schemeClr val="dk2"/>
              </a:solidFill>
            </a:endParaRPr>
          </a:p>
          <a:p>
            <a:pPr indent="0" lvl="0" marL="0" rtl="0" algn="l">
              <a:lnSpc>
                <a:spcPct val="115000"/>
              </a:lnSpc>
              <a:spcBef>
                <a:spcPts val="1200"/>
              </a:spcBef>
              <a:spcAft>
                <a:spcPts val="0"/>
              </a:spcAft>
              <a:buNone/>
            </a:pPr>
            <a:r>
              <a:rPr lang="en">
                <a:solidFill>
                  <a:schemeClr val="dk2"/>
                </a:solidFill>
              </a:rPr>
              <a:t>Lots more! Can also use text and images for classification or generation (we’ll see more of this during deep learning)</a:t>
            </a:r>
            <a:endParaRPr>
              <a:solidFill>
                <a:schemeClr val="dk2"/>
              </a:solidFill>
            </a:endParaRPr>
          </a:p>
          <a:p>
            <a:pPr indent="0" lvl="0" marL="0" rtl="0" algn="l">
              <a:lnSpc>
                <a:spcPct val="115000"/>
              </a:lnSpc>
              <a:spcBef>
                <a:spcPts val="1200"/>
              </a:spcBef>
              <a:spcAft>
                <a:spcPts val="1200"/>
              </a:spcAft>
              <a:buNone/>
            </a:pPr>
            <a:r>
              <a:t/>
            </a:r>
            <a:endParaRPr>
              <a:solidFill>
                <a:schemeClr val="dk2"/>
              </a:solidFill>
            </a:endParaRPr>
          </a:p>
        </p:txBody>
      </p:sp>
      <p:sp>
        <p:nvSpPr>
          <p:cNvPr id="1056" name="Google Shape;1056;p43"/>
          <p:cNvSpPr txBox="1"/>
          <p:nvPr/>
        </p:nvSpPr>
        <p:spPr>
          <a:xfrm>
            <a:off x="6674763" y="2371650"/>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lt1"/>
                </a:solidFill>
              </a:rPr>
              <a:t>Z</a:t>
            </a:r>
            <a:r>
              <a:rPr lang="en">
                <a:solidFill>
                  <a:schemeClr val="lt1"/>
                </a:solidFill>
              </a:rPr>
              <a:t> </a:t>
            </a:r>
            <a:r>
              <a:rPr baseline="30000" lang="en">
                <a:solidFill>
                  <a:schemeClr val="lt1"/>
                </a:solidFill>
              </a:rPr>
              <a:t>(k)</a:t>
            </a:r>
            <a:endParaRPr>
              <a:solidFill>
                <a:schemeClr val="lt1"/>
              </a:solidFill>
            </a:endParaRPr>
          </a:p>
        </p:txBody>
      </p:sp>
      <p:sp>
        <p:nvSpPr>
          <p:cNvPr id="1057" name="Google Shape;1057;p43"/>
          <p:cNvSpPr/>
          <p:nvPr/>
        </p:nvSpPr>
        <p:spPr>
          <a:xfrm>
            <a:off x="1009775" y="1615350"/>
            <a:ext cx="4933200" cy="1779300"/>
          </a:xfrm>
          <a:prstGeom prst="rect">
            <a:avLst/>
          </a:prstGeom>
          <a:noFill/>
          <a:ln cap="flat" cmpd="sng" w="19050">
            <a:solidFill>
              <a:srgbClr val="949AF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44"/>
          <p:cNvSpPr txBox="1"/>
          <p:nvPr/>
        </p:nvSpPr>
        <p:spPr>
          <a:xfrm>
            <a:off x="1014675" y="707725"/>
            <a:ext cx="50535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a:solidFill>
                  <a:schemeClr val="dk2"/>
                </a:solidFill>
              </a:rPr>
              <a:t>If only one neuron in the last layer, then </a:t>
            </a:r>
            <a:r>
              <a:rPr b="1" lang="en">
                <a:solidFill>
                  <a:srgbClr val="1B91CA"/>
                </a:solidFill>
              </a:rPr>
              <a:t>Z</a:t>
            </a:r>
            <a:r>
              <a:rPr lang="en">
                <a:solidFill>
                  <a:srgbClr val="1B91CA"/>
                </a:solidFill>
              </a:rPr>
              <a:t> </a:t>
            </a:r>
            <a:r>
              <a:rPr baseline="30000" lang="en">
                <a:solidFill>
                  <a:srgbClr val="1B91CA"/>
                </a:solidFill>
              </a:rPr>
              <a:t>(k)</a:t>
            </a:r>
            <a:r>
              <a:rPr lang="en">
                <a:solidFill>
                  <a:schemeClr val="dk2"/>
                </a:solidFill>
              </a:rPr>
              <a:t> is a real number</a:t>
            </a:r>
            <a:endParaRPr>
              <a:solidFill>
                <a:schemeClr val="dk2"/>
              </a:solidFill>
            </a:endParaRPr>
          </a:p>
        </p:txBody>
      </p:sp>
      <p:sp>
        <p:nvSpPr>
          <p:cNvPr id="1063" name="Google Shape;1063;p44"/>
          <p:cNvSpPr txBox="1"/>
          <p:nvPr/>
        </p:nvSpPr>
        <p:spPr>
          <a:xfrm>
            <a:off x="1014675" y="2647950"/>
            <a:ext cx="5053500" cy="1419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2"/>
                </a:solidFill>
              </a:rPr>
              <a:t>Predict </a:t>
            </a:r>
            <a:r>
              <a:rPr b="1" lang="en">
                <a:solidFill>
                  <a:schemeClr val="dk2"/>
                </a:solidFill>
              </a:rPr>
              <a:t>ordinal</a:t>
            </a:r>
            <a:r>
              <a:rPr lang="en">
                <a:solidFill>
                  <a:schemeClr val="dk2"/>
                </a:solidFill>
              </a:rPr>
              <a:t> target in the integers </a:t>
            </a:r>
            <a:endParaRPr>
              <a:solidFill>
                <a:schemeClr val="dk2"/>
              </a:solidFill>
            </a:endParaRPr>
          </a:p>
          <a:p>
            <a:pPr indent="0" lvl="0" marL="0" rtl="0" algn="ctr">
              <a:spcBef>
                <a:spcPts val="1200"/>
              </a:spcBef>
              <a:spcAft>
                <a:spcPts val="0"/>
              </a:spcAft>
              <a:buNone/>
            </a:pPr>
            <a:r>
              <a:rPr b="1" lang="en">
                <a:solidFill>
                  <a:srgbClr val="949AF8"/>
                </a:solidFill>
              </a:rPr>
              <a:t>ŷ </a:t>
            </a:r>
            <a:r>
              <a:rPr b="1" lang="en">
                <a:solidFill>
                  <a:schemeClr val="dk2"/>
                </a:solidFill>
              </a:rPr>
              <a:t>=</a:t>
            </a:r>
            <a:r>
              <a:rPr b="1" lang="en">
                <a:solidFill>
                  <a:schemeClr val="dk1"/>
                </a:solidFill>
              </a:rPr>
              <a:t> round( </a:t>
            </a:r>
            <a:r>
              <a:rPr b="1" lang="en">
                <a:solidFill>
                  <a:srgbClr val="1B91CA"/>
                </a:solidFill>
              </a:rPr>
              <a:t>Z</a:t>
            </a:r>
            <a:r>
              <a:rPr lang="en">
                <a:solidFill>
                  <a:srgbClr val="1B91CA"/>
                </a:solidFill>
              </a:rPr>
              <a:t> </a:t>
            </a:r>
            <a:r>
              <a:rPr baseline="30000" lang="en">
                <a:solidFill>
                  <a:srgbClr val="1B91CA"/>
                </a:solidFill>
              </a:rPr>
              <a:t>(k) </a:t>
            </a:r>
            <a:r>
              <a:rPr b="1" lang="en">
                <a:solidFill>
                  <a:schemeClr val="dk1"/>
                </a:solidFill>
              </a:rPr>
              <a:t>)</a:t>
            </a:r>
            <a:endParaRPr>
              <a:solidFill>
                <a:schemeClr val="dk2"/>
              </a:solidFill>
            </a:endParaRPr>
          </a:p>
          <a:p>
            <a:pPr indent="0" lvl="0" marL="0" rtl="0" algn="l">
              <a:lnSpc>
                <a:spcPct val="115000"/>
              </a:lnSpc>
              <a:spcBef>
                <a:spcPts val="0"/>
              </a:spcBef>
              <a:spcAft>
                <a:spcPts val="0"/>
              </a:spcAft>
              <a:buNone/>
            </a:pPr>
            <a:r>
              <a:t/>
            </a:r>
            <a:endParaRPr>
              <a:solidFill>
                <a:schemeClr val="dk2"/>
              </a:solidFill>
            </a:endParaRPr>
          </a:p>
          <a:p>
            <a:pPr indent="0" lvl="0" marL="0" rtl="0" algn="l">
              <a:lnSpc>
                <a:spcPct val="115000"/>
              </a:lnSpc>
              <a:spcBef>
                <a:spcPts val="1200"/>
              </a:spcBef>
              <a:spcAft>
                <a:spcPts val="1200"/>
              </a:spcAft>
              <a:buNone/>
            </a:pPr>
            <a:r>
              <a:rPr lang="en">
                <a:solidFill>
                  <a:schemeClr val="dk2"/>
                </a:solidFill>
              </a:rPr>
              <a:t>Note: likely would use real number + MSE for training</a:t>
            </a:r>
            <a:endParaRPr/>
          </a:p>
        </p:txBody>
      </p:sp>
      <p:sp>
        <p:nvSpPr>
          <p:cNvPr id="1064" name="Google Shape;1064;p44"/>
          <p:cNvSpPr txBox="1"/>
          <p:nvPr/>
        </p:nvSpPr>
        <p:spPr>
          <a:xfrm>
            <a:off x="1014675" y="1397800"/>
            <a:ext cx="5053500" cy="1017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2"/>
                </a:solidFill>
              </a:rPr>
              <a:t>Predict </a:t>
            </a:r>
            <a:r>
              <a:rPr b="1" lang="en">
                <a:solidFill>
                  <a:schemeClr val="dk2"/>
                </a:solidFill>
              </a:rPr>
              <a:t>continuous</a:t>
            </a:r>
            <a:r>
              <a:rPr lang="en">
                <a:solidFill>
                  <a:schemeClr val="dk2"/>
                </a:solidFill>
              </a:rPr>
              <a:t> target in the real numbers (regression)</a:t>
            </a:r>
            <a:endParaRPr>
              <a:solidFill>
                <a:schemeClr val="dk2"/>
              </a:solidFill>
            </a:endParaRPr>
          </a:p>
          <a:p>
            <a:pPr indent="0" lvl="0" marL="0" rtl="0" algn="ctr">
              <a:spcBef>
                <a:spcPts val="1200"/>
              </a:spcBef>
              <a:spcAft>
                <a:spcPts val="0"/>
              </a:spcAft>
              <a:buNone/>
            </a:pPr>
            <a:r>
              <a:rPr b="1" lang="en">
                <a:solidFill>
                  <a:srgbClr val="949AF8"/>
                </a:solidFill>
              </a:rPr>
              <a:t>ŷ </a:t>
            </a:r>
            <a:r>
              <a:rPr b="1" lang="en">
                <a:solidFill>
                  <a:schemeClr val="dk2"/>
                </a:solidFill>
              </a:rPr>
              <a:t>=</a:t>
            </a:r>
            <a:r>
              <a:rPr b="1" lang="en">
                <a:solidFill>
                  <a:schemeClr val="dk1"/>
                </a:solidFill>
              </a:rPr>
              <a:t> </a:t>
            </a:r>
            <a:r>
              <a:rPr b="1" lang="en">
                <a:solidFill>
                  <a:srgbClr val="1B91CA"/>
                </a:solidFill>
              </a:rPr>
              <a:t>Z</a:t>
            </a:r>
            <a:r>
              <a:rPr lang="en">
                <a:solidFill>
                  <a:srgbClr val="1B91CA"/>
                </a:solidFill>
              </a:rPr>
              <a:t> </a:t>
            </a:r>
            <a:r>
              <a:rPr baseline="30000" lang="en">
                <a:solidFill>
                  <a:srgbClr val="1B91CA"/>
                </a:solidFill>
              </a:rPr>
              <a:t>(k)</a:t>
            </a:r>
            <a:endParaRPr>
              <a:solidFill>
                <a:schemeClr val="dk2"/>
              </a:solidFill>
            </a:endParaRPr>
          </a:p>
          <a:p>
            <a:pPr indent="0" lvl="0" marL="0" rtl="0" algn="l">
              <a:lnSpc>
                <a:spcPct val="115000"/>
              </a:lnSpc>
              <a:spcBef>
                <a:spcPts val="0"/>
              </a:spcBef>
              <a:spcAft>
                <a:spcPts val="1200"/>
              </a:spcAft>
              <a:buNone/>
            </a:pPr>
            <a:r>
              <a:t/>
            </a:r>
            <a:endParaRPr>
              <a:solidFill>
                <a:schemeClr val="dk2"/>
              </a:solidFill>
            </a:endParaRPr>
          </a:p>
        </p:txBody>
      </p:sp>
      <p:grpSp>
        <p:nvGrpSpPr>
          <p:cNvPr id="1065" name="Google Shape;1065;p44"/>
          <p:cNvGrpSpPr/>
          <p:nvPr/>
        </p:nvGrpSpPr>
        <p:grpSpPr>
          <a:xfrm>
            <a:off x="6535225" y="986775"/>
            <a:ext cx="1855800" cy="3031800"/>
            <a:chOff x="6611425" y="1443975"/>
            <a:chExt cx="1855800" cy="3031800"/>
          </a:xfrm>
        </p:grpSpPr>
        <p:sp>
          <p:nvSpPr>
            <p:cNvPr id="1066" name="Google Shape;1066;p44"/>
            <p:cNvSpPr txBox="1"/>
            <p:nvPr/>
          </p:nvSpPr>
          <p:spPr>
            <a:xfrm>
              <a:off x="6611425" y="1443975"/>
              <a:ext cx="18558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output layer</a:t>
              </a:r>
              <a:endParaRPr b="1">
                <a:solidFill>
                  <a:schemeClr val="dk1"/>
                </a:solidFill>
              </a:endParaRPr>
            </a:p>
          </p:txBody>
        </p:sp>
        <p:sp>
          <p:nvSpPr>
            <p:cNvPr id="1067" name="Google Shape;1067;p44"/>
            <p:cNvSpPr/>
            <p:nvPr/>
          </p:nvSpPr>
          <p:spPr>
            <a:xfrm>
              <a:off x="6785500" y="28070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1068" name="Google Shape;1068;p44"/>
          <p:cNvSpPr/>
          <p:nvPr/>
        </p:nvSpPr>
        <p:spPr>
          <a:xfrm>
            <a:off x="7872050" y="2452524"/>
            <a:ext cx="271800" cy="251100"/>
          </a:xfrm>
          <a:prstGeom prst="ellipse">
            <a:avLst/>
          </a:prstGeom>
          <a:solidFill>
            <a:srgbClr val="949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1069" name="Google Shape;1069;p44"/>
          <p:cNvCxnSpPr>
            <a:endCxn id="1068" idx="2"/>
          </p:cNvCxnSpPr>
          <p:nvPr/>
        </p:nvCxnSpPr>
        <p:spPr>
          <a:xfrm flipH="1" rot="10800000">
            <a:off x="7188050" y="2578074"/>
            <a:ext cx="684000" cy="3000"/>
          </a:xfrm>
          <a:prstGeom prst="straightConnector1">
            <a:avLst/>
          </a:prstGeom>
          <a:noFill/>
          <a:ln cap="flat" cmpd="sng" w="9525">
            <a:solidFill>
              <a:schemeClr val="dk2"/>
            </a:solidFill>
            <a:prstDash val="solid"/>
            <a:round/>
            <a:headEnd len="med" w="med" type="none"/>
            <a:tailEnd len="med" w="med" type="none"/>
          </a:ln>
        </p:spPr>
      </p:cxnSp>
      <p:sp>
        <p:nvSpPr>
          <p:cNvPr id="1070" name="Google Shape;1070;p44"/>
          <p:cNvSpPr txBox="1"/>
          <p:nvPr/>
        </p:nvSpPr>
        <p:spPr>
          <a:xfrm>
            <a:off x="7872075" y="2371650"/>
            <a:ext cx="27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ŷ</a:t>
            </a:r>
            <a:endParaRPr>
              <a:solidFill>
                <a:schemeClr val="lt1"/>
              </a:solidFill>
            </a:endParaRPr>
          </a:p>
        </p:txBody>
      </p:sp>
      <p:sp>
        <p:nvSpPr>
          <p:cNvPr id="1071" name="Google Shape;1071;p44"/>
          <p:cNvSpPr txBox="1"/>
          <p:nvPr/>
        </p:nvSpPr>
        <p:spPr>
          <a:xfrm>
            <a:off x="6674763" y="2371650"/>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lt1"/>
                </a:solidFill>
              </a:rPr>
              <a:t>Z</a:t>
            </a:r>
            <a:r>
              <a:rPr lang="en">
                <a:solidFill>
                  <a:schemeClr val="lt1"/>
                </a:solidFill>
              </a:rPr>
              <a:t> </a:t>
            </a:r>
            <a:r>
              <a:rPr baseline="30000" lang="en">
                <a:solidFill>
                  <a:schemeClr val="lt1"/>
                </a:solidFill>
              </a:rPr>
              <a:t>(k)</a:t>
            </a:r>
            <a:endParaRPr>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grpSp>
        <p:nvGrpSpPr>
          <p:cNvPr id="1076" name="Google Shape;1076;p45"/>
          <p:cNvGrpSpPr/>
          <p:nvPr/>
        </p:nvGrpSpPr>
        <p:grpSpPr>
          <a:xfrm>
            <a:off x="6535225" y="986775"/>
            <a:ext cx="1855800" cy="3031800"/>
            <a:chOff x="6611425" y="1443975"/>
            <a:chExt cx="1855800" cy="3031800"/>
          </a:xfrm>
        </p:grpSpPr>
        <p:sp>
          <p:nvSpPr>
            <p:cNvPr id="1077" name="Google Shape;1077;p45"/>
            <p:cNvSpPr txBox="1"/>
            <p:nvPr/>
          </p:nvSpPr>
          <p:spPr>
            <a:xfrm>
              <a:off x="6611425" y="1443975"/>
              <a:ext cx="18558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output layer</a:t>
              </a:r>
              <a:endParaRPr b="1">
                <a:solidFill>
                  <a:schemeClr val="dk1"/>
                </a:solidFill>
              </a:endParaRPr>
            </a:p>
          </p:txBody>
        </p:sp>
        <p:sp>
          <p:nvSpPr>
            <p:cNvPr id="1078" name="Google Shape;1078;p45"/>
            <p:cNvSpPr/>
            <p:nvPr/>
          </p:nvSpPr>
          <p:spPr>
            <a:xfrm>
              <a:off x="6709300" y="28070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1079" name="Google Shape;1079;p45"/>
          <p:cNvSpPr/>
          <p:nvPr/>
        </p:nvSpPr>
        <p:spPr>
          <a:xfrm>
            <a:off x="8024450" y="2452524"/>
            <a:ext cx="271800" cy="251100"/>
          </a:xfrm>
          <a:prstGeom prst="ellipse">
            <a:avLst/>
          </a:prstGeom>
          <a:solidFill>
            <a:srgbClr val="949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80" name="Google Shape;1080;p45"/>
          <p:cNvSpPr txBox="1"/>
          <p:nvPr/>
        </p:nvSpPr>
        <p:spPr>
          <a:xfrm>
            <a:off x="1014675" y="707725"/>
            <a:ext cx="50535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a:solidFill>
                  <a:schemeClr val="dk2"/>
                </a:solidFill>
              </a:rPr>
              <a:t>If only one neuron in the last layer, then </a:t>
            </a:r>
            <a:r>
              <a:rPr b="1" lang="en">
                <a:solidFill>
                  <a:srgbClr val="1B91CA"/>
                </a:solidFill>
              </a:rPr>
              <a:t>Z</a:t>
            </a:r>
            <a:r>
              <a:rPr lang="en">
                <a:solidFill>
                  <a:srgbClr val="1B91CA"/>
                </a:solidFill>
              </a:rPr>
              <a:t> </a:t>
            </a:r>
            <a:r>
              <a:rPr baseline="30000" lang="en">
                <a:solidFill>
                  <a:srgbClr val="1B91CA"/>
                </a:solidFill>
              </a:rPr>
              <a:t>(k)</a:t>
            </a:r>
            <a:r>
              <a:rPr lang="en">
                <a:solidFill>
                  <a:schemeClr val="dk2"/>
                </a:solidFill>
              </a:rPr>
              <a:t> is a real number</a:t>
            </a:r>
            <a:endParaRPr>
              <a:solidFill>
                <a:schemeClr val="dk2"/>
              </a:solidFill>
            </a:endParaRPr>
          </a:p>
        </p:txBody>
      </p:sp>
      <p:sp>
        <p:nvSpPr>
          <p:cNvPr id="1081" name="Google Shape;1081;p45"/>
          <p:cNvSpPr txBox="1"/>
          <p:nvPr/>
        </p:nvSpPr>
        <p:spPr>
          <a:xfrm>
            <a:off x="1014675" y="1397800"/>
            <a:ext cx="5053500" cy="2620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2"/>
                </a:solidFill>
              </a:rPr>
              <a:t>Predict </a:t>
            </a:r>
            <a:r>
              <a:rPr b="1" lang="en">
                <a:solidFill>
                  <a:schemeClr val="dk2"/>
                </a:solidFill>
              </a:rPr>
              <a:t>binary</a:t>
            </a:r>
            <a:r>
              <a:rPr lang="en">
                <a:solidFill>
                  <a:schemeClr val="dk2"/>
                </a:solidFill>
              </a:rPr>
              <a:t> target either 0 or 1 (binary classification)</a:t>
            </a:r>
            <a:endParaRPr>
              <a:solidFill>
                <a:schemeClr val="dk2"/>
              </a:solidFill>
            </a:endParaRPr>
          </a:p>
          <a:p>
            <a:pPr indent="0" lvl="0" marL="0" rtl="0" algn="l">
              <a:lnSpc>
                <a:spcPct val="115000"/>
              </a:lnSpc>
              <a:spcBef>
                <a:spcPts val="1200"/>
              </a:spcBef>
              <a:spcAft>
                <a:spcPts val="0"/>
              </a:spcAft>
              <a:buNone/>
            </a:pPr>
            <a:r>
              <a:rPr lang="en">
                <a:solidFill>
                  <a:schemeClr val="dk2"/>
                </a:solidFill>
              </a:rPr>
              <a:t>First option: use </a:t>
            </a:r>
            <a:r>
              <a:rPr lang="en" u="sng">
                <a:solidFill>
                  <a:schemeClr val="dk2"/>
                </a:solidFill>
              </a:rPr>
              <a:t>unit-step</a:t>
            </a:r>
            <a:r>
              <a:rPr lang="en">
                <a:solidFill>
                  <a:schemeClr val="dk2"/>
                </a:solidFill>
              </a:rPr>
              <a:t> function for </a:t>
            </a:r>
            <a:r>
              <a:rPr b="1" lang="en">
                <a:solidFill>
                  <a:srgbClr val="FF00FF"/>
                </a:solidFill>
              </a:rPr>
              <a:t>ɸ</a:t>
            </a:r>
            <a:r>
              <a:rPr lang="en">
                <a:solidFill>
                  <a:srgbClr val="FF00FF"/>
                </a:solidFill>
              </a:rPr>
              <a:t> </a:t>
            </a:r>
            <a:r>
              <a:rPr baseline="30000" lang="en">
                <a:solidFill>
                  <a:srgbClr val="FF00FF"/>
                </a:solidFill>
              </a:rPr>
              <a:t>(k)</a:t>
            </a:r>
            <a:endParaRPr>
              <a:solidFill>
                <a:srgbClr val="FF00FF"/>
              </a:solidFill>
            </a:endParaRPr>
          </a:p>
          <a:p>
            <a:pPr indent="0" lvl="0" marL="0" rtl="0" algn="ctr">
              <a:spcBef>
                <a:spcPts val="1200"/>
              </a:spcBef>
              <a:spcAft>
                <a:spcPts val="0"/>
              </a:spcAft>
              <a:buNone/>
            </a:pPr>
            <a:r>
              <a:rPr b="1" lang="en">
                <a:solidFill>
                  <a:srgbClr val="949AF8"/>
                </a:solidFill>
              </a:rPr>
              <a:t>ŷ </a:t>
            </a:r>
            <a:r>
              <a:rPr b="1" lang="en">
                <a:solidFill>
                  <a:schemeClr val="dk2"/>
                </a:solidFill>
              </a:rPr>
              <a:t>=</a:t>
            </a:r>
            <a:r>
              <a:rPr b="1" lang="en">
                <a:solidFill>
                  <a:schemeClr val="dk1"/>
                </a:solidFill>
              </a:rPr>
              <a:t> </a:t>
            </a:r>
            <a:r>
              <a:rPr b="1" lang="en">
                <a:solidFill>
                  <a:srgbClr val="FF00FF"/>
                </a:solidFill>
              </a:rPr>
              <a:t>ɸ</a:t>
            </a:r>
            <a:r>
              <a:rPr lang="en">
                <a:solidFill>
                  <a:srgbClr val="FF00FF"/>
                </a:solidFill>
              </a:rPr>
              <a:t> </a:t>
            </a:r>
            <a:r>
              <a:rPr baseline="30000" lang="en">
                <a:solidFill>
                  <a:srgbClr val="FF00FF"/>
                </a:solidFill>
              </a:rPr>
              <a:t>(k)</a:t>
            </a:r>
            <a:r>
              <a:rPr lang="en">
                <a:solidFill>
                  <a:schemeClr val="dk2"/>
                </a:solidFill>
              </a:rPr>
              <a:t>( </a:t>
            </a:r>
            <a:r>
              <a:rPr b="1" lang="en">
                <a:solidFill>
                  <a:srgbClr val="1B91CA"/>
                </a:solidFill>
              </a:rPr>
              <a:t>Z</a:t>
            </a:r>
            <a:r>
              <a:rPr lang="en">
                <a:solidFill>
                  <a:srgbClr val="1B91CA"/>
                </a:solidFill>
              </a:rPr>
              <a:t> </a:t>
            </a:r>
            <a:r>
              <a:rPr baseline="30000" lang="en">
                <a:solidFill>
                  <a:srgbClr val="1B91CA"/>
                </a:solidFill>
              </a:rPr>
              <a:t>(k) </a:t>
            </a:r>
            <a:r>
              <a:rPr lang="en">
                <a:solidFill>
                  <a:schemeClr val="dk2"/>
                </a:solidFill>
              </a:rPr>
              <a:t>)</a:t>
            </a:r>
            <a:endParaRPr>
              <a:solidFill>
                <a:schemeClr val="dk2"/>
              </a:solidFill>
            </a:endParaRPr>
          </a:p>
          <a:p>
            <a:pPr indent="0" lvl="0" marL="0" rtl="0" algn="ctr">
              <a:spcBef>
                <a:spcPts val="0"/>
              </a:spcBef>
              <a:spcAft>
                <a:spcPts val="0"/>
              </a:spcAft>
              <a:buNone/>
            </a:pPr>
            <a:r>
              <a:t/>
            </a:r>
            <a:endParaRPr>
              <a:solidFill>
                <a:schemeClr val="dk2"/>
              </a:solidFill>
            </a:endParaRPr>
          </a:p>
          <a:p>
            <a:pPr indent="0" lvl="0" marL="0" rtl="0" algn="ctr">
              <a:spcBef>
                <a:spcPts val="0"/>
              </a:spcBef>
              <a:spcAft>
                <a:spcPts val="0"/>
              </a:spcAft>
              <a:buNone/>
            </a:pPr>
            <a:r>
              <a:t/>
            </a:r>
            <a:endParaRPr>
              <a:solidFill>
                <a:schemeClr val="dk2"/>
              </a:solidFill>
            </a:endParaRPr>
          </a:p>
          <a:p>
            <a:pPr indent="0" lvl="0" marL="0" rtl="0" algn="l">
              <a:lnSpc>
                <a:spcPct val="115000"/>
              </a:lnSpc>
              <a:spcBef>
                <a:spcPts val="0"/>
              </a:spcBef>
              <a:spcAft>
                <a:spcPts val="0"/>
              </a:spcAft>
              <a:buNone/>
            </a:pPr>
            <a:r>
              <a:rPr lang="en">
                <a:solidFill>
                  <a:schemeClr val="dk2"/>
                </a:solidFill>
              </a:rPr>
              <a:t>Second option (more common): use </a:t>
            </a:r>
            <a:r>
              <a:rPr lang="en" u="sng">
                <a:solidFill>
                  <a:schemeClr val="dk2"/>
                </a:solidFill>
              </a:rPr>
              <a:t>sigmoid</a:t>
            </a:r>
            <a:r>
              <a:rPr lang="en">
                <a:solidFill>
                  <a:schemeClr val="dk2"/>
                </a:solidFill>
              </a:rPr>
              <a:t> function for </a:t>
            </a:r>
            <a:r>
              <a:rPr b="1" lang="en">
                <a:solidFill>
                  <a:srgbClr val="FF00FF"/>
                </a:solidFill>
              </a:rPr>
              <a:t>ɸ</a:t>
            </a:r>
            <a:r>
              <a:rPr lang="en">
                <a:solidFill>
                  <a:srgbClr val="FF00FF"/>
                </a:solidFill>
              </a:rPr>
              <a:t> </a:t>
            </a:r>
            <a:r>
              <a:rPr baseline="30000" lang="en">
                <a:solidFill>
                  <a:srgbClr val="FF00FF"/>
                </a:solidFill>
              </a:rPr>
              <a:t>(k)</a:t>
            </a:r>
            <a:endParaRPr>
              <a:solidFill>
                <a:srgbClr val="FF00FF"/>
              </a:solidFill>
            </a:endParaRPr>
          </a:p>
          <a:p>
            <a:pPr indent="0" lvl="0" marL="0" rtl="0" algn="ctr">
              <a:spcBef>
                <a:spcPts val="1200"/>
              </a:spcBef>
              <a:spcAft>
                <a:spcPts val="0"/>
              </a:spcAft>
              <a:buNone/>
            </a:pPr>
            <a:r>
              <a:rPr b="1" lang="en">
                <a:solidFill>
                  <a:srgbClr val="949AF8"/>
                </a:solidFill>
              </a:rPr>
              <a:t>ŷ </a:t>
            </a:r>
            <a:r>
              <a:rPr b="1" lang="en">
                <a:solidFill>
                  <a:schemeClr val="dk2"/>
                </a:solidFill>
              </a:rPr>
              <a:t>= </a:t>
            </a:r>
            <a:r>
              <a:rPr lang="en">
                <a:solidFill>
                  <a:schemeClr val="dk2"/>
                </a:solidFill>
              </a:rPr>
              <a:t>round( </a:t>
            </a:r>
            <a:r>
              <a:rPr b="1" lang="en">
                <a:solidFill>
                  <a:srgbClr val="FF00FF"/>
                </a:solidFill>
              </a:rPr>
              <a:t>ɸ</a:t>
            </a:r>
            <a:r>
              <a:rPr lang="en">
                <a:solidFill>
                  <a:srgbClr val="FF00FF"/>
                </a:solidFill>
              </a:rPr>
              <a:t> </a:t>
            </a:r>
            <a:r>
              <a:rPr baseline="30000" lang="en">
                <a:solidFill>
                  <a:srgbClr val="FF00FF"/>
                </a:solidFill>
              </a:rPr>
              <a:t>(k)</a:t>
            </a:r>
            <a:r>
              <a:rPr lang="en">
                <a:solidFill>
                  <a:schemeClr val="dk2"/>
                </a:solidFill>
              </a:rPr>
              <a:t>( </a:t>
            </a:r>
            <a:r>
              <a:rPr b="1" lang="en">
                <a:solidFill>
                  <a:srgbClr val="1B91CA"/>
                </a:solidFill>
              </a:rPr>
              <a:t>Z</a:t>
            </a:r>
            <a:r>
              <a:rPr lang="en">
                <a:solidFill>
                  <a:srgbClr val="1B91CA"/>
                </a:solidFill>
              </a:rPr>
              <a:t> </a:t>
            </a:r>
            <a:r>
              <a:rPr baseline="30000" lang="en">
                <a:solidFill>
                  <a:srgbClr val="1B91CA"/>
                </a:solidFill>
              </a:rPr>
              <a:t>(k) </a:t>
            </a:r>
            <a:r>
              <a:rPr lang="en">
                <a:solidFill>
                  <a:schemeClr val="dk2"/>
                </a:solidFill>
              </a:rPr>
              <a:t>) )</a:t>
            </a:r>
            <a:r>
              <a:rPr lang="en">
                <a:solidFill>
                  <a:schemeClr val="dk1"/>
                </a:solidFill>
              </a:rPr>
              <a:t> </a:t>
            </a:r>
            <a:endParaRPr>
              <a:solidFill>
                <a:schemeClr val="dk2"/>
              </a:solidFill>
            </a:endParaRPr>
          </a:p>
        </p:txBody>
      </p:sp>
      <p:sp>
        <p:nvSpPr>
          <p:cNvPr id="1082" name="Google Shape;1082;p45"/>
          <p:cNvSpPr/>
          <p:nvPr/>
        </p:nvSpPr>
        <p:spPr>
          <a:xfrm>
            <a:off x="7298050" y="2346913"/>
            <a:ext cx="478800" cy="462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083" name="Google Shape;1083;p45"/>
          <p:cNvSpPr txBox="1"/>
          <p:nvPr/>
        </p:nvSpPr>
        <p:spPr>
          <a:xfrm>
            <a:off x="7298050" y="2371650"/>
            <a:ext cx="54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ɸ</a:t>
            </a:r>
            <a:r>
              <a:rPr lang="en">
                <a:solidFill>
                  <a:schemeClr val="lt1"/>
                </a:solidFill>
              </a:rPr>
              <a:t> </a:t>
            </a:r>
            <a:r>
              <a:rPr baseline="30000" lang="en">
                <a:solidFill>
                  <a:schemeClr val="lt1"/>
                </a:solidFill>
              </a:rPr>
              <a:t>(k)</a:t>
            </a:r>
            <a:endParaRPr>
              <a:solidFill>
                <a:schemeClr val="lt1"/>
              </a:solidFill>
            </a:endParaRPr>
          </a:p>
        </p:txBody>
      </p:sp>
      <p:cxnSp>
        <p:nvCxnSpPr>
          <p:cNvPr id="1084" name="Google Shape;1084;p45"/>
          <p:cNvCxnSpPr>
            <a:endCxn id="1082" idx="2"/>
          </p:cNvCxnSpPr>
          <p:nvPr/>
        </p:nvCxnSpPr>
        <p:spPr>
          <a:xfrm flipH="1" rot="10800000">
            <a:off x="7111750" y="2578063"/>
            <a:ext cx="186300" cy="3000"/>
          </a:xfrm>
          <a:prstGeom prst="straightConnector1">
            <a:avLst/>
          </a:prstGeom>
          <a:noFill/>
          <a:ln cap="flat" cmpd="sng" w="9525">
            <a:solidFill>
              <a:schemeClr val="dk2"/>
            </a:solidFill>
            <a:prstDash val="solid"/>
            <a:round/>
            <a:headEnd len="med" w="med" type="none"/>
            <a:tailEnd len="med" w="med" type="none"/>
          </a:ln>
        </p:spPr>
      </p:cxnSp>
      <p:cxnSp>
        <p:nvCxnSpPr>
          <p:cNvPr id="1085" name="Google Shape;1085;p45"/>
          <p:cNvCxnSpPr>
            <a:stCxn id="1082" idx="6"/>
            <a:endCxn id="1079" idx="2"/>
          </p:cNvCxnSpPr>
          <p:nvPr/>
        </p:nvCxnSpPr>
        <p:spPr>
          <a:xfrm>
            <a:off x="7776850" y="2578063"/>
            <a:ext cx="247500" cy="0"/>
          </a:xfrm>
          <a:prstGeom prst="straightConnector1">
            <a:avLst/>
          </a:prstGeom>
          <a:noFill/>
          <a:ln cap="flat" cmpd="sng" w="9525">
            <a:solidFill>
              <a:schemeClr val="dk2"/>
            </a:solidFill>
            <a:prstDash val="solid"/>
            <a:round/>
            <a:headEnd len="med" w="med" type="none"/>
            <a:tailEnd len="med" w="med" type="none"/>
          </a:ln>
        </p:spPr>
      </p:cxnSp>
      <p:sp>
        <p:nvSpPr>
          <p:cNvPr id="1086" name="Google Shape;1086;p45"/>
          <p:cNvSpPr txBox="1"/>
          <p:nvPr/>
        </p:nvSpPr>
        <p:spPr>
          <a:xfrm>
            <a:off x="6598563" y="2371650"/>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lt1"/>
                </a:solidFill>
              </a:rPr>
              <a:t>Z</a:t>
            </a:r>
            <a:r>
              <a:rPr lang="en">
                <a:solidFill>
                  <a:schemeClr val="lt1"/>
                </a:solidFill>
              </a:rPr>
              <a:t> </a:t>
            </a:r>
            <a:r>
              <a:rPr baseline="30000" lang="en">
                <a:solidFill>
                  <a:schemeClr val="lt1"/>
                </a:solidFill>
              </a:rPr>
              <a:t>(k)</a:t>
            </a:r>
            <a:endParaRPr>
              <a:solidFill>
                <a:schemeClr val="lt1"/>
              </a:solidFill>
            </a:endParaRPr>
          </a:p>
        </p:txBody>
      </p:sp>
      <p:sp>
        <p:nvSpPr>
          <p:cNvPr id="1087" name="Google Shape;1087;p45"/>
          <p:cNvSpPr txBox="1"/>
          <p:nvPr/>
        </p:nvSpPr>
        <p:spPr>
          <a:xfrm>
            <a:off x="8024475" y="2371650"/>
            <a:ext cx="27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ŷ</a:t>
            </a:r>
            <a:endParaRPr>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46"/>
          <p:cNvSpPr txBox="1"/>
          <p:nvPr/>
        </p:nvSpPr>
        <p:spPr>
          <a:xfrm>
            <a:off x="1014675" y="707725"/>
            <a:ext cx="50535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a:solidFill>
                  <a:srgbClr val="1B91CA"/>
                </a:solidFill>
              </a:rPr>
              <a:t>Z</a:t>
            </a:r>
            <a:r>
              <a:rPr lang="en">
                <a:solidFill>
                  <a:srgbClr val="1B91CA"/>
                </a:solidFill>
              </a:rPr>
              <a:t> </a:t>
            </a:r>
            <a:r>
              <a:rPr baseline="30000" lang="en">
                <a:solidFill>
                  <a:srgbClr val="1B91CA"/>
                </a:solidFill>
              </a:rPr>
              <a:t>(k)</a:t>
            </a:r>
            <a:r>
              <a:rPr lang="en">
                <a:solidFill>
                  <a:schemeClr val="dk2"/>
                </a:solidFill>
              </a:rPr>
              <a:t> is now (</a:t>
            </a:r>
            <a:r>
              <a:rPr b="1" lang="en">
                <a:solidFill>
                  <a:srgbClr val="1B91CA"/>
                </a:solidFill>
              </a:rPr>
              <a:t>Z</a:t>
            </a:r>
            <a:r>
              <a:rPr baseline="-25000" lang="en">
                <a:solidFill>
                  <a:srgbClr val="1B91CA"/>
                </a:solidFill>
              </a:rPr>
              <a:t>1</a:t>
            </a:r>
            <a:r>
              <a:rPr baseline="30000" lang="en">
                <a:solidFill>
                  <a:srgbClr val="1B91CA"/>
                </a:solidFill>
              </a:rPr>
              <a:t>(k)</a:t>
            </a:r>
            <a:r>
              <a:rPr lang="en">
                <a:solidFill>
                  <a:schemeClr val="dk2"/>
                </a:solidFill>
              </a:rPr>
              <a:t>,</a:t>
            </a:r>
            <a:r>
              <a:rPr b="1" lang="en">
                <a:solidFill>
                  <a:srgbClr val="1B91CA"/>
                </a:solidFill>
              </a:rPr>
              <a:t>Z</a:t>
            </a:r>
            <a:r>
              <a:rPr baseline="-25000" lang="en">
                <a:solidFill>
                  <a:srgbClr val="1B91CA"/>
                </a:solidFill>
              </a:rPr>
              <a:t>2</a:t>
            </a:r>
            <a:r>
              <a:rPr baseline="30000" lang="en">
                <a:solidFill>
                  <a:srgbClr val="1B91CA"/>
                </a:solidFill>
              </a:rPr>
              <a:t>(k)</a:t>
            </a:r>
            <a:r>
              <a:rPr lang="en">
                <a:solidFill>
                  <a:schemeClr val="dk2"/>
                </a:solidFill>
              </a:rPr>
              <a:t>,</a:t>
            </a:r>
            <a:r>
              <a:rPr b="1" lang="en">
                <a:solidFill>
                  <a:srgbClr val="1B91CA"/>
                </a:solidFill>
              </a:rPr>
              <a:t>Z</a:t>
            </a:r>
            <a:r>
              <a:rPr baseline="-25000" lang="en">
                <a:solidFill>
                  <a:srgbClr val="1B91CA"/>
                </a:solidFill>
              </a:rPr>
              <a:t>3</a:t>
            </a:r>
            <a:r>
              <a:rPr baseline="30000" lang="en">
                <a:solidFill>
                  <a:srgbClr val="1B91CA"/>
                </a:solidFill>
              </a:rPr>
              <a:t>(k)</a:t>
            </a:r>
            <a:r>
              <a:rPr lang="en">
                <a:solidFill>
                  <a:schemeClr val="dk2"/>
                </a:solidFill>
              </a:rPr>
              <a:t>, ... ,</a:t>
            </a:r>
            <a:r>
              <a:rPr b="1" lang="en">
                <a:solidFill>
                  <a:srgbClr val="1B91CA"/>
                </a:solidFill>
              </a:rPr>
              <a:t>Z</a:t>
            </a:r>
            <a:r>
              <a:rPr baseline="-25000" lang="en">
                <a:solidFill>
                  <a:srgbClr val="1B91CA"/>
                </a:solidFill>
              </a:rPr>
              <a:t>C</a:t>
            </a:r>
            <a:r>
              <a:rPr baseline="30000" lang="en">
                <a:solidFill>
                  <a:srgbClr val="1B91CA"/>
                </a:solidFill>
              </a:rPr>
              <a:t>(k)</a:t>
            </a:r>
            <a:r>
              <a:rPr lang="en">
                <a:solidFill>
                  <a:schemeClr val="dk2"/>
                </a:solidFill>
              </a:rPr>
              <a:t>)</a:t>
            </a:r>
            <a:endParaRPr>
              <a:solidFill>
                <a:schemeClr val="dk2"/>
              </a:solidFill>
            </a:endParaRPr>
          </a:p>
        </p:txBody>
      </p:sp>
      <p:sp>
        <p:nvSpPr>
          <p:cNvPr id="1093" name="Google Shape;1093;p46"/>
          <p:cNvSpPr txBox="1"/>
          <p:nvPr/>
        </p:nvSpPr>
        <p:spPr>
          <a:xfrm>
            <a:off x="586725" y="1397800"/>
            <a:ext cx="5786400" cy="2620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2"/>
                </a:solidFill>
              </a:rPr>
              <a:t>Predict </a:t>
            </a:r>
            <a:r>
              <a:rPr b="1" lang="en">
                <a:solidFill>
                  <a:schemeClr val="dk2"/>
                </a:solidFill>
              </a:rPr>
              <a:t>categorical</a:t>
            </a:r>
            <a:r>
              <a:rPr lang="en">
                <a:solidFill>
                  <a:schemeClr val="dk2"/>
                </a:solidFill>
              </a:rPr>
              <a:t> target with 3+ categories (multiclass classification)</a:t>
            </a:r>
            <a:endParaRPr>
              <a:solidFill>
                <a:schemeClr val="dk2"/>
              </a:solidFill>
            </a:endParaRPr>
          </a:p>
          <a:p>
            <a:pPr indent="0" lvl="0" marL="0" rtl="0" algn="l">
              <a:spcBef>
                <a:spcPts val="1200"/>
              </a:spcBef>
              <a:spcAft>
                <a:spcPts val="0"/>
              </a:spcAft>
              <a:buNone/>
            </a:pPr>
            <a:r>
              <a:rPr lang="en">
                <a:solidFill>
                  <a:schemeClr val="dk2"/>
                </a:solidFill>
              </a:rPr>
              <a:t>If there are C classes, then the output layer has C neurons where each is a binary classifier for a single class. The activation function </a:t>
            </a:r>
            <a:r>
              <a:rPr b="1" lang="en">
                <a:solidFill>
                  <a:srgbClr val="FF00FF"/>
                </a:solidFill>
              </a:rPr>
              <a:t>ɸ</a:t>
            </a:r>
            <a:r>
              <a:rPr lang="en">
                <a:solidFill>
                  <a:srgbClr val="FF00FF"/>
                </a:solidFill>
              </a:rPr>
              <a:t> </a:t>
            </a:r>
            <a:r>
              <a:rPr baseline="30000" lang="en">
                <a:solidFill>
                  <a:srgbClr val="FF00FF"/>
                </a:solidFill>
              </a:rPr>
              <a:t>(k)</a:t>
            </a:r>
            <a:r>
              <a:rPr lang="en">
                <a:solidFill>
                  <a:schemeClr val="dk2"/>
                </a:solidFill>
              </a:rPr>
              <a:t> is the sigmoid function.</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ctr">
              <a:spcBef>
                <a:spcPts val="0"/>
              </a:spcBef>
              <a:spcAft>
                <a:spcPts val="0"/>
              </a:spcAft>
              <a:buNone/>
            </a:pPr>
            <a:r>
              <a:rPr b="1" lang="en">
                <a:solidFill>
                  <a:srgbClr val="949AF8"/>
                </a:solidFill>
              </a:rPr>
              <a:t>ŷ </a:t>
            </a:r>
            <a:r>
              <a:rPr b="1" lang="en">
                <a:solidFill>
                  <a:schemeClr val="dk2"/>
                </a:solidFill>
              </a:rPr>
              <a:t>= </a:t>
            </a:r>
            <a:r>
              <a:rPr lang="en">
                <a:solidFill>
                  <a:schemeClr val="dk2"/>
                </a:solidFill>
              </a:rPr>
              <a:t>argmax( </a:t>
            </a:r>
            <a:r>
              <a:rPr b="1" lang="en">
                <a:solidFill>
                  <a:srgbClr val="FF00FF"/>
                </a:solidFill>
              </a:rPr>
              <a:t>ɸ</a:t>
            </a:r>
            <a:r>
              <a:rPr lang="en">
                <a:solidFill>
                  <a:srgbClr val="FF00FF"/>
                </a:solidFill>
              </a:rPr>
              <a:t> </a:t>
            </a:r>
            <a:r>
              <a:rPr baseline="30000" lang="en">
                <a:solidFill>
                  <a:srgbClr val="FF00FF"/>
                </a:solidFill>
              </a:rPr>
              <a:t>(k)</a:t>
            </a:r>
            <a:r>
              <a:rPr lang="en">
                <a:solidFill>
                  <a:schemeClr val="dk2"/>
                </a:solidFill>
              </a:rPr>
              <a:t>( </a:t>
            </a:r>
            <a:r>
              <a:rPr b="1" lang="en">
                <a:solidFill>
                  <a:srgbClr val="1B91CA"/>
                </a:solidFill>
              </a:rPr>
              <a:t>Z</a:t>
            </a:r>
            <a:r>
              <a:rPr lang="en">
                <a:solidFill>
                  <a:srgbClr val="1B91CA"/>
                </a:solidFill>
              </a:rPr>
              <a:t> </a:t>
            </a:r>
            <a:r>
              <a:rPr baseline="30000" lang="en">
                <a:solidFill>
                  <a:srgbClr val="1B91CA"/>
                </a:solidFill>
              </a:rPr>
              <a:t>(k) </a:t>
            </a:r>
            <a:r>
              <a:rPr lang="en">
                <a:solidFill>
                  <a:schemeClr val="dk2"/>
                </a:solidFill>
              </a:rPr>
              <a:t>) )</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Clr>
                <a:schemeClr val="dk1"/>
              </a:buClr>
              <a:buSzPts val="1100"/>
              <a:buFont typeface="Arial"/>
              <a:buNone/>
            </a:pPr>
            <a:r>
              <a:rPr lang="en">
                <a:solidFill>
                  <a:schemeClr val="dk2"/>
                </a:solidFill>
              </a:rPr>
              <a:t>this selects the class with the largest output to be the predicted class</a:t>
            </a:r>
            <a:endParaRPr>
              <a:solidFill>
                <a:schemeClr val="dk2"/>
              </a:solidFill>
            </a:endParaRPr>
          </a:p>
        </p:txBody>
      </p:sp>
      <p:grpSp>
        <p:nvGrpSpPr>
          <p:cNvPr id="1094" name="Google Shape;1094;p46"/>
          <p:cNvGrpSpPr/>
          <p:nvPr/>
        </p:nvGrpSpPr>
        <p:grpSpPr>
          <a:xfrm>
            <a:off x="6549750" y="972400"/>
            <a:ext cx="2079950" cy="3046200"/>
            <a:chOff x="3054250" y="986325"/>
            <a:chExt cx="2079950" cy="3046200"/>
          </a:xfrm>
        </p:grpSpPr>
        <p:sp>
          <p:nvSpPr>
            <p:cNvPr id="1095" name="Google Shape;1095;p46"/>
            <p:cNvSpPr txBox="1"/>
            <p:nvPr/>
          </p:nvSpPr>
          <p:spPr>
            <a:xfrm>
              <a:off x="3120600" y="986775"/>
              <a:ext cx="2013600" cy="30318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rPr>
                <a:t>output layer</a:t>
              </a:r>
              <a:endParaRPr b="1">
                <a:solidFill>
                  <a:schemeClr val="dk1"/>
                </a:solidFill>
              </a:endParaRPr>
            </a:p>
          </p:txBody>
        </p:sp>
        <p:grpSp>
          <p:nvGrpSpPr>
            <p:cNvPr id="1096" name="Google Shape;1096;p46"/>
            <p:cNvGrpSpPr/>
            <p:nvPr/>
          </p:nvGrpSpPr>
          <p:grpSpPr>
            <a:xfrm>
              <a:off x="3081175" y="1375000"/>
              <a:ext cx="1957625" cy="1903700"/>
              <a:chOff x="6361625" y="1626625"/>
              <a:chExt cx="1957625" cy="1903700"/>
            </a:xfrm>
          </p:grpSpPr>
          <p:sp>
            <p:nvSpPr>
              <p:cNvPr id="1097" name="Google Shape;1097;p46"/>
              <p:cNvSpPr/>
              <p:nvPr/>
            </p:nvSpPr>
            <p:spPr>
              <a:xfrm>
                <a:off x="6633100" y="234987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98" name="Google Shape;1098;p46"/>
              <p:cNvSpPr/>
              <p:nvPr/>
            </p:nvSpPr>
            <p:spPr>
              <a:xfrm>
                <a:off x="8024450" y="2452524"/>
                <a:ext cx="271800" cy="251100"/>
              </a:xfrm>
              <a:prstGeom prst="ellipse">
                <a:avLst/>
              </a:prstGeom>
              <a:solidFill>
                <a:srgbClr val="949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99" name="Google Shape;1099;p46"/>
              <p:cNvSpPr txBox="1"/>
              <p:nvPr/>
            </p:nvSpPr>
            <p:spPr>
              <a:xfrm>
                <a:off x="7776850" y="1626625"/>
                <a:ext cx="54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ɸ</a:t>
                </a:r>
                <a:r>
                  <a:rPr lang="en">
                    <a:solidFill>
                      <a:schemeClr val="dk1"/>
                    </a:solidFill>
                  </a:rPr>
                  <a:t> </a:t>
                </a:r>
                <a:r>
                  <a:rPr baseline="30000" lang="en">
                    <a:solidFill>
                      <a:schemeClr val="dk1"/>
                    </a:solidFill>
                  </a:rPr>
                  <a:t>(k)</a:t>
                </a:r>
                <a:endParaRPr>
                  <a:solidFill>
                    <a:schemeClr val="dk1"/>
                  </a:solidFill>
                </a:endParaRPr>
              </a:p>
            </p:txBody>
          </p:sp>
          <p:cxnSp>
            <p:nvCxnSpPr>
              <p:cNvPr id="1100" name="Google Shape;1100;p46"/>
              <p:cNvCxnSpPr>
                <a:stCxn id="1101" idx="3"/>
                <a:endCxn id="1098" idx="2"/>
              </p:cNvCxnSpPr>
              <p:nvPr/>
            </p:nvCxnSpPr>
            <p:spPr>
              <a:xfrm>
                <a:off x="7167838" y="2554225"/>
                <a:ext cx="856500" cy="23700"/>
              </a:xfrm>
              <a:prstGeom prst="straightConnector1">
                <a:avLst/>
              </a:prstGeom>
              <a:noFill/>
              <a:ln cap="flat" cmpd="sng" w="9525">
                <a:solidFill>
                  <a:schemeClr val="dk2"/>
                </a:solidFill>
                <a:prstDash val="solid"/>
                <a:round/>
                <a:headEnd len="med" w="med" type="none"/>
                <a:tailEnd len="med" w="med" type="none"/>
              </a:ln>
            </p:spPr>
          </p:cxnSp>
          <p:sp>
            <p:nvSpPr>
              <p:cNvPr id="1101" name="Google Shape;1101;p46"/>
              <p:cNvSpPr txBox="1"/>
              <p:nvPr/>
            </p:nvSpPr>
            <p:spPr>
              <a:xfrm>
                <a:off x="6577138" y="2354125"/>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lt1"/>
                    </a:solidFill>
                  </a:rPr>
                  <a:t>Z</a:t>
                </a:r>
                <a:r>
                  <a:rPr b="1" baseline="-25000" lang="en">
                    <a:solidFill>
                      <a:schemeClr val="lt1"/>
                    </a:solidFill>
                  </a:rPr>
                  <a:t>2</a:t>
                </a:r>
                <a:r>
                  <a:rPr baseline="30000" lang="en">
                    <a:solidFill>
                      <a:schemeClr val="lt1"/>
                    </a:solidFill>
                  </a:rPr>
                  <a:t>(k)</a:t>
                </a:r>
                <a:endParaRPr>
                  <a:solidFill>
                    <a:schemeClr val="lt1"/>
                  </a:solidFill>
                </a:endParaRPr>
              </a:p>
            </p:txBody>
          </p:sp>
          <p:sp>
            <p:nvSpPr>
              <p:cNvPr id="1102" name="Google Shape;1102;p46"/>
              <p:cNvSpPr txBox="1"/>
              <p:nvPr/>
            </p:nvSpPr>
            <p:spPr>
              <a:xfrm>
                <a:off x="8024475" y="2371650"/>
                <a:ext cx="27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ŷ</a:t>
                </a:r>
                <a:endParaRPr>
                  <a:solidFill>
                    <a:schemeClr val="lt1"/>
                  </a:solidFill>
                </a:endParaRPr>
              </a:p>
            </p:txBody>
          </p:sp>
          <p:sp>
            <p:nvSpPr>
              <p:cNvPr id="1103" name="Google Shape;1103;p46"/>
              <p:cNvSpPr/>
              <p:nvPr/>
            </p:nvSpPr>
            <p:spPr>
              <a:xfrm>
                <a:off x="6633100" y="3068025"/>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04" name="Google Shape;1104;p46"/>
              <p:cNvSpPr txBox="1"/>
              <p:nvPr/>
            </p:nvSpPr>
            <p:spPr>
              <a:xfrm>
                <a:off x="6577138" y="3099075"/>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lt1"/>
                    </a:solidFill>
                  </a:rPr>
                  <a:t>Z</a:t>
                </a:r>
                <a:r>
                  <a:rPr b="1" baseline="-25000" lang="en">
                    <a:solidFill>
                      <a:schemeClr val="lt1"/>
                    </a:solidFill>
                  </a:rPr>
                  <a:t>C</a:t>
                </a:r>
                <a:r>
                  <a:rPr baseline="30000" lang="en">
                    <a:solidFill>
                      <a:schemeClr val="lt1"/>
                    </a:solidFill>
                  </a:rPr>
                  <a:t>(k)</a:t>
                </a:r>
                <a:endParaRPr>
                  <a:solidFill>
                    <a:schemeClr val="lt1"/>
                  </a:solidFill>
                </a:endParaRPr>
              </a:p>
            </p:txBody>
          </p:sp>
          <p:sp>
            <p:nvSpPr>
              <p:cNvPr id="1105" name="Google Shape;1105;p46"/>
              <p:cNvSpPr/>
              <p:nvPr/>
            </p:nvSpPr>
            <p:spPr>
              <a:xfrm>
                <a:off x="6620650" y="1836950"/>
                <a:ext cx="478800" cy="4623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06" name="Google Shape;1106;p46"/>
              <p:cNvSpPr txBox="1"/>
              <p:nvPr/>
            </p:nvSpPr>
            <p:spPr>
              <a:xfrm>
                <a:off x="6577138" y="1868000"/>
                <a:ext cx="590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lt1"/>
                    </a:solidFill>
                  </a:rPr>
                  <a:t>Z</a:t>
                </a:r>
                <a:r>
                  <a:rPr b="1" baseline="-25000" lang="en">
                    <a:solidFill>
                      <a:schemeClr val="lt1"/>
                    </a:solidFill>
                  </a:rPr>
                  <a:t>1</a:t>
                </a:r>
                <a:r>
                  <a:rPr b="1" baseline="30000" lang="en">
                    <a:solidFill>
                      <a:schemeClr val="lt1"/>
                    </a:solidFill>
                  </a:rPr>
                  <a:t>(</a:t>
                </a:r>
                <a:r>
                  <a:rPr baseline="30000" lang="en">
                    <a:solidFill>
                      <a:schemeClr val="lt1"/>
                    </a:solidFill>
                  </a:rPr>
                  <a:t>k)</a:t>
                </a:r>
                <a:endParaRPr>
                  <a:solidFill>
                    <a:schemeClr val="lt1"/>
                  </a:solidFill>
                </a:endParaRPr>
              </a:p>
            </p:txBody>
          </p:sp>
          <p:sp>
            <p:nvSpPr>
              <p:cNvPr id="1107" name="Google Shape;1107;p46"/>
              <p:cNvSpPr txBox="1"/>
              <p:nvPr/>
            </p:nvSpPr>
            <p:spPr>
              <a:xfrm rot="5400000">
                <a:off x="6814450" y="2851525"/>
                <a:ext cx="327300" cy="24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baseline="-25000" lang="en">
                    <a:solidFill>
                      <a:schemeClr val="dk1"/>
                    </a:solidFill>
                  </a:rPr>
                  <a:t>…</a:t>
                </a:r>
                <a:endParaRPr>
                  <a:solidFill>
                    <a:schemeClr val="dk1"/>
                  </a:solidFill>
                </a:endParaRPr>
              </a:p>
            </p:txBody>
          </p:sp>
          <p:grpSp>
            <p:nvGrpSpPr>
              <p:cNvPr id="1108" name="Google Shape;1108;p46"/>
              <p:cNvGrpSpPr/>
              <p:nvPr/>
            </p:nvGrpSpPr>
            <p:grpSpPr>
              <a:xfrm>
                <a:off x="6361625" y="2068100"/>
                <a:ext cx="271815" cy="1231075"/>
                <a:chOff x="6122650" y="2068100"/>
                <a:chExt cx="510450" cy="1231075"/>
              </a:xfrm>
            </p:grpSpPr>
            <p:cxnSp>
              <p:nvCxnSpPr>
                <p:cNvPr id="1109" name="Google Shape;1109;p46"/>
                <p:cNvCxnSpPr/>
                <p:nvPr/>
              </p:nvCxnSpPr>
              <p:spPr>
                <a:xfrm flipH="1">
                  <a:off x="6122650" y="2068100"/>
                  <a:ext cx="498000" cy="5400"/>
                </a:xfrm>
                <a:prstGeom prst="straightConnector1">
                  <a:avLst/>
                </a:prstGeom>
                <a:noFill/>
                <a:ln cap="flat" cmpd="sng" w="9525">
                  <a:solidFill>
                    <a:schemeClr val="dk2"/>
                  </a:solidFill>
                  <a:prstDash val="solid"/>
                  <a:round/>
                  <a:headEnd len="med" w="med" type="none"/>
                  <a:tailEnd len="med" w="med" type="none"/>
                </a:ln>
              </p:spPr>
            </p:cxnSp>
            <p:cxnSp>
              <p:nvCxnSpPr>
                <p:cNvPr id="1110" name="Google Shape;1110;p46"/>
                <p:cNvCxnSpPr/>
                <p:nvPr/>
              </p:nvCxnSpPr>
              <p:spPr>
                <a:xfrm rot="10800000">
                  <a:off x="6140800" y="2073725"/>
                  <a:ext cx="492300" cy="507300"/>
                </a:xfrm>
                <a:prstGeom prst="straightConnector1">
                  <a:avLst/>
                </a:prstGeom>
                <a:noFill/>
                <a:ln cap="flat" cmpd="sng" w="9525">
                  <a:solidFill>
                    <a:schemeClr val="dk2"/>
                  </a:solidFill>
                  <a:prstDash val="solid"/>
                  <a:round/>
                  <a:headEnd len="med" w="med" type="none"/>
                  <a:tailEnd len="med" w="med" type="none"/>
                </a:ln>
              </p:spPr>
            </p:cxnSp>
            <p:cxnSp>
              <p:nvCxnSpPr>
                <p:cNvPr id="1111" name="Google Shape;1111;p46"/>
                <p:cNvCxnSpPr/>
                <p:nvPr/>
              </p:nvCxnSpPr>
              <p:spPr>
                <a:xfrm rot="10800000">
                  <a:off x="6149800" y="2082675"/>
                  <a:ext cx="483300" cy="1216500"/>
                </a:xfrm>
                <a:prstGeom prst="straightConnector1">
                  <a:avLst/>
                </a:prstGeom>
                <a:noFill/>
                <a:ln cap="flat" cmpd="sng" w="9525">
                  <a:solidFill>
                    <a:schemeClr val="dk2"/>
                  </a:solidFill>
                  <a:prstDash val="solid"/>
                  <a:round/>
                  <a:headEnd len="med" w="med" type="none"/>
                  <a:tailEnd len="med" w="med" type="none"/>
                </a:ln>
              </p:spPr>
            </p:cxnSp>
            <p:cxnSp>
              <p:nvCxnSpPr>
                <p:cNvPr id="1112" name="Google Shape;1112;p46"/>
                <p:cNvCxnSpPr/>
                <p:nvPr/>
              </p:nvCxnSpPr>
              <p:spPr>
                <a:xfrm flipH="1">
                  <a:off x="6122650" y="2068100"/>
                  <a:ext cx="498000" cy="580500"/>
                </a:xfrm>
                <a:prstGeom prst="straightConnector1">
                  <a:avLst/>
                </a:prstGeom>
                <a:noFill/>
                <a:ln cap="flat" cmpd="sng" w="9525">
                  <a:solidFill>
                    <a:schemeClr val="dk2"/>
                  </a:solidFill>
                  <a:prstDash val="solid"/>
                  <a:round/>
                  <a:headEnd len="med" w="med" type="none"/>
                  <a:tailEnd len="med" w="med" type="none"/>
                </a:ln>
              </p:spPr>
            </p:cxnSp>
            <p:cxnSp>
              <p:nvCxnSpPr>
                <p:cNvPr id="1113" name="Google Shape;1113;p46"/>
                <p:cNvCxnSpPr/>
                <p:nvPr/>
              </p:nvCxnSpPr>
              <p:spPr>
                <a:xfrm flipH="1">
                  <a:off x="6167800" y="2581025"/>
                  <a:ext cx="465300" cy="58800"/>
                </a:xfrm>
                <a:prstGeom prst="straightConnector1">
                  <a:avLst/>
                </a:prstGeom>
                <a:noFill/>
                <a:ln cap="flat" cmpd="sng" w="9525">
                  <a:solidFill>
                    <a:schemeClr val="dk2"/>
                  </a:solidFill>
                  <a:prstDash val="solid"/>
                  <a:round/>
                  <a:headEnd len="med" w="med" type="none"/>
                  <a:tailEnd len="med" w="med" type="none"/>
                </a:ln>
              </p:spPr>
            </p:cxnSp>
            <p:cxnSp>
              <p:nvCxnSpPr>
                <p:cNvPr id="1114" name="Google Shape;1114;p46"/>
                <p:cNvCxnSpPr/>
                <p:nvPr/>
              </p:nvCxnSpPr>
              <p:spPr>
                <a:xfrm rot="10800000">
                  <a:off x="6176800" y="2648775"/>
                  <a:ext cx="456300" cy="650400"/>
                </a:xfrm>
                <a:prstGeom prst="straightConnector1">
                  <a:avLst/>
                </a:prstGeom>
                <a:noFill/>
                <a:ln cap="flat" cmpd="sng" w="9525">
                  <a:solidFill>
                    <a:schemeClr val="dk2"/>
                  </a:solidFill>
                  <a:prstDash val="solid"/>
                  <a:round/>
                  <a:headEnd len="med" w="med" type="none"/>
                  <a:tailEnd len="med" w="med" type="none"/>
                </a:ln>
              </p:spPr>
            </p:cxnSp>
            <p:cxnSp>
              <p:nvCxnSpPr>
                <p:cNvPr id="1115" name="Google Shape;1115;p46"/>
                <p:cNvCxnSpPr/>
                <p:nvPr/>
              </p:nvCxnSpPr>
              <p:spPr>
                <a:xfrm rot="10800000">
                  <a:off x="6167800" y="3214875"/>
                  <a:ext cx="465300" cy="84300"/>
                </a:xfrm>
                <a:prstGeom prst="straightConnector1">
                  <a:avLst/>
                </a:prstGeom>
                <a:noFill/>
                <a:ln cap="flat" cmpd="sng" w="9525">
                  <a:solidFill>
                    <a:schemeClr val="dk2"/>
                  </a:solidFill>
                  <a:prstDash val="solid"/>
                  <a:round/>
                  <a:headEnd len="med" w="med" type="none"/>
                  <a:tailEnd len="med" w="med" type="none"/>
                </a:ln>
              </p:spPr>
            </p:cxnSp>
            <p:cxnSp>
              <p:nvCxnSpPr>
                <p:cNvPr id="1116" name="Google Shape;1116;p46"/>
                <p:cNvCxnSpPr/>
                <p:nvPr/>
              </p:nvCxnSpPr>
              <p:spPr>
                <a:xfrm flipH="1">
                  <a:off x="6203500" y="2581025"/>
                  <a:ext cx="429600" cy="633900"/>
                </a:xfrm>
                <a:prstGeom prst="straightConnector1">
                  <a:avLst/>
                </a:prstGeom>
                <a:noFill/>
                <a:ln cap="flat" cmpd="sng" w="9525">
                  <a:solidFill>
                    <a:schemeClr val="dk2"/>
                  </a:solidFill>
                  <a:prstDash val="solid"/>
                  <a:round/>
                  <a:headEnd len="med" w="med" type="none"/>
                  <a:tailEnd len="med" w="med" type="none"/>
                </a:ln>
              </p:spPr>
            </p:cxnSp>
            <p:cxnSp>
              <p:nvCxnSpPr>
                <p:cNvPr id="1117" name="Google Shape;1117;p46"/>
                <p:cNvCxnSpPr/>
                <p:nvPr/>
              </p:nvCxnSpPr>
              <p:spPr>
                <a:xfrm flipH="1">
                  <a:off x="6212650" y="2068100"/>
                  <a:ext cx="408000" cy="1146600"/>
                </a:xfrm>
                <a:prstGeom prst="straightConnector1">
                  <a:avLst/>
                </a:prstGeom>
                <a:noFill/>
                <a:ln cap="flat" cmpd="sng" w="9525">
                  <a:solidFill>
                    <a:schemeClr val="dk2"/>
                  </a:solidFill>
                  <a:prstDash val="solid"/>
                  <a:round/>
                  <a:headEnd len="med" w="med" type="none"/>
                  <a:tailEnd len="med" w="med" type="none"/>
                </a:ln>
              </p:spPr>
            </p:cxnSp>
          </p:grpSp>
        </p:grpSp>
        <p:sp>
          <p:nvSpPr>
            <p:cNvPr id="1118" name="Google Shape;1118;p46"/>
            <p:cNvSpPr/>
            <p:nvPr/>
          </p:nvSpPr>
          <p:spPr>
            <a:xfrm>
              <a:off x="3054250" y="986325"/>
              <a:ext cx="66300" cy="304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cxnSp>
        <p:nvCxnSpPr>
          <p:cNvPr id="1119" name="Google Shape;1119;p46"/>
          <p:cNvCxnSpPr>
            <a:endCxn id="1102" idx="1"/>
          </p:cNvCxnSpPr>
          <p:nvPr/>
        </p:nvCxnSpPr>
        <p:spPr>
          <a:xfrm>
            <a:off x="7284625" y="1832200"/>
            <a:ext cx="954900" cy="474000"/>
          </a:xfrm>
          <a:prstGeom prst="straightConnector1">
            <a:avLst/>
          </a:prstGeom>
          <a:noFill/>
          <a:ln cap="flat" cmpd="sng" w="9525">
            <a:solidFill>
              <a:schemeClr val="dk2"/>
            </a:solidFill>
            <a:prstDash val="solid"/>
            <a:round/>
            <a:headEnd len="med" w="med" type="none"/>
            <a:tailEnd len="med" w="med" type="none"/>
          </a:ln>
        </p:spPr>
      </p:cxnSp>
      <p:cxnSp>
        <p:nvCxnSpPr>
          <p:cNvPr id="1120" name="Google Shape;1120;p46"/>
          <p:cNvCxnSpPr>
            <a:endCxn id="1102" idx="1"/>
          </p:cNvCxnSpPr>
          <p:nvPr/>
        </p:nvCxnSpPr>
        <p:spPr>
          <a:xfrm flipH="1" rot="10800000">
            <a:off x="7315225" y="2306200"/>
            <a:ext cx="924300" cy="7029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47"/>
          <p:cNvSpPr txBox="1"/>
          <p:nvPr/>
        </p:nvSpPr>
        <p:spPr>
          <a:xfrm>
            <a:off x="1117250" y="1553850"/>
            <a:ext cx="3351600" cy="2154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2200">
                <a:solidFill>
                  <a:schemeClr val="dk2"/>
                </a:solidFill>
                <a:latin typeface="Staatliches"/>
                <a:ea typeface="Staatliches"/>
                <a:cs typeface="Staatliches"/>
                <a:sym typeface="Staatliches"/>
              </a:rPr>
              <a:t>other output layer architectures</a:t>
            </a:r>
            <a:endParaRPr sz="2200">
              <a:solidFill>
                <a:schemeClr val="dk2"/>
              </a:solidFill>
              <a:latin typeface="Staatliches"/>
              <a:ea typeface="Staatliches"/>
              <a:cs typeface="Staatliches"/>
              <a:sym typeface="Staatliches"/>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for image generation, the output layer has a </a:t>
            </a:r>
            <a:r>
              <a:rPr b="1" lang="en">
                <a:solidFill>
                  <a:schemeClr val="dk2"/>
                </a:solidFill>
              </a:rPr>
              <a:t>neuron for each pixel</a:t>
            </a:r>
            <a:endParaRPr b="1">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for text generation, the output layer has a </a:t>
            </a:r>
            <a:r>
              <a:rPr b="1" lang="en">
                <a:solidFill>
                  <a:schemeClr val="dk2"/>
                </a:solidFill>
              </a:rPr>
              <a:t>neuron for each word</a:t>
            </a:r>
            <a:r>
              <a:rPr lang="en">
                <a:solidFill>
                  <a:schemeClr val="dk2"/>
                </a:solidFill>
              </a:rPr>
              <a:t> or letter</a:t>
            </a:r>
            <a:endParaRPr>
              <a:solidFill>
                <a:schemeClr val="dk2"/>
              </a:solidFill>
            </a:endParaRPr>
          </a:p>
        </p:txBody>
      </p:sp>
      <p:sp>
        <p:nvSpPr>
          <p:cNvPr id="1126" name="Google Shape;1126;p47"/>
          <p:cNvSpPr txBox="1"/>
          <p:nvPr/>
        </p:nvSpPr>
        <p:spPr>
          <a:xfrm>
            <a:off x="4780825" y="1553850"/>
            <a:ext cx="3351600" cy="2154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2"/>
                </a:solidFill>
                <a:latin typeface="Staatliches"/>
                <a:ea typeface="Staatliches"/>
                <a:cs typeface="Staatliches"/>
                <a:sym typeface="Staatliches"/>
              </a:rPr>
              <a:t>training optimization</a:t>
            </a:r>
            <a:endParaRPr sz="2100">
              <a:solidFill>
                <a:schemeClr val="dk2"/>
              </a:solidFill>
              <a:latin typeface="Staatliches"/>
              <a:ea typeface="Staatliches"/>
              <a:cs typeface="Staatliches"/>
              <a:sym typeface="Staatliches"/>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b="1" lang="en">
                <a:solidFill>
                  <a:schemeClr val="dk2"/>
                </a:solidFill>
              </a:rPr>
              <a:t>decrease learning rate</a:t>
            </a:r>
            <a:r>
              <a:rPr lang="en">
                <a:solidFill>
                  <a:schemeClr val="dk2"/>
                </a:solidFill>
              </a:rPr>
              <a:t> for each epoch/example</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use </a:t>
            </a:r>
            <a:r>
              <a:rPr b="1" lang="en">
                <a:solidFill>
                  <a:schemeClr val="dk2"/>
                </a:solidFill>
              </a:rPr>
              <a:t>regularization</a:t>
            </a:r>
            <a:r>
              <a:rPr lang="en">
                <a:solidFill>
                  <a:schemeClr val="dk2"/>
                </a:solidFill>
              </a:rPr>
              <a:t>: add term to cost function to penalize large values for weights/biases; helps with overfitting</a:t>
            </a:r>
            <a:endParaRPr>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1130" name="Shape 1130"/>
        <p:cNvGrpSpPr/>
        <p:nvPr/>
      </p:nvGrpSpPr>
      <p:grpSpPr>
        <a:xfrm>
          <a:off x="0" y="0"/>
          <a:ext cx="0" cy="0"/>
          <a:chOff x="0" y="0"/>
          <a:chExt cx="0" cy="0"/>
        </a:xfrm>
      </p:grpSpPr>
      <p:sp>
        <p:nvSpPr>
          <p:cNvPr id="1131" name="Google Shape;1131;p48"/>
          <p:cNvSpPr txBox="1"/>
          <p:nvPr/>
        </p:nvSpPr>
        <p:spPr>
          <a:xfrm>
            <a:off x="640725" y="318125"/>
            <a:ext cx="6930000" cy="10650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5750">
                <a:solidFill>
                  <a:schemeClr val="lt1"/>
                </a:solidFill>
                <a:latin typeface="Staatliches"/>
                <a:ea typeface="Staatliches"/>
                <a:cs typeface="Staatliches"/>
                <a:sym typeface="Staatliches"/>
              </a:rPr>
              <a:t>HW9#4</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p:txBody>
      </p:sp>
      <p:pic>
        <p:nvPicPr>
          <p:cNvPr id="1132" name="Google Shape;1132;p48" title="Screenshot 2025-04-15 at 8.23.53 PM.png"/>
          <p:cNvPicPr preferRelativeResize="0"/>
          <p:nvPr/>
        </p:nvPicPr>
        <p:blipFill>
          <a:blip r:embed="rId3">
            <a:alphaModFix/>
          </a:blip>
          <a:stretch>
            <a:fillRect/>
          </a:stretch>
        </p:blipFill>
        <p:spPr>
          <a:xfrm>
            <a:off x="915075" y="1199173"/>
            <a:ext cx="7466924" cy="1901475"/>
          </a:xfrm>
          <a:prstGeom prst="rect">
            <a:avLst/>
          </a:prstGeom>
          <a:noFill/>
          <a:ln>
            <a:noFill/>
          </a:ln>
        </p:spPr>
      </p:pic>
      <p:pic>
        <p:nvPicPr>
          <p:cNvPr id="1133" name="Google Shape;1133;p48" title="Screenshot 2025-04-15 at 8.25.32 PM.png"/>
          <p:cNvPicPr preferRelativeResize="0"/>
          <p:nvPr/>
        </p:nvPicPr>
        <p:blipFill rotWithShape="1">
          <a:blip r:embed="rId4">
            <a:alphaModFix/>
          </a:blip>
          <a:srcRect b="10112" l="0" r="3781" t="0"/>
          <a:stretch/>
        </p:blipFill>
        <p:spPr>
          <a:xfrm>
            <a:off x="915075" y="2839600"/>
            <a:ext cx="7466926" cy="1382425"/>
          </a:xfrm>
          <a:prstGeom prst="rect">
            <a:avLst/>
          </a:prstGeom>
          <a:noFill/>
          <a:ln>
            <a:noFill/>
          </a:ln>
        </p:spPr>
      </p:pic>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1134" name="Google Shape;1134;p48" title="synthwave radio 🌌 - beats to chill/game to">
            <a:hlinkClick r:id="rId5"/>
          </p:cNvPr>
          <p:cNvPicPr preferRelativeResize="0"/>
          <p:nvPr/>
        </p:nvPicPr>
        <p:blipFill>
          <a:blip r:embed="rId6">
            <a:alphaModFix/>
          </a:blip>
          <a:stretch>
            <a:fillRect/>
          </a:stretch>
        </p:blipFill>
        <p:spPr>
          <a:xfrm>
            <a:off x="135850" y="4657597"/>
            <a:ext cx="561450" cy="31581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8" name="Shape 1138"/>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1139" name="Google Shape;1139;p49"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
        <p:nvSpPr>
          <p:cNvPr id="1140" name="Google Shape;1140;p49"/>
          <p:cNvSpPr/>
          <p:nvPr/>
        </p:nvSpPr>
        <p:spPr>
          <a:xfrm>
            <a:off x="2166300" y="1146750"/>
            <a:ext cx="4811400" cy="2850000"/>
          </a:xfrm>
          <a:prstGeom prst="roundRect">
            <a:avLst>
              <a:gd fmla="val 16667" name="adj"/>
            </a:avLst>
          </a:prstGeom>
          <a:solidFill>
            <a:srgbClr val="9D9F24"/>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 sz="4950">
                <a:solidFill>
                  <a:schemeClr val="dk1"/>
                </a:solidFill>
                <a:latin typeface="Staatliches"/>
                <a:ea typeface="Staatliches"/>
                <a:cs typeface="Staatliches"/>
                <a:sym typeface="Staatliches"/>
              </a:rPr>
              <a:t>Machine Learning</a:t>
            </a:r>
            <a:endParaRPr sz="495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2538">
                <a:solidFill>
                  <a:schemeClr val="dk1"/>
                </a:solidFill>
                <a:latin typeface="Staatliches"/>
                <a:ea typeface="Staatliches"/>
                <a:cs typeface="Staatliches"/>
                <a:sym typeface="Staatliches"/>
              </a:rPr>
              <a:t>With python</a:t>
            </a:r>
            <a:endParaRPr sz="2538">
              <a:solidFill>
                <a:schemeClr val="dk1"/>
              </a:solidFill>
              <a:latin typeface="Staatliches"/>
              <a:ea typeface="Staatliches"/>
              <a:cs typeface="Staatliches"/>
              <a:sym typeface="Staatliches"/>
            </a:endParaRPr>
          </a:p>
          <a:p>
            <a:pPr indent="0" lvl="0" marL="0" rtl="0" algn="l">
              <a:lnSpc>
                <a:spcPct val="80000"/>
              </a:lnSpc>
              <a:spcBef>
                <a:spcPts val="0"/>
              </a:spcBef>
              <a:spcAft>
                <a:spcPts val="0"/>
              </a:spcAft>
              <a:buClr>
                <a:schemeClr val="dk1"/>
              </a:buClr>
              <a:buSzPts val="1100"/>
              <a:buFont typeface="Arial"/>
              <a:buNone/>
            </a:pPr>
            <a:r>
              <a:t/>
            </a:r>
            <a:endParaRPr sz="400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4422">
                <a:solidFill>
                  <a:schemeClr val="lt1"/>
                </a:solidFill>
                <a:latin typeface="Staatliches"/>
                <a:ea typeface="Staatliches"/>
                <a:cs typeface="Staatliches"/>
                <a:sym typeface="Staatliches"/>
              </a:rPr>
              <a:t>NN</a:t>
            </a:r>
            <a:r>
              <a:rPr b="1" lang="en" sz="3522">
                <a:solidFill>
                  <a:schemeClr val="lt1"/>
                </a:solidFill>
                <a:latin typeface="Source Code Pro"/>
                <a:ea typeface="Source Code Pro"/>
                <a:cs typeface="Source Code Pro"/>
                <a:sym typeface="Source Code Pro"/>
              </a:rPr>
              <a:t>2</a:t>
            </a:r>
            <a:r>
              <a:rPr b="1" lang="en" sz="3522">
                <a:solidFill>
                  <a:schemeClr val="lt1"/>
                </a:solidFill>
              </a:rPr>
              <a:t>.</a:t>
            </a:r>
            <a:r>
              <a:rPr b="1" lang="en" sz="3522">
                <a:solidFill>
                  <a:schemeClr val="lt1"/>
                </a:solidFill>
                <a:latin typeface="Source Code Pro"/>
                <a:ea typeface="Source Code Pro"/>
                <a:cs typeface="Source Code Pro"/>
                <a:sym typeface="Source Code Pro"/>
              </a:rPr>
              <a:t>5</a:t>
            </a:r>
            <a:r>
              <a:rPr lang="en" sz="4422">
                <a:solidFill>
                  <a:schemeClr val="dk1"/>
                </a:solidFill>
                <a:latin typeface="Staatliches"/>
                <a:ea typeface="Staatliches"/>
                <a:cs typeface="Staatliches"/>
                <a:sym typeface="Staatliches"/>
              </a:rPr>
              <a:t>: Neural Nets</a:t>
            </a:r>
            <a:r>
              <a:rPr lang="en" sz="3222">
                <a:solidFill>
                  <a:schemeClr val="dk1"/>
                </a:solidFill>
                <a:latin typeface="Staatliches"/>
                <a:ea typeface="Staatliches"/>
                <a:cs typeface="Staatliches"/>
                <a:sym typeface="Staatliches"/>
              </a:rPr>
              <a:t> </a:t>
            </a:r>
            <a:endParaRPr sz="3222">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a:solidFill>
                  <a:schemeClr val="dk1"/>
                </a:solidFill>
              </a:rPr>
              <a:t>some interesting applications</a:t>
            </a:r>
            <a:endParaRPr>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pic>
        <p:nvPicPr>
          <p:cNvPr descr="Teachable Machine 2.0 makes it fast and easy to create machine learning models for your projects, no coding required. Train a computer to recognize your images, sounds, &amp; poses, then export your model for your sites, apps, and more → https://g.co/teachablemachine" id="1145" name="Google Shape;1145;p50" title="Teachable Machine 2.0: Making AI easier for everyone">
            <a:hlinkClick r:id="rId3"/>
          </p:cNvPr>
          <p:cNvPicPr preferRelativeResize="0"/>
          <p:nvPr/>
        </p:nvPicPr>
        <p:blipFill>
          <a:blip r:embed="rId4">
            <a:alphaModFix/>
          </a:blip>
          <a:stretch>
            <a:fillRect/>
          </a:stretch>
        </p:blipFill>
        <p:spPr>
          <a:xfrm>
            <a:off x="1172238" y="659375"/>
            <a:ext cx="6799525" cy="3824750"/>
          </a:xfrm>
          <a:prstGeom prst="rect">
            <a:avLst/>
          </a:prstGeom>
          <a:noFill/>
          <a:ln>
            <a:noFill/>
          </a:ln>
        </p:spPr>
      </p:pic>
      <p:sp>
        <p:nvSpPr>
          <p:cNvPr id="1146" name="Google Shape;1146;p50"/>
          <p:cNvSpPr txBox="1"/>
          <p:nvPr/>
        </p:nvSpPr>
        <p:spPr>
          <a:xfrm>
            <a:off x="2416450" y="4527900"/>
            <a:ext cx="474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Let’s see an example with pens and pencils (click </a:t>
            </a:r>
            <a:r>
              <a:rPr lang="en" u="sng">
                <a:solidFill>
                  <a:schemeClr val="hlink"/>
                </a:solidFill>
                <a:hlinkClick r:id="rId5"/>
              </a:rPr>
              <a:t>link</a:t>
            </a:r>
            <a:r>
              <a:rPr lang="en"/>
              <a:t>)</a:t>
            </a:r>
            <a:endParaRPr/>
          </a:p>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gtEl>
                                        <p:attrNameLst>
                                          <p:attrName>style.visibility</p:attrName>
                                        </p:attrNameLst>
                                      </p:cBhvr>
                                      <p:to>
                                        <p:strVal val="visible"/>
                                      </p:to>
                                    </p:set>
                                    <p:animEffect filter="fade" transition="in">
                                      <p:cBhvr>
                                        <p:cTn dur="1000"/>
                                        <p:tgtEl>
                                          <p:spTgt spid="1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1150" name="Shape 1150"/>
        <p:cNvGrpSpPr/>
        <p:nvPr/>
      </p:nvGrpSpPr>
      <p:grpSpPr>
        <a:xfrm>
          <a:off x="0" y="0"/>
          <a:ext cx="0" cy="0"/>
          <a:chOff x="0" y="0"/>
          <a:chExt cx="0" cy="0"/>
        </a:xfrm>
      </p:grpSpPr>
      <p:sp>
        <p:nvSpPr>
          <p:cNvPr id="1151" name="Google Shape;1151;p51"/>
          <p:cNvSpPr txBox="1"/>
          <p:nvPr/>
        </p:nvSpPr>
        <p:spPr>
          <a:xfrm>
            <a:off x="1174125" y="699125"/>
            <a:ext cx="6930000" cy="31338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5750">
                <a:solidFill>
                  <a:schemeClr val="lt1"/>
                </a:solidFill>
                <a:latin typeface="Staatliches"/>
                <a:ea typeface="Staatliches"/>
                <a:cs typeface="Staatliches"/>
                <a:sym typeface="Staatliches"/>
              </a:rPr>
              <a:t>exercise</a:t>
            </a:r>
            <a:endParaRPr b="1" sz="5750">
              <a:solidFill>
                <a:schemeClr val="lt1"/>
              </a:solidFill>
              <a:latin typeface="Staatliches"/>
              <a:ea typeface="Staatliches"/>
              <a:cs typeface="Staatliches"/>
              <a:sym typeface="Staatliches"/>
            </a:endParaRPr>
          </a:p>
          <a:p>
            <a:pPr indent="0" lvl="0" marL="0" rtl="0" algn="l">
              <a:lnSpc>
                <a:spcPct val="80000"/>
              </a:lnSpc>
              <a:spcBef>
                <a:spcPts val="0"/>
              </a:spcBef>
              <a:spcAft>
                <a:spcPts val="0"/>
              </a:spcAft>
              <a:buNone/>
            </a:pPr>
            <a:r>
              <a:rPr lang="en">
                <a:solidFill>
                  <a:schemeClr val="lt1"/>
                </a:solidFill>
              </a:rPr>
              <a:t>Try out Teachable Machine for yourself. Here are some ideas for inspiration:</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317500" lvl="0" marL="457200" rtl="0" algn="l">
              <a:lnSpc>
                <a:spcPct val="80000"/>
              </a:lnSpc>
              <a:spcBef>
                <a:spcPts val="0"/>
              </a:spcBef>
              <a:spcAft>
                <a:spcPts val="0"/>
              </a:spcAft>
              <a:buClr>
                <a:schemeClr val="lt1"/>
              </a:buClr>
              <a:buSzPts val="1400"/>
              <a:buAutoNum type="arabicPeriod"/>
            </a:pPr>
            <a:r>
              <a:rPr lang="en">
                <a:solidFill>
                  <a:schemeClr val="lt1"/>
                </a:solidFill>
              </a:rPr>
              <a:t>Use video capture to take a bunch of selfies of happy and angry faces</a:t>
            </a:r>
            <a:endParaRPr>
              <a:solidFill>
                <a:schemeClr val="lt1"/>
              </a:solidFill>
            </a:endParaRPr>
          </a:p>
          <a:p>
            <a:pPr indent="-317500" lvl="0" marL="457200" rtl="0" algn="l">
              <a:lnSpc>
                <a:spcPct val="80000"/>
              </a:lnSpc>
              <a:spcBef>
                <a:spcPts val="0"/>
              </a:spcBef>
              <a:spcAft>
                <a:spcPts val="0"/>
              </a:spcAft>
              <a:buClr>
                <a:schemeClr val="lt1"/>
              </a:buClr>
              <a:buSzPts val="1400"/>
              <a:buAutoNum type="arabicPeriod"/>
            </a:pPr>
            <a:r>
              <a:rPr lang="en">
                <a:solidFill>
                  <a:schemeClr val="lt1"/>
                </a:solidFill>
              </a:rPr>
              <a:t>Use photo upload to determine whether a new image is a cat or a dog</a:t>
            </a:r>
            <a:endParaRPr>
              <a:solidFill>
                <a:schemeClr val="lt1"/>
              </a:solidFill>
            </a:endParaRPr>
          </a:p>
          <a:p>
            <a:pPr indent="0" lvl="0" marL="457200" rtl="0" algn="l">
              <a:lnSpc>
                <a:spcPct val="80000"/>
              </a:lnSpc>
              <a:spcBef>
                <a:spcPts val="0"/>
              </a:spcBef>
              <a:spcAft>
                <a:spcPts val="0"/>
              </a:spcAft>
              <a:buNone/>
            </a:pPr>
            <a:r>
              <a:t/>
            </a:r>
            <a:endParaRPr>
              <a:solidFill>
                <a:schemeClr val="lt1"/>
              </a:solidFill>
            </a:endParaRPr>
          </a:p>
          <a:p>
            <a:pPr indent="-317500" lvl="0" marL="457200" rtl="0" algn="l">
              <a:lnSpc>
                <a:spcPct val="80000"/>
              </a:lnSpc>
              <a:spcBef>
                <a:spcPts val="0"/>
              </a:spcBef>
              <a:spcAft>
                <a:spcPts val="0"/>
              </a:spcAft>
              <a:buClr>
                <a:schemeClr val="lt1"/>
              </a:buClr>
              <a:buSzPts val="1400"/>
              <a:buAutoNum type="arabicPeriod"/>
            </a:pPr>
            <a:r>
              <a:rPr lang="en">
                <a:solidFill>
                  <a:schemeClr val="lt1"/>
                </a:solidFill>
              </a:rPr>
              <a:t>Use audio feature to record claps and snaps</a:t>
            </a:r>
            <a:endParaRPr>
              <a:solidFill>
                <a:schemeClr val="lt1"/>
              </a:solidFill>
            </a:endParaRPr>
          </a:p>
          <a:p>
            <a:pPr indent="-317500" lvl="0" marL="457200" rtl="0" algn="l">
              <a:lnSpc>
                <a:spcPct val="80000"/>
              </a:lnSpc>
              <a:spcBef>
                <a:spcPts val="0"/>
              </a:spcBef>
              <a:spcAft>
                <a:spcPts val="0"/>
              </a:spcAft>
              <a:buClr>
                <a:schemeClr val="lt1"/>
              </a:buClr>
              <a:buSzPts val="1400"/>
              <a:buAutoNum type="arabicPeriod"/>
            </a:pPr>
            <a:r>
              <a:rPr lang="en">
                <a:solidFill>
                  <a:schemeClr val="lt1"/>
                </a:solidFill>
              </a:rPr>
              <a:t>Grab audio files from the internet of 2+ musical genres</a:t>
            </a:r>
            <a:endParaRPr>
              <a:solidFill>
                <a:schemeClr val="lt1"/>
              </a:solidFill>
            </a:endParaRPr>
          </a:p>
          <a:p>
            <a:pPr indent="0" lvl="0" marL="457200" rtl="0" algn="l">
              <a:lnSpc>
                <a:spcPct val="80000"/>
              </a:lnSpc>
              <a:spcBef>
                <a:spcPts val="0"/>
              </a:spcBef>
              <a:spcAft>
                <a:spcPts val="0"/>
              </a:spcAft>
              <a:buNone/>
            </a:pPr>
            <a:r>
              <a:t/>
            </a:r>
            <a:endParaRPr>
              <a:solidFill>
                <a:schemeClr val="lt1"/>
              </a:solidFill>
            </a:endParaRPr>
          </a:p>
          <a:p>
            <a:pPr indent="-317500" lvl="0" marL="457200" rtl="0" algn="l">
              <a:lnSpc>
                <a:spcPct val="80000"/>
              </a:lnSpc>
              <a:spcBef>
                <a:spcPts val="0"/>
              </a:spcBef>
              <a:spcAft>
                <a:spcPts val="0"/>
              </a:spcAft>
              <a:buClr>
                <a:schemeClr val="lt1"/>
              </a:buClr>
              <a:buSzPts val="1400"/>
              <a:buAutoNum type="arabicPeriod"/>
            </a:pPr>
            <a:r>
              <a:rPr lang="en">
                <a:solidFill>
                  <a:schemeClr val="lt1"/>
                </a:solidFill>
              </a:rPr>
              <a:t>Take videos of yourself doing heads-shoulders-knees-toes (each own class)</a:t>
            </a:r>
            <a:endParaRPr>
              <a:solidFill>
                <a:schemeClr val="lt1"/>
              </a:solidFill>
            </a:endParaRPr>
          </a:p>
          <a:p>
            <a:pPr indent="0" lvl="0" marL="45720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None/>
            </a:pPr>
            <a:r>
              <a:rPr lang="en">
                <a:solidFill>
                  <a:schemeClr val="lt1"/>
                </a:solidFill>
              </a:rPr>
              <a:t>There are also tutorials on the website you can try out too. They are published on Medium (paid service), but you can read 1-2 articles for free each month</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p:txBody>
      </p:sp>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1152" name="Google Shape;1152;p51" title="synthwave radio 🌌 - beats to chill/game to">
            <a:hlinkClick r:id="rId3"/>
          </p:cNvPr>
          <p:cNvPicPr preferRelativeResize="0"/>
          <p:nvPr/>
        </p:nvPicPr>
        <p:blipFill>
          <a:blip r:embed="rId4">
            <a:alphaModFix/>
          </a:blip>
          <a:stretch>
            <a:fillRect/>
          </a:stretch>
        </p:blipFill>
        <p:spPr>
          <a:xfrm>
            <a:off x="135850" y="4657597"/>
            <a:ext cx="561450" cy="315811"/>
          </a:xfrm>
          <a:prstGeom prst="rect">
            <a:avLst/>
          </a:prstGeom>
          <a:noFill/>
          <a:ln>
            <a:noFill/>
          </a:ln>
        </p:spPr>
      </p:pic>
      <p:pic>
        <p:nvPicPr>
          <p:cNvPr id="1153" name="Google Shape;1153;p51" title="Screenshot 2025-04-18 at 11.31.13 AM.png"/>
          <p:cNvPicPr preferRelativeResize="0"/>
          <p:nvPr/>
        </p:nvPicPr>
        <p:blipFill rotWithShape="1">
          <a:blip r:embed="rId5">
            <a:alphaModFix/>
          </a:blip>
          <a:srcRect b="0" l="0" r="0" t="48466"/>
          <a:stretch/>
        </p:blipFill>
        <p:spPr>
          <a:xfrm>
            <a:off x="1480550" y="3743751"/>
            <a:ext cx="5859948" cy="8994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7" name="Shape 1157"/>
        <p:cNvGrpSpPr/>
        <p:nvPr/>
      </p:nvGrpSpPr>
      <p:grpSpPr>
        <a:xfrm>
          <a:off x="0" y="0"/>
          <a:ext cx="0" cy="0"/>
          <a:chOff x="0" y="0"/>
          <a:chExt cx="0" cy="0"/>
        </a:xfrm>
      </p:grpSpPr>
      <p:sp>
        <p:nvSpPr>
          <p:cNvPr id="1158" name="Google Shape;1158;p52"/>
          <p:cNvSpPr txBox="1"/>
          <p:nvPr/>
        </p:nvSpPr>
        <p:spPr>
          <a:xfrm>
            <a:off x="2741000" y="2229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3"/>
              </a:rPr>
              <a:t>tensorflow neural net playground</a:t>
            </a:r>
            <a:endParaRPr/>
          </a:p>
        </p:txBody>
      </p:sp>
      <p:pic>
        <p:nvPicPr>
          <p:cNvPr id="1159" name="Google Shape;1159;p52" title="Screenshot 2025-04-17 at 9.46.15 AM.png"/>
          <p:cNvPicPr preferRelativeResize="0"/>
          <p:nvPr/>
        </p:nvPicPr>
        <p:blipFill>
          <a:blip r:embed="rId4">
            <a:alphaModFix/>
          </a:blip>
          <a:stretch>
            <a:fillRect/>
          </a:stretch>
        </p:blipFill>
        <p:spPr>
          <a:xfrm>
            <a:off x="533400" y="623100"/>
            <a:ext cx="7743094" cy="4215600"/>
          </a:xfrm>
          <a:prstGeom prst="rect">
            <a:avLst/>
          </a:prstGeom>
          <a:noFill/>
          <a:ln>
            <a:noFill/>
          </a:ln>
        </p:spPr>
      </p:pic>
      <p:sp>
        <p:nvSpPr>
          <p:cNvPr id="1160" name="Google Shape;1160;p52"/>
          <p:cNvSpPr txBox="1"/>
          <p:nvPr/>
        </p:nvSpPr>
        <p:spPr>
          <a:xfrm>
            <a:off x="4252400" y="3745650"/>
            <a:ext cx="2039100" cy="800400"/>
          </a:xfrm>
          <a:prstGeom prst="rect">
            <a:avLst/>
          </a:prstGeom>
          <a:noFill/>
          <a:ln cap="flat" cmpd="sng" w="19050">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t>For one of the datasets modify the hidden layer so that </a:t>
            </a:r>
            <a:r>
              <a:rPr b="1" lang="en" sz="1000"/>
              <a:t>tanh</a:t>
            </a:r>
            <a:r>
              <a:rPr lang="en" sz="1000"/>
              <a:t> activation does not find a solution, but </a:t>
            </a:r>
            <a:r>
              <a:rPr b="1" lang="en" sz="1000"/>
              <a:t>ReLU</a:t>
            </a:r>
            <a:r>
              <a:rPr lang="en" sz="1000"/>
              <a:t> does! </a:t>
            </a:r>
            <a:endParaRPr sz="1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64" name="Shape 1164"/>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1165" name="Google Shape;1165;p53"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
        <p:nvSpPr>
          <p:cNvPr id="1166" name="Google Shape;1166;p53"/>
          <p:cNvSpPr/>
          <p:nvPr/>
        </p:nvSpPr>
        <p:spPr>
          <a:xfrm>
            <a:off x="2166300" y="1146750"/>
            <a:ext cx="4811400" cy="2850000"/>
          </a:xfrm>
          <a:prstGeom prst="roundRect">
            <a:avLst>
              <a:gd fmla="val 16667" name="adj"/>
            </a:avLst>
          </a:prstGeom>
          <a:solidFill>
            <a:srgbClr val="9D9F24"/>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 sz="4950">
                <a:solidFill>
                  <a:schemeClr val="dk1"/>
                </a:solidFill>
                <a:latin typeface="Staatliches"/>
                <a:ea typeface="Staatliches"/>
                <a:cs typeface="Staatliches"/>
                <a:sym typeface="Staatliches"/>
              </a:rPr>
              <a:t>Machine Learning</a:t>
            </a:r>
            <a:endParaRPr sz="495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2538">
                <a:solidFill>
                  <a:schemeClr val="dk1"/>
                </a:solidFill>
                <a:latin typeface="Staatliches"/>
                <a:ea typeface="Staatliches"/>
                <a:cs typeface="Staatliches"/>
                <a:sym typeface="Staatliches"/>
              </a:rPr>
              <a:t>With python</a:t>
            </a:r>
            <a:endParaRPr sz="2538">
              <a:solidFill>
                <a:schemeClr val="dk1"/>
              </a:solidFill>
              <a:latin typeface="Staatliches"/>
              <a:ea typeface="Staatliches"/>
              <a:cs typeface="Staatliches"/>
              <a:sym typeface="Staatliches"/>
            </a:endParaRPr>
          </a:p>
          <a:p>
            <a:pPr indent="0" lvl="0" marL="0" rtl="0" algn="l">
              <a:lnSpc>
                <a:spcPct val="80000"/>
              </a:lnSpc>
              <a:spcBef>
                <a:spcPts val="0"/>
              </a:spcBef>
              <a:spcAft>
                <a:spcPts val="0"/>
              </a:spcAft>
              <a:buClr>
                <a:schemeClr val="dk1"/>
              </a:buClr>
              <a:buSzPts val="1100"/>
              <a:buFont typeface="Arial"/>
              <a:buNone/>
            </a:pPr>
            <a:r>
              <a:t/>
            </a:r>
            <a:endParaRPr sz="400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4422">
                <a:solidFill>
                  <a:schemeClr val="lt1"/>
                </a:solidFill>
                <a:latin typeface="Staatliches"/>
                <a:ea typeface="Staatliches"/>
                <a:cs typeface="Staatliches"/>
                <a:sym typeface="Staatliches"/>
              </a:rPr>
              <a:t>NN</a:t>
            </a:r>
            <a:r>
              <a:rPr b="1" lang="en" sz="4422">
                <a:solidFill>
                  <a:schemeClr val="lt1"/>
                </a:solidFill>
                <a:latin typeface="Source Code Pro"/>
                <a:ea typeface="Source Code Pro"/>
                <a:cs typeface="Source Code Pro"/>
                <a:sym typeface="Source Code Pro"/>
              </a:rPr>
              <a:t>3</a:t>
            </a:r>
            <a:r>
              <a:rPr lang="en" sz="4422">
                <a:solidFill>
                  <a:schemeClr val="dk1"/>
                </a:solidFill>
                <a:latin typeface="Staatliches"/>
                <a:ea typeface="Staatliches"/>
                <a:cs typeface="Staatliches"/>
                <a:sym typeface="Staatliches"/>
              </a:rPr>
              <a:t>: Neural Nets</a:t>
            </a:r>
            <a:r>
              <a:rPr lang="en" sz="3222">
                <a:solidFill>
                  <a:schemeClr val="dk1"/>
                </a:solidFill>
                <a:latin typeface="Staatliches"/>
                <a:ea typeface="Staatliches"/>
                <a:cs typeface="Staatliches"/>
                <a:sym typeface="Staatliches"/>
              </a:rPr>
              <a:t> </a:t>
            </a:r>
            <a:endParaRPr sz="3222">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a:solidFill>
                  <a:schemeClr val="dk1"/>
                </a:solidFill>
              </a:rPr>
              <a:t>workflow</a:t>
            </a:r>
            <a:endParaRPr>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54"/>
          <p:cNvSpPr/>
          <p:nvPr/>
        </p:nvSpPr>
        <p:spPr>
          <a:xfrm>
            <a:off x="-35825" y="2607450"/>
            <a:ext cx="9542100" cy="2636100"/>
          </a:xfrm>
          <a:prstGeom prst="rect">
            <a:avLst/>
          </a:prstGeom>
          <a:solidFill>
            <a:srgbClr val="36174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2" name="Google Shape;1172;p54"/>
          <p:cNvSpPr/>
          <p:nvPr/>
        </p:nvSpPr>
        <p:spPr>
          <a:xfrm>
            <a:off x="-35825" y="-28650"/>
            <a:ext cx="9542100" cy="2636100"/>
          </a:xfrm>
          <a:prstGeom prst="rect">
            <a:avLst/>
          </a:prstGeom>
          <a:solidFill>
            <a:srgbClr val="9D9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73" name="Google Shape;1173;p54" title="Screenshot 2026-01-28 at 10.37.23 AM.png"/>
          <p:cNvPicPr preferRelativeResize="0"/>
          <p:nvPr/>
        </p:nvPicPr>
        <p:blipFill>
          <a:blip r:embed="rId3">
            <a:alphaModFix/>
          </a:blip>
          <a:stretch>
            <a:fillRect/>
          </a:stretch>
        </p:blipFill>
        <p:spPr>
          <a:xfrm>
            <a:off x="1590325" y="405113"/>
            <a:ext cx="6231050" cy="1768575"/>
          </a:xfrm>
          <a:prstGeom prst="rect">
            <a:avLst/>
          </a:prstGeom>
          <a:noFill/>
          <a:ln>
            <a:noFill/>
          </a:ln>
        </p:spPr>
      </p:pic>
      <p:pic>
        <p:nvPicPr>
          <p:cNvPr id="1174" name="Google Shape;1174;p54" title="Screenshot 2026-01-28 at 10.39.03 AM.png"/>
          <p:cNvPicPr preferRelativeResize="0"/>
          <p:nvPr/>
        </p:nvPicPr>
        <p:blipFill>
          <a:blip r:embed="rId4">
            <a:alphaModFix/>
          </a:blip>
          <a:stretch>
            <a:fillRect/>
          </a:stretch>
        </p:blipFill>
        <p:spPr>
          <a:xfrm>
            <a:off x="1590325" y="3003675"/>
            <a:ext cx="6231050" cy="1843644"/>
          </a:xfrm>
          <a:prstGeom prst="rect">
            <a:avLst/>
          </a:prstGeom>
          <a:noFill/>
          <a:ln>
            <a:noFill/>
          </a:ln>
        </p:spPr>
      </p:pic>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1175" name="Google Shape;1175;p54" title="synthwave radio 🌌 - beats to chill/game to">
            <a:hlinkClick r:id="rId5"/>
          </p:cNvPr>
          <p:cNvPicPr preferRelativeResize="0"/>
          <p:nvPr/>
        </p:nvPicPr>
        <p:blipFill>
          <a:blip r:embed="rId6">
            <a:alphaModFix/>
          </a:blip>
          <a:stretch>
            <a:fillRect/>
          </a:stretch>
        </p:blipFill>
        <p:spPr>
          <a:xfrm>
            <a:off x="135850" y="4657597"/>
            <a:ext cx="561450" cy="31581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CBD21"/>
        </a:solidFill>
      </p:bgPr>
    </p:bg>
    <p:spTree>
      <p:nvGrpSpPr>
        <p:cNvPr id="1179" name="Shape 1179"/>
        <p:cNvGrpSpPr/>
        <p:nvPr/>
      </p:nvGrpSpPr>
      <p:grpSpPr>
        <a:xfrm>
          <a:off x="0" y="0"/>
          <a:ext cx="0" cy="0"/>
          <a:chOff x="0" y="0"/>
          <a:chExt cx="0" cy="0"/>
        </a:xfrm>
      </p:grpSpPr>
      <p:sp>
        <p:nvSpPr>
          <p:cNvPr id="1180" name="Google Shape;1180;p55"/>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lnSpc>
                <a:spcPct val="80000"/>
              </a:lnSpc>
              <a:spcBef>
                <a:spcPts val="0"/>
              </a:spcBef>
              <a:spcAft>
                <a:spcPts val="0"/>
              </a:spcAft>
              <a:buNone/>
            </a:pPr>
            <a:r>
              <a:rPr b="1" lang="en" sz="6650">
                <a:solidFill>
                  <a:srgbClr val="36174D"/>
                </a:solidFill>
                <a:latin typeface="Staatliches"/>
                <a:ea typeface="Staatliches"/>
                <a:cs typeface="Staatliches"/>
                <a:sym typeface="Staatliches"/>
              </a:rPr>
              <a:t>Colab workbook</a:t>
            </a:r>
            <a:endParaRPr b="1" sz="6650">
              <a:solidFill>
                <a:srgbClr val="36174D"/>
              </a:solidFill>
              <a:latin typeface="Staatliches"/>
              <a:ea typeface="Staatliches"/>
              <a:cs typeface="Staatliches"/>
              <a:sym typeface="Staatliches"/>
            </a:endParaRPr>
          </a:p>
          <a:p>
            <a:pPr indent="0" lvl="0" marL="0" rtl="0" algn="ctr">
              <a:spcBef>
                <a:spcPts val="0"/>
              </a:spcBef>
              <a:spcAft>
                <a:spcPts val="0"/>
              </a:spcAft>
              <a:buNone/>
            </a:pPr>
            <a:r>
              <a:rPr lang="en" sz="1100">
                <a:latin typeface="Manrope"/>
                <a:ea typeface="Manrope"/>
                <a:cs typeface="Manrope"/>
                <a:sym typeface="Manrope"/>
              </a:rPr>
              <a:t>Link: </a:t>
            </a:r>
            <a:r>
              <a:rPr lang="en" sz="1100" u="sng">
                <a:solidFill>
                  <a:schemeClr val="hlink"/>
                </a:solidFill>
                <a:latin typeface="Manrope"/>
                <a:ea typeface="Manrope"/>
                <a:cs typeface="Manrope"/>
                <a:sym typeface="Manrope"/>
                <a:hlinkClick r:id="rId3"/>
              </a:rPr>
              <a:t>click for access</a:t>
            </a:r>
            <a:endParaRPr sz="1100">
              <a:latin typeface="Manrope"/>
              <a:ea typeface="Manrope"/>
              <a:cs typeface="Manrope"/>
              <a:sym typeface="Manrope"/>
            </a:endParaRPr>
          </a:p>
          <a:p>
            <a:pPr indent="0" lvl="0" marL="0" rtl="0" algn="ctr">
              <a:spcBef>
                <a:spcPts val="0"/>
              </a:spcBef>
              <a:spcAft>
                <a:spcPts val="0"/>
              </a:spcAft>
              <a:buNone/>
            </a:pPr>
            <a:r>
              <a:t/>
            </a:r>
            <a:endParaRPr sz="1100">
              <a:latin typeface="Manrope"/>
              <a:ea typeface="Manrope"/>
              <a:cs typeface="Manrope"/>
              <a:sym typeface="Manrope"/>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1184" name="Shape 1184"/>
        <p:cNvGrpSpPr/>
        <p:nvPr/>
      </p:nvGrpSpPr>
      <p:grpSpPr>
        <a:xfrm>
          <a:off x="0" y="0"/>
          <a:ext cx="0" cy="0"/>
          <a:chOff x="0" y="0"/>
          <a:chExt cx="0" cy="0"/>
        </a:xfrm>
      </p:grpSpPr>
      <p:sp>
        <p:nvSpPr>
          <p:cNvPr id="1185" name="Google Shape;1185;p56"/>
          <p:cNvSpPr txBox="1"/>
          <p:nvPr/>
        </p:nvSpPr>
        <p:spPr>
          <a:xfrm>
            <a:off x="1053375" y="655200"/>
            <a:ext cx="6930000" cy="41682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5750">
                <a:solidFill>
                  <a:schemeClr val="lt1"/>
                </a:solidFill>
                <a:latin typeface="Staatliches"/>
                <a:ea typeface="Staatliches"/>
                <a:cs typeface="Staatliches"/>
                <a:sym typeface="Staatliches"/>
              </a:rPr>
              <a:t>warm-up</a:t>
            </a:r>
            <a:endParaRPr b="1" sz="5750">
              <a:solidFill>
                <a:schemeClr val="lt1"/>
              </a:solidFill>
              <a:latin typeface="Staatliches"/>
              <a:ea typeface="Staatliches"/>
              <a:cs typeface="Staatliches"/>
              <a:sym typeface="Staatliches"/>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None/>
            </a:pPr>
            <a:r>
              <a:rPr lang="en">
                <a:solidFill>
                  <a:schemeClr val="lt1"/>
                </a:solidFill>
              </a:rPr>
              <a:t>Let’s play some </a:t>
            </a:r>
            <a:r>
              <a:rPr lang="en">
                <a:solidFill>
                  <a:srgbClr val="C6B8EB"/>
                </a:solidFill>
              </a:rPr>
              <a:t>Tic-Tac-Toe</a:t>
            </a:r>
            <a:r>
              <a:rPr lang="en">
                <a:solidFill>
                  <a:schemeClr val="lt1"/>
                </a:solidFill>
              </a:rPr>
              <a:t>! Pair up </a:t>
            </a:r>
            <a:r>
              <a:rPr lang="en">
                <a:solidFill>
                  <a:schemeClr val="lt1"/>
                </a:solidFill>
              </a:rPr>
              <a:t>with</a:t>
            </a:r>
            <a:r>
              <a:rPr lang="en">
                <a:solidFill>
                  <a:schemeClr val="lt1"/>
                </a:solidFill>
              </a:rPr>
              <a:t> a partner and head to a whiteboard</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317500" lvl="0" marL="457200" rtl="0" algn="l">
              <a:lnSpc>
                <a:spcPct val="80000"/>
              </a:lnSpc>
              <a:spcBef>
                <a:spcPts val="0"/>
              </a:spcBef>
              <a:spcAft>
                <a:spcPts val="0"/>
              </a:spcAft>
              <a:buClr>
                <a:schemeClr val="lt1"/>
              </a:buClr>
              <a:buSzPts val="1400"/>
              <a:buAutoNum type="arabicPeriod"/>
            </a:pPr>
            <a:r>
              <a:rPr lang="en">
                <a:solidFill>
                  <a:schemeClr val="lt1"/>
                </a:solidFill>
              </a:rPr>
              <a:t>Play 3 rounds of Tic-Tac-Toe. The first player is always </a:t>
            </a:r>
            <a:r>
              <a:rPr b="1" lang="en">
                <a:solidFill>
                  <a:srgbClr val="C6B8EB"/>
                </a:solidFill>
              </a:rPr>
              <a:t>X</a:t>
            </a:r>
            <a:r>
              <a:rPr lang="en">
                <a:solidFill>
                  <a:schemeClr val="lt1"/>
                </a:solidFill>
              </a:rPr>
              <a:t>, the second is </a:t>
            </a:r>
            <a:r>
              <a:rPr b="1" lang="en">
                <a:solidFill>
                  <a:srgbClr val="1B91CA"/>
                </a:solidFill>
              </a:rPr>
              <a:t>O</a:t>
            </a:r>
            <a:r>
              <a:rPr lang="en">
                <a:solidFill>
                  <a:schemeClr val="lt1"/>
                </a:solidFill>
              </a:rPr>
              <a:t>. Take turns being </a:t>
            </a:r>
            <a:r>
              <a:rPr b="1" lang="en">
                <a:solidFill>
                  <a:srgbClr val="C6B8EB"/>
                </a:solidFill>
              </a:rPr>
              <a:t>X</a:t>
            </a:r>
            <a:r>
              <a:rPr lang="en">
                <a:solidFill>
                  <a:schemeClr val="lt1"/>
                </a:solidFill>
              </a:rPr>
              <a:t> and </a:t>
            </a:r>
            <a:r>
              <a:rPr b="1" lang="en">
                <a:solidFill>
                  <a:srgbClr val="1B91CA"/>
                </a:solidFill>
              </a:rPr>
              <a:t>O</a:t>
            </a:r>
            <a:r>
              <a:rPr lang="en">
                <a:solidFill>
                  <a:schemeClr val="lt1"/>
                </a:solidFill>
              </a:rPr>
              <a:t> so both players get a feel for each role.</a:t>
            </a:r>
            <a:endParaRPr>
              <a:solidFill>
                <a:schemeClr val="lt1"/>
              </a:solidFill>
            </a:endParaRPr>
          </a:p>
          <a:p>
            <a:pPr indent="0" lvl="0" marL="457200" rtl="0" algn="l">
              <a:lnSpc>
                <a:spcPct val="80000"/>
              </a:lnSpc>
              <a:spcBef>
                <a:spcPts val="0"/>
              </a:spcBef>
              <a:spcAft>
                <a:spcPts val="0"/>
              </a:spcAft>
              <a:buNone/>
            </a:pPr>
            <a:r>
              <a:t/>
            </a:r>
            <a:endParaRPr>
              <a:solidFill>
                <a:schemeClr val="lt1"/>
              </a:solidFill>
            </a:endParaRPr>
          </a:p>
          <a:p>
            <a:pPr indent="-317500" lvl="0" marL="457200" rtl="0" algn="l">
              <a:lnSpc>
                <a:spcPct val="80000"/>
              </a:lnSpc>
              <a:spcBef>
                <a:spcPts val="0"/>
              </a:spcBef>
              <a:spcAft>
                <a:spcPts val="0"/>
              </a:spcAft>
              <a:buClr>
                <a:schemeClr val="lt1"/>
              </a:buClr>
              <a:buSzPts val="1400"/>
              <a:buAutoNum type="arabicPeriod"/>
            </a:pPr>
            <a:r>
              <a:rPr lang="en">
                <a:solidFill>
                  <a:schemeClr val="lt1"/>
                </a:solidFill>
              </a:rPr>
              <a:t>Analyze: Most common opening moves? What caused wins vs ties? Any patterns to win or block a win?</a:t>
            </a:r>
            <a:endParaRPr>
              <a:solidFill>
                <a:schemeClr val="lt1"/>
              </a:solidFill>
            </a:endParaRPr>
          </a:p>
          <a:p>
            <a:pPr indent="0" lvl="0" marL="457200" rtl="0" algn="l">
              <a:lnSpc>
                <a:spcPct val="80000"/>
              </a:lnSpc>
              <a:spcBef>
                <a:spcPts val="0"/>
              </a:spcBef>
              <a:spcAft>
                <a:spcPts val="0"/>
              </a:spcAft>
              <a:buNone/>
            </a:pPr>
            <a:r>
              <a:t/>
            </a:r>
            <a:endParaRPr>
              <a:solidFill>
                <a:schemeClr val="lt1"/>
              </a:solidFill>
            </a:endParaRPr>
          </a:p>
          <a:p>
            <a:pPr indent="-317500" lvl="0" marL="457200" rtl="0" algn="l">
              <a:lnSpc>
                <a:spcPct val="80000"/>
              </a:lnSpc>
              <a:spcBef>
                <a:spcPts val="0"/>
              </a:spcBef>
              <a:spcAft>
                <a:spcPts val="0"/>
              </a:spcAft>
              <a:buClr>
                <a:schemeClr val="lt1"/>
              </a:buClr>
              <a:buSzPts val="1400"/>
              <a:buAutoNum type="arabicPeriod"/>
            </a:pPr>
            <a:r>
              <a:rPr lang="en">
                <a:solidFill>
                  <a:schemeClr val="lt1"/>
                </a:solidFill>
              </a:rPr>
              <a:t>Why might going first be helpful in Tic-Tac-Toe? What are some strong first moves for player </a:t>
            </a:r>
            <a:r>
              <a:rPr b="1" lang="en">
                <a:solidFill>
                  <a:srgbClr val="C6B8EB"/>
                </a:solidFill>
              </a:rPr>
              <a:t>X</a:t>
            </a:r>
            <a:r>
              <a:rPr lang="en">
                <a:solidFill>
                  <a:schemeClr val="lt1"/>
                </a:solidFill>
              </a:rPr>
              <a:t>? Are any positions better than others? Can the second player </a:t>
            </a:r>
            <a:r>
              <a:rPr b="1" lang="en">
                <a:solidFill>
                  <a:srgbClr val="1B91CA"/>
                </a:solidFill>
              </a:rPr>
              <a:t>O</a:t>
            </a:r>
            <a:r>
              <a:rPr lang="en">
                <a:solidFill>
                  <a:schemeClr val="lt1"/>
                </a:solidFill>
              </a:rPr>
              <a:t> force a tie with the right strategy?</a:t>
            </a:r>
            <a:endParaRPr>
              <a:solidFill>
                <a:schemeClr val="lt1"/>
              </a:solidFill>
            </a:endParaRPr>
          </a:p>
          <a:p>
            <a:pPr indent="0" lvl="0" marL="457200" rtl="0" algn="l">
              <a:lnSpc>
                <a:spcPct val="80000"/>
              </a:lnSpc>
              <a:spcBef>
                <a:spcPts val="0"/>
              </a:spcBef>
              <a:spcAft>
                <a:spcPts val="0"/>
              </a:spcAft>
              <a:buNone/>
            </a:pPr>
            <a:r>
              <a:t/>
            </a:r>
            <a:endParaRPr>
              <a:solidFill>
                <a:schemeClr val="lt1"/>
              </a:solidFill>
            </a:endParaRPr>
          </a:p>
          <a:p>
            <a:pPr indent="-317500" lvl="0" marL="457200" rtl="0" algn="l">
              <a:lnSpc>
                <a:spcPct val="80000"/>
              </a:lnSpc>
              <a:spcBef>
                <a:spcPts val="0"/>
              </a:spcBef>
              <a:spcAft>
                <a:spcPts val="0"/>
              </a:spcAft>
              <a:buClr>
                <a:schemeClr val="lt1"/>
              </a:buClr>
              <a:buSzPts val="1400"/>
              <a:buAutoNum type="arabicPeriod"/>
            </a:pPr>
            <a:r>
              <a:rPr lang="en">
                <a:solidFill>
                  <a:schemeClr val="lt1"/>
                </a:solidFill>
              </a:rPr>
              <a:t>Work together to outline a basic strategy for player </a:t>
            </a:r>
            <a:r>
              <a:rPr b="1" lang="en">
                <a:solidFill>
                  <a:srgbClr val="C6B8EB"/>
                </a:solidFill>
              </a:rPr>
              <a:t>X</a:t>
            </a:r>
            <a:r>
              <a:rPr lang="en">
                <a:solidFill>
                  <a:schemeClr val="lt1"/>
                </a:solidFill>
              </a:rPr>
              <a:t> that: </a:t>
            </a:r>
            <a:endParaRPr>
              <a:solidFill>
                <a:schemeClr val="lt1"/>
              </a:solidFill>
            </a:endParaRPr>
          </a:p>
          <a:p>
            <a:pPr indent="-317500" lvl="1" marL="914400" rtl="0" algn="l">
              <a:lnSpc>
                <a:spcPct val="80000"/>
              </a:lnSpc>
              <a:spcBef>
                <a:spcPts val="0"/>
              </a:spcBef>
              <a:spcAft>
                <a:spcPts val="0"/>
              </a:spcAft>
              <a:buClr>
                <a:schemeClr val="lt1"/>
              </a:buClr>
              <a:buSzPts val="1400"/>
              <a:buAutoNum type="alphaLcPeriod"/>
            </a:pPr>
            <a:r>
              <a:rPr lang="en">
                <a:solidFill>
                  <a:schemeClr val="lt1"/>
                </a:solidFill>
              </a:rPr>
              <a:t>Maximizes the chance of winning</a:t>
            </a:r>
            <a:endParaRPr>
              <a:solidFill>
                <a:schemeClr val="lt1"/>
              </a:solidFill>
            </a:endParaRPr>
          </a:p>
          <a:p>
            <a:pPr indent="-317500" lvl="1" marL="914400" rtl="0" algn="l">
              <a:lnSpc>
                <a:spcPct val="80000"/>
              </a:lnSpc>
              <a:spcBef>
                <a:spcPts val="0"/>
              </a:spcBef>
              <a:spcAft>
                <a:spcPts val="0"/>
              </a:spcAft>
              <a:buClr>
                <a:schemeClr val="lt1"/>
              </a:buClr>
              <a:buSzPts val="1400"/>
              <a:buAutoNum type="alphaLcPeriod"/>
            </a:pPr>
            <a:r>
              <a:rPr lang="en">
                <a:solidFill>
                  <a:schemeClr val="lt1"/>
                </a:solidFill>
              </a:rPr>
              <a:t>Accounts for different possible responses from player </a:t>
            </a:r>
            <a:r>
              <a:rPr b="1" lang="en">
                <a:solidFill>
                  <a:srgbClr val="1B91CA"/>
                </a:solidFill>
              </a:rPr>
              <a:t>O</a:t>
            </a:r>
            <a:endParaRPr>
              <a:solidFill>
                <a:schemeClr val="lt1"/>
              </a:solidFill>
            </a:endParaRPr>
          </a:p>
          <a:p>
            <a:pPr indent="-317500" lvl="1" marL="914400" rtl="0" algn="l">
              <a:lnSpc>
                <a:spcPct val="80000"/>
              </a:lnSpc>
              <a:spcBef>
                <a:spcPts val="0"/>
              </a:spcBef>
              <a:spcAft>
                <a:spcPts val="0"/>
              </a:spcAft>
              <a:buClr>
                <a:schemeClr val="lt1"/>
              </a:buClr>
              <a:buSzPts val="1400"/>
              <a:buAutoNum type="alphaLcPeriod"/>
            </a:pPr>
            <a:r>
              <a:rPr lang="en">
                <a:solidFill>
                  <a:schemeClr val="lt1"/>
                </a:solidFill>
              </a:rPr>
              <a:t>Uses observations from the games you played</a:t>
            </a:r>
            <a:endParaRPr>
              <a:solidFill>
                <a:schemeClr val="lt1"/>
              </a:solidFill>
            </a:endParaRPr>
          </a:p>
          <a:p>
            <a:pPr indent="0" lvl="0" marL="0" rtl="0" algn="l">
              <a:lnSpc>
                <a:spcPct val="80000"/>
              </a:lnSpc>
              <a:spcBef>
                <a:spcPts val="0"/>
              </a:spcBef>
              <a:spcAft>
                <a:spcPts val="0"/>
              </a:spcAft>
              <a:buNone/>
            </a:pPr>
            <a:r>
              <a:rPr lang="en">
                <a:solidFill>
                  <a:schemeClr val="lt1"/>
                </a:solidFill>
              </a:rPr>
              <a:t>Write your strategy as a step-by-step plan (e.g., "If the center is open, choose the center...").</a:t>
            </a:r>
            <a:endParaRPr>
              <a:solidFill>
                <a:schemeClr val="lt1"/>
              </a:solidFill>
            </a:endParaRPr>
          </a:p>
        </p:txBody>
      </p:sp>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1186" name="Google Shape;1186;p56" title="synthwave radio 🌌 - beats to chill/game to">
            <a:hlinkClick r:id="rId3"/>
          </p:cNvPr>
          <p:cNvPicPr preferRelativeResize="0"/>
          <p:nvPr/>
        </p:nvPicPr>
        <p:blipFill>
          <a:blip r:embed="rId4">
            <a:alphaModFix/>
          </a:blip>
          <a:stretch>
            <a:fillRect/>
          </a:stretch>
        </p:blipFill>
        <p:spPr>
          <a:xfrm>
            <a:off x="135850" y="4657597"/>
            <a:ext cx="561450" cy="315811"/>
          </a:xfrm>
          <a:prstGeom prst="rect">
            <a:avLst/>
          </a:prstGeom>
          <a:noFill/>
          <a:ln>
            <a:noFill/>
          </a:ln>
        </p:spPr>
      </p:pic>
      <p:grpSp>
        <p:nvGrpSpPr>
          <p:cNvPr id="1187" name="Google Shape;1187;p56"/>
          <p:cNvGrpSpPr/>
          <p:nvPr/>
        </p:nvGrpSpPr>
        <p:grpSpPr>
          <a:xfrm>
            <a:off x="7297613" y="255593"/>
            <a:ext cx="1550463" cy="1569430"/>
            <a:chOff x="1975843" y="2762788"/>
            <a:chExt cx="1949532" cy="1794455"/>
          </a:xfrm>
        </p:grpSpPr>
        <p:grpSp>
          <p:nvGrpSpPr>
            <p:cNvPr id="1188" name="Google Shape;1188;p56"/>
            <p:cNvGrpSpPr/>
            <p:nvPr/>
          </p:nvGrpSpPr>
          <p:grpSpPr>
            <a:xfrm>
              <a:off x="1975843" y="2863870"/>
              <a:ext cx="1304700" cy="1693372"/>
              <a:chOff x="987281" y="1713600"/>
              <a:chExt cx="1904950" cy="2890206"/>
            </a:xfrm>
          </p:grpSpPr>
          <p:sp>
            <p:nvSpPr>
              <p:cNvPr id="1189" name="Google Shape;1189;p56"/>
              <p:cNvSpPr/>
              <p:nvPr/>
            </p:nvSpPr>
            <p:spPr>
              <a:xfrm rot="2893456">
                <a:off x="2131736" y="1874102"/>
                <a:ext cx="652490" cy="650996"/>
              </a:xfrm>
              <a:prstGeom prst="plus">
                <a:avLst>
                  <a:gd fmla="val 35741" name="adj"/>
                </a:avLst>
              </a:prstGeom>
              <a:solidFill>
                <a:srgbClr val="C6B8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0" name="Google Shape;1190;p56"/>
              <p:cNvSpPr/>
              <p:nvPr/>
            </p:nvSpPr>
            <p:spPr>
              <a:xfrm rot="2893456">
                <a:off x="1095286" y="2802602"/>
                <a:ext cx="652490" cy="650996"/>
              </a:xfrm>
              <a:prstGeom prst="plus">
                <a:avLst>
                  <a:gd fmla="val 35741" name="adj"/>
                </a:avLst>
              </a:prstGeom>
              <a:solidFill>
                <a:srgbClr val="C6B8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1" name="Google Shape;1191;p56"/>
              <p:cNvSpPr/>
              <p:nvPr/>
            </p:nvSpPr>
            <p:spPr>
              <a:xfrm rot="2893456">
                <a:off x="2131736" y="2802602"/>
                <a:ext cx="652490" cy="650996"/>
              </a:xfrm>
              <a:prstGeom prst="plus">
                <a:avLst>
                  <a:gd fmla="val 35741" name="adj"/>
                </a:avLst>
              </a:prstGeom>
              <a:solidFill>
                <a:srgbClr val="C6B8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2" name="Google Shape;1192;p56"/>
              <p:cNvSpPr/>
              <p:nvPr/>
            </p:nvSpPr>
            <p:spPr>
              <a:xfrm rot="2893456">
                <a:off x="2131736" y="3792308"/>
                <a:ext cx="652490" cy="650996"/>
              </a:xfrm>
              <a:prstGeom prst="plus">
                <a:avLst>
                  <a:gd fmla="val 35741" name="adj"/>
                </a:avLst>
              </a:prstGeom>
              <a:solidFill>
                <a:srgbClr val="C6B8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193" name="Google Shape;1193;p56"/>
            <p:cNvGrpSpPr/>
            <p:nvPr/>
          </p:nvGrpSpPr>
          <p:grpSpPr>
            <a:xfrm>
              <a:off x="2100046" y="2903592"/>
              <a:ext cx="1767414" cy="1461531"/>
              <a:chOff x="1168625" y="1781395"/>
              <a:chExt cx="2580543" cy="2494506"/>
            </a:xfrm>
          </p:grpSpPr>
          <p:sp>
            <p:nvSpPr>
              <p:cNvPr id="1194" name="Google Shape;1194;p56"/>
              <p:cNvSpPr/>
              <p:nvPr/>
            </p:nvSpPr>
            <p:spPr>
              <a:xfrm>
                <a:off x="1168625" y="1781395"/>
                <a:ext cx="505800" cy="576300"/>
              </a:xfrm>
              <a:prstGeom prst="ellipse">
                <a:avLst/>
              </a:prstGeom>
              <a:solidFill>
                <a:srgbClr val="1B91C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5" name="Google Shape;1195;p56"/>
              <p:cNvSpPr/>
              <p:nvPr/>
            </p:nvSpPr>
            <p:spPr>
              <a:xfrm>
                <a:off x="3243368" y="1781395"/>
                <a:ext cx="505800" cy="576300"/>
              </a:xfrm>
              <a:prstGeom prst="ellipse">
                <a:avLst/>
              </a:prstGeom>
              <a:solidFill>
                <a:srgbClr val="1B91C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6" name="Google Shape;1196;p56"/>
              <p:cNvSpPr/>
              <p:nvPr/>
            </p:nvSpPr>
            <p:spPr>
              <a:xfrm>
                <a:off x="3211930" y="3699601"/>
                <a:ext cx="505800" cy="576300"/>
              </a:xfrm>
              <a:prstGeom prst="ellipse">
                <a:avLst/>
              </a:prstGeom>
              <a:solidFill>
                <a:srgbClr val="1B91C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cxnSp>
          <p:nvCxnSpPr>
            <p:cNvPr id="1197" name="Google Shape;1197;p56"/>
            <p:cNvCxnSpPr/>
            <p:nvPr/>
          </p:nvCxnSpPr>
          <p:spPr>
            <a:xfrm>
              <a:off x="2599670" y="2762800"/>
              <a:ext cx="0" cy="1728000"/>
            </a:xfrm>
            <a:prstGeom prst="straightConnector1">
              <a:avLst/>
            </a:prstGeom>
            <a:noFill/>
            <a:ln cap="flat" cmpd="sng" w="76200">
              <a:solidFill>
                <a:schemeClr val="lt1"/>
              </a:solidFill>
              <a:prstDash val="solid"/>
              <a:round/>
              <a:headEnd len="med" w="med" type="none"/>
              <a:tailEnd len="med" w="med" type="none"/>
            </a:ln>
          </p:spPr>
        </p:cxnSp>
        <p:cxnSp>
          <p:nvCxnSpPr>
            <p:cNvPr id="1198" name="Google Shape;1198;p56"/>
            <p:cNvCxnSpPr/>
            <p:nvPr/>
          </p:nvCxnSpPr>
          <p:spPr>
            <a:xfrm>
              <a:off x="3378945" y="2762788"/>
              <a:ext cx="0" cy="1728000"/>
            </a:xfrm>
            <a:prstGeom prst="straightConnector1">
              <a:avLst/>
            </a:prstGeom>
            <a:noFill/>
            <a:ln cap="flat" cmpd="sng" w="76200">
              <a:solidFill>
                <a:schemeClr val="lt1"/>
              </a:solidFill>
              <a:prstDash val="solid"/>
              <a:round/>
              <a:headEnd len="med" w="med" type="none"/>
              <a:tailEnd len="med" w="med" type="none"/>
            </a:ln>
          </p:spPr>
        </p:cxnSp>
        <p:cxnSp>
          <p:nvCxnSpPr>
            <p:cNvPr id="1199" name="Google Shape;1199;p56"/>
            <p:cNvCxnSpPr/>
            <p:nvPr/>
          </p:nvCxnSpPr>
          <p:spPr>
            <a:xfrm flipH="1" rot="10800000">
              <a:off x="2108875" y="3403025"/>
              <a:ext cx="1816500" cy="2700"/>
            </a:xfrm>
            <a:prstGeom prst="straightConnector1">
              <a:avLst/>
            </a:prstGeom>
            <a:noFill/>
            <a:ln cap="flat" cmpd="sng" w="76200">
              <a:solidFill>
                <a:schemeClr val="lt1"/>
              </a:solidFill>
              <a:prstDash val="solid"/>
              <a:round/>
              <a:headEnd len="med" w="med" type="none"/>
              <a:tailEnd len="med" w="med" type="none"/>
            </a:ln>
          </p:spPr>
        </p:cxnSp>
        <p:cxnSp>
          <p:nvCxnSpPr>
            <p:cNvPr id="1200" name="Google Shape;1200;p56"/>
            <p:cNvCxnSpPr/>
            <p:nvPr/>
          </p:nvCxnSpPr>
          <p:spPr>
            <a:xfrm flipH="1" rot="10800000">
              <a:off x="2100050" y="3949225"/>
              <a:ext cx="1816500" cy="2700"/>
            </a:xfrm>
            <a:prstGeom prst="straightConnector1">
              <a:avLst/>
            </a:prstGeom>
            <a:noFill/>
            <a:ln cap="flat" cmpd="sng" w="76200">
              <a:solidFill>
                <a:schemeClr val="lt1"/>
              </a:solidFill>
              <a:prstDash val="solid"/>
              <a:round/>
              <a:headEnd len="med" w="med" type="none"/>
              <a:tailEnd len="med" w="med" type="none"/>
            </a:ln>
          </p:spPr>
        </p:cxn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04" name="Shape 1204"/>
        <p:cNvGrpSpPr/>
        <p:nvPr/>
      </p:nvGrpSpPr>
      <p:grpSpPr>
        <a:xfrm>
          <a:off x="0" y="0"/>
          <a:ext cx="0" cy="0"/>
          <a:chOff x="0" y="0"/>
          <a:chExt cx="0" cy="0"/>
        </a:xfrm>
      </p:grpSpPr>
      <p:pic>
        <p:nvPicPr>
          <p:cNvPr id="1205" name="Google Shape;1205;p57" title="Screenshot 2025-04-21 at 7.42.20 AM.png"/>
          <p:cNvPicPr preferRelativeResize="0"/>
          <p:nvPr/>
        </p:nvPicPr>
        <p:blipFill>
          <a:blip r:embed="rId3">
            <a:alphaModFix/>
          </a:blip>
          <a:stretch>
            <a:fillRect/>
          </a:stretch>
        </p:blipFill>
        <p:spPr>
          <a:xfrm>
            <a:off x="1784837" y="1165875"/>
            <a:ext cx="5726724" cy="2820899"/>
          </a:xfrm>
          <a:prstGeom prst="rect">
            <a:avLst/>
          </a:prstGeom>
          <a:noFill/>
          <a:ln>
            <a:noFill/>
          </a:ln>
        </p:spPr>
      </p:pic>
      <p:sp>
        <p:nvSpPr>
          <p:cNvPr id="1206" name="Google Shape;1206;p57"/>
          <p:cNvSpPr txBox="1"/>
          <p:nvPr/>
        </p:nvSpPr>
        <p:spPr>
          <a:xfrm>
            <a:off x="3215350" y="40344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u="sng">
                <a:solidFill>
                  <a:schemeClr val="hlink"/>
                </a:solidFill>
                <a:hlinkClick r:id="rId4"/>
              </a:rPr>
              <a:t>Tic Tac Toe Endgame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0" name="Shape 1210"/>
        <p:cNvGrpSpPr/>
        <p:nvPr/>
      </p:nvGrpSpPr>
      <p:grpSpPr>
        <a:xfrm>
          <a:off x="0" y="0"/>
          <a:ext cx="0" cy="0"/>
          <a:chOff x="0" y="0"/>
          <a:chExt cx="0" cy="0"/>
        </a:xfrm>
      </p:grpSpPr>
      <p:grpSp>
        <p:nvGrpSpPr>
          <p:cNvPr id="1211" name="Google Shape;1211;p58"/>
          <p:cNvGrpSpPr/>
          <p:nvPr/>
        </p:nvGrpSpPr>
        <p:grpSpPr>
          <a:xfrm>
            <a:off x="2839700" y="1767325"/>
            <a:ext cx="3190500" cy="2383500"/>
            <a:chOff x="248900" y="1691125"/>
            <a:chExt cx="3190500" cy="2383500"/>
          </a:xfrm>
        </p:grpSpPr>
        <p:cxnSp>
          <p:nvCxnSpPr>
            <p:cNvPr id="1212" name="Google Shape;1212;p58"/>
            <p:cNvCxnSpPr/>
            <p:nvPr/>
          </p:nvCxnSpPr>
          <p:spPr>
            <a:xfrm>
              <a:off x="248900" y="2532830"/>
              <a:ext cx="3190500" cy="9300"/>
            </a:xfrm>
            <a:prstGeom prst="straightConnector1">
              <a:avLst/>
            </a:prstGeom>
            <a:noFill/>
            <a:ln cap="flat" cmpd="sng" w="9525">
              <a:solidFill>
                <a:schemeClr val="dk2"/>
              </a:solidFill>
              <a:prstDash val="solid"/>
              <a:round/>
              <a:headEnd len="med" w="med" type="none"/>
              <a:tailEnd len="med" w="med" type="none"/>
            </a:ln>
          </p:spPr>
        </p:cxnSp>
        <p:cxnSp>
          <p:nvCxnSpPr>
            <p:cNvPr id="1213" name="Google Shape;1213;p58"/>
            <p:cNvCxnSpPr/>
            <p:nvPr/>
          </p:nvCxnSpPr>
          <p:spPr>
            <a:xfrm>
              <a:off x="248900" y="3400644"/>
              <a:ext cx="3190500" cy="9300"/>
            </a:xfrm>
            <a:prstGeom prst="straightConnector1">
              <a:avLst/>
            </a:prstGeom>
            <a:noFill/>
            <a:ln cap="flat" cmpd="sng" w="9525">
              <a:solidFill>
                <a:schemeClr val="dk2"/>
              </a:solidFill>
              <a:prstDash val="solid"/>
              <a:round/>
              <a:headEnd len="med" w="med" type="none"/>
              <a:tailEnd len="med" w="med" type="none"/>
            </a:ln>
          </p:spPr>
        </p:cxnSp>
        <p:cxnSp>
          <p:nvCxnSpPr>
            <p:cNvPr id="1214" name="Google Shape;1214;p58"/>
            <p:cNvCxnSpPr/>
            <p:nvPr/>
          </p:nvCxnSpPr>
          <p:spPr>
            <a:xfrm>
              <a:off x="1221625" y="1704925"/>
              <a:ext cx="10200" cy="2355900"/>
            </a:xfrm>
            <a:prstGeom prst="straightConnector1">
              <a:avLst/>
            </a:prstGeom>
            <a:noFill/>
            <a:ln cap="flat" cmpd="sng" w="9525">
              <a:solidFill>
                <a:schemeClr val="dk2"/>
              </a:solidFill>
              <a:prstDash val="solid"/>
              <a:round/>
              <a:headEnd len="med" w="med" type="none"/>
              <a:tailEnd len="med" w="med" type="none"/>
            </a:ln>
          </p:spPr>
        </p:cxnSp>
        <p:cxnSp>
          <p:nvCxnSpPr>
            <p:cNvPr id="1215" name="Google Shape;1215;p58"/>
            <p:cNvCxnSpPr/>
            <p:nvPr/>
          </p:nvCxnSpPr>
          <p:spPr>
            <a:xfrm>
              <a:off x="2322675" y="1691125"/>
              <a:ext cx="9000" cy="2383500"/>
            </a:xfrm>
            <a:prstGeom prst="straightConnector1">
              <a:avLst/>
            </a:prstGeom>
            <a:noFill/>
            <a:ln cap="flat" cmpd="sng" w="9525">
              <a:solidFill>
                <a:schemeClr val="dk2"/>
              </a:solidFill>
              <a:prstDash val="solid"/>
              <a:round/>
              <a:headEnd len="med" w="med" type="none"/>
              <a:tailEnd len="med" w="med" type="none"/>
            </a:ln>
          </p:spPr>
        </p:cxnSp>
      </p:grpSp>
      <p:sp>
        <p:nvSpPr>
          <p:cNvPr id="1216" name="Google Shape;1216;p58"/>
          <p:cNvSpPr/>
          <p:nvPr/>
        </p:nvSpPr>
        <p:spPr>
          <a:xfrm>
            <a:off x="1475118" y="2548907"/>
            <a:ext cx="611100" cy="7101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7" name="Google Shape;1217;p58"/>
          <p:cNvSpPr/>
          <p:nvPr/>
        </p:nvSpPr>
        <p:spPr>
          <a:xfrm rot="2699018">
            <a:off x="1409350" y="1707193"/>
            <a:ext cx="742674" cy="741189"/>
          </a:xfrm>
          <a:prstGeom prst="plus">
            <a:avLst>
              <a:gd fmla="val 35741"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8" name="Google Shape;1218;p58"/>
          <p:cNvSpPr/>
          <p:nvPr/>
        </p:nvSpPr>
        <p:spPr>
          <a:xfrm>
            <a:off x="1432468" y="3457938"/>
            <a:ext cx="710700" cy="681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b</a:t>
            </a:r>
            <a:r>
              <a:rPr lang="en"/>
              <a:t>lank</a:t>
            </a:r>
            <a:endParaRPr/>
          </a:p>
        </p:txBody>
      </p:sp>
      <p:sp>
        <p:nvSpPr>
          <p:cNvPr id="1219" name="Google Shape;1219;p58"/>
          <p:cNvSpPr txBox="1"/>
          <p:nvPr/>
        </p:nvSpPr>
        <p:spPr>
          <a:xfrm>
            <a:off x="1278750" y="1003663"/>
            <a:ext cx="1103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2"/>
                </a:solidFill>
                <a:latin typeface="Staatliches"/>
                <a:ea typeface="Staatliches"/>
                <a:cs typeface="Staatliches"/>
                <a:sym typeface="Staatliches"/>
              </a:rPr>
              <a:t>markers</a:t>
            </a:r>
            <a:endParaRPr sz="1500">
              <a:latin typeface="Staatliches"/>
              <a:ea typeface="Staatliches"/>
              <a:cs typeface="Staatliches"/>
              <a:sym typeface="Staatliches"/>
            </a:endParaRPr>
          </a:p>
        </p:txBody>
      </p:sp>
      <p:grpSp>
        <p:nvGrpSpPr>
          <p:cNvPr id="1220" name="Google Shape;1220;p58"/>
          <p:cNvGrpSpPr/>
          <p:nvPr/>
        </p:nvGrpSpPr>
        <p:grpSpPr>
          <a:xfrm>
            <a:off x="2839700" y="1738600"/>
            <a:ext cx="3118500" cy="338700"/>
            <a:chOff x="248900" y="1662400"/>
            <a:chExt cx="3118500" cy="338700"/>
          </a:xfrm>
        </p:grpSpPr>
        <p:sp>
          <p:nvSpPr>
            <p:cNvPr id="1221" name="Google Shape;1221;p58"/>
            <p:cNvSpPr txBox="1"/>
            <p:nvPr/>
          </p:nvSpPr>
          <p:spPr>
            <a:xfrm>
              <a:off x="248900" y="16624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Top Left</a:t>
              </a:r>
              <a:endParaRPr sz="600"/>
            </a:p>
          </p:txBody>
        </p:sp>
        <p:sp>
          <p:nvSpPr>
            <p:cNvPr id="1222" name="Google Shape;1222;p58"/>
            <p:cNvSpPr txBox="1"/>
            <p:nvPr/>
          </p:nvSpPr>
          <p:spPr>
            <a:xfrm>
              <a:off x="1315700" y="16624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Top Mid</a:t>
              </a:r>
              <a:endParaRPr sz="600"/>
            </a:p>
          </p:txBody>
        </p:sp>
        <p:sp>
          <p:nvSpPr>
            <p:cNvPr id="1223" name="Google Shape;1223;p58"/>
            <p:cNvSpPr txBox="1"/>
            <p:nvPr/>
          </p:nvSpPr>
          <p:spPr>
            <a:xfrm>
              <a:off x="2458700" y="16624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Top Right</a:t>
              </a:r>
              <a:endParaRPr sz="600"/>
            </a:p>
          </p:txBody>
        </p:sp>
      </p:grpSp>
      <p:grpSp>
        <p:nvGrpSpPr>
          <p:cNvPr id="1224" name="Google Shape;1224;p58"/>
          <p:cNvGrpSpPr/>
          <p:nvPr/>
        </p:nvGrpSpPr>
        <p:grpSpPr>
          <a:xfrm>
            <a:off x="2839700" y="2653000"/>
            <a:ext cx="3118500" cy="338700"/>
            <a:chOff x="248900" y="2576800"/>
            <a:chExt cx="3118500" cy="338700"/>
          </a:xfrm>
        </p:grpSpPr>
        <p:sp>
          <p:nvSpPr>
            <p:cNvPr id="1225" name="Google Shape;1225;p58"/>
            <p:cNvSpPr txBox="1"/>
            <p:nvPr/>
          </p:nvSpPr>
          <p:spPr>
            <a:xfrm>
              <a:off x="248900" y="25768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Middle</a:t>
              </a:r>
              <a:r>
                <a:rPr lang="en" sz="1000">
                  <a:solidFill>
                    <a:schemeClr val="dk2"/>
                  </a:solidFill>
                </a:rPr>
                <a:t> Left</a:t>
              </a:r>
              <a:endParaRPr sz="600"/>
            </a:p>
          </p:txBody>
        </p:sp>
        <p:sp>
          <p:nvSpPr>
            <p:cNvPr id="1226" name="Google Shape;1226;p58"/>
            <p:cNvSpPr txBox="1"/>
            <p:nvPr/>
          </p:nvSpPr>
          <p:spPr>
            <a:xfrm>
              <a:off x="1315700" y="2576800"/>
              <a:ext cx="1016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Middle Mid</a:t>
              </a:r>
              <a:endParaRPr sz="600"/>
            </a:p>
          </p:txBody>
        </p:sp>
        <p:sp>
          <p:nvSpPr>
            <p:cNvPr id="1227" name="Google Shape;1227;p58"/>
            <p:cNvSpPr txBox="1"/>
            <p:nvPr/>
          </p:nvSpPr>
          <p:spPr>
            <a:xfrm>
              <a:off x="2458700" y="25768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Middle Right</a:t>
              </a:r>
              <a:endParaRPr sz="600"/>
            </a:p>
          </p:txBody>
        </p:sp>
      </p:grpSp>
      <p:grpSp>
        <p:nvGrpSpPr>
          <p:cNvPr id="1228" name="Google Shape;1228;p58"/>
          <p:cNvGrpSpPr/>
          <p:nvPr/>
        </p:nvGrpSpPr>
        <p:grpSpPr>
          <a:xfrm>
            <a:off x="2839700" y="3491200"/>
            <a:ext cx="3144300" cy="338700"/>
            <a:chOff x="248900" y="3415000"/>
            <a:chExt cx="3144300" cy="338700"/>
          </a:xfrm>
        </p:grpSpPr>
        <p:sp>
          <p:nvSpPr>
            <p:cNvPr id="1229" name="Google Shape;1229;p58"/>
            <p:cNvSpPr txBox="1"/>
            <p:nvPr/>
          </p:nvSpPr>
          <p:spPr>
            <a:xfrm>
              <a:off x="248900" y="34150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Bottom</a:t>
              </a:r>
              <a:r>
                <a:rPr lang="en" sz="1000">
                  <a:solidFill>
                    <a:schemeClr val="dk2"/>
                  </a:solidFill>
                </a:rPr>
                <a:t> Left</a:t>
              </a:r>
              <a:endParaRPr sz="600"/>
            </a:p>
          </p:txBody>
        </p:sp>
        <p:sp>
          <p:nvSpPr>
            <p:cNvPr id="1230" name="Google Shape;1230;p58"/>
            <p:cNvSpPr txBox="1"/>
            <p:nvPr/>
          </p:nvSpPr>
          <p:spPr>
            <a:xfrm>
              <a:off x="1315700" y="34150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Bottom Mid</a:t>
              </a:r>
              <a:endParaRPr sz="600"/>
            </a:p>
          </p:txBody>
        </p:sp>
        <p:sp>
          <p:nvSpPr>
            <p:cNvPr id="1231" name="Google Shape;1231;p58"/>
            <p:cNvSpPr txBox="1"/>
            <p:nvPr/>
          </p:nvSpPr>
          <p:spPr>
            <a:xfrm>
              <a:off x="2458700" y="3415000"/>
              <a:ext cx="9345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Bottom Right</a:t>
              </a:r>
              <a:endParaRPr sz="600"/>
            </a:p>
          </p:txBody>
        </p:sp>
      </p:grpSp>
      <p:sp>
        <p:nvSpPr>
          <p:cNvPr id="1232" name="Google Shape;1232;p58"/>
          <p:cNvSpPr txBox="1"/>
          <p:nvPr/>
        </p:nvSpPr>
        <p:spPr>
          <a:xfrm>
            <a:off x="2904575" y="963775"/>
            <a:ext cx="31905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2"/>
                </a:solidFill>
                <a:latin typeface="Staatliches"/>
                <a:ea typeface="Staatliches"/>
                <a:cs typeface="Staatliches"/>
                <a:sym typeface="Staatliches"/>
              </a:rPr>
              <a:t>board layout</a:t>
            </a:r>
            <a:endParaRPr sz="1500">
              <a:latin typeface="Staatliches"/>
              <a:ea typeface="Staatliches"/>
              <a:cs typeface="Staatliches"/>
              <a:sym typeface="Staatliches"/>
            </a:endParaRPr>
          </a:p>
        </p:txBody>
      </p:sp>
      <p:sp>
        <p:nvSpPr>
          <p:cNvPr id="1233" name="Google Shape;1233;p58"/>
          <p:cNvSpPr txBox="1"/>
          <p:nvPr/>
        </p:nvSpPr>
        <p:spPr>
          <a:xfrm>
            <a:off x="7064900" y="1003663"/>
            <a:ext cx="1103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2"/>
                </a:solidFill>
                <a:latin typeface="Staatliches"/>
                <a:ea typeface="Staatliches"/>
                <a:cs typeface="Staatliches"/>
                <a:sym typeface="Staatliches"/>
              </a:rPr>
              <a:t>target</a:t>
            </a:r>
            <a:endParaRPr sz="1500">
              <a:latin typeface="Staatliches"/>
              <a:ea typeface="Staatliches"/>
              <a:cs typeface="Staatliches"/>
              <a:sym typeface="Staatliches"/>
            </a:endParaRPr>
          </a:p>
        </p:txBody>
      </p:sp>
      <p:sp>
        <p:nvSpPr>
          <p:cNvPr id="1234" name="Google Shape;1234;p58"/>
          <p:cNvSpPr txBox="1"/>
          <p:nvPr/>
        </p:nvSpPr>
        <p:spPr>
          <a:xfrm>
            <a:off x="6713675" y="1767325"/>
            <a:ext cx="1911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BCBD21"/>
                </a:solidFill>
                <a:latin typeface="Staatliches"/>
                <a:ea typeface="Staatliches"/>
                <a:cs typeface="Staatliches"/>
                <a:sym typeface="Staatliches"/>
              </a:rPr>
              <a:t>positive class</a:t>
            </a:r>
            <a:r>
              <a:rPr lang="en" sz="1500">
                <a:solidFill>
                  <a:schemeClr val="dk2"/>
                </a:solidFill>
              </a:rPr>
              <a:t>: player using </a:t>
            </a:r>
            <a:r>
              <a:rPr b="1" lang="en" sz="1500">
                <a:solidFill>
                  <a:schemeClr val="dk2"/>
                </a:solidFill>
              </a:rPr>
              <a:t>x</a:t>
            </a:r>
            <a:r>
              <a:rPr lang="en" sz="1500">
                <a:solidFill>
                  <a:schemeClr val="dk2"/>
                </a:solidFill>
              </a:rPr>
              <a:t> wins</a:t>
            </a:r>
            <a:endParaRPr sz="1100"/>
          </a:p>
        </p:txBody>
      </p:sp>
      <p:sp>
        <p:nvSpPr>
          <p:cNvPr id="1235" name="Google Shape;1235;p58"/>
          <p:cNvSpPr txBox="1"/>
          <p:nvPr/>
        </p:nvSpPr>
        <p:spPr>
          <a:xfrm>
            <a:off x="6713675" y="2834125"/>
            <a:ext cx="1911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FF"/>
                </a:solidFill>
                <a:latin typeface="Staatliches"/>
                <a:ea typeface="Staatliches"/>
                <a:cs typeface="Staatliches"/>
                <a:sym typeface="Staatliches"/>
              </a:rPr>
              <a:t>Negative</a:t>
            </a:r>
            <a:r>
              <a:rPr lang="en" sz="1800">
                <a:solidFill>
                  <a:srgbClr val="FF00FF"/>
                </a:solidFill>
                <a:latin typeface="Staatliches"/>
                <a:ea typeface="Staatliches"/>
                <a:cs typeface="Staatliches"/>
                <a:sym typeface="Staatliches"/>
              </a:rPr>
              <a:t> class</a:t>
            </a:r>
            <a:r>
              <a:rPr lang="en" sz="1500">
                <a:solidFill>
                  <a:schemeClr val="dk2"/>
                </a:solidFill>
              </a:rPr>
              <a:t>: player using </a:t>
            </a:r>
            <a:r>
              <a:rPr b="1" lang="en" sz="1500">
                <a:solidFill>
                  <a:schemeClr val="dk2"/>
                </a:solidFill>
              </a:rPr>
              <a:t>x</a:t>
            </a:r>
            <a:r>
              <a:rPr lang="en" sz="1500">
                <a:solidFill>
                  <a:schemeClr val="dk2"/>
                </a:solidFill>
              </a:rPr>
              <a:t> loses</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39" name="Shape 1239"/>
        <p:cNvGrpSpPr/>
        <p:nvPr/>
      </p:nvGrpSpPr>
      <p:grpSpPr>
        <a:xfrm>
          <a:off x="0" y="0"/>
          <a:ext cx="0" cy="0"/>
          <a:chOff x="0" y="0"/>
          <a:chExt cx="0" cy="0"/>
        </a:xfrm>
      </p:grpSpPr>
      <p:grpSp>
        <p:nvGrpSpPr>
          <p:cNvPr id="1240" name="Google Shape;1240;p59"/>
          <p:cNvGrpSpPr/>
          <p:nvPr/>
        </p:nvGrpSpPr>
        <p:grpSpPr>
          <a:xfrm>
            <a:off x="934700" y="963775"/>
            <a:ext cx="3255375" cy="3110850"/>
            <a:chOff x="934700" y="963775"/>
            <a:chExt cx="3255375" cy="3110850"/>
          </a:xfrm>
        </p:grpSpPr>
        <p:grpSp>
          <p:nvGrpSpPr>
            <p:cNvPr id="1241" name="Google Shape;1241;p59"/>
            <p:cNvGrpSpPr/>
            <p:nvPr/>
          </p:nvGrpSpPr>
          <p:grpSpPr>
            <a:xfrm>
              <a:off x="934700" y="1691125"/>
              <a:ext cx="3190500" cy="2383500"/>
              <a:chOff x="248900" y="1691125"/>
              <a:chExt cx="3190500" cy="2383500"/>
            </a:xfrm>
          </p:grpSpPr>
          <p:cxnSp>
            <p:nvCxnSpPr>
              <p:cNvPr id="1242" name="Google Shape;1242;p59"/>
              <p:cNvCxnSpPr/>
              <p:nvPr/>
            </p:nvCxnSpPr>
            <p:spPr>
              <a:xfrm>
                <a:off x="248900" y="2532830"/>
                <a:ext cx="3190500" cy="9300"/>
              </a:xfrm>
              <a:prstGeom prst="straightConnector1">
                <a:avLst/>
              </a:prstGeom>
              <a:noFill/>
              <a:ln cap="flat" cmpd="sng" w="9525">
                <a:solidFill>
                  <a:schemeClr val="dk2"/>
                </a:solidFill>
                <a:prstDash val="solid"/>
                <a:round/>
                <a:headEnd len="med" w="med" type="none"/>
                <a:tailEnd len="med" w="med" type="none"/>
              </a:ln>
            </p:spPr>
          </p:cxnSp>
          <p:cxnSp>
            <p:nvCxnSpPr>
              <p:cNvPr id="1243" name="Google Shape;1243;p59"/>
              <p:cNvCxnSpPr/>
              <p:nvPr/>
            </p:nvCxnSpPr>
            <p:spPr>
              <a:xfrm>
                <a:off x="248900" y="3400644"/>
                <a:ext cx="3190500" cy="9300"/>
              </a:xfrm>
              <a:prstGeom prst="straightConnector1">
                <a:avLst/>
              </a:prstGeom>
              <a:noFill/>
              <a:ln cap="flat" cmpd="sng" w="9525">
                <a:solidFill>
                  <a:schemeClr val="dk2"/>
                </a:solidFill>
                <a:prstDash val="solid"/>
                <a:round/>
                <a:headEnd len="med" w="med" type="none"/>
                <a:tailEnd len="med" w="med" type="none"/>
              </a:ln>
            </p:spPr>
          </p:cxnSp>
          <p:cxnSp>
            <p:nvCxnSpPr>
              <p:cNvPr id="1244" name="Google Shape;1244;p59"/>
              <p:cNvCxnSpPr/>
              <p:nvPr/>
            </p:nvCxnSpPr>
            <p:spPr>
              <a:xfrm>
                <a:off x="1221625" y="1704925"/>
                <a:ext cx="10200" cy="2355900"/>
              </a:xfrm>
              <a:prstGeom prst="straightConnector1">
                <a:avLst/>
              </a:prstGeom>
              <a:noFill/>
              <a:ln cap="flat" cmpd="sng" w="9525">
                <a:solidFill>
                  <a:schemeClr val="dk2"/>
                </a:solidFill>
                <a:prstDash val="solid"/>
                <a:round/>
                <a:headEnd len="med" w="med" type="none"/>
                <a:tailEnd len="med" w="med" type="none"/>
              </a:ln>
            </p:spPr>
          </p:cxnSp>
          <p:cxnSp>
            <p:nvCxnSpPr>
              <p:cNvPr id="1245" name="Google Shape;1245;p59"/>
              <p:cNvCxnSpPr/>
              <p:nvPr/>
            </p:nvCxnSpPr>
            <p:spPr>
              <a:xfrm>
                <a:off x="2322675" y="1691125"/>
                <a:ext cx="9000" cy="2383500"/>
              </a:xfrm>
              <a:prstGeom prst="straightConnector1">
                <a:avLst/>
              </a:prstGeom>
              <a:noFill/>
              <a:ln cap="flat" cmpd="sng" w="9525">
                <a:solidFill>
                  <a:schemeClr val="dk2"/>
                </a:solidFill>
                <a:prstDash val="solid"/>
                <a:round/>
                <a:headEnd len="med" w="med" type="none"/>
                <a:tailEnd len="med" w="med" type="none"/>
              </a:ln>
            </p:spPr>
          </p:cxnSp>
        </p:grpSp>
        <p:grpSp>
          <p:nvGrpSpPr>
            <p:cNvPr id="1246" name="Google Shape;1246;p59"/>
            <p:cNvGrpSpPr/>
            <p:nvPr/>
          </p:nvGrpSpPr>
          <p:grpSpPr>
            <a:xfrm>
              <a:off x="934700" y="1662400"/>
              <a:ext cx="3118500" cy="338700"/>
              <a:chOff x="248900" y="1662400"/>
              <a:chExt cx="3118500" cy="338700"/>
            </a:xfrm>
          </p:grpSpPr>
          <p:sp>
            <p:nvSpPr>
              <p:cNvPr id="1247" name="Google Shape;1247;p59"/>
              <p:cNvSpPr txBox="1"/>
              <p:nvPr/>
            </p:nvSpPr>
            <p:spPr>
              <a:xfrm>
                <a:off x="248900" y="16624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Top Left</a:t>
                </a:r>
                <a:endParaRPr sz="600"/>
              </a:p>
            </p:txBody>
          </p:sp>
          <p:sp>
            <p:nvSpPr>
              <p:cNvPr id="1248" name="Google Shape;1248;p59"/>
              <p:cNvSpPr txBox="1"/>
              <p:nvPr/>
            </p:nvSpPr>
            <p:spPr>
              <a:xfrm>
                <a:off x="1315700" y="16624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Top Mid</a:t>
                </a:r>
                <a:endParaRPr sz="600"/>
              </a:p>
            </p:txBody>
          </p:sp>
          <p:sp>
            <p:nvSpPr>
              <p:cNvPr id="1249" name="Google Shape;1249;p59"/>
              <p:cNvSpPr txBox="1"/>
              <p:nvPr/>
            </p:nvSpPr>
            <p:spPr>
              <a:xfrm>
                <a:off x="2458700" y="16624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Top Right</a:t>
                </a:r>
                <a:endParaRPr sz="600"/>
              </a:p>
            </p:txBody>
          </p:sp>
        </p:grpSp>
        <p:grpSp>
          <p:nvGrpSpPr>
            <p:cNvPr id="1250" name="Google Shape;1250;p59"/>
            <p:cNvGrpSpPr/>
            <p:nvPr/>
          </p:nvGrpSpPr>
          <p:grpSpPr>
            <a:xfrm>
              <a:off x="934700" y="2576800"/>
              <a:ext cx="3118500" cy="338700"/>
              <a:chOff x="248900" y="2576800"/>
              <a:chExt cx="3118500" cy="338700"/>
            </a:xfrm>
          </p:grpSpPr>
          <p:sp>
            <p:nvSpPr>
              <p:cNvPr id="1251" name="Google Shape;1251;p59"/>
              <p:cNvSpPr txBox="1"/>
              <p:nvPr/>
            </p:nvSpPr>
            <p:spPr>
              <a:xfrm>
                <a:off x="248900" y="25768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Middle Left</a:t>
                </a:r>
                <a:endParaRPr sz="600"/>
              </a:p>
            </p:txBody>
          </p:sp>
          <p:sp>
            <p:nvSpPr>
              <p:cNvPr id="1252" name="Google Shape;1252;p59"/>
              <p:cNvSpPr txBox="1"/>
              <p:nvPr/>
            </p:nvSpPr>
            <p:spPr>
              <a:xfrm>
                <a:off x="1315700" y="2576800"/>
                <a:ext cx="1016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Middle Mid</a:t>
                </a:r>
                <a:endParaRPr sz="600"/>
              </a:p>
            </p:txBody>
          </p:sp>
          <p:sp>
            <p:nvSpPr>
              <p:cNvPr id="1253" name="Google Shape;1253;p59"/>
              <p:cNvSpPr txBox="1"/>
              <p:nvPr/>
            </p:nvSpPr>
            <p:spPr>
              <a:xfrm>
                <a:off x="2458700" y="25768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Middle Right</a:t>
                </a:r>
                <a:endParaRPr sz="600"/>
              </a:p>
            </p:txBody>
          </p:sp>
        </p:grpSp>
        <p:grpSp>
          <p:nvGrpSpPr>
            <p:cNvPr id="1254" name="Google Shape;1254;p59"/>
            <p:cNvGrpSpPr/>
            <p:nvPr/>
          </p:nvGrpSpPr>
          <p:grpSpPr>
            <a:xfrm>
              <a:off x="934700" y="3415000"/>
              <a:ext cx="3144300" cy="338700"/>
              <a:chOff x="248900" y="3415000"/>
              <a:chExt cx="3144300" cy="338700"/>
            </a:xfrm>
          </p:grpSpPr>
          <p:sp>
            <p:nvSpPr>
              <p:cNvPr id="1255" name="Google Shape;1255;p59"/>
              <p:cNvSpPr txBox="1"/>
              <p:nvPr/>
            </p:nvSpPr>
            <p:spPr>
              <a:xfrm>
                <a:off x="248900" y="34150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Bottom Left</a:t>
                </a:r>
                <a:endParaRPr sz="600"/>
              </a:p>
            </p:txBody>
          </p:sp>
          <p:sp>
            <p:nvSpPr>
              <p:cNvPr id="1256" name="Google Shape;1256;p59"/>
              <p:cNvSpPr txBox="1"/>
              <p:nvPr/>
            </p:nvSpPr>
            <p:spPr>
              <a:xfrm>
                <a:off x="1315700" y="34150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Bottom Mid</a:t>
                </a:r>
                <a:endParaRPr sz="600"/>
              </a:p>
            </p:txBody>
          </p:sp>
          <p:sp>
            <p:nvSpPr>
              <p:cNvPr id="1257" name="Google Shape;1257;p59"/>
              <p:cNvSpPr txBox="1"/>
              <p:nvPr/>
            </p:nvSpPr>
            <p:spPr>
              <a:xfrm>
                <a:off x="2458700" y="3415000"/>
                <a:ext cx="9345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Bottom Right</a:t>
                </a:r>
                <a:endParaRPr sz="600"/>
              </a:p>
            </p:txBody>
          </p:sp>
        </p:grpSp>
        <p:sp>
          <p:nvSpPr>
            <p:cNvPr id="1258" name="Google Shape;1258;p59"/>
            <p:cNvSpPr txBox="1"/>
            <p:nvPr/>
          </p:nvSpPr>
          <p:spPr>
            <a:xfrm>
              <a:off x="999575" y="963775"/>
              <a:ext cx="3190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rPr>
                <a:t>board config </a:t>
              </a:r>
              <a:r>
                <a:rPr b="1" lang="en" sz="1800">
                  <a:solidFill>
                    <a:srgbClr val="BCBD21"/>
                  </a:solidFill>
                </a:rPr>
                <a:t>positive</a:t>
              </a:r>
              <a:endParaRPr b="1">
                <a:solidFill>
                  <a:srgbClr val="BCBD21"/>
                </a:solidFill>
              </a:endParaRPr>
            </a:p>
          </p:txBody>
        </p:sp>
      </p:grpSp>
      <p:grpSp>
        <p:nvGrpSpPr>
          <p:cNvPr id="1259" name="Google Shape;1259;p59"/>
          <p:cNvGrpSpPr/>
          <p:nvPr/>
        </p:nvGrpSpPr>
        <p:grpSpPr>
          <a:xfrm>
            <a:off x="5095650" y="963775"/>
            <a:ext cx="3255375" cy="3110850"/>
            <a:chOff x="5095650" y="963775"/>
            <a:chExt cx="3255375" cy="3110850"/>
          </a:xfrm>
        </p:grpSpPr>
        <p:grpSp>
          <p:nvGrpSpPr>
            <p:cNvPr id="1260" name="Google Shape;1260;p59"/>
            <p:cNvGrpSpPr/>
            <p:nvPr/>
          </p:nvGrpSpPr>
          <p:grpSpPr>
            <a:xfrm>
              <a:off x="5095650" y="1691125"/>
              <a:ext cx="3190500" cy="2383500"/>
              <a:chOff x="248900" y="1691125"/>
              <a:chExt cx="3190500" cy="2383500"/>
            </a:xfrm>
          </p:grpSpPr>
          <p:cxnSp>
            <p:nvCxnSpPr>
              <p:cNvPr id="1261" name="Google Shape;1261;p59"/>
              <p:cNvCxnSpPr/>
              <p:nvPr/>
            </p:nvCxnSpPr>
            <p:spPr>
              <a:xfrm>
                <a:off x="248900" y="2532830"/>
                <a:ext cx="3190500" cy="9300"/>
              </a:xfrm>
              <a:prstGeom prst="straightConnector1">
                <a:avLst/>
              </a:prstGeom>
              <a:noFill/>
              <a:ln cap="flat" cmpd="sng" w="9525">
                <a:solidFill>
                  <a:schemeClr val="dk2"/>
                </a:solidFill>
                <a:prstDash val="solid"/>
                <a:round/>
                <a:headEnd len="med" w="med" type="none"/>
                <a:tailEnd len="med" w="med" type="none"/>
              </a:ln>
            </p:spPr>
          </p:cxnSp>
          <p:cxnSp>
            <p:nvCxnSpPr>
              <p:cNvPr id="1262" name="Google Shape;1262;p59"/>
              <p:cNvCxnSpPr/>
              <p:nvPr/>
            </p:nvCxnSpPr>
            <p:spPr>
              <a:xfrm>
                <a:off x="248900" y="3400644"/>
                <a:ext cx="3190500" cy="9300"/>
              </a:xfrm>
              <a:prstGeom prst="straightConnector1">
                <a:avLst/>
              </a:prstGeom>
              <a:noFill/>
              <a:ln cap="flat" cmpd="sng" w="9525">
                <a:solidFill>
                  <a:schemeClr val="dk2"/>
                </a:solidFill>
                <a:prstDash val="solid"/>
                <a:round/>
                <a:headEnd len="med" w="med" type="none"/>
                <a:tailEnd len="med" w="med" type="none"/>
              </a:ln>
            </p:spPr>
          </p:cxnSp>
          <p:cxnSp>
            <p:nvCxnSpPr>
              <p:cNvPr id="1263" name="Google Shape;1263;p59"/>
              <p:cNvCxnSpPr/>
              <p:nvPr/>
            </p:nvCxnSpPr>
            <p:spPr>
              <a:xfrm>
                <a:off x="1221625" y="1704925"/>
                <a:ext cx="10200" cy="2355900"/>
              </a:xfrm>
              <a:prstGeom prst="straightConnector1">
                <a:avLst/>
              </a:prstGeom>
              <a:noFill/>
              <a:ln cap="flat" cmpd="sng" w="9525">
                <a:solidFill>
                  <a:schemeClr val="dk2"/>
                </a:solidFill>
                <a:prstDash val="solid"/>
                <a:round/>
                <a:headEnd len="med" w="med" type="none"/>
                <a:tailEnd len="med" w="med" type="none"/>
              </a:ln>
            </p:spPr>
          </p:cxnSp>
          <p:cxnSp>
            <p:nvCxnSpPr>
              <p:cNvPr id="1264" name="Google Shape;1264;p59"/>
              <p:cNvCxnSpPr/>
              <p:nvPr/>
            </p:nvCxnSpPr>
            <p:spPr>
              <a:xfrm>
                <a:off x="2322675" y="1691125"/>
                <a:ext cx="9000" cy="2383500"/>
              </a:xfrm>
              <a:prstGeom prst="straightConnector1">
                <a:avLst/>
              </a:prstGeom>
              <a:noFill/>
              <a:ln cap="flat" cmpd="sng" w="9525">
                <a:solidFill>
                  <a:schemeClr val="dk2"/>
                </a:solidFill>
                <a:prstDash val="solid"/>
                <a:round/>
                <a:headEnd len="med" w="med" type="none"/>
                <a:tailEnd len="med" w="med" type="none"/>
              </a:ln>
            </p:spPr>
          </p:cxnSp>
        </p:grpSp>
        <p:grpSp>
          <p:nvGrpSpPr>
            <p:cNvPr id="1265" name="Google Shape;1265;p59"/>
            <p:cNvGrpSpPr/>
            <p:nvPr/>
          </p:nvGrpSpPr>
          <p:grpSpPr>
            <a:xfrm>
              <a:off x="5095650" y="1662400"/>
              <a:ext cx="3118500" cy="338700"/>
              <a:chOff x="248900" y="1662400"/>
              <a:chExt cx="3118500" cy="338700"/>
            </a:xfrm>
          </p:grpSpPr>
          <p:sp>
            <p:nvSpPr>
              <p:cNvPr id="1266" name="Google Shape;1266;p59"/>
              <p:cNvSpPr txBox="1"/>
              <p:nvPr/>
            </p:nvSpPr>
            <p:spPr>
              <a:xfrm>
                <a:off x="248900" y="16624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Top Left</a:t>
                </a:r>
                <a:endParaRPr sz="600"/>
              </a:p>
            </p:txBody>
          </p:sp>
          <p:sp>
            <p:nvSpPr>
              <p:cNvPr id="1267" name="Google Shape;1267;p59"/>
              <p:cNvSpPr txBox="1"/>
              <p:nvPr/>
            </p:nvSpPr>
            <p:spPr>
              <a:xfrm>
                <a:off x="1315700" y="16624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Top Mid</a:t>
                </a:r>
                <a:endParaRPr sz="600"/>
              </a:p>
            </p:txBody>
          </p:sp>
          <p:sp>
            <p:nvSpPr>
              <p:cNvPr id="1268" name="Google Shape;1268;p59"/>
              <p:cNvSpPr txBox="1"/>
              <p:nvPr/>
            </p:nvSpPr>
            <p:spPr>
              <a:xfrm>
                <a:off x="2458700" y="16624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Top Right</a:t>
                </a:r>
                <a:endParaRPr sz="600"/>
              </a:p>
            </p:txBody>
          </p:sp>
        </p:grpSp>
        <p:grpSp>
          <p:nvGrpSpPr>
            <p:cNvPr id="1269" name="Google Shape;1269;p59"/>
            <p:cNvGrpSpPr/>
            <p:nvPr/>
          </p:nvGrpSpPr>
          <p:grpSpPr>
            <a:xfrm>
              <a:off x="5095650" y="2576800"/>
              <a:ext cx="3118500" cy="338700"/>
              <a:chOff x="248900" y="2576800"/>
              <a:chExt cx="3118500" cy="338700"/>
            </a:xfrm>
          </p:grpSpPr>
          <p:sp>
            <p:nvSpPr>
              <p:cNvPr id="1270" name="Google Shape;1270;p59"/>
              <p:cNvSpPr txBox="1"/>
              <p:nvPr/>
            </p:nvSpPr>
            <p:spPr>
              <a:xfrm>
                <a:off x="248900" y="25768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Middle Left</a:t>
                </a:r>
                <a:endParaRPr sz="600"/>
              </a:p>
            </p:txBody>
          </p:sp>
          <p:sp>
            <p:nvSpPr>
              <p:cNvPr id="1271" name="Google Shape;1271;p59"/>
              <p:cNvSpPr txBox="1"/>
              <p:nvPr/>
            </p:nvSpPr>
            <p:spPr>
              <a:xfrm>
                <a:off x="1315700" y="2576800"/>
                <a:ext cx="1016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Middle Mid</a:t>
                </a:r>
                <a:endParaRPr sz="600"/>
              </a:p>
            </p:txBody>
          </p:sp>
          <p:sp>
            <p:nvSpPr>
              <p:cNvPr id="1272" name="Google Shape;1272;p59"/>
              <p:cNvSpPr txBox="1"/>
              <p:nvPr/>
            </p:nvSpPr>
            <p:spPr>
              <a:xfrm>
                <a:off x="2458700" y="25768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Middle Right</a:t>
                </a:r>
                <a:endParaRPr sz="600"/>
              </a:p>
            </p:txBody>
          </p:sp>
        </p:grpSp>
        <p:grpSp>
          <p:nvGrpSpPr>
            <p:cNvPr id="1273" name="Google Shape;1273;p59"/>
            <p:cNvGrpSpPr/>
            <p:nvPr/>
          </p:nvGrpSpPr>
          <p:grpSpPr>
            <a:xfrm>
              <a:off x="5095650" y="3415000"/>
              <a:ext cx="3144300" cy="338700"/>
              <a:chOff x="248900" y="3415000"/>
              <a:chExt cx="3144300" cy="338700"/>
            </a:xfrm>
          </p:grpSpPr>
          <p:sp>
            <p:nvSpPr>
              <p:cNvPr id="1274" name="Google Shape;1274;p59"/>
              <p:cNvSpPr txBox="1"/>
              <p:nvPr/>
            </p:nvSpPr>
            <p:spPr>
              <a:xfrm>
                <a:off x="248900" y="34150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Bottom Left</a:t>
                </a:r>
                <a:endParaRPr sz="600"/>
              </a:p>
            </p:txBody>
          </p:sp>
          <p:sp>
            <p:nvSpPr>
              <p:cNvPr id="1275" name="Google Shape;1275;p59"/>
              <p:cNvSpPr txBox="1"/>
              <p:nvPr/>
            </p:nvSpPr>
            <p:spPr>
              <a:xfrm>
                <a:off x="1315700" y="34150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Bottom Mid</a:t>
                </a:r>
                <a:endParaRPr sz="600"/>
              </a:p>
            </p:txBody>
          </p:sp>
          <p:sp>
            <p:nvSpPr>
              <p:cNvPr id="1276" name="Google Shape;1276;p59"/>
              <p:cNvSpPr txBox="1"/>
              <p:nvPr/>
            </p:nvSpPr>
            <p:spPr>
              <a:xfrm>
                <a:off x="2458700" y="3415000"/>
                <a:ext cx="9345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Bottom Right</a:t>
                </a:r>
                <a:endParaRPr sz="600"/>
              </a:p>
            </p:txBody>
          </p:sp>
        </p:grpSp>
        <p:sp>
          <p:nvSpPr>
            <p:cNvPr id="1277" name="Google Shape;1277;p59"/>
            <p:cNvSpPr txBox="1"/>
            <p:nvPr/>
          </p:nvSpPr>
          <p:spPr>
            <a:xfrm>
              <a:off x="5160525" y="963775"/>
              <a:ext cx="3190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rPr>
                <a:t>board configuration </a:t>
              </a:r>
              <a:r>
                <a:rPr b="1" lang="en" sz="1800">
                  <a:solidFill>
                    <a:srgbClr val="FF00FF"/>
                  </a:solidFill>
                </a:rPr>
                <a:t>negative</a:t>
              </a:r>
              <a:endParaRPr b="1">
                <a:solidFill>
                  <a:srgbClr val="FF00FF"/>
                </a:solidFill>
              </a:endParaRPr>
            </a:p>
          </p:txBody>
        </p:sp>
      </p:grpSp>
      <p:grpSp>
        <p:nvGrpSpPr>
          <p:cNvPr id="1278" name="Google Shape;1278;p59"/>
          <p:cNvGrpSpPr/>
          <p:nvPr/>
        </p:nvGrpSpPr>
        <p:grpSpPr>
          <a:xfrm>
            <a:off x="1127514" y="2812041"/>
            <a:ext cx="2760200" cy="1491750"/>
            <a:chOff x="1127514" y="2812041"/>
            <a:chExt cx="2760200" cy="1491750"/>
          </a:xfrm>
        </p:grpSpPr>
        <p:sp>
          <p:nvSpPr>
            <p:cNvPr id="1279" name="Google Shape;1279;p59"/>
            <p:cNvSpPr/>
            <p:nvPr/>
          </p:nvSpPr>
          <p:spPr>
            <a:xfrm>
              <a:off x="3299714" y="2812041"/>
              <a:ext cx="588000" cy="632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t>b</a:t>
              </a:r>
              <a:r>
                <a:rPr lang="en" sz="1200"/>
                <a:t>lank</a:t>
              </a:r>
              <a:endParaRPr sz="1200"/>
            </a:p>
          </p:txBody>
        </p:sp>
        <p:sp>
          <p:nvSpPr>
            <p:cNvPr id="1280" name="Google Shape;1280;p59"/>
            <p:cNvSpPr/>
            <p:nvPr/>
          </p:nvSpPr>
          <p:spPr>
            <a:xfrm>
              <a:off x="1127514" y="3671691"/>
              <a:ext cx="588000" cy="632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t>b</a:t>
              </a:r>
              <a:r>
                <a:rPr lang="en" sz="1200"/>
                <a:t>lank</a:t>
              </a:r>
              <a:endParaRPr sz="1200"/>
            </a:p>
          </p:txBody>
        </p:sp>
      </p:grpSp>
      <p:grpSp>
        <p:nvGrpSpPr>
          <p:cNvPr id="1281" name="Google Shape;1281;p59"/>
          <p:cNvGrpSpPr/>
          <p:nvPr/>
        </p:nvGrpSpPr>
        <p:grpSpPr>
          <a:xfrm>
            <a:off x="987281" y="1713600"/>
            <a:ext cx="1904950" cy="2760150"/>
            <a:chOff x="987281" y="1713600"/>
            <a:chExt cx="1904950" cy="2760150"/>
          </a:xfrm>
        </p:grpSpPr>
        <p:sp>
          <p:nvSpPr>
            <p:cNvPr id="1282" name="Google Shape;1282;p59"/>
            <p:cNvSpPr/>
            <p:nvPr/>
          </p:nvSpPr>
          <p:spPr>
            <a:xfrm rot="2893456">
              <a:off x="2131736" y="1874102"/>
              <a:ext cx="652490" cy="650996"/>
            </a:xfrm>
            <a:prstGeom prst="plus">
              <a:avLst>
                <a:gd fmla="val 35741"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3" name="Google Shape;1283;p59"/>
            <p:cNvSpPr/>
            <p:nvPr/>
          </p:nvSpPr>
          <p:spPr>
            <a:xfrm rot="2893456">
              <a:off x="1095286" y="2802602"/>
              <a:ext cx="652490" cy="650996"/>
            </a:xfrm>
            <a:prstGeom prst="plus">
              <a:avLst>
                <a:gd fmla="val 35741"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4" name="Google Shape;1284;p59"/>
            <p:cNvSpPr/>
            <p:nvPr/>
          </p:nvSpPr>
          <p:spPr>
            <a:xfrm rot="2893456">
              <a:off x="2131736" y="2802602"/>
              <a:ext cx="652490" cy="650996"/>
            </a:xfrm>
            <a:prstGeom prst="plus">
              <a:avLst>
                <a:gd fmla="val 35741"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5" name="Google Shape;1285;p59"/>
            <p:cNvSpPr/>
            <p:nvPr/>
          </p:nvSpPr>
          <p:spPr>
            <a:xfrm rot="2893456">
              <a:off x="2131736" y="3662252"/>
              <a:ext cx="652490" cy="650996"/>
            </a:xfrm>
            <a:prstGeom prst="plus">
              <a:avLst>
                <a:gd fmla="val 35741"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286" name="Google Shape;1286;p59"/>
          <p:cNvGrpSpPr/>
          <p:nvPr/>
        </p:nvGrpSpPr>
        <p:grpSpPr>
          <a:xfrm>
            <a:off x="1168625" y="1911451"/>
            <a:ext cx="2691800" cy="2364450"/>
            <a:chOff x="1168625" y="1911451"/>
            <a:chExt cx="2691800" cy="2364450"/>
          </a:xfrm>
        </p:grpSpPr>
        <p:sp>
          <p:nvSpPr>
            <p:cNvPr id="1287" name="Google Shape;1287;p59"/>
            <p:cNvSpPr/>
            <p:nvPr/>
          </p:nvSpPr>
          <p:spPr>
            <a:xfrm>
              <a:off x="1168625" y="1911451"/>
              <a:ext cx="505800" cy="5763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8" name="Google Shape;1288;p59"/>
            <p:cNvSpPr/>
            <p:nvPr/>
          </p:nvSpPr>
          <p:spPr>
            <a:xfrm>
              <a:off x="3354625" y="1911451"/>
              <a:ext cx="505800" cy="5763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9" name="Google Shape;1289;p59"/>
            <p:cNvSpPr/>
            <p:nvPr/>
          </p:nvSpPr>
          <p:spPr>
            <a:xfrm>
              <a:off x="3323188" y="3699601"/>
              <a:ext cx="505800" cy="5763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90" name="Google Shape;1290;p59"/>
          <p:cNvSpPr/>
          <p:nvPr/>
        </p:nvSpPr>
        <p:spPr>
          <a:xfrm>
            <a:off x="6349189" y="1911441"/>
            <a:ext cx="588000" cy="632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t>b</a:t>
            </a:r>
            <a:r>
              <a:rPr lang="en" sz="1200"/>
              <a:t>lank</a:t>
            </a:r>
            <a:endParaRPr sz="1200"/>
          </a:p>
        </p:txBody>
      </p:sp>
      <p:grpSp>
        <p:nvGrpSpPr>
          <p:cNvPr id="1291" name="Google Shape;1291;p59"/>
          <p:cNvGrpSpPr/>
          <p:nvPr/>
        </p:nvGrpSpPr>
        <p:grpSpPr>
          <a:xfrm>
            <a:off x="5097568" y="2607675"/>
            <a:ext cx="1986625" cy="1866075"/>
            <a:chOff x="5097568" y="2607675"/>
            <a:chExt cx="1986625" cy="1866075"/>
          </a:xfrm>
        </p:grpSpPr>
        <p:sp>
          <p:nvSpPr>
            <p:cNvPr id="1292" name="Google Shape;1292;p59"/>
            <p:cNvSpPr/>
            <p:nvPr/>
          </p:nvSpPr>
          <p:spPr>
            <a:xfrm rot="2893456">
              <a:off x="5234211" y="2768177"/>
              <a:ext cx="652490" cy="650996"/>
            </a:xfrm>
            <a:prstGeom prst="plus">
              <a:avLst>
                <a:gd fmla="val 35741"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3" name="Google Shape;1293;p59"/>
            <p:cNvSpPr/>
            <p:nvPr/>
          </p:nvSpPr>
          <p:spPr>
            <a:xfrm rot="2893456">
              <a:off x="6323686" y="2768177"/>
              <a:ext cx="652490" cy="650996"/>
            </a:xfrm>
            <a:prstGeom prst="plus">
              <a:avLst>
                <a:gd fmla="val 35741"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4" name="Google Shape;1294;p59"/>
            <p:cNvSpPr/>
            <p:nvPr/>
          </p:nvSpPr>
          <p:spPr>
            <a:xfrm rot="2893456">
              <a:off x="5205573" y="3662252"/>
              <a:ext cx="652490" cy="650996"/>
            </a:xfrm>
            <a:prstGeom prst="plus">
              <a:avLst>
                <a:gd fmla="val 35741"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5" name="Google Shape;1295;p59"/>
            <p:cNvSpPr/>
            <p:nvPr/>
          </p:nvSpPr>
          <p:spPr>
            <a:xfrm rot="2893456">
              <a:off x="6323698" y="3613727"/>
              <a:ext cx="652490" cy="650996"/>
            </a:xfrm>
            <a:prstGeom prst="plus">
              <a:avLst>
                <a:gd fmla="val 35741"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296" name="Google Shape;1296;p59"/>
          <p:cNvGrpSpPr/>
          <p:nvPr/>
        </p:nvGrpSpPr>
        <p:grpSpPr>
          <a:xfrm>
            <a:off x="5307550" y="1911451"/>
            <a:ext cx="2671300" cy="2281775"/>
            <a:chOff x="5307550" y="1911451"/>
            <a:chExt cx="2671300" cy="2281775"/>
          </a:xfrm>
        </p:grpSpPr>
        <p:sp>
          <p:nvSpPr>
            <p:cNvPr id="1297" name="Google Shape;1297;p59"/>
            <p:cNvSpPr/>
            <p:nvPr/>
          </p:nvSpPr>
          <p:spPr>
            <a:xfrm>
              <a:off x="5307550" y="1911451"/>
              <a:ext cx="505800" cy="5763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8" name="Google Shape;1298;p59"/>
            <p:cNvSpPr/>
            <p:nvPr/>
          </p:nvSpPr>
          <p:spPr>
            <a:xfrm>
              <a:off x="7473050" y="1911451"/>
              <a:ext cx="505800" cy="5763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9" name="Google Shape;1299;p59"/>
            <p:cNvSpPr/>
            <p:nvPr/>
          </p:nvSpPr>
          <p:spPr>
            <a:xfrm>
              <a:off x="7473050" y="2805526"/>
              <a:ext cx="505800" cy="5763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0" name="Google Shape;1300;p59"/>
            <p:cNvSpPr/>
            <p:nvPr/>
          </p:nvSpPr>
          <p:spPr>
            <a:xfrm>
              <a:off x="7473050" y="3616926"/>
              <a:ext cx="505800" cy="5763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cxnSp>
        <p:nvCxnSpPr>
          <p:cNvPr id="1301" name="Google Shape;1301;p59"/>
          <p:cNvCxnSpPr/>
          <p:nvPr/>
        </p:nvCxnSpPr>
        <p:spPr>
          <a:xfrm>
            <a:off x="2454225" y="1541225"/>
            <a:ext cx="0" cy="2949600"/>
          </a:xfrm>
          <a:prstGeom prst="straightConnector1">
            <a:avLst/>
          </a:prstGeom>
          <a:noFill/>
          <a:ln cap="flat" cmpd="sng" w="76200">
            <a:solidFill>
              <a:srgbClr val="BCBD21"/>
            </a:solidFill>
            <a:prstDash val="solid"/>
            <a:round/>
            <a:headEnd len="med" w="med" type="none"/>
            <a:tailEnd len="med" w="med" type="none"/>
          </a:ln>
        </p:spPr>
      </p:cxnSp>
      <p:cxnSp>
        <p:nvCxnSpPr>
          <p:cNvPr id="1302" name="Google Shape;1302;p59"/>
          <p:cNvCxnSpPr/>
          <p:nvPr/>
        </p:nvCxnSpPr>
        <p:spPr>
          <a:xfrm>
            <a:off x="7726000" y="1577538"/>
            <a:ext cx="0" cy="2949600"/>
          </a:xfrm>
          <a:prstGeom prst="straightConnector1">
            <a:avLst/>
          </a:prstGeom>
          <a:noFill/>
          <a:ln cap="flat" cmpd="sng" w="76200">
            <a:solidFill>
              <a:srgbClr val="FF00FF"/>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6" name="Shape 1306"/>
        <p:cNvGrpSpPr/>
        <p:nvPr/>
      </p:nvGrpSpPr>
      <p:grpSpPr>
        <a:xfrm>
          <a:off x="0" y="0"/>
          <a:ext cx="0" cy="0"/>
          <a:chOff x="0" y="0"/>
          <a:chExt cx="0" cy="0"/>
        </a:xfrm>
      </p:grpSpPr>
      <p:pic>
        <p:nvPicPr>
          <p:cNvPr id="1307" name="Google Shape;1307;p60" title="Screenshot 2025-04-21 at 7.42.20 AM.png"/>
          <p:cNvPicPr preferRelativeResize="0"/>
          <p:nvPr/>
        </p:nvPicPr>
        <p:blipFill>
          <a:blip r:embed="rId3">
            <a:alphaModFix/>
          </a:blip>
          <a:stretch>
            <a:fillRect/>
          </a:stretch>
        </p:blipFill>
        <p:spPr>
          <a:xfrm>
            <a:off x="1784837" y="1165875"/>
            <a:ext cx="5726724" cy="2820899"/>
          </a:xfrm>
          <a:prstGeom prst="rect">
            <a:avLst/>
          </a:prstGeom>
          <a:noFill/>
          <a:ln>
            <a:noFill/>
          </a:ln>
        </p:spPr>
      </p:pic>
      <p:sp>
        <p:nvSpPr>
          <p:cNvPr id="1308" name="Google Shape;1308;p60"/>
          <p:cNvSpPr txBox="1"/>
          <p:nvPr/>
        </p:nvSpPr>
        <p:spPr>
          <a:xfrm>
            <a:off x="3215350" y="40344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u="sng">
                <a:solidFill>
                  <a:schemeClr val="hlink"/>
                </a:solidFill>
                <a:hlinkClick r:id="rId4"/>
              </a:rPr>
              <a:t>Tic Tac Toe Endgame</a:t>
            </a:r>
            <a:endParaRPr/>
          </a:p>
        </p:txBody>
      </p:sp>
      <p:grpSp>
        <p:nvGrpSpPr>
          <p:cNvPr id="1309" name="Google Shape;1309;p60"/>
          <p:cNvGrpSpPr/>
          <p:nvPr/>
        </p:nvGrpSpPr>
        <p:grpSpPr>
          <a:xfrm>
            <a:off x="5529275" y="642950"/>
            <a:ext cx="2242600" cy="1589413"/>
            <a:chOff x="5529275" y="642950"/>
            <a:chExt cx="2242600" cy="1589413"/>
          </a:xfrm>
        </p:grpSpPr>
        <p:sp>
          <p:nvSpPr>
            <p:cNvPr id="1310" name="Google Shape;1310;p60"/>
            <p:cNvSpPr txBox="1"/>
            <p:nvPr/>
          </p:nvSpPr>
          <p:spPr>
            <a:xfrm>
              <a:off x="5529275" y="642950"/>
              <a:ext cx="19239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200">
                  <a:solidFill>
                    <a:schemeClr val="dk1"/>
                  </a:solidFill>
                </a:rPr>
                <a:t>binary output (win or not)</a:t>
              </a:r>
              <a:endParaRPr sz="1500"/>
            </a:p>
          </p:txBody>
        </p:sp>
        <p:sp>
          <p:nvSpPr>
            <p:cNvPr id="1311" name="Google Shape;1311;p60"/>
            <p:cNvSpPr/>
            <p:nvPr/>
          </p:nvSpPr>
          <p:spPr>
            <a:xfrm>
              <a:off x="6625275" y="804313"/>
              <a:ext cx="1146600" cy="1428050"/>
            </a:xfrm>
            <a:custGeom>
              <a:rect b="b" l="l" r="r" t="t"/>
              <a:pathLst>
                <a:path extrusionOk="0" h="57122" w="45864">
                  <a:moveTo>
                    <a:pt x="28289" y="865"/>
                  </a:moveTo>
                  <a:cubicBezTo>
                    <a:pt x="30593" y="1294"/>
                    <a:pt x="39380" y="-2617"/>
                    <a:pt x="42112" y="3437"/>
                  </a:cubicBezTo>
                  <a:cubicBezTo>
                    <a:pt x="44845" y="9491"/>
                    <a:pt x="44791" y="28726"/>
                    <a:pt x="44684" y="37191"/>
                  </a:cubicBezTo>
                  <a:cubicBezTo>
                    <a:pt x="44577" y="45656"/>
                    <a:pt x="48916" y="50907"/>
                    <a:pt x="41469" y="54229"/>
                  </a:cubicBezTo>
                  <a:cubicBezTo>
                    <a:pt x="34022" y="57551"/>
                    <a:pt x="6912" y="56640"/>
                    <a:pt x="0" y="57122"/>
                  </a:cubicBezTo>
                </a:path>
              </a:pathLst>
            </a:custGeom>
            <a:noFill/>
            <a:ln cap="flat" cmpd="sng" w="9525">
              <a:solidFill>
                <a:schemeClr val="dk2"/>
              </a:solidFill>
              <a:prstDash val="solid"/>
              <a:round/>
              <a:headEnd len="med" w="med" type="none"/>
              <a:tailEnd len="med" w="med" type="stealth"/>
            </a:ln>
          </p:spPr>
        </p:sp>
      </p:grpSp>
      <p:grpSp>
        <p:nvGrpSpPr>
          <p:cNvPr id="1312" name="Google Shape;1312;p60"/>
          <p:cNvGrpSpPr/>
          <p:nvPr/>
        </p:nvGrpSpPr>
        <p:grpSpPr>
          <a:xfrm>
            <a:off x="5974300" y="2422950"/>
            <a:ext cx="3045875" cy="1006500"/>
            <a:chOff x="5974300" y="2422950"/>
            <a:chExt cx="3045875" cy="1006500"/>
          </a:xfrm>
        </p:grpSpPr>
        <p:sp>
          <p:nvSpPr>
            <p:cNvPr id="1313" name="Google Shape;1313;p60"/>
            <p:cNvSpPr txBox="1"/>
            <p:nvPr/>
          </p:nvSpPr>
          <p:spPr>
            <a:xfrm>
              <a:off x="7613775" y="2422950"/>
              <a:ext cx="14064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200">
                  <a:solidFill>
                    <a:schemeClr val="dk1"/>
                  </a:solidFill>
                </a:rPr>
                <a:t>ordering matters due to related squares in board state</a:t>
              </a:r>
              <a:endParaRPr sz="1500"/>
            </a:p>
          </p:txBody>
        </p:sp>
        <p:sp>
          <p:nvSpPr>
            <p:cNvPr id="1314" name="Google Shape;1314;p60"/>
            <p:cNvSpPr/>
            <p:nvPr/>
          </p:nvSpPr>
          <p:spPr>
            <a:xfrm>
              <a:off x="5974300" y="2714575"/>
              <a:ext cx="1655550" cy="366675"/>
            </a:xfrm>
            <a:custGeom>
              <a:rect b="b" l="l" r="r" t="t"/>
              <a:pathLst>
                <a:path extrusionOk="0" h="14667" w="66222">
                  <a:moveTo>
                    <a:pt x="66222" y="3215"/>
                  </a:moveTo>
                  <a:cubicBezTo>
                    <a:pt x="61454" y="4930"/>
                    <a:pt x="47203" y="11895"/>
                    <a:pt x="37612" y="13502"/>
                  </a:cubicBezTo>
                  <a:cubicBezTo>
                    <a:pt x="28022" y="15109"/>
                    <a:pt x="14948" y="15109"/>
                    <a:pt x="8679" y="12859"/>
                  </a:cubicBezTo>
                  <a:cubicBezTo>
                    <a:pt x="2410" y="10609"/>
                    <a:pt x="1447" y="2143"/>
                    <a:pt x="0" y="0"/>
                  </a:cubicBezTo>
                </a:path>
              </a:pathLst>
            </a:custGeom>
            <a:noFill/>
            <a:ln cap="flat" cmpd="sng" w="9525">
              <a:solidFill>
                <a:schemeClr val="dk2"/>
              </a:solidFill>
              <a:prstDash val="solid"/>
              <a:round/>
              <a:headEnd len="med" w="med" type="none"/>
              <a:tailEnd len="med" w="med" type="stealth"/>
            </a:ln>
          </p:spPr>
        </p:sp>
      </p:grpSp>
      <p:grpSp>
        <p:nvGrpSpPr>
          <p:cNvPr id="1315" name="Google Shape;1315;p60"/>
          <p:cNvGrpSpPr/>
          <p:nvPr/>
        </p:nvGrpSpPr>
        <p:grpSpPr>
          <a:xfrm>
            <a:off x="235775" y="1490375"/>
            <a:ext cx="1583516" cy="1334850"/>
            <a:chOff x="235775" y="1490375"/>
            <a:chExt cx="1583516" cy="1334850"/>
          </a:xfrm>
        </p:grpSpPr>
        <p:sp>
          <p:nvSpPr>
            <p:cNvPr id="1316" name="Google Shape;1316;p60"/>
            <p:cNvSpPr txBox="1"/>
            <p:nvPr/>
          </p:nvSpPr>
          <p:spPr>
            <a:xfrm>
              <a:off x="235775" y="1490375"/>
              <a:ext cx="14064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200">
                  <a:solidFill>
                    <a:schemeClr val="dk1"/>
                  </a:solidFill>
                </a:rPr>
                <a:t>data cleaning needed to encode categorical data as numbers</a:t>
              </a:r>
              <a:endParaRPr sz="1500"/>
            </a:p>
          </p:txBody>
        </p:sp>
        <p:sp>
          <p:nvSpPr>
            <p:cNvPr id="1317" name="Google Shape;1317;p60"/>
            <p:cNvSpPr/>
            <p:nvPr/>
          </p:nvSpPr>
          <p:spPr>
            <a:xfrm>
              <a:off x="873641" y="2409175"/>
              <a:ext cx="945650" cy="416050"/>
            </a:xfrm>
            <a:custGeom>
              <a:rect b="b" l="l" r="r" t="t"/>
              <a:pathLst>
                <a:path extrusionOk="0" h="16642" w="37826">
                  <a:moveTo>
                    <a:pt x="3108" y="0"/>
                  </a:moveTo>
                  <a:cubicBezTo>
                    <a:pt x="3001" y="2733"/>
                    <a:pt x="-3321" y="14841"/>
                    <a:pt x="2465" y="16395"/>
                  </a:cubicBezTo>
                  <a:cubicBezTo>
                    <a:pt x="8251" y="17949"/>
                    <a:pt x="31933" y="10502"/>
                    <a:pt x="37826" y="9323"/>
                  </a:cubicBezTo>
                </a:path>
              </a:pathLst>
            </a:custGeom>
            <a:noFill/>
            <a:ln cap="flat" cmpd="sng" w="9525">
              <a:solidFill>
                <a:schemeClr val="dk2"/>
              </a:solidFill>
              <a:prstDash val="solid"/>
              <a:round/>
              <a:headEnd len="med" w="med" type="none"/>
              <a:tailEnd len="med" w="med" type="stealth"/>
            </a:ln>
          </p:spPr>
        </p:sp>
      </p:grpSp>
      <p:grpSp>
        <p:nvGrpSpPr>
          <p:cNvPr id="1318" name="Google Shape;1318;p60"/>
          <p:cNvGrpSpPr/>
          <p:nvPr/>
        </p:nvGrpSpPr>
        <p:grpSpPr>
          <a:xfrm>
            <a:off x="1534150" y="3855800"/>
            <a:ext cx="2133600" cy="815100"/>
            <a:chOff x="1534150" y="3855800"/>
            <a:chExt cx="2133600" cy="815100"/>
          </a:xfrm>
        </p:grpSpPr>
        <p:sp>
          <p:nvSpPr>
            <p:cNvPr id="1319" name="Google Shape;1319;p60"/>
            <p:cNvSpPr txBox="1"/>
            <p:nvPr/>
          </p:nvSpPr>
          <p:spPr>
            <a:xfrm>
              <a:off x="1534150" y="4089200"/>
              <a:ext cx="15342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200">
                  <a:solidFill>
                    <a:schemeClr val="dk1"/>
                  </a:solidFill>
                </a:rPr>
                <a:t>supervised since we have a target</a:t>
              </a:r>
              <a:endParaRPr sz="1500"/>
            </a:p>
          </p:txBody>
        </p:sp>
        <p:sp>
          <p:nvSpPr>
            <p:cNvPr id="1320" name="Google Shape;1320;p60"/>
            <p:cNvSpPr/>
            <p:nvPr/>
          </p:nvSpPr>
          <p:spPr>
            <a:xfrm>
              <a:off x="2815875" y="3855800"/>
              <a:ext cx="851875" cy="711675"/>
            </a:xfrm>
            <a:custGeom>
              <a:rect b="b" l="l" r="r" t="t"/>
              <a:pathLst>
                <a:path extrusionOk="0" h="28467" w="34075">
                  <a:moveTo>
                    <a:pt x="0" y="22181"/>
                  </a:moveTo>
                  <a:cubicBezTo>
                    <a:pt x="1875" y="23199"/>
                    <a:pt x="6108" y="29468"/>
                    <a:pt x="11251" y="28289"/>
                  </a:cubicBezTo>
                  <a:cubicBezTo>
                    <a:pt x="16395" y="27110"/>
                    <a:pt x="27057" y="19824"/>
                    <a:pt x="30861" y="15109"/>
                  </a:cubicBezTo>
                  <a:cubicBezTo>
                    <a:pt x="34665" y="10394"/>
                    <a:pt x="33539" y="2518"/>
                    <a:pt x="34075" y="0"/>
                  </a:cubicBezTo>
                </a:path>
              </a:pathLst>
            </a:custGeom>
            <a:noFill/>
            <a:ln cap="flat" cmpd="sng" w="9525">
              <a:solidFill>
                <a:schemeClr val="dk2"/>
              </a:solidFill>
              <a:prstDash val="solid"/>
              <a:round/>
              <a:headEnd len="med" w="med" type="none"/>
              <a:tailEnd len="med" w="med" type="stealth"/>
            </a:ln>
          </p:spPr>
        </p:sp>
      </p:grpSp>
      <p:sp>
        <p:nvSpPr>
          <p:cNvPr id="1321" name="Google Shape;1321;p60"/>
          <p:cNvSpPr txBox="1"/>
          <p:nvPr/>
        </p:nvSpPr>
        <p:spPr>
          <a:xfrm>
            <a:off x="2671200" y="606600"/>
            <a:ext cx="23784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200">
                <a:solidFill>
                  <a:schemeClr val="dk1"/>
                </a:solidFill>
              </a:rPr>
              <a:t>classification metric: accuracy</a:t>
            </a:r>
            <a:endParaRPr sz="1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5" name="Shape 1325"/>
        <p:cNvGrpSpPr/>
        <p:nvPr/>
      </p:nvGrpSpPr>
      <p:grpSpPr>
        <a:xfrm>
          <a:off x="0" y="0"/>
          <a:ext cx="0" cy="0"/>
          <a:chOff x="0" y="0"/>
          <a:chExt cx="0" cy="0"/>
        </a:xfrm>
      </p:grpSpPr>
      <p:sp>
        <p:nvSpPr>
          <p:cNvPr id="1326" name="Google Shape;1326;p61"/>
          <p:cNvSpPr/>
          <p:nvPr/>
        </p:nvSpPr>
        <p:spPr>
          <a:xfrm>
            <a:off x="356625" y="142825"/>
            <a:ext cx="8671500" cy="803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27" name="Google Shape;1327;p61" title="Screenshot 2025-04-21 at 7.45.45 AM.png"/>
          <p:cNvPicPr preferRelativeResize="0"/>
          <p:nvPr/>
        </p:nvPicPr>
        <p:blipFill>
          <a:blip r:embed="rId3">
            <a:alphaModFix/>
          </a:blip>
          <a:stretch>
            <a:fillRect/>
          </a:stretch>
        </p:blipFill>
        <p:spPr>
          <a:xfrm>
            <a:off x="1756500" y="1093848"/>
            <a:ext cx="5705176" cy="3704575"/>
          </a:xfrm>
          <a:prstGeom prst="rect">
            <a:avLst/>
          </a:prstGeom>
          <a:noFill/>
          <a:ln>
            <a:noFill/>
          </a:ln>
        </p:spPr>
      </p:pic>
      <p:sp>
        <p:nvSpPr>
          <p:cNvPr id="1328" name="Google Shape;1328;p61"/>
          <p:cNvSpPr txBox="1"/>
          <p:nvPr/>
        </p:nvSpPr>
        <p:spPr>
          <a:xfrm>
            <a:off x="401825" y="156575"/>
            <a:ext cx="24945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Tic-Tac-Toe is </a:t>
            </a:r>
            <a:r>
              <a:rPr b="1" lang="en" sz="1100">
                <a:solidFill>
                  <a:schemeClr val="dk1"/>
                </a:solidFill>
              </a:rPr>
              <a:t>fully deterministic</a:t>
            </a:r>
            <a:r>
              <a:rPr lang="en" sz="1100">
                <a:solidFill>
                  <a:schemeClr val="dk1"/>
                </a:solidFill>
              </a:rPr>
              <a:t> — there is a direct, learnable mapping from board state to win/loss</a:t>
            </a:r>
            <a:endParaRPr/>
          </a:p>
        </p:txBody>
      </p:sp>
      <p:sp>
        <p:nvSpPr>
          <p:cNvPr id="1329" name="Google Shape;1329;p61"/>
          <p:cNvSpPr txBox="1"/>
          <p:nvPr/>
        </p:nvSpPr>
        <p:spPr>
          <a:xfrm>
            <a:off x="2982225" y="1651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The feature space is relatively small.</a:t>
            </a:r>
            <a:endParaRPr sz="1100"/>
          </a:p>
          <a:p>
            <a:pPr indent="0" lvl="0" marL="0" rtl="0" algn="l">
              <a:spcBef>
                <a:spcPts val="0"/>
              </a:spcBef>
              <a:spcAft>
                <a:spcPts val="0"/>
              </a:spcAft>
              <a:buNone/>
            </a:pPr>
            <a:r>
              <a:rPr lang="en" sz="1100"/>
              <a:t>There's no noise or ambiguity in the labels.</a:t>
            </a:r>
            <a:endParaRPr sz="1100"/>
          </a:p>
        </p:txBody>
      </p:sp>
      <p:sp>
        <p:nvSpPr>
          <p:cNvPr id="1330" name="Google Shape;1330;p61"/>
          <p:cNvSpPr txBox="1"/>
          <p:nvPr/>
        </p:nvSpPr>
        <p:spPr>
          <a:xfrm>
            <a:off x="5955800" y="165125"/>
            <a:ext cx="3000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Board state is dependent on what has already happened, so feature interactions are important.</a:t>
            </a:r>
            <a:endParaRPr sz="1100"/>
          </a:p>
        </p:txBody>
      </p:sp>
      <p:grpSp>
        <p:nvGrpSpPr>
          <p:cNvPr id="1331" name="Google Shape;1331;p61"/>
          <p:cNvGrpSpPr/>
          <p:nvPr/>
        </p:nvGrpSpPr>
        <p:grpSpPr>
          <a:xfrm>
            <a:off x="6868707" y="3182925"/>
            <a:ext cx="2239293" cy="1875925"/>
            <a:chOff x="6868707" y="3182925"/>
            <a:chExt cx="2239293" cy="1875925"/>
          </a:xfrm>
        </p:grpSpPr>
        <p:sp>
          <p:nvSpPr>
            <p:cNvPr id="1332" name="Google Shape;1332;p61"/>
            <p:cNvSpPr txBox="1"/>
            <p:nvPr/>
          </p:nvSpPr>
          <p:spPr>
            <a:xfrm>
              <a:off x="7549500" y="3182925"/>
              <a:ext cx="15585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9 features with 3 values each, the dataset becomes </a:t>
              </a:r>
              <a:r>
                <a:rPr b="1" lang="en" sz="1100">
                  <a:solidFill>
                    <a:schemeClr val="dk1"/>
                  </a:solidFill>
                </a:rPr>
                <a:t>linearly separable</a:t>
              </a:r>
              <a:r>
                <a:rPr lang="en" sz="1100">
                  <a:solidFill>
                    <a:schemeClr val="dk1"/>
                  </a:solidFill>
                </a:rPr>
                <a:t> in this high-dimensional space (27 binary features). Each cell position matters a lot.</a:t>
              </a:r>
              <a:endParaRPr/>
            </a:p>
          </p:txBody>
        </p:sp>
        <p:sp>
          <p:nvSpPr>
            <p:cNvPr id="1333" name="Google Shape;1333;p61"/>
            <p:cNvSpPr/>
            <p:nvPr/>
          </p:nvSpPr>
          <p:spPr>
            <a:xfrm>
              <a:off x="6868707" y="4611250"/>
              <a:ext cx="1205650" cy="447600"/>
            </a:xfrm>
            <a:custGeom>
              <a:rect b="b" l="l" r="r" t="t"/>
              <a:pathLst>
                <a:path extrusionOk="0" h="17904" w="48226">
                  <a:moveTo>
                    <a:pt x="45555" y="1928"/>
                  </a:moveTo>
                  <a:cubicBezTo>
                    <a:pt x="45555" y="3964"/>
                    <a:pt x="51502" y="11519"/>
                    <a:pt x="45555" y="14144"/>
                  </a:cubicBezTo>
                  <a:cubicBezTo>
                    <a:pt x="39608" y="16769"/>
                    <a:pt x="17427" y="18430"/>
                    <a:pt x="9872" y="17680"/>
                  </a:cubicBezTo>
                  <a:cubicBezTo>
                    <a:pt x="2318" y="16930"/>
                    <a:pt x="1139" y="12591"/>
                    <a:pt x="228" y="9644"/>
                  </a:cubicBezTo>
                  <a:cubicBezTo>
                    <a:pt x="-683" y="6697"/>
                    <a:pt x="3711" y="1607"/>
                    <a:pt x="4407" y="0"/>
                  </a:cubicBezTo>
                </a:path>
              </a:pathLst>
            </a:custGeom>
            <a:noFill/>
            <a:ln cap="flat" cmpd="sng" w="9525">
              <a:solidFill>
                <a:schemeClr val="dk2"/>
              </a:solidFill>
              <a:prstDash val="solid"/>
              <a:round/>
              <a:headEnd len="med" w="med" type="none"/>
              <a:tailEnd len="med" w="med" type="stealth"/>
            </a:ln>
          </p:spPr>
        </p:sp>
      </p:grpSp>
      <p:sp>
        <p:nvSpPr>
          <p:cNvPr id="1334" name="Google Shape;1334;p61"/>
          <p:cNvSpPr/>
          <p:nvPr/>
        </p:nvSpPr>
        <p:spPr>
          <a:xfrm>
            <a:off x="6906550" y="3727200"/>
            <a:ext cx="554400" cy="385800"/>
          </a:xfrm>
          <a:prstGeom prst="rect">
            <a:avLst/>
          </a:prstGeom>
          <a:noFill/>
          <a:ln cap="flat" cmpd="sng" w="28575">
            <a:solidFill>
              <a:srgbClr val="1B91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5" name="Google Shape;1335;p61"/>
          <p:cNvSpPr/>
          <p:nvPr/>
        </p:nvSpPr>
        <p:spPr>
          <a:xfrm>
            <a:off x="6868700" y="4289775"/>
            <a:ext cx="554400" cy="329100"/>
          </a:xfrm>
          <a:prstGeom prst="rect">
            <a:avLst/>
          </a:prstGeom>
          <a:noFill/>
          <a:ln cap="flat" cmpd="sng" w="28575">
            <a:solidFill>
              <a:srgbClr val="1B91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36" name="Google Shape;1336;p61"/>
          <p:cNvGrpSpPr/>
          <p:nvPr/>
        </p:nvGrpSpPr>
        <p:grpSpPr>
          <a:xfrm>
            <a:off x="6360050" y="1840700"/>
            <a:ext cx="2418125" cy="1462725"/>
            <a:chOff x="6360050" y="1840700"/>
            <a:chExt cx="2418125" cy="1462725"/>
          </a:xfrm>
        </p:grpSpPr>
        <p:sp>
          <p:nvSpPr>
            <p:cNvPr id="1337" name="Google Shape;1337;p61"/>
            <p:cNvSpPr txBox="1"/>
            <p:nvPr/>
          </p:nvSpPr>
          <p:spPr>
            <a:xfrm>
              <a:off x="7565575" y="1840700"/>
              <a:ext cx="12126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SVMs can struggle with </a:t>
              </a:r>
              <a:r>
                <a:rPr b="1" lang="en" sz="1100">
                  <a:solidFill>
                    <a:schemeClr val="dk1"/>
                  </a:solidFill>
                </a:rPr>
                <a:t>categorical variables</a:t>
              </a:r>
              <a:r>
                <a:rPr lang="en" sz="1100">
                  <a:solidFill>
                    <a:schemeClr val="dk1"/>
                  </a:solidFill>
                </a:rPr>
                <a:t> unless they're well-encoded</a:t>
              </a:r>
              <a:endParaRPr/>
            </a:p>
          </p:txBody>
        </p:sp>
        <p:sp>
          <p:nvSpPr>
            <p:cNvPr id="1338" name="Google Shape;1338;p61"/>
            <p:cNvSpPr/>
            <p:nvPr/>
          </p:nvSpPr>
          <p:spPr>
            <a:xfrm>
              <a:off x="6360050" y="2819050"/>
              <a:ext cx="1269800" cy="484375"/>
            </a:xfrm>
            <a:custGeom>
              <a:rect b="b" l="l" r="r" t="t"/>
              <a:pathLst>
                <a:path extrusionOk="0" h="19375" w="50792">
                  <a:moveTo>
                    <a:pt x="50792" y="0"/>
                  </a:moveTo>
                  <a:cubicBezTo>
                    <a:pt x="46613" y="3215"/>
                    <a:pt x="34183" y="18592"/>
                    <a:pt x="25718" y="19288"/>
                  </a:cubicBezTo>
                  <a:cubicBezTo>
                    <a:pt x="17253" y="19985"/>
                    <a:pt x="4286" y="6697"/>
                    <a:pt x="0" y="4179"/>
                  </a:cubicBezTo>
                </a:path>
              </a:pathLst>
            </a:custGeom>
            <a:noFill/>
            <a:ln cap="flat" cmpd="sng" w="9525">
              <a:solidFill>
                <a:schemeClr val="dk2"/>
              </a:solidFill>
              <a:prstDash val="solid"/>
              <a:round/>
              <a:headEnd len="med" w="med" type="none"/>
              <a:tailEnd len="med" w="med" type="stealth"/>
            </a:ln>
          </p:spPr>
        </p:sp>
      </p:grpSp>
      <p:grpSp>
        <p:nvGrpSpPr>
          <p:cNvPr id="1339" name="Google Shape;1339;p61"/>
          <p:cNvGrpSpPr/>
          <p:nvPr/>
        </p:nvGrpSpPr>
        <p:grpSpPr>
          <a:xfrm>
            <a:off x="120850" y="1348975"/>
            <a:ext cx="3788000" cy="1911600"/>
            <a:chOff x="120850" y="1348975"/>
            <a:chExt cx="3788000" cy="1911600"/>
          </a:xfrm>
        </p:grpSpPr>
        <p:sp>
          <p:nvSpPr>
            <p:cNvPr id="1340" name="Google Shape;1340;p61"/>
            <p:cNvSpPr txBox="1"/>
            <p:nvPr/>
          </p:nvSpPr>
          <p:spPr>
            <a:xfrm>
              <a:off x="120850" y="1348975"/>
              <a:ext cx="1583100" cy="191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100">
                  <a:solidFill>
                    <a:schemeClr val="dk1"/>
                  </a:solidFill>
                </a:rPr>
                <a:t>XGBoost is built for large, noisy datasets, and Tic-Tac-Toe has rigid patterns that it may miss without deep trees—leading to underfitting and overly generic predictions.</a:t>
              </a:r>
              <a:endParaRPr sz="1100">
                <a:solidFill>
                  <a:schemeClr val="dk1"/>
                </a:solidFill>
              </a:endParaRPr>
            </a:p>
          </p:txBody>
        </p:sp>
        <p:sp>
          <p:nvSpPr>
            <p:cNvPr id="1341" name="Google Shape;1341;p61"/>
            <p:cNvSpPr/>
            <p:nvPr/>
          </p:nvSpPr>
          <p:spPr>
            <a:xfrm>
              <a:off x="1602325" y="2312750"/>
              <a:ext cx="2306525" cy="245775"/>
            </a:xfrm>
            <a:custGeom>
              <a:rect b="b" l="l" r="r" t="t"/>
              <a:pathLst>
                <a:path extrusionOk="0" h="9831" w="92261">
                  <a:moveTo>
                    <a:pt x="0" y="4500"/>
                  </a:moveTo>
                  <a:cubicBezTo>
                    <a:pt x="12912" y="5357"/>
                    <a:pt x="62097" y="10394"/>
                    <a:pt x="77474" y="9644"/>
                  </a:cubicBezTo>
                  <a:cubicBezTo>
                    <a:pt x="92851" y="8894"/>
                    <a:pt x="89797" y="1607"/>
                    <a:pt x="92261" y="0"/>
                  </a:cubicBezTo>
                </a:path>
              </a:pathLst>
            </a:custGeom>
            <a:noFill/>
            <a:ln cap="flat" cmpd="sng" w="9525">
              <a:solidFill>
                <a:schemeClr val="dk2"/>
              </a:solidFill>
              <a:prstDash val="solid"/>
              <a:round/>
              <a:headEnd len="med" w="med" type="none"/>
              <a:tailEnd len="med" w="med" type="stealth"/>
            </a:ln>
          </p:spPr>
        </p:sp>
      </p:grpSp>
      <p:grpSp>
        <p:nvGrpSpPr>
          <p:cNvPr id="1342" name="Google Shape;1342;p61"/>
          <p:cNvGrpSpPr/>
          <p:nvPr/>
        </p:nvGrpSpPr>
        <p:grpSpPr>
          <a:xfrm>
            <a:off x="163750" y="3359075"/>
            <a:ext cx="3025450" cy="1200600"/>
            <a:chOff x="163750" y="3359075"/>
            <a:chExt cx="3025450" cy="1200600"/>
          </a:xfrm>
        </p:grpSpPr>
        <p:sp>
          <p:nvSpPr>
            <p:cNvPr id="1343" name="Google Shape;1343;p61"/>
            <p:cNvSpPr txBox="1"/>
            <p:nvPr/>
          </p:nvSpPr>
          <p:spPr>
            <a:xfrm>
              <a:off x="163750" y="3359075"/>
              <a:ext cx="13545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Random Forest doesn’t "see" </a:t>
              </a:r>
              <a:r>
                <a:rPr b="1" lang="en" sz="1100">
                  <a:solidFill>
                    <a:schemeClr val="dk1"/>
                  </a:solidFill>
                </a:rPr>
                <a:t>higher-order feature interactions</a:t>
              </a:r>
              <a:r>
                <a:rPr lang="en" sz="1100">
                  <a:solidFill>
                    <a:schemeClr val="dk1"/>
                  </a:solidFill>
                </a:rPr>
                <a:t> like "three Xs in a line"</a:t>
              </a:r>
              <a:endParaRPr sz="1100">
                <a:solidFill>
                  <a:schemeClr val="dk1"/>
                </a:solidFill>
              </a:endParaRPr>
            </a:p>
          </p:txBody>
        </p:sp>
        <p:sp>
          <p:nvSpPr>
            <p:cNvPr id="1344" name="Google Shape;1344;p61"/>
            <p:cNvSpPr/>
            <p:nvPr/>
          </p:nvSpPr>
          <p:spPr>
            <a:xfrm>
              <a:off x="1240675" y="3494125"/>
              <a:ext cx="1948525" cy="700700"/>
            </a:xfrm>
            <a:custGeom>
              <a:rect b="b" l="l" r="r" t="t"/>
              <a:pathLst>
                <a:path extrusionOk="0" h="28028" w="77941">
                  <a:moveTo>
                    <a:pt x="0" y="18646"/>
                  </a:moveTo>
                  <a:cubicBezTo>
                    <a:pt x="6697" y="20200"/>
                    <a:pt x="27646" y="28450"/>
                    <a:pt x="40183" y="27968"/>
                  </a:cubicBezTo>
                  <a:cubicBezTo>
                    <a:pt x="52720" y="27486"/>
                    <a:pt x="69329" y="20413"/>
                    <a:pt x="75223" y="15752"/>
                  </a:cubicBezTo>
                  <a:cubicBezTo>
                    <a:pt x="81117" y="11091"/>
                    <a:pt x="75491" y="2625"/>
                    <a:pt x="75545" y="0"/>
                  </a:cubicBezTo>
                </a:path>
              </a:pathLst>
            </a:custGeom>
            <a:noFill/>
            <a:ln cap="flat" cmpd="sng" w="9525">
              <a:solidFill>
                <a:schemeClr val="dk2"/>
              </a:solidFill>
              <a:prstDash val="solid"/>
              <a:round/>
              <a:headEnd len="med" w="med" type="none"/>
              <a:tailEnd len="med" w="med" type="stealth"/>
            </a:ln>
          </p:spPr>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48" name="Shape 1348"/>
        <p:cNvGrpSpPr/>
        <p:nvPr/>
      </p:nvGrpSpPr>
      <p:grpSpPr>
        <a:xfrm>
          <a:off x="0" y="0"/>
          <a:ext cx="0" cy="0"/>
          <a:chOff x="0" y="0"/>
          <a:chExt cx="0" cy="0"/>
        </a:xfrm>
      </p:grpSpPr>
      <p:sp>
        <p:nvSpPr>
          <p:cNvPr id="1349" name="Google Shape;1349;p62"/>
          <p:cNvSpPr txBox="1"/>
          <p:nvPr/>
        </p:nvSpPr>
        <p:spPr>
          <a:xfrm>
            <a:off x="211175" y="1186250"/>
            <a:ext cx="28401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dk2"/>
                </a:solidFill>
                <a:latin typeface="Staatliches"/>
                <a:ea typeface="Staatliches"/>
                <a:cs typeface="Staatliches"/>
                <a:sym typeface="Staatliches"/>
              </a:rPr>
              <a:t>data cleaning</a:t>
            </a:r>
            <a:endParaRPr sz="2400">
              <a:solidFill>
                <a:schemeClr val="dk2"/>
              </a:solidFill>
              <a:latin typeface="Staatliches"/>
              <a:ea typeface="Staatliches"/>
              <a:cs typeface="Staatliches"/>
              <a:sym typeface="Staatliches"/>
            </a:endParaRPr>
          </a:p>
          <a:p>
            <a:pPr indent="0" lvl="0" marL="0" rtl="0" algn="ctr">
              <a:spcBef>
                <a:spcPts val="0"/>
              </a:spcBef>
              <a:spcAft>
                <a:spcPts val="0"/>
              </a:spcAft>
              <a:buNone/>
            </a:pPr>
            <a:r>
              <a:rPr lang="en" sz="1100">
                <a:solidFill>
                  <a:schemeClr val="dk2"/>
                </a:solidFill>
              </a:rPr>
              <a:t>Need to convert the features </a:t>
            </a:r>
            <a:endParaRPr sz="1100">
              <a:solidFill>
                <a:schemeClr val="dk2"/>
              </a:solidFill>
            </a:endParaRPr>
          </a:p>
          <a:p>
            <a:pPr indent="0" lvl="0" marL="0" rtl="0" algn="ctr">
              <a:spcBef>
                <a:spcPts val="0"/>
              </a:spcBef>
              <a:spcAft>
                <a:spcPts val="0"/>
              </a:spcAft>
              <a:buNone/>
            </a:pPr>
            <a:r>
              <a:rPr lang="en" sz="1100">
                <a:solidFill>
                  <a:schemeClr val="dk2"/>
                </a:solidFill>
              </a:rPr>
              <a:t>and targets to numbers</a:t>
            </a:r>
            <a:endParaRPr sz="1100">
              <a:solidFill>
                <a:schemeClr val="dk2"/>
              </a:solidFill>
            </a:endParaRPr>
          </a:p>
        </p:txBody>
      </p:sp>
      <p:sp>
        <p:nvSpPr>
          <p:cNvPr id="1350" name="Google Shape;1350;p62"/>
          <p:cNvSpPr/>
          <p:nvPr/>
        </p:nvSpPr>
        <p:spPr>
          <a:xfrm>
            <a:off x="3608718" y="2701307"/>
            <a:ext cx="611100" cy="710100"/>
          </a:xfrm>
          <a:prstGeom prst="ellipse">
            <a:avLst/>
          </a:prstGeom>
          <a:solidFill>
            <a:srgbClr val="1B91C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1" name="Google Shape;1351;p62"/>
          <p:cNvSpPr/>
          <p:nvPr/>
        </p:nvSpPr>
        <p:spPr>
          <a:xfrm rot="2699018">
            <a:off x="3542950" y="1859593"/>
            <a:ext cx="742674" cy="741189"/>
          </a:xfrm>
          <a:prstGeom prst="plus">
            <a:avLst>
              <a:gd fmla="val 35741" name="adj"/>
            </a:avLst>
          </a:prstGeom>
          <a:solidFill>
            <a:srgbClr val="C6B8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2" name="Google Shape;1352;p62"/>
          <p:cNvSpPr/>
          <p:nvPr/>
        </p:nvSpPr>
        <p:spPr>
          <a:xfrm>
            <a:off x="3566068" y="3610338"/>
            <a:ext cx="710700" cy="681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b</a:t>
            </a:r>
            <a:r>
              <a:rPr lang="en"/>
              <a:t>lank</a:t>
            </a:r>
            <a:endParaRPr/>
          </a:p>
        </p:txBody>
      </p:sp>
      <p:sp>
        <p:nvSpPr>
          <p:cNvPr id="1353" name="Google Shape;1353;p62"/>
          <p:cNvSpPr txBox="1"/>
          <p:nvPr/>
        </p:nvSpPr>
        <p:spPr>
          <a:xfrm>
            <a:off x="3412350" y="1156063"/>
            <a:ext cx="1103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2"/>
                </a:solidFill>
                <a:latin typeface="Staatliches"/>
                <a:ea typeface="Staatliches"/>
                <a:cs typeface="Staatliches"/>
                <a:sym typeface="Staatliches"/>
              </a:rPr>
              <a:t>markers</a:t>
            </a:r>
            <a:endParaRPr sz="1500">
              <a:latin typeface="Staatliches"/>
              <a:ea typeface="Staatliches"/>
              <a:cs typeface="Staatliches"/>
              <a:sym typeface="Staatliches"/>
            </a:endParaRPr>
          </a:p>
        </p:txBody>
      </p:sp>
      <p:grpSp>
        <p:nvGrpSpPr>
          <p:cNvPr id="1354" name="Google Shape;1354;p62"/>
          <p:cNvGrpSpPr/>
          <p:nvPr/>
        </p:nvGrpSpPr>
        <p:grpSpPr>
          <a:xfrm>
            <a:off x="4081350" y="1991700"/>
            <a:ext cx="1321500" cy="477000"/>
            <a:chOff x="1947750" y="1991700"/>
            <a:chExt cx="1321500" cy="477000"/>
          </a:xfrm>
        </p:grpSpPr>
        <p:sp>
          <p:nvSpPr>
            <p:cNvPr id="1355" name="Google Shape;1355;p62"/>
            <p:cNvSpPr txBox="1"/>
            <p:nvPr/>
          </p:nvSpPr>
          <p:spPr>
            <a:xfrm>
              <a:off x="2799750" y="1991700"/>
              <a:ext cx="469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2"/>
                  </a:solidFill>
                </a:rPr>
                <a:t>1</a:t>
              </a:r>
              <a:endParaRPr/>
            </a:p>
          </p:txBody>
        </p:sp>
        <p:cxnSp>
          <p:nvCxnSpPr>
            <p:cNvPr id="1356" name="Google Shape;1356;p62"/>
            <p:cNvCxnSpPr>
              <a:endCxn id="1355" idx="1"/>
            </p:cNvCxnSpPr>
            <p:nvPr/>
          </p:nvCxnSpPr>
          <p:spPr>
            <a:xfrm flipH="1" rot="10800000">
              <a:off x="1947750" y="2230200"/>
              <a:ext cx="852000" cy="10200"/>
            </a:xfrm>
            <a:prstGeom prst="straightConnector1">
              <a:avLst/>
            </a:prstGeom>
            <a:noFill/>
            <a:ln cap="flat" cmpd="sng" w="9525">
              <a:solidFill>
                <a:schemeClr val="dk2"/>
              </a:solidFill>
              <a:prstDash val="solid"/>
              <a:round/>
              <a:headEnd len="med" w="med" type="none"/>
              <a:tailEnd len="med" w="med" type="stealth"/>
            </a:ln>
          </p:spPr>
        </p:cxnSp>
      </p:grpSp>
      <p:grpSp>
        <p:nvGrpSpPr>
          <p:cNvPr id="1357" name="Google Shape;1357;p62"/>
          <p:cNvGrpSpPr/>
          <p:nvPr/>
        </p:nvGrpSpPr>
        <p:grpSpPr>
          <a:xfrm>
            <a:off x="4219818" y="2830800"/>
            <a:ext cx="1146707" cy="477000"/>
            <a:chOff x="2086218" y="2830800"/>
            <a:chExt cx="1146707" cy="477000"/>
          </a:xfrm>
        </p:grpSpPr>
        <p:sp>
          <p:nvSpPr>
            <p:cNvPr id="1358" name="Google Shape;1358;p62"/>
            <p:cNvSpPr txBox="1"/>
            <p:nvPr/>
          </p:nvSpPr>
          <p:spPr>
            <a:xfrm>
              <a:off x="2763425" y="2830800"/>
              <a:ext cx="469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2"/>
                  </a:solidFill>
                </a:rPr>
                <a:t>-</a:t>
              </a:r>
              <a:r>
                <a:rPr lang="en" sz="1900">
                  <a:solidFill>
                    <a:schemeClr val="dk2"/>
                  </a:solidFill>
                </a:rPr>
                <a:t>1</a:t>
              </a:r>
              <a:endParaRPr/>
            </a:p>
          </p:txBody>
        </p:sp>
        <p:cxnSp>
          <p:nvCxnSpPr>
            <p:cNvPr id="1359" name="Google Shape;1359;p62"/>
            <p:cNvCxnSpPr>
              <a:stCxn id="1350" idx="6"/>
              <a:endCxn id="1358" idx="1"/>
            </p:cNvCxnSpPr>
            <p:nvPr/>
          </p:nvCxnSpPr>
          <p:spPr>
            <a:xfrm>
              <a:off x="2086218" y="3056357"/>
              <a:ext cx="677100" cy="12900"/>
            </a:xfrm>
            <a:prstGeom prst="straightConnector1">
              <a:avLst/>
            </a:prstGeom>
            <a:noFill/>
            <a:ln cap="flat" cmpd="sng" w="9525">
              <a:solidFill>
                <a:schemeClr val="dk2"/>
              </a:solidFill>
              <a:prstDash val="solid"/>
              <a:round/>
              <a:headEnd len="med" w="med" type="none"/>
              <a:tailEnd len="med" w="med" type="stealth"/>
            </a:ln>
          </p:spPr>
        </p:cxnSp>
      </p:grpSp>
      <p:grpSp>
        <p:nvGrpSpPr>
          <p:cNvPr id="1360" name="Google Shape;1360;p62"/>
          <p:cNvGrpSpPr/>
          <p:nvPr/>
        </p:nvGrpSpPr>
        <p:grpSpPr>
          <a:xfrm>
            <a:off x="4276768" y="3709400"/>
            <a:ext cx="1089757" cy="477000"/>
            <a:chOff x="2143168" y="3709400"/>
            <a:chExt cx="1089757" cy="477000"/>
          </a:xfrm>
        </p:grpSpPr>
        <p:sp>
          <p:nvSpPr>
            <p:cNvPr id="1361" name="Google Shape;1361;p62"/>
            <p:cNvSpPr txBox="1"/>
            <p:nvPr/>
          </p:nvSpPr>
          <p:spPr>
            <a:xfrm>
              <a:off x="2763425" y="3709400"/>
              <a:ext cx="469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2"/>
                  </a:solidFill>
                </a:rPr>
                <a:t>0</a:t>
              </a:r>
              <a:endParaRPr/>
            </a:p>
          </p:txBody>
        </p:sp>
        <p:cxnSp>
          <p:nvCxnSpPr>
            <p:cNvPr id="1362" name="Google Shape;1362;p62"/>
            <p:cNvCxnSpPr>
              <a:stCxn id="1352" idx="3"/>
              <a:endCxn id="1361" idx="1"/>
            </p:cNvCxnSpPr>
            <p:nvPr/>
          </p:nvCxnSpPr>
          <p:spPr>
            <a:xfrm flipH="1" rot="10800000">
              <a:off x="2143168" y="3947988"/>
              <a:ext cx="620400" cy="3300"/>
            </a:xfrm>
            <a:prstGeom prst="straightConnector1">
              <a:avLst/>
            </a:prstGeom>
            <a:noFill/>
            <a:ln cap="flat" cmpd="sng" w="9525">
              <a:solidFill>
                <a:schemeClr val="dk2"/>
              </a:solidFill>
              <a:prstDash val="solid"/>
              <a:round/>
              <a:headEnd len="med" w="med" type="none"/>
              <a:tailEnd len="med" w="med" type="stealth"/>
            </a:ln>
          </p:spPr>
        </p:cxnSp>
      </p:grpSp>
      <p:sp>
        <p:nvSpPr>
          <p:cNvPr id="1363" name="Google Shape;1363;p62"/>
          <p:cNvSpPr txBox="1"/>
          <p:nvPr/>
        </p:nvSpPr>
        <p:spPr>
          <a:xfrm>
            <a:off x="7023825" y="1186238"/>
            <a:ext cx="1103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2"/>
                </a:solidFill>
                <a:latin typeface="Staatliches"/>
                <a:ea typeface="Staatliches"/>
                <a:cs typeface="Staatliches"/>
                <a:sym typeface="Staatliches"/>
              </a:rPr>
              <a:t>target</a:t>
            </a:r>
            <a:endParaRPr sz="1500">
              <a:latin typeface="Staatliches"/>
              <a:ea typeface="Staatliches"/>
              <a:cs typeface="Staatliches"/>
              <a:sym typeface="Staatliches"/>
            </a:endParaRPr>
          </a:p>
        </p:txBody>
      </p:sp>
      <p:sp>
        <p:nvSpPr>
          <p:cNvPr id="1364" name="Google Shape;1364;p62"/>
          <p:cNvSpPr txBox="1"/>
          <p:nvPr/>
        </p:nvSpPr>
        <p:spPr>
          <a:xfrm>
            <a:off x="6672600" y="2102300"/>
            <a:ext cx="1911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BCBD21"/>
                </a:solidFill>
                <a:latin typeface="Staatliches"/>
                <a:ea typeface="Staatliches"/>
                <a:cs typeface="Staatliches"/>
                <a:sym typeface="Staatliches"/>
              </a:rPr>
              <a:t>positive class</a:t>
            </a:r>
            <a:r>
              <a:rPr lang="en" sz="1500">
                <a:solidFill>
                  <a:schemeClr val="dk2"/>
                </a:solidFill>
              </a:rPr>
              <a:t>: player using </a:t>
            </a:r>
            <a:r>
              <a:rPr b="1" lang="en" sz="1500">
                <a:solidFill>
                  <a:schemeClr val="dk2"/>
                </a:solidFill>
              </a:rPr>
              <a:t>x</a:t>
            </a:r>
            <a:r>
              <a:rPr lang="en" sz="1500">
                <a:solidFill>
                  <a:schemeClr val="dk2"/>
                </a:solidFill>
              </a:rPr>
              <a:t> wins</a:t>
            </a:r>
            <a:endParaRPr sz="1100"/>
          </a:p>
        </p:txBody>
      </p:sp>
      <p:sp>
        <p:nvSpPr>
          <p:cNvPr id="1365" name="Google Shape;1365;p62"/>
          <p:cNvSpPr txBox="1"/>
          <p:nvPr/>
        </p:nvSpPr>
        <p:spPr>
          <a:xfrm>
            <a:off x="6672600" y="3245300"/>
            <a:ext cx="1911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FF"/>
                </a:solidFill>
                <a:latin typeface="Staatliches"/>
                <a:ea typeface="Staatliches"/>
                <a:cs typeface="Staatliches"/>
                <a:sym typeface="Staatliches"/>
              </a:rPr>
              <a:t>Negative class</a:t>
            </a:r>
            <a:r>
              <a:rPr lang="en" sz="1500">
                <a:solidFill>
                  <a:schemeClr val="dk2"/>
                </a:solidFill>
              </a:rPr>
              <a:t>: player using </a:t>
            </a:r>
            <a:r>
              <a:rPr b="1" lang="en" sz="1500">
                <a:solidFill>
                  <a:schemeClr val="dk2"/>
                </a:solidFill>
              </a:rPr>
              <a:t>x</a:t>
            </a:r>
            <a:r>
              <a:rPr lang="en" sz="1500">
                <a:solidFill>
                  <a:schemeClr val="dk2"/>
                </a:solidFill>
              </a:rPr>
              <a:t> loses</a:t>
            </a:r>
            <a:endParaRPr sz="1100"/>
          </a:p>
        </p:txBody>
      </p:sp>
      <p:grpSp>
        <p:nvGrpSpPr>
          <p:cNvPr id="1366" name="Google Shape;1366;p62"/>
          <p:cNvGrpSpPr/>
          <p:nvPr/>
        </p:nvGrpSpPr>
        <p:grpSpPr>
          <a:xfrm flipH="1">
            <a:off x="5743242" y="2210150"/>
            <a:ext cx="929279" cy="477000"/>
            <a:chOff x="1947750" y="1991700"/>
            <a:chExt cx="1321500" cy="477000"/>
          </a:xfrm>
        </p:grpSpPr>
        <p:sp>
          <p:nvSpPr>
            <p:cNvPr id="1367" name="Google Shape;1367;p62"/>
            <p:cNvSpPr txBox="1"/>
            <p:nvPr/>
          </p:nvSpPr>
          <p:spPr>
            <a:xfrm>
              <a:off x="2799750" y="1991700"/>
              <a:ext cx="469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2"/>
                  </a:solidFill>
                </a:rPr>
                <a:t>1</a:t>
              </a:r>
              <a:endParaRPr/>
            </a:p>
          </p:txBody>
        </p:sp>
        <p:cxnSp>
          <p:nvCxnSpPr>
            <p:cNvPr id="1368" name="Google Shape;1368;p62"/>
            <p:cNvCxnSpPr>
              <a:endCxn id="1367" idx="1"/>
            </p:cNvCxnSpPr>
            <p:nvPr/>
          </p:nvCxnSpPr>
          <p:spPr>
            <a:xfrm flipH="1" rot="10800000">
              <a:off x="1947750" y="2230200"/>
              <a:ext cx="852000" cy="10200"/>
            </a:xfrm>
            <a:prstGeom prst="straightConnector1">
              <a:avLst/>
            </a:prstGeom>
            <a:noFill/>
            <a:ln cap="flat" cmpd="sng" w="9525">
              <a:solidFill>
                <a:schemeClr val="dk2"/>
              </a:solidFill>
              <a:prstDash val="solid"/>
              <a:round/>
              <a:headEnd len="med" w="med" type="none"/>
              <a:tailEnd len="med" w="med" type="stealth"/>
            </a:ln>
          </p:spPr>
        </p:cxnSp>
      </p:grpSp>
      <p:grpSp>
        <p:nvGrpSpPr>
          <p:cNvPr id="1369" name="Google Shape;1369;p62"/>
          <p:cNvGrpSpPr/>
          <p:nvPr/>
        </p:nvGrpSpPr>
        <p:grpSpPr>
          <a:xfrm flipH="1">
            <a:off x="5743242" y="3276950"/>
            <a:ext cx="929279" cy="477000"/>
            <a:chOff x="1947750" y="1991700"/>
            <a:chExt cx="1321500" cy="477000"/>
          </a:xfrm>
        </p:grpSpPr>
        <p:sp>
          <p:nvSpPr>
            <p:cNvPr id="1370" name="Google Shape;1370;p62"/>
            <p:cNvSpPr txBox="1"/>
            <p:nvPr/>
          </p:nvSpPr>
          <p:spPr>
            <a:xfrm>
              <a:off x="2799750" y="1991700"/>
              <a:ext cx="469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2"/>
                  </a:solidFill>
                </a:rPr>
                <a:t>0</a:t>
              </a:r>
              <a:endParaRPr/>
            </a:p>
          </p:txBody>
        </p:sp>
        <p:cxnSp>
          <p:nvCxnSpPr>
            <p:cNvPr id="1371" name="Google Shape;1371;p62"/>
            <p:cNvCxnSpPr>
              <a:endCxn id="1370" idx="1"/>
            </p:cNvCxnSpPr>
            <p:nvPr/>
          </p:nvCxnSpPr>
          <p:spPr>
            <a:xfrm flipH="1" rot="10800000">
              <a:off x="1947750" y="2230200"/>
              <a:ext cx="852000" cy="10200"/>
            </a:xfrm>
            <a:prstGeom prst="straightConnector1">
              <a:avLst/>
            </a:prstGeom>
            <a:noFill/>
            <a:ln cap="flat" cmpd="sng" w="9525">
              <a:solidFill>
                <a:schemeClr val="dk2"/>
              </a:solidFill>
              <a:prstDash val="solid"/>
              <a:round/>
              <a:headEnd len="med" w="med" type="none"/>
              <a:tailEnd len="med" w="med" type="stealth"/>
            </a:ln>
          </p:spPr>
        </p:cxnSp>
      </p:grpSp>
      <p:sp>
        <p:nvSpPr>
          <p:cNvPr id="1372" name="Google Shape;1372;p62"/>
          <p:cNvSpPr txBox="1"/>
          <p:nvPr/>
        </p:nvSpPr>
        <p:spPr>
          <a:xfrm>
            <a:off x="601900" y="2700050"/>
            <a:ext cx="21819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2"/>
                </a:solidFill>
              </a:rPr>
              <a:t>Last, we will want to scale the data using </a:t>
            </a:r>
            <a:r>
              <a:rPr b="1" lang="en" sz="1100">
                <a:solidFill>
                  <a:schemeClr val="dk2"/>
                </a:solidFill>
              </a:rPr>
              <a:t>StandardScaler</a:t>
            </a:r>
            <a:r>
              <a:rPr lang="en" sz="1100">
                <a:solidFill>
                  <a:schemeClr val="dk2"/>
                </a:solidFill>
              </a:rPr>
              <a:t> since NN are sensitive to scale</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scaler = StandardScaler()</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scaler.fit(X)</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X = scaler.transform(X)</a:t>
            </a:r>
            <a:endParaRPr sz="1100">
              <a:solidFill>
                <a:schemeClr val="dk2"/>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6" name="Shape 1376"/>
        <p:cNvGrpSpPr/>
        <p:nvPr/>
      </p:nvGrpSpPr>
      <p:grpSpPr>
        <a:xfrm>
          <a:off x="0" y="0"/>
          <a:ext cx="0" cy="0"/>
          <a:chOff x="0" y="0"/>
          <a:chExt cx="0" cy="0"/>
        </a:xfrm>
      </p:grpSpPr>
      <p:sp>
        <p:nvSpPr>
          <p:cNvPr id="1377" name="Google Shape;1377;p63"/>
          <p:cNvSpPr/>
          <p:nvPr/>
        </p:nvSpPr>
        <p:spPr>
          <a:xfrm>
            <a:off x="3608718" y="2701307"/>
            <a:ext cx="611100" cy="710100"/>
          </a:xfrm>
          <a:prstGeom prst="ellipse">
            <a:avLst/>
          </a:prstGeom>
          <a:solidFill>
            <a:srgbClr val="1B91C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8" name="Google Shape;1378;p63"/>
          <p:cNvSpPr/>
          <p:nvPr/>
        </p:nvSpPr>
        <p:spPr>
          <a:xfrm rot="2699018">
            <a:off x="3542950" y="1859593"/>
            <a:ext cx="742674" cy="741189"/>
          </a:xfrm>
          <a:prstGeom prst="plus">
            <a:avLst>
              <a:gd fmla="val 35741" name="adj"/>
            </a:avLst>
          </a:prstGeom>
          <a:solidFill>
            <a:srgbClr val="C6B8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9" name="Google Shape;1379;p63"/>
          <p:cNvSpPr/>
          <p:nvPr/>
        </p:nvSpPr>
        <p:spPr>
          <a:xfrm>
            <a:off x="3566068" y="3610338"/>
            <a:ext cx="710700" cy="681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b</a:t>
            </a:r>
            <a:r>
              <a:rPr lang="en"/>
              <a:t>lank</a:t>
            </a:r>
            <a:endParaRPr/>
          </a:p>
        </p:txBody>
      </p:sp>
      <p:sp>
        <p:nvSpPr>
          <p:cNvPr id="1380" name="Google Shape;1380;p63"/>
          <p:cNvSpPr txBox="1"/>
          <p:nvPr/>
        </p:nvSpPr>
        <p:spPr>
          <a:xfrm>
            <a:off x="3412350" y="1156063"/>
            <a:ext cx="1103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2"/>
                </a:solidFill>
                <a:latin typeface="Staatliches"/>
                <a:ea typeface="Staatliches"/>
                <a:cs typeface="Staatliches"/>
                <a:sym typeface="Staatliches"/>
              </a:rPr>
              <a:t>markers</a:t>
            </a:r>
            <a:endParaRPr sz="1500">
              <a:latin typeface="Staatliches"/>
              <a:ea typeface="Staatliches"/>
              <a:cs typeface="Staatliches"/>
              <a:sym typeface="Staatliches"/>
            </a:endParaRPr>
          </a:p>
        </p:txBody>
      </p:sp>
      <p:grpSp>
        <p:nvGrpSpPr>
          <p:cNvPr id="1381" name="Google Shape;1381;p63"/>
          <p:cNvGrpSpPr/>
          <p:nvPr/>
        </p:nvGrpSpPr>
        <p:grpSpPr>
          <a:xfrm>
            <a:off x="4081350" y="1991700"/>
            <a:ext cx="1321500" cy="477000"/>
            <a:chOff x="1947750" y="1991700"/>
            <a:chExt cx="1321500" cy="477000"/>
          </a:xfrm>
        </p:grpSpPr>
        <p:sp>
          <p:nvSpPr>
            <p:cNvPr id="1382" name="Google Shape;1382;p63"/>
            <p:cNvSpPr txBox="1"/>
            <p:nvPr/>
          </p:nvSpPr>
          <p:spPr>
            <a:xfrm>
              <a:off x="2799750" y="1991700"/>
              <a:ext cx="469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2"/>
                  </a:solidFill>
                </a:rPr>
                <a:t>1</a:t>
              </a:r>
              <a:endParaRPr/>
            </a:p>
          </p:txBody>
        </p:sp>
        <p:cxnSp>
          <p:nvCxnSpPr>
            <p:cNvPr id="1383" name="Google Shape;1383;p63"/>
            <p:cNvCxnSpPr>
              <a:endCxn id="1382" idx="1"/>
            </p:cNvCxnSpPr>
            <p:nvPr/>
          </p:nvCxnSpPr>
          <p:spPr>
            <a:xfrm flipH="1" rot="10800000">
              <a:off x="1947750" y="2230200"/>
              <a:ext cx="852000" cy="10200"/>
            </a:xfrm>
            <a:prstGeom prst="straightConnector1">
              <a:avLst/>
            </a:prstGeom>
            <a:noFill/>
            <a:ln cap="flat" cmpd="sng" w="9525">
              <a:solidFill>
                <a:schemeClr val="dk2"/>
              </a:solidFill>
              <a:prstDash val="solid"/>
              <a:round/>
              <a:headEnd len="med" w="med" type="none"/>
              <a:tailEnd len="med" w="med" type="stealth"/>
            </a:ln>
          </p:spPr>
        </p:cxnSp>
      </p:grpSp>
      <p:grpSp>
        <p:nvGrpSpPr>
          <p:cNvPr id="1384" name="Google Shape;1384;p63"/>
          <p:cNvGrpSpPr/>
          <p:nvPr/>
        </p:nvGrpSpPr>
        <p:grpSpPr>
          <a:xfrm>
            <a:off x="4219818" y="2830800"/>
            <a:ext cx="1146707" cy="477000"/>
            <a:chOff x="2086218" y="2830800"/>
            <a:chExt cx="1146707" cy="477000"/>
          </a:xfrm>
        </p:grpSpPr>
        <p:sp>
          <p:nvSpPr>
            <p:cNvPr id="1385" name="Google Shape;1385;p63"/>
            <p:cNvSpPr txBox="1"/>
            <p:nvPr/>
          </p:nvSpPr>
          <p:spPr>
            <a:xfrm>
              <a:off x="2763425" y="2830800"/>
              <a:ext cx="469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2"/>
                  </a:solidFill>
                </a:rPr>
                <a:t>-1</a:t>
              </a:r>
              <a:endParaRPr/>
            </a:p>
          </p:txBody>
        </p:sp>
        <p:cxnSp>
          <p:nvCxnSpPr>
            <p:cNvPr id="1386" name="Google Shape;1386;p63"/>
            <p:cNvCxnSpPr>
              <a:stCxn id="1377" idx="6"/>
              <a:endCxn id="1385" idx="1"/>
            </p:cNvCxnSpPr>
            <p:nvPr/>
          </p:nvCxnSpPr>
          <p:spPr>
            <a:xfrm>
              <a:off x="2086218" y="3056357"/>
              <a:ext cx="677100" cy="12900"/>
            </a:xfrm>
            <a:prstGeom prst="straightConnector1">
              <a:avLst/>
            </a:prstGeom>
            <a:noFill/>
            <a:ln cap="flat" cmpd="sng" w="9525">
              <a:solidFill>
                <a:schemeClr val="dk2"/>
              </a:solidFill>
              <a:prstDash val="solid"/>
              <a:round/>
              <a:headEnd len="med" w="med" type="none"/>
              <a:tailEnd len="med" w="med" type="stealth"/>
            </a:ln>
          </p:spPr>
        </p:cxnSp>
      </p:grpSp>
      <p:grpSp>
        <p:nvGrpSpPr>
          <p:cNvPr id="1387" name="Google Shape;1387;p63"/>
          <p:cNvGrpSpPr/>
          <p:nvPr/>
        </p:nvGrpSpPr>
        <p:grpSpPr>
          <a:xfrm>
            <a:off x="4276768" y="3709400"/>
            <a:ext cx="1089757" cy="477000"/>
            <a:chOff x="2143168" y="3709400"/>
            <a:chExt cx="1089757" cy="477000"/>
          </a:xfrm>
        </p:grpSpPr>
        <p:sp>
          <p:nvSpPr>
            <p:cNvPr id="1388" name="Google Shape;1388;p63"/>
            <p:cNvSpPr txBox="1"/>
            <p:nvPr/>
          </p:nvSpPr>
          <p:spPr>
            <a:xfrm>
              <a:off x="2763425" y="3709400"/>
              <a:ext cx="469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2"/>
                  </a:solidFill>
                </a:rPr>
                <a:t>0</a:t>
              </a:r>
              <a:endParaRPr/>
            </a:p>
          </p:txBody>
        </p:sp>
        <p:cxnSp>
          <p:nvCxnSpPr>
            <p:cNvPr id="1389" name="Google Shape;1389;p63"/>
            <p:cNvCxnSpPr>
              <a:stCxn id="1379" idx="3"/>
              <a:endCxn id="1388" idx="1"/>
            </p:cNvCxnSpPr>
            <p:nvPr/>
          </p:nvCxnSpPr>
          <p:spPr>
            <a:xfrm flipH="1" rot="10800000">
              <a:off x="2143168" y="3947988"/>
              <a:ext cx="620400" cy="3300"/>
            </a:xfrm>
            <a:prstGeom prst="straightConnector1">
              <a:avLst/>
            </a:prstGeom>
            <a:noFill/>
            <a:ln cap="flat" cmpd="sng" w="9525">
              <a:solidFill>
                <a:schemeClr val="dk2"/>
              </a:solidFill>
              <a:prstDash val="solid"/>
              <a:round/>
              <a:headEnd len="med" w="med" type="none"/>
              <a:tailEnd len="med" w="med" type="stealth"/>
            </a:ln>
          </p:spPr>
        </p:cxnSp>
      </p:grpSp>
      <p:sp>
        <p:nvSpPr>
          <p:cNvPr id="1390" name="Google Shape;1390;p63"/>
          <p:cNvSpPr txBox="1"/>
          <p:nvPr/>
        </p:nvSpPr>
        <p:spPr>
          <a:xfrm>
            <a:off x="513750" y="940300"/>
            <a:ext cx="2373900" cy="332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latin typeface="Staatliches"/>
                <a:ea typeface="Staatliches"/>
                <a:cs typeface="Staatliches"/>
                <a:sym typeface="Staatliches"/>
              </a:rPr>
              <a:t>Why this type of encoding?</a:t>
            </a:r>
            <a:endParaRPr sz="1700">
              <a:solidFill>
                <a:schemeClr val="dk2"/>
              </a:solidFill>
              <a:latin typeface="Staatliches"/>
              <a:ea typeface="Staatliches"/>
              <a:cs typeface="Staatliches"/>
              <a:sym typeface="Staatliches"/>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b="1" lang="en" sz="1100">
                <a:solidFill>
                  <a:schemeClr val="dk2"/>
                </a:solidFill>
              </a:rPr>
              <a:t>Efficiency</a:t>
            </a:r>
            <a:r>
              <a:rPr lang="en" sz="1100">
                <a:solidFill>
                  <a:schemeClr val="dk2"/>
                </a:solidFill>
              </a:rPr>
              <a:t>: goes from 27 (in one-hot) to 9 inputs, making models simpler and faster to train.</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b="1" lang="en" sz="1100">
                <a:solidFill>
                  <a:schemeClr val="dk2"/>
                </a:solidFill>
              </a:rPr>
              <a:t>Signed values</a:t>
            </a:r>
            <a:r>
              <a:rPr lang="en" sz="1100">
                <a:solidFill>
                  <a:schemeClr val="dk2"/>
                </a:solidFill>
              </a:rPr>
              <a:t>: It embeds meaning– positive represents player </a:t>
            </a:r>
            <a:r>
              <a:rPr b="1" lang="en" sz="1100">
                <a:solidFill>
                  <a:srgbClr val="C6B8EB"/>
                </a:solidFill>
              </a:rPr>
              <a:t>X</a:t>
            </a:r>
            <a:r>
              <a:rPr lang="en" sz="1100">
                <a:solidFill>
                  <a:schemeClr val="dk2"/>
                </a:solidFill>
              </a:rPr>
              <a:t>, negative represents the opponent </a:t>
            </a:r>
            <a:r>
              <a:rPr b="1" lang="en" sz="1100">
                <a:solidFill>
                  <a:srgbClr val="1B91CA"/>
                </a:solidFill>
              </a:rPr>
              <a:t>O</a:t>
            </a:r>
            <a:r>
              <a:rPr lang="en" sz="1100">
                <a:solidFill>
                  <a:schemeClr val="dk2"/>
                </a:solidFill>
              </a:rPr>
              <a:t>, and 0 is neutral.</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b="1" lang="en" sz="1100">
                <a:solidFill>
                  <a:schemeClr val="dk2"/>
                </a:solidFill>
              </a:rPr>
              <a:t>Weighted interactions</a:t>
            </a:r>
            <a:r>
              <a:rPr lang="en" sz="1100">
                <a:solidFill>
                  <a:schemeClr val="dk2"/>
                </a:solidFill>
              </a:rPr>
              <a:t>: Some models (like neural networks or linear models) may benefit from these continuous or signed values, which allow them to learn weighted patterns more easily (e.g., "3 </a:t>
            </a:r>
            <a:r>
              <a:rPr b="1" lang="en" sz="1100">
                <a:solidFill>
                  <a:srgbClr val="C6B8EB"/>
                </a:solidFill>
              </a:rPr>
              <a:t>X</a:t>
            </a:r>
            <a:r>
              <a:rPr lang="en" sz="1100">
                <a:solidFill>
                  <a:schemeClr val="dk2"/>
                </a:solidFill>
              </a:rPr>
              <a:t>s in a row" adds to 3).</a:t>
            </a:r>
            <a:endParaRPr sz="1100">
              <a:solidFill>
                <a:schemeClr val="dk2"/>
              </a:solidFill>
            </a:endParaRPr>
          </a:p>
        </p:txBody>
      </p:sp>
      <p:sp>
        <p:nvSpPr>
          <p:cNvPr id="1391" name="Google Shape;1391;p63"/>
          <p:cNvSpPr txBox="1"/>
          <p:nvPr/>
        </p:nvSpPr>
        <p:spPr>
          <a:xfrm>
            <a:off x="5930200" y="992375"/>
            <a:ext cx="2373900" cy="332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latin typeface="Staatliches"/>
                <a:ea typeface="Staatliches"/>
                <a:cs typeface="Staatliches"/>
                <a:sym typeface="Staatliches"/>
              </a:rPr>
              <a:t>assumptions being made</a:t>
            </a:r>
            <a:endParaRPr sz="1700">
              <a:solidFill>
                <a:schemeClr val="dk2"/>
              </a:solidFill>
              <a:latin typeface="Staatliches"/>
              <a:ea typeface="Staatliches"/>
              <a:cs typeface="Staatliches"/>
              <a:sym typeface="Staatliches"/>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b="1" lang="en" sz="1100">
                <a:solidFill>
                  <a:schemeClr val="dk2"/>
                </a:solidFill>
              </a:rPr>
              <a:t>Symmetry</a:t>
            </a:r>
            <a:r>
              <a:rPr lang="en" sz="1100">
                <a:solidFill>
                  <a:schemeClr val="dk2"/>
                </a:solidFill>
              </a:rPr>
              <a:t>: We assume that the difference between </a:t>
            </a:r>
            <a:r>
              <a:rPr b="1" lang="en" sz="1100">
                <a:solidFill>
                  <a:srgbClr val="C6B8EB"/>
                </a:solidFill>
              </a:rPr>
              <a:t>X </a:t>
            </a:r>
            <a:r>
              <a:rPr lang="en" sz="1100">
                <a:solidFill>
                  <a:schemeClr val="dk2"/>
                </a:solidFill>
              </a:rPr>
              <a:t>and </a:t>
            </a:r>
            <a:r>
              <a:rPr b="1" lang="en" sz="1100">
                <a:solidFill>
                  <a:srgbClr val="1B91CA"/>
                </a:solidFill>
              </a:rPr>
              <a:t>O</a:t>
            </a:r>
            <a:r>
              <a:rPr lang="en" sz="1100">
                <a:solidFill>
                  <a:schemeClr val="dk2"/>
                </a:solidFill>
              </a:rPr>
              <a:t> is linear and symmetric – </a:t>
            </a:r>
            <a:r>
              <a:rPr b="1" lang="en" sz="1100">
                <a:solidFill>
                  <a:srgbClr val="C6B8EB"/>
                </a:solidFill>
              </a:rPr>
              <a:t>X</a:t>
            </a:r>
            <a:r>
              <a:rPr lang="en" sz="1100">
                <a:solidFill>
                  <a:schemeClr val="dk2"/>
                </a:solidFill>
              </a:rPr>
              <a:t> is just the opposite of </a:t>
            </a:r>
            <a:r>
              <a:rPr b="1" lang="en" sz="1100">
                <a:solidFill>
                  <a:srgbClr val="1B91CA"/>
                </a:solidFill>
              </a:rPr>
              <a:t>O</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b="1" lang="en" sz="1100">
                <a:solidFill>
                  <a:schemeClr val="dk2"/>
                </a:solidFill>
              </a:rPr>
              <a:t>Signed values</a:t>
            </a:r>
            <a:r>
              <a:rPr lang="en" sz="1100">
                <a:solidFill>
                  <a:schemeClr val="dk2"/>
                </a:solidFill>
              </a:rPr>
              <a:t>: We assume the model will interpret in terms of player </a:t>
            </a:r>
            <a:r>
              <a:rPr b="1" lang="en" sz="1100">
                <a:solidFill>
                  <a:srgbClr val="C6B8EB"/>
                </a:solidFill>
              </a:rPr>
              <a:t>X </a:t>
            </a:r>
            <a:r>
              <a:rPr lang="en" sz="1100">
                <a:solidFill>
                  <a:schemeClr val="dk2"/>
                </a:solidFill>
              </a:rPr>
              <a:t>that 1 is good, -1 is bad, and 0 is neutral.</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b="1" lang="en" sz="1100">
                <a:solidFill>
                  <a:schemeClr val="dk2"/>
                </a:solidFill>
              </a:rPr>
              <a:t>Linear separability</a:t>
            </a:r>
            <a:r>
              <a:rPr lang="en" sz="1100">
                <a:solidFill>
                  <a:schemeClr val="dk2"/>
                </a:solidFill>
              </a:rPr>
              <a:t>: This encoding might work well if the model can use numerical relationships to separate classes, but could hurt if more complex, nonlinear patterns are needed.</a:t>
            </a:r>
            <a:endParaRPr sz="11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5" name="Shape 1395"/>
        <p:cNvGrpSpPr/>
        <p:nvPr/>
      </p:nvGrpSpPr>
      <p:grpSpPr>
        <a:xfrm>
          <a:off x="0" y="0"/>
          <a:ext cx="0" cy="0"/>
          <a:chOff x="0" y="0"/>
          <a:chExt cx="0" cy="0"/>
        </a:xfrm>
      </p:grpSpPr>
      <p:pic>
        <p:nvPicPr>
          <p:cNvPr id="1396" name="Google Shape;1396;p64"/>
          <p:cNvPicPr preferRelativeResize="0"/>
          <p:nvPr/>
        </p:nvPicPr>
        <p:blipFill>
          <a:blip r:embed="rId3">
            <a:alphaModFix/>
          </a:blip>
          <a:stretch>
            <a:fillRect/>
          </a:stretch>
        </p:blipFill>
        <p:spPr>
          <a:xfrm>
            <a:off x="4291625" y="152400"/>
            <a:ext cx="4631919" cy="4838701"/>
          </a:xfrm>
          <a:prstGeom prst="rect">
            <a:avLst/>
          </a:prstGeom>
          <a:noFill/>
          <a:ln>
            <a:noFill/>
          </a:ln>
        </p:spPr>
      </p:pic>
      <p:sp>
        <p:nvSpPr>
          <p:cNvPr id="1397" name="Google Shape;1397;p64"/>
          <p:cNvSpPr/>
          <p:nvPr/>
        </p:nvSpPr>
        <p:spPr>
          <a:xfrm>
            <a:off x="7774825" y="239275"/>
            <a:ext cx="361800" cy="4878300"/>
          </a:xfrm>
          <a:prstGeom prst="rect">
            <a:avLst/>
          </a:prstGeom>
          <a:noFill/>
          <a:ln cap="flat" cmpd="sng" w="28575">
            <a:solidFill>
              <a:srgbClr val="BCBD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8" name="Google Shape;1398;p64"/>
          <p:cNvSpPr txBox="1"/>
          <p:nvPr/>
        </p:nvSpPr>
        <p:spPr>
          <a:xfrm>
            <a:off x="841875" y="903050"/>
            <a:ext cx="30000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2"/>
                </a:solidFill>
                <a:latin typeface="Staatliches"/>
                <a:ea typeface="Staatliches"/>
                <a:cs typeface="Staatliches"/>
                <a:sym typeface="Staatliches"/>
              </a:rPr>
              <a:t>Let’s take a look at our target</a:t>
            </a:r>
            <a:endParaRPr sz="1900">
              <a:solidFill>
                <a:schemeClr val="dk2"/>
              </a:solidFill>
              <a:latin typeface="Staatliches"/>
              <a:ea typeface="Staatliches"/>
              <a:cs typeface="Staatliches"/>
              <a:sym typeface="Staatliches"/>
            </a:endParaRPr>
          </a:p>
        </p:txBody>
      </p:sp>
      <p:pic>
        <p:nvPicPr>
          <p:cNvPr id="1399" name="Google Shape;1399;p64"/>
          <p:cNvPicPr preferRelativeResize="0"/>
          <p:nvPr/>
        </p:nvPicPr>
        <p:blipFill rotWithShape="1">
          <a:blip r:embed="rId3">
            <a:alphaModFix/>
          </a:blip>
          <a:srcRect b="69739" l="75543" r="16645" t="1961"/>
          <a:stretch/>
        </p:blipFill>
        <p:spPr>
          <a:xfrm rot="-5400000">
            <a:off x="2007050" y="982600"/>
            <a:ext cx="361800" cy="1369276"/>
          </a:xfrm>
          <a:prstGeom prst="rect">
            <a:avLst/>
          </a:prstGeom>
          <a:noFill/>
          <a:ln>
            <a:noFill/>
          </a:ln>
        </p:spPr>
      </p:pic>
      <p:pic>
        <p:nvPicPr>
          <p:cNvPr id="1400" name="Google Shape;1400;p64"/>
          <p:cNvPicPr preferRelativeResize="0"/>
          <p:nvPr/>
        </p:nvPicPr>
        <p:blipFill rotWithShape="1">
          <a:blip r:embed="rId3">
            <a:alphaModFix/>
          </a:blip>
          <a:srcRect b="41658" l="75543" r="16645" t="30042"/>
          <a:stretch/>
        </p:blipFill>
        <p:spPr>
          <a:xfrm rot="-5400000">
            <a:off x="2007050" y="1344400"/>
            <a:ext cx="361800" cy="1369276"/>
          </a:xfrm>
          <a:prstGeom prst="rect">
            <a:avLst/>
          </a:prstGeom>
          <a:noFill/>
          <a:ln>
            <a:noFill/>
          </a:ln>
        </p:spPr>
      </p:pic>
      <p:pic>
        <p:nvPicPr>
          <p:cNvPr id="1401" name="Google Shape;1401;p64"/>
          <p:cNvPicPr preferRelativeResize="0"/>
          <p:nvPr/>
        </p:nvPicPr>
        <p:blipFill rotWithShape="1">
          <a:blip r:embed="rId3">
            <a:alphaModFix/>
          </a:blip>
          <a:srcRect b="13512" l="75543" r="16645" t="58188"/>
          <a:stretch/>
        </p:blipFill>
        <p:spPr>
          <a:xfrm rot="-5400000">
            <a:off x="2007050" y="1706200"/>
            <a:ext cx="361800" cy="1369276"/>
          </a:xfrm>
          <a:prstGeom prst="rect">
            <a:avLst/>
          </a:prstGeom>
          <a:noFill/>
          <a:ln>
            <a:noFill/>
          </a:ln>
        </p:spPr>
      </p:pic>
      <p:sp>
        <p:nvSpPr>
          <p:cNvPr id="1402" name="Google Shape;1402;p64"/>
          <p:cNvSpPr txBox="1"/>
          <p:nvPr/>
        </p:nvSpPr>
        <p:spPr>
          <a:xfrm>
            <a:off x="861450" y="2824750"/>
            <a:ext cx="30000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2"/>
                </a:solidFill>
              </a:rPr>
              <a:t>Middle Mid (</a:t>
            </a:r>
            <a:r>
              <a:rPr b="1" lang="en" sz="1100">
                <a:solidFill>
                  <a:schemeClr val="dk2"/>
                </a:solidFill>
              </a:rPr>
              <a:t>MM</a:t>
            </a:r>
            <a:r>
              <a:rPr lang="en" sz="1100">
                <a:solidFill>
                  <a:schemeClr val="dk2"/>
                </a:solidFill>
              </a:rPr>
              <a:t>) has the highest correlation with winning at </a:t>
            </a:r>
            <a:r>
              <a:rPr b="1" lang="en" sz="1100">
                <a:solidFill>
                  <a:schemeClr val="dk2"/>
                </a:solidFill>
              </a:rPr>
              <a:t>0.34</a:t>
            </a:r>
            <a:endParaRPr b="1"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b="1" lang="en" sz="1100">
                <a:solidFill>
                  <a:schemeClr val="dk2"/>
                </a:solidFill>
              </a:rPr>
              <a:t>Corners</a:t>
            </a:r>
            <a:r>
              <a:rPr lang="en" sz="1100">
                <a:solidFill>
                  <a:schemeClr val="dk2"/>
                </a:solidFill>
              </a:rPr>
              <a:t> (TL, TR, BR, BL) have positive association with winning at </a:t>
            </a:r>
            <a:r>
              <a:rPr b="1" lang="en" sz="1100">
                <a:solidFill>
                  <a:schemeClr val="dk2"/>
                </a:solidFill>
              </a:rPr>
              <a:t>0.13</a:t>
            </a:r>
            <a:endParaRPr b="1"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lang="en" sz="1100">
                <a:solidFill>
                  <a:schemeClr val="dk2"/>
                </a:solidFill>
              </a:rPr>
              <a:t>The cross section (TM, ML, MR, BM) has negative association with winning at -0.09</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06" name="Shape 1406"/>
        <p:cNvGrpSpPr/>
        <p:nvPr/>
      </p:nvGrpSpPr>
      <p:grpSpPr>
        <a:xfrm>
          <a:off x="0" y="0"/>
          <a:ext cx="0" cy="0"/>
          <a:chOff x="0" y="0"/>
          <a:chExt cx="0" cy="0"/>
        </a:xfrm>
      </p:grpSpPr>
      <p:sp>
        <p:nvSpPr>
          <p:cNvPr id="1407" name="Google Shape;1407;p65"/>
          <p:cNvSpPr txBox="1"/>
          <p:nvPr/>
        </p:nvSpPr>
        <p:spPr>
          <a:xfrm>
            <a:off x="301525" y="1265925"/>
            <a:ext cx="2257200" cy="241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n" sz="1100">
                <a:solidFill>
                  <a:schemeClr val="dk1"/>
                </a:solidFill>
              </a:rPr>
              <a:t>Open-source deep learning library from Google that u</a:t>
            </a:r>
            <a:r>
              <a:rPr lang="en" sz="1100">
                <a:solidFill>
                  <a:schemeClr val="dk1"/>
                </a:solidFill>
              </a:rPr>
              <a:t>ses computational graphs &amp; tensor operations</a:t>
            </a:r>
            <a:br>
              <a:rPr lang="en" sz="1100">
                <a:solidFill>
                  <a:schemeClr val="dk1"/>
                </a:solidFill>
              </a:rPr>
            </a:b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Great for:</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custom model design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GPU acceleration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production- scale models</a:t>
            </a:r>
            <a:br>
              <a:rPr lang="en" sz="1100">
                <a:solidFill>
                  <a:schemeClr val="dk1"/>
                </a:solidFill>
              </a:rPr>
            </a:br>
            <a:endParaRPr sz="1100">
              <a:solidFill>
                <a:schemeClr val="dk1"/>
              </a:solidFill>
            </a:endParaRPr>
          </a:p>
        </p:txBody>
      </p:sp>
      <p:pic>
        <p:nvPicPr>
          <p:cNvPr id="1408" name="Google Shape;1408;p65" title="Screenshot 2025-04-21 at 9.04.43 AM.png"/>
          <p:cNvPicPr preferRelativeResize="0"/>
          <p:nvPr/>
        </p:nvPicPr>
        <p:blipFill rotWithShape="1">
          <a:blip r:embed="rId3">
            <a:alphaModFix/>
          </a:blip>
          <a:srcRect b="0" l="15368" r="0" t="11762"/>
          <a:stretch/>
        </p:blipFill>
        <p:spPr>
          <a:xfrm>
            <a:off x="2671800" y="521150"/>
            <a:ext cx="6111427" cy="3615226"/>
          </a:xfrm>
          <a:prstGeom prst="rect">
            <a:avLst/>
          </a:prstGeom>
          <a:noFill/>
          <a:ln>
            <a:noFill/>
          </a:ln>
        </p:spPr>
      </p:pic>
      <p:sp>
        <p:nvSpPr>
          <p:cNvPr id="1409" name="Google Shape;1409;p65"/>
          <p:cNvSpPr txBox="1"/>
          <p:nvPr/>
        </p:nvSpPr>
        <p:spPr>
          <a:xfrm>
            <a:off x="4452950" y="41957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4"/>
              </a:rPr>
              <a:t>https://www.tensorflow.org/learn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13" name="Shape 1413"/>
        <p:cNvGrpSpPr/>
        <p:nvPr/>
      </p:nvGrpSpPr>
      <p:grpSpPr>
        <a:xfrm>
          <a:off x="0" y="0"/>
          <a:ext cx="0" cy="0"/>
          <a:chOff x="0" y="0"/>
          <a:chExt cx="0" cy="0"/>
        </a:xfrm>
      </p:grpSpPr>
      <p:sp>
        <p:nvSpPr>
          <p:cNvPr id="1414" name="Google Shape;1414;p66"/>
          <p:cNvSpPr txBox="1"/>
          <p:nvPr/>
        </p:nvSpPr>
        <p:spPr>
          <a:xfrm>
            <a:off x="301525" y="1265925"/>
            <a:ext cx="2257200" cy="237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n" sz="1100">
                <a:solidFill>
                  <a:schemeClr val="dk1"/>
                </a:solidFill>
              </a:rPr>
              <a:t>Open-source deep learning library from Google that uses computational graphs &amp; tensor operations</a:t>
            </a:r>
            <a:br>
              <a:rPr lang="en" sz="1100">
                <a:solidFill>
                  <a:schemeClr val="dk1"/>
                </a:solidFill>
              </a:rPr>
            </a:b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Additional workbooks:</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flower image </a:t>
            </a:r>
            <a:r>
              <a:rPr lang="en" sz="1100" u="sng">
                <a:solidFill>
                  <a:schemeClr val="hlink"/>
                </a:solidFill>
                <a:hlinkClick r:id="rId3"/>
              </a:rPr>
              <a:t>analysis</a:t>
            </a:r>
            <a:endParaRPr sz="1100">
              <a:solidFill>
                <a:schemeClr val="dk1"/>
              </a:solidFill>
            </a:endParaRPr>
          </a:p>
          <a:p>
            <a:pPr indent="0" lvl="0" marL="0" rtl="0" algn="l">
              <a:lnSpc>
                <a:spcPct val="115000"/>
              </a:lnSpc>
              <a:spcBef>
                <a:spcPts val="1200"/>
              </a:spcBef>
              <a:spcAft>
                <a:spcPts val="1200"/>
              </a:spcAft>
              <a:buNone/>
            </a:pPr>
            <a:r>
              <a:rPr lang="en" sz="1100" u="sng">
                <a:solidFill>
                  <a:schemeClr val="hlink"/>
                </a:solidFill>
                <a:hlinkClick r:id="rId4"/>
              </a:rPr>
              <a:t>investigating</a:t>
            </a:r>
            <a:r>
              <a:rPr lang="en" sz="1100">
                <a:solidFill>
                  <a:schemeClr val="dk1"/>
                </a:solidFill>
              </a:rPr>
              <a:t> data</a:t>
            </a:r>
            <a:br>
              <a:rPr lang="en" sz="1100">
                <a:solidFill>
                  <a:schemeClr val="dk1"/>
                </a:solidFill>
              </a:rPr>
            </a:br>
            <a:endParaRPr sz="1100">
              <a:solidFill>
                <a:schemeClr val="dk1"/>
              </a:solidFill>
            </a:endParaRPr>
          </a:p>
        </p:txBody>
      </p:sp>
      <p:sp>
        <p:nvSpPr>
          <p:cNvPr id="1415" name="Google Shape;1415;p66"/>
          <p:cNvSpPr txBox="1"/>
          <p:nvPr/>
        </p:nvSpPr>
        <p:spPr>
          <a:xfrm>
            <a:off x="4452950" y="41957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5"/>
              </a:rPr>
              <a:t>https://www.tensorflow.org/learn</a:t>
            </a:r>
            <a:endParaRPr/>
          </a:p>
        </p:txBody>
      </p:sp>
      <p:pic>
        <p:nvPicPr>
          <p:cNvPr id="1416" name="Google Shape;1416;p66" title="Screenshot 2025-04-21 at 9.05.00 AM.png"/>
          <p:cNvPicPr preferRelativeResize="0"/>
          <p:nvPr/>
        </p:nvPicPr>
        <p:blipFill>
          <a:blip r:embed="rId6">
            <a:alphaModFix/>
          </a:blip>
          <a:stretch>
            <a:fillRect/>
          </a:stretch>
        </p:blipFill>
        <p:spPr>
          <a:xfrm>
            <a:off x="2741925" y="678164"/>
            <a:ext cx="5946501" cy="35714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20" name="Shape 1420"/>
        <p:cNvGrpSpPr/>
        <p:nvPr/>
      </p:nvGrpSpPr>
      <p:grpSpPr>
        <a:xfrm>
          <a:off x="0" y="0"/>
          <a:ext cx="0" cy="0"/>
          <a:chOff x="0" y="0"/>
          <a:chExt cx="0" cy="0"/>
        </a:xfrm>
      </p:grpSpPr>
      <p:pic>
        <p:nvPicPr>
          <p:cNvPr id="1421" name="Google Shape;1421;p67"/>
          <p:cNvPicPr preferRelativeResize="0"/>
          <p:nvPr/>
        </p:nvPicPr>
        <p:blipFill>
          <a:blip r:embed="rId3">
            <a:alphaModFix/>
          </a:blip>
          <a:stretch>
            <a:fillRect/>
          </a:stretch>
        </p:blipFill>
        <p:spPr>
          <a:xfrm>
            <a:off x="5035750" y="1510600"/>
            <a:ext cx="2857500" cy="638175"/>
          </a:xfrm>
          <a:prstGeom prst="rect">
            <a:avLst/>
          </a:prstGeom>
          <a:noFill/>
          <a:ln>
            <a:noFill/>
          </a:ln>
        </p:spPr>
      </p:pic>
      <p:pic>
        <p:nvPicPr>
          <p:cNvPr id="1422" name="Google Shape;1422;p67"/>
          <p:cNvPicPr preferRelativeResize="0"/>
          <p:nvPr/>
        </p:nvPicPr>
        <p:blipFill>
          <a:blip r:embed="rId4">
            <a:alphaModFix/>
          </a:blip>
          <a:stretch>
            <a:fillRect/>
          </a:stretch>
        </p:blipFill>
        <p:spPr>
          <a:xfrm>
            <a:off x="1836275" y="1544750"/>
            <a:ext cx="1850200" cy="670700"/>
          </a:xfrm>
          <a:prstGeom prst="rect">
            <a:avLst/>
          </a:prstGeom>
          <a:noFill/>
          <a:ln>
            <a:noFill/>
          </a:ln>
        </p:spPr>
      </p:pic>
      <p:sp>
        <p:nvSpPr>
          <p:cNvPr id="1423" name="Google Shape;1423;p67"/>
          <p:cNvSpPr txBox="1"/>
          <p:nvPr/>
        </p:nvSpPr>
        <p:spPr>
          <a:xfrm>
            <a:off x="1671350" y="2574325"/>
            <a:ext cx="2535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s</a:t>
            </a:r>
            <a:r>
              <a:rPr lang="en">
                <a:solidFill>
                  <a:schemeClr val="dk1"/>
                </a:solidFill>
              </a:rPr>
              <a:t>imple, good for quick tests and prototyping</a:t>
            </a:r>
            <a:endParaRPr/>
          </a:p>
        </p:txBody>
      </p:sp>
      <p:sp>
        <p:nvSpPr>
          <p:cNvPr id="1424" name="Google Shape;1424;p67"/>
          <p:cNvSpPr txBox="1"/>
          <p:nvPr/>
        </p:nvSpPr>
        <p:spPr>
          <a:xfrm>
            <a:off x="5082800" y="2526100"/>
            <a:ext cx="2535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complex, good for deep learning and large models</a:t>
            </a:r>
            <a:endParaRPr/>
          </a:p>
        </p:txBody>
      </p:sp>
      <p:sp>
        <p:nvSpPr>
          <p:cNvPr id="1425" name="Google Shape;1425;p67"/>
          <p:cNvSpPr txBox="1"/>
          <p:nvPr/>
        </p:nvSpPr>
        <p:spPr>
          <a:xfrm>
            <a:off x="1671350" y="3183925"/>
            <a:ext cx="253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limited flexibility</a:t>
            </a:r>
            <a:endParaRPr/>
          </a:p>
        </p:txBody>
      </p:sp>
      <p:sp>
        <p:nvSpPr>
          <p:cNvPr id="1426" name="Google Shape;1426;p67"/>
          <p:cNvSpPr txBox="1"/>
          <p:nvPr/>
        </p:nvSpPr>
        <p:spPr>
          <a:xfrm>
            <a:off x="5111950" y="3211900"/>
            <a:ext cx="253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very</a:t>
            </a:r>
            <a:r>
              <a:rPr lang="en">
                <a:solidFill>
                  <a:schemeClr val="dk1"/>
                </a:solidFill>
              </a:rPr>
              <a:t> </a:t>
            </a:r>
            <a:r>
              <a:rPr lang="en">
                <a:solidFill>
                  <a:schemeClr val="dk1"/>
                </a:solidFill>
              </a:rPr>
              <a:t>flexible</a:t>
            </a:r>
            <a:r>
              <a:rPr lang="en">
                <a:solidFill>
                  <a:schemeClr val="dk1"/>
                </a:solidFill>
              </a:rPr>
              <a:t>, GPU support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0" name="Shape 1430"/>
        <p:cNvGrpSpPr/>
        <p:nvPr/>
      </p:nvGrpSpPr>
      <p:grpSpPr>
        <a:xfrm>
          <a:off x="0" y="0"/>
          <a:ext cx="0" cy="0"/>
          <a:chOff x="0" y="0"/>
          <a:chExt cx="0" cy="0"/>
        </a:xfrm>
      </p:grpSpPr>
      <p:sp>
        <p:nvSpPr>
          <p:cNvPr id="1431" name="Google Shape;1431;p68"/>
          <p:cNvSpPr txBox="1"/>
          <p:nvPr/>
        </p:nvSpPr>
        <p:spPr>
          <a:xfrm>
            <a:off x="3509325" y="3731950"/>
            <a:ext cx="11811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o, x,  o],</a:t>
            </a:r>
            <a:endParaRPr/>
          </a:p>
          <a:p>
            <a:pPr indent="0" lvl="0" marL="0" rtl="0" algn="l">
              <a:spcBef>
                <a:spcPts val="0"/>
              </a:spcBef>
              <a:spcAft>
                <a:spcPts val="0"/>
              </a:spcAft>
              <a:buNone/>
            </a:pPr>
            <a:r>
              <a:rPr lang="en"/>
              <a:t> [ x,  x, b],</a:t>
            </a:r>
            <a:endParaRPr/>
          </a:p>
          <a:p>
            <a:pPr indent="0" lvl="0" marL="0" rtl="0" algn="l">
              <a:spcBef>
                <a:spcPts val="0"/>
              </a:spcBef>
              <a:spcAft>
                <a:spcPts val="0"/>
              </a:spcAft>
              <a:buNone/>
            </a:pPr>
            <a:r>
              <a:rPr lang="en"/>
              <a:t> [ b, x,  o]]</a:t>
            </a:r>
            <a:endParaRPr/>
          </a:p>
          <a:p>
            <a:pPr indent="0" lvl="0" marL="0" rtl="0" algn="l">
              <a:spcBef>
                <a:spcPts val="0"/>
              </a:spcBef>
              <a:spcAft>
                <a:spcPts val="0"/>
              </a:spcAft>
              <a:buNone/>
            </a:pPr>
            <a:r>
              <a:t/>
            </a:r>
            <a:endParaRPr/>
          </a:p>
        </p:txBody>
      </p:sp>
      <p:sp>
        <p:nvSpPr>
          <p:cNvPr id="1432" name="Google Shape;1432;p68"/>
          <p:cNvSpPr txBox="1"/>
          <p:nvPr/>
        </p:nvSpPr>
        <p:spPr>
          <a:xfrm>
            <a:off x="985825" y="885550"/>
            <a:ext cx="3996300" cy="204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2000">
                <a:solidFill>
                  <a:schemeClr val="dk1"/>
                </a:solidFill>
                <a:latin typeface="Staatliches"/>
                <a:ea typeface="Staatliches"/>
                <a:cs typeface="Staatliches"/>
                <a:sym typeface="Staatliches"/>
              </a:rPr>
              <a:t>So what even is a </a:t>
            </a:r>
            <a:r>
              <a:rPr b="1" lang="en" sz="2000">
                <a:solidFill>
                  <a:srgbClr val="FF9900"/>
                </a:solidFill>
                <a:latin typeface="Staatliches"/>
                <a:ea typeface="Staatliches"/>
                <a:cs typeface="Staatliches"/>
                <a:sym typeface="Staatliches"/>
              </a:rPr>
              <a:t>tensor</a:t>
            </a:r>
            <a:r>
              <a:rPr b="1" lang="en" sz="2000">
                <a:solidFill>
                  <a:schemeClr val="dk1"/>
                </a:solidFill>
                <a:latin typeface="Staatliches"/>
                <a:ea typeface="Staatliches"/>
                <a:cs typeface="Staatliches"/>
                <a:sym typeface="Staatliches"/>
              </a:rPr>
              <a:t>?</a:t>
            </a:r>
            <a:endParaRPr b="1" sz="2000">
              <a:solidFill>
                <a:schemeClr val="dk1"/>
              </a:solidFill>
              <a:latin typeface="Staatliches"/>
              <a:ea typeface="Staatliches"/>
              <a:cs typeface="Staatliches"/>
              <a:sym typeface="Staatliches"/>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Essentially a numpy array but you can run it on GPU</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Tensor attributes describe their shape, datatype, and the device on which they are stored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Created on CPU by default, can add “accelerators” to help with processing (this is where GPU comes in)</a:t>
            </a:r>
            <a:endParaRPr sz="1100">
              <a:solidFill>
                <a:schemeClr val="dk1"/>
              </a:solidFill>
            </a:endParaRPr>
          </a:p>
          <a:p>
            <a:pPr indent="0" lvl="0" marL="0" rtl="0" algn="l">
              <a:lnSpc>
                <a:spcPct val="115000"/>
              </a:lnSpc>
              <a:spcBef>
                <a:spcPts val="1400"/>
              </a:spcBef>
              <a:spcAft>
                <a:spcPts val="400"/>
              </a:spcAft>
              <a:buNone/>
            </a:pPr>
            <a:r>
              <a:t/>
            </a:r>
            <a:endParaRPr b="1" sz="1300">
              <a:solidFill>
                <a:schemeClr val="dk1"/>
              </a:solidFill>
            </a:endParaRPr>
          </a:p>
        </p:txBody>
      </p:sp>
      <p:grpSp>
        <p:nvGrpSpPr>
          <p:cNvPr id="1433" name="Google Shape;1433;p68"/>
          <p:cNvGrpSpPr/>
          <p:nvPr/>
        </p:nvGrpSpPr>
        <p:grpSpPr>
          <a:xfrm>
            <a:off x="5395075" y="850050"/>
            <a:ext cx="3255375" cy="3527050"/>
            <a:chOff x="5395075" y="240450"/>
            <a:chExt cx="3255375" cy="3527050"/>
          </a:xfrm>
        </p:grpSpPr>
        <p:grpSp>
          <p:nvGrpSpPr>
            <p:cNvPr id="1434" name="Google Shape;1434;p68"/>
            <p:cNvGrpSpPr/>
            <p:nvPr/>
          </p:nvGrpSpPr>
          <p:grpSpPr>
            <a:xfrm>
              <a:off x="5395075" y="240450"/>
              <a:ext cx="3255375" cy="3110850"/>
              <a:chOff x="934700" y="963775"/>
              <a:chExt cx="3255375" cy="3110850"/>
            </a:xfrm>
          </p:grpSpPr>
          <p:grpSp>
            <p:nvGrpSpPr>
              <p:cNvPr id="1435" name="Google Shape;1435;p68"/>
              <p:cNvGrpSpPr/>
              <p:nvPr/>
            </p:nvGrpSpPr>
            <p:grpSpPr>
              <a:xfrm>
                <a:off x="934700" y="1691125"/>
                <a:ext cx="3190500" cy="2383500"/>
                <a:chOff x="248900" y="1691125"/>
                <a:chExt cx="3190500" cy="2383500"/>
              </a:xfrm>
            </p:grpSpPr>
            <p:cxnSp>
              <p:nvCxnSpPr>
                <p:cNvPr id="1436" name="Google Shape;1436;p68"/>
                <p:cNvCxnSpPr/>
                <p:nvPr/>
              </p:nvCxnSpPr>
              <p:spPr>
                <a:xfrm>
                  <a:off x="248900" y="2532830"/>
                  <a:ext cx="3190500" cy="9300"/>
                </a:xfrm>
                <a:prstGeom prst="straightConnector1">
                  <a:avLst/>
                </a:prstGeom>
                <a:noFill/>
                <a:ln cap="flat" cmpd="sng" w="9525">
                  <a:solidFill>
                    <a:schemeClr val="dk2"/>
                  </a:solidFill>
                  <a:prstDash val="solid"/>
                  <a:round/>
                  <a:headEnd len="med" w="med" type="none"/>
                  <a:tailEnd len="med" w="med" type="none"/>
                </a:ln>
              </p:spPr>
            </p:cxnSp>
            <p:cxnSp>
              <p:nvCxnSpPr>
                <p:cNvPr id="1437" name="Google Shape;1437;p68"/>
                <p:cNvCxnSpPr/>
                <p:nvPr/>
              </p:nvCxnSpPr>
              <p:spPr>
                <a:xfrm>
                  <a:off x="248900" y="3400644"/>
                  <a:ext cx="3190500" cy="9300"/>
                </a:xfrm>
                <a:prstGeom prst="straightConnector1">
                  <a:avLst/>
                </a:prstGeom>
                <a:noFill/>
                <a:ln cap="flat" cmpd="sng" w="9525">
                  <a:solidFill>
                    <a:schemeClr val="dk2"/>
                  </a:solidFill>
                  <a:prstDash val="solid"/>
                  <a:round/>
                  <a:headEnd len="med" w="med" type="none"/>
                  <a:tailEnd len="med" w="med" type="none"/>
                </a:ln>
              </p:spPr>
            </p:cxnSp>
            <p:cxnSp>
              <p:nvCxnSpPr>
                <p:cNvPr id="1438" name="Google Shape;1438;p68"/>
                <p:cNvCxnSpPr/>
                <p:nvPr/>
              </p:nvCxnSpPr>
              <p:spPr>
                <a:xfrm>
                  <a:off x="1221625" y="1704925"/>
                  <a:ext cx="10200" cy="2355900"/>
                </a:xfrm>
                <a:prstGeom prst="straightConnector1">
                  <a:avLst/>
                </a:prstGeom>
                <a:noFill/>
                <a:ln cap="flat" cmpd="sng" w="9525">
                  <a:solidFill>
                    <a:schemeClr val="dk2"/>
                  </a:solidFill>
                  <a:prstDash val="solid"/>
                  <a:round/>
                  <a:headEnd len="med" w="med" type="none"/>
                  <a:tailEnd len="med" w="med" type="none"/>
                </a:ln>
              </p:spPr>
            </p:cxnSp>
            <p:cxnSp>
              <p:nvCxnSpPr>
                <p:cNvPr id="1439" name="Google Shape;1439;p68"/>
                <p:cNvCxnSpPr/>
                <p:nvPr/>
              </p:nvCxnSpPr>
              <p:spPr>
                <a:xfrm>
                  <a:off x="2322675" y="1691125"/>
                  <a:ext cx="9000" cy="2383500"/>
                </a:xfrm>
                <a:prstGeom prst="straightConnector1">
                  <a:avLst/>
                </a:prstGeom>
                <a:noFill/>
                <a:ln cap="flat" cmpd="sng" w="9525">
                  <a:solidFill>
                    <a:schemeClr val="dk2"/>
                  </a:solidFill>
                  <a:prstDash val="solid"/>
                  <a:round/>
                  <a:headEnd len="med" w="med" type="none"/>
                  <a:tailEnd len="med" w="med" type="none"/>
                </a:ln>
              </p:spPr>
            </p:cxnSp>
          </p:grpSp>
          <p:grpSp>
            <p:nvGrpSpPr>
              <p:cNvPr id="1440" name="Google Shape;1440;p68"/>
              <p:cNvGrpSpPr/>
              <p:nvPr/>
            </p:nvGrpSpPr>
            <p:grpSpPr>
              <a:xfrm>
                <a:off x="934700" y="1662400"/>
                <a:ext cx="3118500" cy="338700"/>
                <a:chOff x="248900" y="1662400"/>
                <a:chExt cx="3118500" cy="338700"/>
              </a:xfrm>
            </p:grpSpPr>
            <p:sp>
              <p:nvSpPr>
                <p:cNvPr id="1441" name="Google Shape;1441;p68"/>
                <p:cNvSpPr txBox="1"/>
                <p:nvPr/>
              </p:nvSpPr>
              <p:spPr>
                <a:xfrm>
                  <a:off x="248900" y="16624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Top Left</a:t>
                  </a:r>
                  <a:endParaRPr sz="600"/>
                </a:p>
              </p:txBody>
            </p:sp>
            <p:sp>
              <p:nvSpPr>
                <p:cNvPr id="1442" name="Google Shape;1442;p68"/>
                <p:cNvSpPr txBox="1"/>
                <p:nvPr/>
              </p:nvSpPr>
              <p:spPr>
                <a:xfrm>
                  <a:off x="1315700" y="16624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Top Mid</a:t>
                  </a:r>
                  <a:endParaRPr sz="600"/>
                </a:p>
              </p:txBody>
            </p:sp>
            <p:sp>
              <p:nvSpPr>
                <p:cNvPr id="1443" name="Google Shape;1443;p68"/>
                <p:cNvSpPr txBox="1"/>
                <p:nvPr/>
              </p:nvSpPr>
              <p:spPr>
                <a:xfrm>
                  <a:off x="2458700" y="16624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Top Right</a:t>
                  </a:r>
                  <a:endParaRPr sz="600"/>
                </a:p>
              </p:txBody>
            </p:sp>
          </p:grpSp>
          <p:grpSp>
            <p:nvGrpSpPr>
              <p:cNvPr id="1444" name="Google Shape;1444;p68"/>
              <p:cNvGrpSpPr/>
              <p:nvPr/>
            </p:nvGrpSpPr>
            <p:grpSpPr>
              <a:xfrm>
                <a:off x="934700" y="2576800"/>
                <a:ext cx="3118500" cy="338700"/>
                <a:chOff x="248900" y="2576800"/>
                <a:chExt cx="3118500" cy="338700"/>
              </a:xfrm>
            </p:grpSpPr>
            <p:sp>
              <p:nvSpPr>
                <p:cNvPr id="1445" name="Google Shape;1445;p68"/>
                <p:cNvSpPr txBox="1"/>
                <p:nvPr/>
              </p:nvSpPr>
              <p:spPr>
                <a:xfrm>
                  <a:off x="248900" y="25768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Middle Left</a:t>
                  </a:r>
                  <a:endParaRPr sz="600"/>
                </a:p>
              </p:txBody>
            </p:sp>
            <p:sp>
              <p:nvSpPr>
                <p:cNvPr id="1446" name="Google Shape;1446;p68"/>
                <p:cNvSpPr txBox="1"/>
                <p:nvPr/>
              </p:nvSpPr>
              <p:spPr>
                <a:xfrm>
                  <a:off x="1315700" y="2576800"/>
                  <a:ext cx="1016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Middle Mid</a:t>
                  </a:r>
                  <a:endParaRPr sz="600"/>
                </a:p>
              </p:txBody>
            </p:sp>
            <p:sp>
              <p:nvSpPr>
                <p:cNvPr id="1447" name="Google Shape;1447;p68"/>
                <p:cNvSpPr txBox="1"/>
                <p:nvPr/>
              </p:nvSpPr>
              <p:spPr>
                <a:xfrm>
                  <a:off x="2458700" y="25768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Middle Right</a:t>
                  </a:r>
                  <a:endParaRPr sz="600"/>
                </a:p>
              </p:txBody>
            </p:sp>
          </p:grpSp>
          <p:grpSp>
            <p:nvGrpSpPr>
              <p:cNvPr id="1448" name="Google Shape;1448;p68"/>
              <p:cNvGrpSpPr/>
              <p:nvPr/>
            </p:nvGrpSpPr>
            <p:grpSpPr>
              <a:xfrm>
                <a:off x="934700" y="3415000"/>
                <a:ext cx="3144300" cy="338700"/>
                <a:chOff x="248900" y="3415000"/>
                <a:chExt cx="3144300" cy="338700"/>
              </a:xfrm>
            </p:grpSpPr>
            <p:sp>
              <p:nvSpPr>
                <p:cNvPr id="1449" name="Google Shape;1449;p68"/>
                <p:cNvSpPr txBox="1"/>
                <p:nvPr/>
              </p:nvSpPr>
              <p:spPr>
                <a:xfrm>
                  <a:off x="248900" y="34150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Bottom Left</a:t>
                  </a:r>
                  <a:endParaRPr sz="600"/>
                </a:p>
              </p:txBody>
            </p:sp>
            <p:sp>
              <p:nvSpPr>
                <p:cNvPr id="1450" name="Google Shape;1450;p68"/>
                <p:cNvSpPr txBox="1"/>
                <p:nvPr/>
              </p:nvSpPr>
              <p:spPr>
                <a:xfrm>
                  <a:off x="1315700" y="3415000"/>
                  <a:ext cx="908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Bottom Mid</a:t>
                  </a:r>
                  <a:endParaRPr sz="600"/>
                </a:p>
              </p:txBody>
            </p:sp>
            <p:sp>
              <p:nvSpPr>
                <p:cNvPr id="1451" name="Google Shape;1451;p68"/>
                <p:cNvSpPr txBox="1"/>
                <p:nvPr/>
              </p:nvSpPr>
              <p:spPr>
                <a:xfrm>
                  <a:off x="2458700" y="3415000"/>
                  <a:ext cx="9345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Bottom Right</a:t>
                  </a:r>
                  <a:endParaRPr sz="600"/>
                </a:p>
              </p:txBody>
            </p:sp>
          </p:grpSp>
          <p:sp>
            <p:nvSpPr>
              <p:cNvPr id="1452" name="Google Shape;1452;p68"/>
              <p:cNvSpPr txBox="1"/>
              <p:nvPr/>
            </p:nvSpPr>
            <p:spPr>
              <a:xfrm>
                <a:off x="999575" y="963775"/>
                <a:ext cx="3190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rPr>
                  <a:t>board config </a:t>
                </a:r>
                <a:r>
                  <a:rPr b="1" lang="en" sz="1800">
                    <a:solidFill>
                      <a:srgbClr val="BCBD21"/>
                    </a:solidFill>
                  </a:rPr>
                  <a:t>positive</a:t>
                </a:r>
                <a:endParaRPr b="1">
                  <a:solidFill>
                    <a:srgbClr val="BCBD21"/>
                  </a:solidFill>
                </a:endParaRPr>
              </a:p>
            </p:txBody>
          </p:sp>
        </p:grpSp>
        <p:grpSp>
          <p:nvGrpSpPr>
            <p:cNvPr id="1453" name="Google Shape;1453;p68"/>
            <p:cNvGrpSpPr/>
            <p:nvPr/>
          </p:nvGrpSpPr>
          <p:grpSpPr>
            <a:xfrm>
              <a:off x="5587889" y="2088716"/>
              <a:ext cx="2760200" cy="1491750"/>
              <a:chOff x="1127514" y="2812041"/>
              <a:chExt cx="2760200" cy="1491750"/>
            </a:xfrm>
          </p:grpSpPr>
          <p:sp>
            <p:nvSpPr>
              <p:cNvPr id="1454" name="Google Shape;1454;p68"/>
              <p:cNvSpPr/>
              <p:nvPr/>
            </p:nvSpPr>
            <p:spPr>
              <a:xfrm>
                <a:off x="3299714" y="2812041"/>
                <a:ext cx="588000" cy="632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t>b</a:t>
                </a:r>
                <a:r>
                  <a:rPr lang="en" sz="1200"/>
                  <a:t>lank</a:t>
                </a:r>
                <a:endParaRPr sz="1200"/>
              </a:p>
            </p:txBody>
          </p:sp>
          <p:sp>
            <p:nvSpPr>
              <p:cNvPr id="1455" name="Google Shape;1455;p68"/>
              <p:cNvSpPr/>
              <p:nvPr/>
            </p:nvSpPr>
            <p:spPr>
              <a:xfrm>
                <a:off x="1127514" y="3671691"/>
                <a:ext cx="588000" cy="632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t>b</a:t>
                </a:r>
                <a:r>
                  <a:rPr lang="en" sz="1200"/>
                  <a:t>lank</a:t>
                </a:r>
                <a:endParaRPr sz="1200"/>
              </a:p>
            </p:txBody>
          </p:sp>
        </p:grpSp>
        <p:grpSp>
          <p:nvGrpSpPr>
            <p:cNvPr id="1456" name="Google Shape;1456;p68"/>
            <p:cNvGrpSpPr/>
            <p:nvPr/>
          </p:nvGrpSpPr>
          <p:grpSpPr>
            <a:xfrm>
              <a:off x="5447656" y="990275"/>
              <a:ext cx="1904950" cy="2760150"/>
              <a:chOff x="987281" y="1713600"/>
              <a:chExt cx="1904950" cy="2760150"/>
            </a:xfrm>
          </p:grpSpPr>
          <p:sp>
            <p:nvSpPr>
              <p:cNvPr id="1457" name="Google Shape;1457;p68"/>
              <p:cNvSpPr/>
              <p:nvPr/>
            </p:nvSpPr>
            <p:spPr>
              <a:xfrm rot="2893456">
                <a:off x="2131736" y="1874102"/>
                <a:ext cx="652490" cy="650996"/>
              </a:xfrm>
              <a:prstGeom prst="plus">
                <a:avLst>
                  <a:gd fmla="val 35741"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8" name="Google Shape;1458;p68"/>
              <p:cNvSpPr/>
              <p:nvPr/>
            </p:nvSpPr>
            <p:spPr>
              <a:xfrm rot="2893456">
                <a:off x="1095286" y="2802602"/>
                <a:ext cx="652490" cy="650996"/>
              </a:xfrm>
              <a:prstGeom prst="plus">
                <a:avLst>
                  <a:gd fmla="val 35741"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9" name="Google Shape;1459;p68"/>
              <p:cNvSpPr/>
              <p:nvPr/>
            </p:nvSpPr>
            <p:spPr>
              <a:xfrm rot="2893456">
                <a:off x="2131736" y="2802602"/>
                <a:ext cx="652490" cy="650996"/>
              </a:xfrm>
              <a:prstGeom prst="plus">
                <a:avLst>
                  <a:gd fmla="val 35741"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0" name="Google Shape;1460;p68"/>
              <p:cNvSpPr/>
              <p:nvPr/>
            </p:nvSpPr>
            <p:spPr>
              <a:xfrm rot="2893456">
                <a:off x="2131736" y="3662252"/>
                <a:ext cx="652490" cy="650996"/>
              </a:xfrm>
              <a:prstGeom prst="plus">
                <a:avLst>
                  <a:gd fmla="val 35741"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461" name="Google Shape;1461;p68"/>
            <p:cNvGrpSpPr/>
            <p:nvPr/>
          </p:nvGrpSpPr>
          <p:grpSpPr>
            <a:xfrm>
              <a:off x="5629000" y="1188126"/>
              <a:ext cx="2691800" cy="2364450"/>
              <a:chOff x="1168625" y="1911451"/>
              <a:chExt cx="2691800" cy="2364450"/>
            </a:xfrm>
          </p:grpSpPr>
          <p:sp>
            <p:nvSpPr>
              <p:cNvPr id="1462" name="Google Shape;1462;p68"/>
              <p:cNvSpPr/>
              <p:nvPr/>
            </p:nvSpPr>
            <p:spPr>
              <a:xfrm>
                <a:off x="1168625" y="1911451"/>
                <a:ext cx="505800" cy="5763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3" name="Google Shape;1463;p68"/>
              <p:cNvSpPr/>
              <p:nvPr/>
            </p:nvSpPr>
            <p:spPr>
              <a:xfrm>
                <a:off x="3354625" y="1911451"/>
                <a:ext cx="505800" cy="5763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4" name="Google Shape;1464;p68"/>
              <p:cNvSpPr/>
              <p:nvPr/>
            </p:nvSpPr>
            <p:spPr>
              <a:xfrm>
                <a:off x="3323188" y="3699601"/>
                <a:ext cx="505800" cy="5763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cxnSp>
          <p:nvCxnSpPr>
            <p:cNvPr id="1465" name="Google Shape;1465;p68"/>
            <p:cNvCxnSpPr/>
            <p:nvPr/>
          </p:nvCxnSpPr>
          <p:spPr>
            <a:xfrm>
              <a:off x="6914600" y="817900"/>
              <a:ext cx="0" cy="2949600"/>
            </a:xfrm>
            <a:prstGeom prst="straightConnector1">
              <a:avLst/>
            </a:prstGeom>
            <a:noFill/>
            <a:ln cap="flat" cmpd="sng" w="76200">
              <a:solidFill>
                <a:srgbClr val="BCBD21"/>
              </a:solidFill>
              <a:prstDash val="solid"/>
              <a:round/>
              <a:headEnd len="med" w="med" type="none"/>
              <a:tailEnd len="med" w="med" type="none"/>
            </a:ln>
          </p:spPr>
        </p:cxnSp>
      </p:grpSp>
      <p:sp>
        <p:nvSpPr>
          <p:cNvPr id="1466" name="Google Shape;1466;p68"/>
          <p:cNvSpPr txBox="1"/>
          <p:nvPr/>
        </p:nvSpPr>
        <p:spPr>
          <a:xfrm>
            <a:off x="1984725" y="3767500"/>
            <a:ext cx="11811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 1,  -1],</a:t>
            </a:r>
            <a:endParaRPr/>
          </a:p>
          <a:p>
            <a:pPr indent="0" lvl="0" marL="0" rtl="0" algn="l">
              <a:spcBef>
                <a:spcPts val="0"/>
              </a:spcBef>
              <a:spcAft>
                <a:spcPts val="0"/>
              </a:spcAft>
              <a:buNone/>
            </a:pPr>
            <a:r>
              <a:rPr lang="en"/>
              <a:t> [1,  1,  0],</a:t>
            </a:r>
            <a:endParaRPr/>
          </a:p>
          <a:p>
            <a:pPr indent="0" lvl="0" marL="0" rtl="0" algn="l">
              <a:spcBef>
                <a:spcPts val="0"/>
              </a:spcBef>
              <a:spcAft>
                <a:spcPts val="0"/>
              </a:spcAft>
              <a:buNone/>
            </a:pPr>
            <a:r>
              <a:rPr lang="en"/>
              <a:t> [ 0, 1,  -1]]</a:t>
            </a:r>
            <a:endParaRPr/>
          </a:p>
          <a:p>
            <a:pPr indent="0" lvl="0" marL="0" rtl="0" algn="l">
              <a:spcBef>
                <a:spcPts val="0"/>
              </a:spcBef>
              <a:spcAft>
                <a:spcPts val="0"/>
              </a:spcAft>
              <a:buNone/>
            </a:pPr>
            <a:r>
              <a:t/>
            </a:r>
            <a:endParaRPr/>
          </a:p>
        </p:txBody>
      </p:sp>
      <p:sp>
        <p:nvSpPr>
          <p:cNvPr id="1467" name="Google Shape;1467;p68"/>
          <p:cNvSpPr txBox="1"/>
          <p:nvPr/>
        </p:nvSpPr>
        <p:spPr>
          <a:xfrm>
            <a:off x="1908525" y="2702950"/>
            <a:ext cx="2442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4"/>
                </a:solidFill>
              </a:rPr>
              <a:t>[-1, 1,  -1, 1,  1,  0, 0, 1,  -1]</a:t>
            </a:r>
            <a:endParaRPr b="1">
              <a:solidFill>
                <a:schemeClr val="accent4"/>
              </a:solidFill>
            </a:endParaRPr>
          </a:p>
        </p:txBody>
      </p:sp>
      <p:sp>
        <p:nvSpPr>
          <p:cNvPr id="1468" name="Google Shape;1468;p68"/>
          <p:cNvSpPr/>
          <p:nvPr/>
        </p:nvSpPr>
        <p:spPr>
          <a:xfrm>
            <a:off x="3056975" y="4209400"/>
            <a:ext cx="450050" cy="32150"/>
          </a:xfrm>
          <a:custGeom>
            <a:rect b="b" l="l" r="r" t="t"/>
            <a:pathLst>
              <a:path extrusionOk="0" h="1286" w="18002">
                <a:moveTo>
                  <a:pt x="18002" y="1286"/>
                </a:moveTo>
                <a:cubicBezTo>
                  <a:pt x="15002" y="1072"/>
                  <a:pt x="3000" y="214"/>
                  <a:pt x="0" y="0"/>
                </a:cubicBezTo>
              </a:path>
            </a:pathLst>
          </a:custGeom>
          <a:noFill/>
          <a:ln cap="flat" cmpd="sng" w="9525">
            <a:solidFill>
              <a:schemeClr val="dk2"/>
            </a:solidFill>
            <a:prstDash val="solid"/>
            <a:round/>
            <a:headEnd len="med" w="med" type="none"/>
            <a:tailEnd len="med" w="med" type="stealth"/>
          </a:ln>
        </p:spPr>
      </p:sp>
      <p:sp>
        <p:nvSpPr>
          <p:cNvPr id="1469" name="Google Shape;1469;p68"/>
          <p:cNvSpPr/>
          <p:nvPr/>
        </p:nvSpPr>
        <p:spPr>
          <a:xfrm>
            <a:off x="1583236" y="3381625"/>
            <a:ext cx="541450" cy="867975"/>
          </a:xfrm>
          <a:custGeom>
            <a:rect b="b" l="l" r="r" t="t"/>
            <a:pathLst>
              <a:path extrusionOk="0" h="34719" w="21658">
                <a:moveTo>
                  <a:pt x="15873" y="34719"/>
                </a:moveTo>
                <a:cubicBezTo>
                  <a:pt x="13248" y="33915"/>
                  <a:pt x="-843" y="35683"/>
                  <a:pt x="121" y="29896"/>
                </a:cubicBezTo>
                <a:cubicBezTo>
                  <a:pt x="1085" y="24110"/>
                  <a:pt x="18069" y="4983"/>
                  <a:pt x="21659" y="0"/>
                </a:cubicBezTo>
              </a:path>
            </a:pathLst>
          </a:custGeom>
          <a:noFill/>
          <a:ln cap="flat" cmpd="sng" w="9525">
            <a:solidFill>
              <a:schemeClr val="dk2"/>
            </a:solidFill>
            <a:prstDash val="solid"/>
            <a:round/>
            <a:headEnd len="med" w="med" type="none"/>
            <a:tailEnd len="med" w="med" type="stealth"/>
          </a:ln>
        </p:spPr>
      </p:sp>
      <p:sp>
        <p:nvSpPr>
          <p:cNvPr id="1470" name="Google Shape;1470;p68"/>
          <p:cNvSpPr/>
          <p:nvPr/>
        </p:nvSpPr>
        <p:spPr>
          <a:xfrm>
            <a:off x="4583950" y="4177250"/>
            <a:ext cx="2017200" cy="739200"/>
          </a:xfrm>
          <a:custGeom>
            <a:rect b="b" l="l" r="r" t="t"/>
            <a:pathLst>
              <a:path extrusionOk="0" h="29568" w="80688">
                <a:moveTo>
                  <a:pt x="80688" y="10930"/>
                </a:moveTo>
                <a:cubicBezTo>
                  <a:pt x="78438" y="13770"/>
                  <a:pt x="76402" y="25450"/>
                  <a:pt x="67187" y="27968"/>
                </a:cubicBezTo>
                <a:cubicBezTo>
                  <a:pt x="57972" y="30486"/>
                  <a:pt x="33433" y="29950"/>
                  <a:pt x="25396" y="26039"/>
                </a:cubicBezTo>
                <a:cubicBezTo>
                  <a:pt x="17359" y="22128"/>
                  <a:pt x="23199" y="8841"/>
                  <a:pt x="18966" y="4501"/>
                </a:cubicBezTo>
                <a:cubicBezTo>
                  <a:pt x="14733" y="161"/>
                  <a:pt x="3161" y="750"/>
                  <a:pt x="0" y="0"/>
                </a:cubicBezTo>
              </a:path>
            </a:pathLst>
          </a:custGeom>
          <a:noFill/>
          <a:ln cap="flat" cmpd="sng" w="9525">
            <a:solidFill>
              <a:schemeClr val="dk2"/>
            </a:solidFill>
            <a:prstDash val="solid"/>
            <a:round/>
            <a:headEnd len="med" w="med" type="none"/>
            <a:tailEnd len="med" w="med" type="stealth"/>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74" name="Shape 1474"/>
        <p:cNvGrpSpPr/>
        <p:nvPr/>
      </p:nvGrpSpPr>
      <p:grpSpPr>
        <a:xfrm>
          <a:off x="0" y="0"/>
          <a:ext cx="0" cy="0"/>
          <a:chOff x="0" y="0"/>
          <a:chExt cx="0" cy="0"/>
        </a:xfrm>
      </p:grpSpPr>
      <p:sp>
        <p:nvSpPr>
          <p:cNvPr id="1475" name="Google Shape;1475;p69"/>
          <p:cNvSpPr txBox="1"/>
          <p:nvPr/>
        </p:nvSpPr>
        <p:spPr>
          <a:xfrm>
            <a:off x="2044350" y="1521625"/>
            <a:ext cx="5584800" cy="200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scikit-learn Implementation</a:t>
            </a:r>
            <a:endParaRPr b="1" sz="1300">
              <a:solidFill>
                <a:schemeClr val="dk1"/>
              </a:solidFill>
            </a:endParaRPr>
          </a:p>
          <a:p>
            <a:pPr indent="0" lvl="0" marL="0" rtl="0" algn="l">
              <a:spcBef>
                <a:spcPts val="40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latin typeface="Courier New"/>
                <a:ea typeface="Courier New"/>
                <a:cs typeface="Courier New"/>
                <a:sym typeface="Courier New"/>
              </a:rPr>
              <a:t>from sklearn.neural_network import </a:t>
            </a:r>
            <a:r>
              <a:rPr b="1" lang="en" sz="1100">
                <a:solidFill>
                  <a:schemeClr val="dk1"/>
                </a:solidFill>
                <a:latin typeface="Courier New"/>
                <a:ea typeface="Courier New"/>
                <a:cs typeface="Courier New"/>
                <a:sym typeface="Courier New"/>
              </a:rPr>
              <a:t>MLPClassifier</a:t>
            </a:r>
            <a:endParaRPr b="1" sz="11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1"/>
                </a:solidFill>
                <a:latin typeface="Courier New"/>
                <a:ea typeface="Courier New"/>
                <a:cs typeface="Courier New"/>
                <a:sym typeface="Courier New"/>
              </a:rPr>
              <a:t>mlp = </a:t>
            </a:r>
            <a:r>
              <a:rPr b="1" lang="en" sz="1100">
                <a:solidFill>
                  <a:schemeClr val="dk1"/>
                </a:solidFill>
                <a:latin typeface="Courier New"/>
                <a:ea typeface="Courier New"/>
                <a:cs typeface="Courier New"/>
                <a:sym typeface="Courier New"/>
              </a:rPr>
              <a:t>MLPClassifier</a:t>
            </a:r>
            <a:r>
              <a:rPr lang="en" sz="1100">
                <a:solidFill>
                  <a:schemeClr val="dk1"/>
                </a:solidFill>
                <a:latin typeface="Courier New"/>
                <a:ea typeface="Courier New"/>
                <a:cs typeface="Courier New"/>
                <a:sym typeface="Courier New"/>
              </a:rPr>
              <a:t>(</a:t>
            </a:r>
            <a:r>
              <a:rPr lang="en" sz="1100">
                <a:solidFill>
                  <a:srgbClr val="FF00FF"/>
                </a:solidFill>
                <a:latin typeface="Courier New"/>
                <a:ea typeface="Courier New"/>
                <a:cs typeface="Courier New"/>
                <a:sym typeface="Courier New"/>
              </a:rPr>
              <a:t>hidden_layer_sizes=(50,50,50)</a:t>
            </a:r>
            <a:r>
              <a:rPr lang="en" sz="1100">
                <a:solidFill>
                  <a:schemeClr val="dk1"/>
                </a:solidFill>
                <a:latin typeface="Courier New"/>
                <a:ea typeface="Courier New"/>
                <a:cs typeface="Courier New"/>
                <a:sym typeface="Courier New"/>
              </a:rPr>
              <a:t>, max_iter=500)</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1"/>
                </a:solidFill>
                <a:latin typeface="Courier New"/>
                <a:ea typeface="Courier New"/>
                <a:cs typeface="Courier New"/>
                <a:sym typeface="Courier New"/>
              </a:rPr>
              <a:t>mlp.fit(X_train, y_train)</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1"/>
                </a:solidFill>
                <a:latin typeface="Courier New"/>
                <a:ea typeface="Courier New"/>
                <a:cs typeface="Courier New"/>
                <a:sym typeface="Courier New"/>
              </a:rPr>
              <a:t>accuracy_score(y_test, mlp.predict(X_test))</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
        <p:nvSpPr>
          <p:cNvPr id="1476" name="Google Shape;1476;p69"/>
          <p:cNvSpPr txBox="1"/>
          <p:nvPr/>
        </p:nvSpPr>
        <p:spPr>
          <a:xfrm>
            <a:off x="1975550" y="3387025"/>
            <a:ext cx="5419800" cy="128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For </a:t>
            </a:r>
            <a:r>
              <a:rPr b="1" lang="en" sz="1100">
                <a:solidFill>
                  <a:schemeClr val="dk1"/>
                </a:solidFill>
              </a:rPr>
              <a:t>s</a:t>
            </a:r>
            <a:r>
              <a:rPr b="1" lang="en" sz="1100">
                <a:solidFill>
                  <a:schemeClr val="dk1"/>
                </a:solidFill>
              </a:rPr>
              <a:t>mall dataset, keep it shallow and narrow</a:t>
            </a:r>
            <a:r>
              <a:rPr lang="en" sz="1100">
                <a:solidFill>
                  <a:schemeClr val="dk1"/>
                </a:solidFill>
              </a:rPr>
              <a:t>: </a:t>
            </a:r>
            <a:r>
              <a:rPr lang="en" sz="1100">
                <a:solidFill>
                  <a:schemeClr val="dk1"/>
                </a:solidFill>
                <a:latin typeface="Roboto Mono"/>
                <a:ea typeface="Roboto Mono"/>
                <a:cs typeface="Roboto Mono"/>
                <a:sym typeface="Roboto Mono"/>
              </a:rPr>
              <a:t>(10,)</a:t>
            </a:r>
            <a:r>
              <a:rPr lang="en" sz="1100">
                <a:solidFill>
                  <a:schemeClr val="dk1"/>
                </a:solidFill>
              </a:rPr>
              <a:t>or</a:t>
            </a:r>
            <a:r>
              <a:rPr lang="en" sz="1100">
                <a:solidFill>
                  <a:schemeClr val="dk1"/>
                </a:solidFill>
              </a:rPr>
              <a:t> </a:t>
            </a:r>
            <a:r>
              <a:rPr lang="en" sz="1100">
                <a:solidFill>
                  <a:schemeClr val="dk1"/>
                </a:solidFill>
                <a:latin typeface="Roboto Mono"/>
                <a:ea typeface="Roboto Mono"/>
                <a:cs typeface="Roboto Mono"/>
                <a:sym typeface="Roboto Mono"/>
              </a:rPr>
              <a:t>(20,)</a:t>
            </a:r>
            <a:r>
              <a:rPr lang="en" sz="1100">
                <a:solidFill>
                  <a:schemeClr val="dk1"/>
                </a:solidFill>
              </a:rPr>
              <a:t> or</a:t>
            </a:r>
            <a:r>
              <a:rPr lang="en" sz="1100">
                <a:solidFill>
                  <a:schemeClr val="dk1"/>
                </a:solidFill>
                <a:latin typeface="Roboto Mono"/>
                <a:ea typeface="Roboto Mono"/>
                <a:cs typeface="Roboto Mono"/>
                <a:sym typeface="Roboto Mono"/>
              </a:rPr>
              <a:t>(32, 16).</a:t>
            </a:r>
            <a:endParaRPr sz="1100">
              <a:solidFill>
                <a:schemeClr val="dk1"/>
              </a:solidFill>
              <a:latin typeface="Roboto Mono"/>
              <a:ea typeface="Roboto Mono"/>
              <a:cs typeface="Roboto Mono"/>
              <a:sym typeface="Roboto Mono"/>
            </a:endParaRPr>
          </a:p>
          <a:p>
            <a:pPr indent="0" lvl="0" marL="0" rtl="0" algn="l">
              <a:lnSpc>
                <a:spcPct val="115000"/>
              </a:lnSpc>
              <a:spcBef>
                <a:spcPts val="1200"/>
              </a:spcBef>
              <a:spcAft>
                <a:spcPts val="1200"/>
              </a:spcAft>
              <a:buNone/>
            </a:pPr>
            <a:r>
              <a:rPr lang="en" sz="1100">
                <a:solidFill>
                  <a:schemeClr val="dk1"/>
                </a:solidFill>
              </a:rPr>
              <a:t>In general, size is </a:t>
            </a:r>
            <a:r>
              <a:rPr b="1" lang="en" sz="1100">
                <a:solidFill>
                  <a:schemeClr val="dk1"/>
                </a:solidFill>
              </a:rPr>
              <a:t>related to the n</a:t>
            </a:r>
            <a:r>
              <a:rPr b="1" lang="en" sz="1100">
                <a:solidFill>
                  <a:schemeClr val="dk1"/>
                </a:solidFill>
              </a:rPr>
              <a:t>umber of features (input size)</a:t>
            </a:r>
            <a:r>
              <a:rPr lang="en" sz="1100">
                <a:solidFill>
                  <a:schemeClr val="dk1"/>
                </a:solidFill>
              </a:rPr>
              <a:t>. Try layers with size similar to or slightly larger than input size (e.g., 10 inputs → 5–20 neurons), or as some multiple</a:t>
            </a:r>
            <a:br>
              <a:rPr lang="en" sz="1100">
                <a:solidFill>
                  <a:schemeClr val="dk1"/>
                </a:solidFill>
              </a:rPr>
            </a:br>
            <a:endParaRPr sz="1100">
              <a:solidFill>
                <a:schemeClr val="dk1"/>
              </a:solidFill>
            </a:endParaRPr>
          </a:p>
        </p:txBody>
      </p:sp>
      <p:sp>
        <p:nvSpPr>
          <p:cNvPr id="1477" name="Google Shape;1477;p69"/>
          <p:cNvSpPr txBox="1"/>
          <p:nvPr/>
        </p:nvSpPr>
        <p:spPr>
          <a:xfrm>
            <a:off x="5708750" y="634600"/>
            <a:ext cx="3000000" cy="74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100">
                <a:solidFill>
                  <a:schemeClr val="dk1"/>
                </a:solidFill>
              </a:rPr>
              <a:t>Update </a:t>
            </a:r>
            <a:r>
              <a:rPr lang="en" sz="1100">
                <a:solidFill>
                  <a:srgbClr val="FF00FF"/>
                </a:solidFill>
              </a:rPr>
              <a:t>hidden_layer_sizes</a:t>
            </a:r>
            <a:r>
              <a:rPr lang="en" sz="1100">
                <a:solidFill>
                  <a:schemeClr val="dk1"/>
                </a:solidFill>
              </a:rPr>
              <a:t> to reflect the dataset we have. What are good options for sizes for a three layer network?</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1" name="Shape 1481"/>
        <p:cNvGrpSpPr/>
        <p:nvPr/>
      </p:nvGrpSpPr>
      <p:grpSpPr>
        <a:xfrm>
          <a:off x="0" y="0"/>
          <a:ext cx="0" cy="0"/>
          <a:chOff x="0" y="0"/>
          <a:chExt cx="0" cy="0"/>
        </a:xfrm>
      </p:grpSpPr>
      <p:sp>
        <p:nvSpPr>
          <p:cNvPr id="1482" name="Google Shape;1482;p70"/>
          <p:cNvSpPr txBox="1"/>
          <p:nvPr/>
        </p:nvSpPr>
        <p:spPr>
          <a:xfrm>
            <a:off x="2044350" y="1521625"/>
            <a:ext cx="5584800" cy="318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TensorFlow</a:t>
            </a:r>
            <a:r>
              <a:rPr b="1" lang="en" sz="1300">
                <a:solidFill>
                  <a:schemeClr val="dk1"/>
                </a:solidFill>
              </a:rPr>
              <a:t> Implementation</a:t>
            </a:r>
            <a:endParaRPr b="1" sz="1300">
              <a:solidFill>
                <a:schemeClr val="dk1"/>
              </a:solidFill>
            </a:endParaRPr>
          </a:p>
          <a:p>
            <a:pPr indent="0" lvl="0" marL="0" rtl="0" algn="l">
              <a:spcBef>
                <a:spcPts val="400"/>
              </a:spcBef>
              <a:spcAft>
                <a:spcPts val="0"/>
              </a:spcAft>
              <a:buNone/>
            </a:pPr>
            <a:r>
              <a:rPr lang="en" sz="1100">
                <a:solidFill>
                  <a:schemeClr val="dk1"/>
                </a:solidFill>
                <a:latin typeface="Courier New"/>
                <a:ea typeface="Courier New"/>
                <a:cs typeface="Courier New"/>
                <a:sym typeface="Courier New"/>
              </a:rPr>
              <a:t>import tensorflow as tf</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1"/>
                </a:solidFill>
                <a:latin typeface="Courier New"/>
                <a:ea typeface="Courier New"/>
                <a:cs typeface="Courier New"/>
                <a:sym typeface="Courier New"/>
              </a:rPr>
              <a:t>from tensorflow import keras</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1"/>
                </a:solidFill>
                <a:latin typeface="Courier New"/>
                <a:ea typeface="Courier New"/>
                <a:cs typeface="Courier New"/>
                <a:sym typeface="Courier New"/>
              </a:rPr>
              <a:t>model = keras.Sequential([</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1"/>
                </a:solidFill>
                <a:latin typeface="Courier New"/>
                <a:ea typeface="Courier New"/>
                <a:cs typeface="Courier New"/>
                <a:sym typeface="Courier New"/>
              </a:rPr>
              <a:t>    </a:t>
            </a:r>
            <a:r>
              <a:rPr b="1" lang="en" sz="1100">
                <a:solidFill>
                  <a:srgbClr val="AF00DB"/>
                </a:solidFill>
                <a:latin typeface="Courier New"/>
                <a:ea typeface="Courier New"/>
                <a:cs typeface="Courier New"/>
                <a:sym typeface="Courier New"/>
              </a:rPr>
              <a:t>keras.layers.Dense(81, activation='relu'),</a:t>
            </a:r>
            <a:endParaRPr b="1" sz="1100">
              <a:solidFill>
                <a:srgbClr val="AF00DB"/>
              </a:solidFill>
              <a:latin typeface="Courier New"/>
              <a:ea typeface="Courier New"/>
              <a:cs typeface="Courier New"/>
              <a:sym typeface="Courier New"/>
            </a:endParaRPr>
          </a:p>
          <a:p>
            <a:pPr indent="0" lvl="0" marL="0" rtl="0" algn="l">
              <a:spcBef>
                <a:spcPts val="0"/>
              </a:spcBef>
              <a:spcAft>
                <a:spcPts val="0"/>
              </a:spcAft>
              <a:buNone/>
            </a:pPr>
            <a:r>
              <a:rPr b="1" lang="en" sz="1100">
                <a:solidFill>
                  <a:srgbClr val="AF00DB"/>
                </a:solidFill>
                <a:latin typeface="Courier New"/>
                <a:ea typeface="Courier New"/>
                <a:cs typeface="Courier New"/>
                <a:sym typeface="Courier New"/>
              </a:rPr>
              <a:t>    keras.layers.Dense(9, activation='relu'),</a:t>
            </a:r>
            <a:endParaRPr b="1" sz="1100">
              <a:solidFill>
                <a:srgbClr val="AF00DB"/>
              </a:solidFill>
              <a:latin typeface="Courier New"/>
              <a:ea typeface="Courier New"/>
              <a:cs typeface="Courier New"/>
              <a:sym typeface="Courier New"/>
            </a:endParaRPr>
          </a:p>
          <a:p>
            <a:pPr indent="0" lvl="0" marL="0" rtl="0" algn="l">
              <a:spcBef>
                <a:spcPts val="0"/>
              </a:spcBef>
              <a:spcAft>
                <a:spcPts val="0"/>
              </a:spcAft>
              <a:buNone/>
            </a:pPr>
            <a:r>
              <a:rPr b="1" lang="en" sz="1100">
                <a:solidFill>
                  <a:srgbClr val="AF00DB"/>
                </a:solidFill>
                <a:latin typeface="Courier New"/>
                <a:ea typeface="Courier New"/>
                <a:cs typeface="Courier New"/>
                <a:sym typeface="Courier New"/>
              </a:rPr>
              <a:t>    keras.layers.Dense(2, activation='softmax')</a:t>
            </a:r>
            <a:endParaRPr b="1" sz="1100">
              <a:solidFill>
                <a:srgbClr val="AF00DB"/>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1"/>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1"/>
                </a:solidFill>
                <a:latin typeface="Courier New"/>
                <a:ea typeface="Courier New"/>
                <a:cs typeface="Courier New"/>
                <a:sym typeface="Courier New"/>
              </a:rPr>
              <a:t>model.compile(optimizer='adam', loss='sparse_categorical_crossentropy')</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1"/>
                </a:solidFill>
                <a:latin typeface="Courier New"/>
                <a:ea typeface="Courier New"/>
                <a:cs typeface="Courier New"/>
                <a:sym typeface="Courier New"/>
              </a:rPr>
              <a:t>model.fit(X_train, y_train, epochs=100)</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100">
              <a:solidFill>
                <a:schemeClr val="dk1"/>
              </a:solidFill>
              <a:latin typeface="Roboto Mono"/>
              <a:ea typeface="Roboto Mono"/>
              <a:cs typeface="Roboto Mono"/>
              <a:sym typeface="Roboto Mono"/>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
        <p:nvSpPr>
          <p:cNvPr id="1483" name="Google Shape;1483;p70"/>
          <p:cNvSpPr txBox="1"/>
          <p:nvPr/>
        </p:nvSpPr>
        <p:spPr>
          <a:xfrm>
            <a:off x="6239500" y="1168000"/>
            <a:ext cx="2469300" cy="299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Let’s take a look at our workbook to walk through this one.</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When we come back to this, come up with a reasoning to why the network is structured this way: </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Why do we have 81 neurons in the first hidden layer?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Why do we have 2 neurons in the final layer?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What is the difference between ReLu and SoftMax activation functions (you may have to look this up)</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